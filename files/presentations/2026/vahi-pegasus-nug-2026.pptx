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62" r:id="rId3"/>
    <p:sldId id="263" r:id="rId4"/>
    <p:sldId id="264" r:id="rId5"/>
    <p:sldId id="265" r:id="rId6"/>
    <p:sldId id="268" r:id="rId7"/>
    <p:sldId id="270" r:id="rId8"/>
    <p:sldId id="344" r:id="rId9"/>
    <p:sldId id="345" r:id="rId10"/>
    <p:sldId id="336" r:id="rId11"/>
    <p:sldId id="325" r:id="rId12"/>
    <p:sldId id="313" r:id="rId13"/>
    <p:sldId id="338" r:id="rId14"/>
    <p:sldId id="350" r:id="rId15"/>
    <p:sldId id="349" r:id="rId16"/>
    <p:sldId id="343" r:id="rId17"/>
    <p:sldId id="311" r:id="rId18"/>
    <p:sldId id="351" r:id="rId19"/>
  </p:sldIdLst>
  <p:sldSz cx="12192000" cy="6858000"/>
  <p:notesSz cx="6858000" cy="9144000"/>
  <p:embeddedFontLst>
    <p:embeddedFont>
      <p:font typeface="Montserrat" pitchFamily="2" charset="77"/>
      <p:regular r:id="rId21"/>
      <p:bold r:id="rId22"/>
      <p:italic r:id="rId23"/>
      <p:boldItalic r:id="rId24"/>
    </p:embeddedFont>
    <p:embeddedFont>
      <p:font typeface="Roboto" panose="02000000000000000000" pitchFamily="2" charset="0"/>
      <p:regular r:id="rId25"/>
      <p:bold r:id="rId26"/>
      <p:italic r:id="rId27"/>
      <p:boldItalic r:id="rId28"/>
    </p:embeddedFont>
    <p:embeddedFont>
      <p:font typeface="Roboto Black" panose="02000000000000000000" pitchFamily="2" charset="0"/>
      <p:bold r:id="rId29"/>
      <p:italic r:id="rId30"/>
      <p:boldItalic r:id="rId31"/>
    </p:embeddedFont>
    <p:embeddedFont>
      <p:font typeface="Roboto Light" panose="02000000000000000000" pitchFamily="2" charset="0"/>
      <p:regular r:id="rId32"/>
      <p: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6" roundtripDataSignature="AMtx7mh2EN+wOQ38o2KVdgp3GS4u5WbYt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75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11"/>
    <p:restoredTop sz="71923"/>
  </p:normalViewPr>
  <p:slideViewPr>
    <p:cSldViewPr snapToGrid="0">
      <p:cViewPr varScale="1">
        <p:scale>
          <a:sx n="88" d="100"/>
          <a:sy n="88" d="100"/>
        </p:scale>
        <p:origin x="21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89"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87"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90"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86"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95de07730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f95de07730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f95de07730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f95de07730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f95de07730_1_1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g3f95de07730_1_1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f95de07730_1_231: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2" name="Google Shape;342;g3f95de07730_1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5c399fe9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g3f5c399fe94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f95de07730_1_4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3f95de07730_1_443: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3f95de07730_1_649: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1" name="Google Shape;651;g3f95de07730_1_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3f95de07730_1_655:notes"/>
          <p:cNvSpPr txBox="1">
            <a:spLocks noGrp="1"/>
          </p:cNvSpPr>
          <p:nvPr>
            <p:ph type="body" idx="1"/>
          </p:nvPr>
        </p:nvSpPr>
        <p:spPr>
          <a:xfrm>
            <a:off x="685792" y="4343391"/>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8" name="Google Shape;658;g3f95de07730_1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8160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 regional view of the deep subsurface biosphere across a convergent margin. The Costa Rica convergent margin is caused by the oceanic Cocos plate being subducted under the Caribbean plate. As the plate is subducted, dewatering due to compression and serpentinization reactions between water and rock drive nutrient rich hot springs whose surface expression reflects the deep processes that feed it.</a:t>
            </a:r>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lvl="0" indent="-298450">
              <a:buClr>
                <a:srgbClr val="000000"/>
              </a:buClr>
              <a:buSzPts val="1100"/>
              <a:buFont typeface="Arial"/>
              <a:buChar char="●"/>
            </a:pPr>
            <a:r>
              <a:rPr lang="en-US" dirty="0"/>
              <a:t>Parallelism type</a:t>
            </a:r>
          </a:p>
          <a:p>
            <a:pPr marL="457200" lvl="0" indent="-298450">
              <a:buClr>
                <a:srgbClr val="000000"/>
              </a:buClr>
              <a:buSzPts val="1100"/>
              <a:buFont typeface="Arial"/>
              <a:buChar char="●"/>
            </a:pPr>
            <a:r>
              <a:rPr lang="en-US" dirty="0"/>
              <a:t>mothur_asv8multi-threaded (</a:t>
            </a:r>
            <a:r>
              <a:rPr lang="en-US" dirty="0" err="1"/>
              <a:t>mothur</a:t>
            </a:r>
            <a:r>
              <a:rPr lang="en-US" dirty="0"/>
              <a:t> processors=8)</a:t>
            </a:r>
          </a:p>
          <a:p>
            <a:pPr marL="457200" lvl="0" indent="-298450">
              <a:buClr>
                <a:srgbClr val="000000"/>
              </a:buClr>
              <a:buSzPts val="1100"/>
              <a:buFont typeface="Arial"/>
              <a:buChar char="●"/>
            </a:pPr>
            <a:r>
              <a:rPr lang="en-US" dirty="0"/>
              <a:t>mifaser8multi-threaded (DIAMOND threads)</a:t>
            </a:r>
          </a:p>
          <a:p>
            <a:pPr marL="457200" lvl="0" indent="-298450">
              <a:buClr>
                <a:srgbClr val="000000"/>
              </a:buClr>
              <a:buSzPts val="1100"/>
              <a:buFont typeface="Arial"/>
              <a:buChar char="●"/>
            </a:pPr>
            <a:r>
              <a:rPr lang="en-US" dirty="0"/>
              <a:t>trim_reads8multi-threaded (</a:t>
            </a:r>
            <a:r>
              <a:rPr lang="en-US" dirty="0" err="1"/>
              <a:t>trimmomatic</a:t>
            </a:r>
            <a:r>
              <a:rPr lang="en-US" dirty="0"/>
              <a:t> -threads)</a:t>
            </a:r>
          </a:p>
          <a:p>
            <a:pPr marL="457200" lvl="0" indent="-298450">
              <a:buClr>
                <a:srgbClr val="000000"/>
              </a:buClr>
              <a:buSzPts val="1100"/>
              <a:buFont typeface="Arial"/>
              <a:buChar char="●"/>
            </a:pPr>
            <a:r>
              <a:rPr lang="en-US" dirty="0" err="1"/>
              <a:t>gene_merge</a:t>
            </a:r>
            <a:r>
              <a:rPr lang="en-US" dirty="0"/>
              <a:t>, </a:t>
            </a:r>
            <a:r>
              <a:rPr lang="en-US" dirty="0" err="1"/>
              <a:t>gene_network</a:t>
            </a:r>
            <a:r>
              <a:rPr lang="en-US" dirty="0"/>
              <a:t>, </a:t>
            </a:r>
            <a:r>
              <a:rPr lang="en-US" dirty="0" err="1"/>
              <a:t>gene_geochem</a:t>
            </a:r>
            <a:r>
              <a:rPr lang="en-US" dirty="0"/>
              <a:t>, carbon_flux1 (default)single-core R</a:t>
            </a:r>
          </a:p>
          <a:p>
            <a:pPr marL="457200" lvl="0" indent="-298450">
              <a:buClr>
                <a:srgbClr val="000000"/>
              </a:buClr>
              <a:buSzPts val="1100"/>
              <a:buFont typeface="Arial"/>
              <a:buChar char="●"/>
            </a:pPr>
            <a:r>
              <a:rPr lang="en-US" dirty="0" err="1"/>
              <a:t>filter_normalize</a:t>
            </a:r>
            <a:r>
              <a:rPr lang="en-US" dirty="0"/>
              <a:t>, </a:t>
            </a:r>
            <a:r>
              <a:rPr lang="en-US" dirty="0" err="1"/>
              <a:t>asv_network</a:t>
            </a:r>
            <a:r>
              <a:rPr lang="en-US" dirty="0"/>
              <a:t>, </a:t>
            </a:r>
            <a:r>
              <a:rPr lang="en-US" dirty="0" err="1"/>
              <a:t>nmds_adonis</a:t>
            </a:r>
            <a:r>
              <a:rPr lang="en-US" dirty="0"/>
              <a:t>, clique_geochem1 (default)single-core R</a:t>
            </a:r>
          </a:p>
          <a:p>
            <a:pPr marL="457200" lvl="0" indent="-298450">
              <a:buClr>
                <a:srgbClr val="000000"/>
              </a:buClr>
              <a:buSzPts val="1100"/>
              <a:buFont typeface="Arial"/>
              <a:buChar char="●"/>
            </a:pPr>
            <a:r>
              <a:rPr lang="en-US" dirty="0"/>
              <a:t>make_report1single-core 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8160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6"/>
        <p:cNvGrpSpPr/>
        <p:nvPr/>
      </p:nvGrpSpPr>
      <p:grpSpPr>
        <a:xfrm>
          <a:off x="0" y="0"/>
          <a:ext cx="0" cy="0"/>
          <a:chOff x="0" y="0"/>
          <a:chExt cx="0" cy="0"/>
        </a:xfrm>
      </p:grpSpPr>
      <p:sp>
        <p:nvSpPr>
          <p:cNvPr id="2347" name="Google Shape;2347;g3f95de07730_1_8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8" name="Google Shape;2348;g3f95de07730_1_8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5"/>
        <p:cNvGrpSpPr/>
        <p:nvPr/>
      </p:nvGrpSpPr>
      <p:grpSpPr>
        <a:xfrm>
          <a:off x="0" y="0"/>
          <a:ext cx="0" cy="0"/>
          <a:chOff x="0" y="0"/>
          <a:chExt cx="0" cy="0"/>
        </a:xfrm>
      </p:grpSpPr>
      <p:sp>
        <p:nvSpPr>
          <p:cNvPr id="2356" name="Google Shape;2356;g3709db5a662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7" name="Google Shape;2357;g3709db5a662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ain Section Slide">
  <p:cSld name="Main Section Slid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34"/>
          <p:cNvSpPr txBox="1">
            <a:spLocks noGrp="1"/>
          </p:cNvSpPr>
          <p:nvPr>
            <p:ph type="title"/>
          </p:nvPr>
        </p:nvSpPr>
        <p:spPr>
          <a:xfrm>
            <a:off x="1367366" y="2465740"/>
            <a:ext cx="9457200" cy="1926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1A5B6E"/>
              </a:buClr>
              <a:buSzPts val="48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A5B6E"/>
              </a:buClr>
              <a:buSzPts val="18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5"/>
          <p:cNvSpPr txBox="1">
            <a:spLocks noGrp="1"/>
          </p:cNvSpPr>
          <p:nvPr>
            <p:ph type="body" idx="1"/>
          </p:nvPr>
        </p:nvSpPr>
        <p:spPr>
          <a:xfrm>
            <a:off x="838200" y="1825625"/>
            <a:ext cx="10515600" cy="3707667"/>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1pPr>
            <a:lvl2pPr marL="914400" lvl="1"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2pPr>
            <a:lvl3pPr marL="1371600" lvl="2"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3pPr>
            <a:lvl4pPr marL="1828800" lvl="3"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4pPr>
            <a:lvl5pPr marL="2286000" lvl="4" indent="-342900" algn="l">
              <a:lnSpc>
                <a:spcPct val="100000"/>
              </a:lnSpc>
              <a:spcBef>
                <a:spcPts val="1000"/>
              </a:spcBef>
              <a:spcAft>
                <a:spcPts val="0"/>
              </a:spcAft>
              <a:buClr>
                <a:srgbClr val="595959"/>
              </a:buClr>
              <a:buSzPts val="1800"/>
              <a:buFont typeface="Calibri"/>
              <a:buChar char="•"/>
              <a:defRPr>
                <a:latin typeface="Calibri"/>
                <a:ea typeface="Calibri"/>
                <a:cs typeface="Calibri"/>
                <a:sym typeface="Calibri"/>
              </a:defRPr>
            </a:lvl5pPr>
            <a:lvl6pPr marL="2743200" lvl="5" indent="-342900" algn="l">
              <a:lnSpc>
                <a:spcPct val="100000"/>
              </a:lnSpc>
              <a:spcBef>
                <a:spcPts val="1000"/>
              </a:spcBef>
              <a:spcAft>
                <a:spcPts val="0"/>
              </a:spcAft>
              <a:buClr>
                <a:schemeClr val="dk1"/>
              </a:buClr>
              <a:buSzPts val="1800"/>
              <a:buFont typeface="Calibri"/>
              <a:buChar char="•"/>
              <a:defRPr/>
            </a:lvl6pPr>
            <a:lvl7pPr marL="3200400" lvl="6" indent="-342900" algn="l">
              <a:lnSpc>
                <a:spcPct val="100000"/>
              </a:lnSpc>
              <a:spcBef>
                <a:spcPts val="1000"/>
              </a:spcBef>
              <a:spcAft>
                <a:spcPts val="0"/>
              </a:spcAft>
              <a:buClr>
                <a:schemeClr val="dk1"/>
              </a:buClr>
              <a:buSzPts val="1800"/>
              <a:buFont typeface="Calibri"/>
              <a:buChar char="•"/>
              <a:defRPr/>
            </a:lvl7pPr>
            <a:lvl8pPr marL="3657600" lvl="7" indent="-342900" algn="l">
              <a:lnSpc>
                <a:spcPct val="100000"/>
              </a:lnSpc>
              <a:spcBef>
                <a:spcPts val="1000"/>
              </a:spcBef>
              <a:spcAft>
                <a:spcPts val="0"/>
              </a:spcAft>
              <a:buClr>
                <a:schemeClr val="dk1"/>
              </a:buClr>
              <a:buSzPts val="1800"/>
              <a:buFont typeface="Calibri"/>
              <a:buChar char="•"/>
              <a:defRPr/>
            </a:lvl8pPr>
            <a:lvl9pPr marL="4114800" lvl="8" indent="-342900" algn="l">
              <a:lnSpc>
                <a:spcPct val="100000"/>
              </a:lnSpc>
              <a:spcBef>
                <a:spcPts val="1000"/>
              </a:spcBef>
              <a:spcAft>
                <a:spcPts val="1000"/>
              </a:spcAft>
              <a:buClr>
                <a:schemeClr val="dk1"/>
              </a:buClr>
              <a:buSzPts val="1800"/>
              <a:buFont typeface="Calibri"/>
              <a:buChar char="•"/>
              <a:defRPr/>
            </a:lvl9pPr>
          </a:lstStyle>
          <a:p>
            <a:endParaRPr/>
          </a:p>
        </p:txBody>
      </p:sp>
      <p:sp>
        <p:nvSpPr>
          <p:cNvPr id="14" name="Google Shape;14;p35"/>
          <p:cNvSpPr txBox="1">
            <a:spLocks noGrp="1"/>
          </p:cNvSpPr>
          <p:nvPr>
            <p:ph type="sldNum" idx="12"/>
          </p:nvPr>
        </p:nvSpPr>
        <p:spPr>
          <a:xfrm>
            <a:off x="9049266" y="624514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A5B6E"/>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9"/>
          <p:cNvSpPr txBox="1">
            <a:spLocks noGrp="1"/>
          </p:cNvSpPr>
          <p:nvPr>
            <p:ph type="body" idx="1"/>
          </p:nvPr>
        </p:nvSpPr>
        <p:spPr>
          <a:xfrm>
            <a:off x="838200" y="1825625"/>
            <a:ext cx="5181600" cy="362560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95959"/>
              </a:buClr>
              <a:buSzPts val="1800"/>
              <a:buChar char="•"/>
              <a:defRPr/>
            </a:lvl1pPr>
            <a:lvl2pPr marL="914400" lvl="1" indent="-342900" algn="l">
              <a:lnSpc>
                <a:spcPct val="90000"/>
              </a:lnSpc>
              <a:spcBef>
                <a:spcPts val="1000"/>
              </a:spcBef>
              <a:spcAft>
                <a:spcPts val="0"/>
              </a:spcAft>
              <a:buClr>
                <a:srgbClr val="595959"/>
              </a:buClr>
              <a:buSzPts val="1800"/>
              <a:buChar char="•"/>
              <a:defRPr/>
            </a:lvl2pPr>
            <a:lvl3pPr marL="1371600" lvl="2" indent="-342900" algn="l">
              <a:lnSpc>
                <a:spcPct val="90000"/>
              </a:lnSpc>
              <a:spcBef>
                <a:spcPts val="1000"/>
              </a:spcBef>
              <a:spcAft>
                <a:spcPts val="0"/>
              </a:spcAft>
              <a:buClr>
                <a:srgbClr val="595959"/>
              </a:buClr>
              <a:buSzPts val="1800"/>
              <a:buChar char="•"/>
              <a:defRPr/>
            </a:lvl3pPr>
            <a:lvl4pPr marL="1828800" lvl="3" indent="-342900" algn="l">
              <a:lnSpc>
                <a:spcPct val="90000"/>
              </a:lnSpc>
              <a:spcBef>
                <a:spcPts val="1000"/>
              </a:spcBef>
              <a:spcAft>
                <a:spcPts val="0"/>
              </a:spcAft>
              <a:buClr>
                <a:srgbClr val="595959"/>
              </a:buClr>
              <a:buSzPts val="1800"/>
              <a:buChar char="•"/>
              <a:defRPr/>
            </a:lvl4pPr>
            <a:lvl5pPr marL="2286000" lvl="4" indent="-342900" algn="l">
              <a:lnSpc>
                <a:spcPct val="90000"/>
              </a:lnSpc>
              <a:spcBef>
                <a:spcPts val="1000"/>
              </a:spcBef>
              <a:spcAft>
                <a:spcPts val="0"/>
              </a:spcAft>
              <a:buClr>
                <a:srgbClr val="595959"/>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1000"/>
              </a:spcAft>
              <a:buClr>
                <a:schemeClr val="dk1"/>
              </a:buClr>
              <a:buSzPts val="1800"/>
              <a:buChar char="•"/>
              <a:defRPr/>
            </a:lvl9pPr>
          </a:lstStyle>
          <a:p>
            <a:endParaRPr/>
          </a:p>
        </p:txBody>
      </p:sp>
      <p:sp>
        <p:nvSpPr>
          <p:cNvPr id="42" name="Google Shape;42;p39"/>
          <p:cNvSpPr txBox="1">
            <a:spLocks noGrp="1"/>
          </p:cNvSpPr>
          <p:nvPr>
            <p:ph type="body" idx="2"/>
          </p:nvPr>
        </p:nvSpPr>
        <p:spPr>
          <a:xfrm>
            <a:off x="6172200" y="1825625"/>
            <a:ext cx="5181600" cy="362560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595959"/>
              </a:buClr>
              <a:buSzPts val="1800"/>
              <a:buChar char="•"/>
              <a:defRPr/>
            </a:lvl1pPr>
            <a:lvl2pPr marL="914400" lvl="1" indent="-342900" algn="l">
              <a:lnSpc>
                <a:spcPct val="90000"/>
              </a:lnSpc>
              <a:spcBef>
                <a:spcPts val="1000"/>
              </a:spcBef>
              <a:spcAft>
                <a:spcPts val="0"/>
              </a:spcAft>
              <a:buClr>
                <a:srgbClr val="595959"/>
              </a:buClr>
              <a:buSzPts val="1800"/>
              <a:buChar char="•"/>
              <a:defRPr/>
            </a:lvl2pPr>
            <a:lvl3pPr marL="1371600" lvl="2" indent="-342900" algn="l">
              <a:lnSpc>
                <a:spcPct val="90000"/>
              </a:lnSpc>
              <a:spcBef>
                <a:spcPts val="1000"/>
              </a:spcBef>
              <a:spcAft>
                <a:spcPts val="0"/>
              </a:spcAft>
              <a:buClr>
                <a:srgbClr val="595959"/>
              </a:buClr>
              <a:buSzPts val="1800"/>
              <a:buChar char="•"/>
              <a:defRPr/>
            </a:lvl3pPr>
            <a:lvl4pPr marL="1828800" lvl="3" indent="-342900" algn="l">
              <a:lnSpc>
                <a:spcPct val="90000"/>
              </a:lnSpc>
              <a:spcBef>
                <a:spcPts val="1000"/>
              </a:spcBef>
              <a:spcAft>
                <a:spcPts val="0"/>
              </a:spcAft>
              <a:buClr>
                <a:srgbClr val="595959"/>
              </a:buClr>
              <a:buSzPts val="1800"/>
              <a:buChar char="•"/>
              <a:defRPr/>
            </a:lvl4pPr>
            <a:lvl5pPr marL="2286000" lvl="4" indent="-342900" algn="l">
              <a:lnSpc>
                <a:spcPct val="90000"/>
              </a:lnSpc>
              <a:spcBef>
                <a:spcPts val="1000"/>
              </a:spcBef>
              <a:spcAft>
                <a:spcPts val="0"/>
              </a:spcAft>
              <a:buClr>
                <a:srgbClr val="595959"/>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1000"/>
              </a:spcAft>
              <a:buClr>
                <a:schemeClr val="dk1"/>
              </a:buClr>
              <a:buSzPts val="1800"/>
              <a:buChar char="•"/>
              <a:defRPr/>
            </a:lvl9pPr>
          </a:lstStyle>
          <a:p>
            <a:endParaRPr/>
          </a:p>
        </p:txBody>
      </p:sp>
      <p:sp>
        <p:nvSpPr>
          <p:cNvPr id="43" name="Google Shape;43;p39"/>
          <p:cNvSpPr txBox="1">
            <a:spLocks noGrp="1"/>
          </p:cNvSpPr>
          <p:nvPr>
            <p:ph type="sldNum" idx="12"/>
          </p:nvPr>
        </p:nvSpPr>
        <p:spPr>
          <a:xfrm>
            <a:off x="9049266" y="624514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4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A5B6E"/>
              </a:buClr>
              <a:buSzPts val="6000"/>
              <a:buFont typeface="Helvetica Neue"/>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595959"/>
              </a:buClr>
              <a:buSzPts val="2400"/>
              <a:buNone/>
              <a:defRPr sz="2400"/>
            </a:lvl1pPr>
            <a:lvl2pPr lvl="1" algn="ctr">
              <a:lnSpc>
                <a:spcPct val="90000"/>
              </a:lnSpc>
              <a:spcBef>
                <a:spcPts val="1000"/>
              </a:spcBef>
              <a:spcAft>
                <a:spcPts val="0"/>
              </a:spcAft>
              <a:buClr>
                <a:srgbClr val="595959"/>
              </a:buClr>
              <a:buSzPts val="2000"/>
              <a:buNone/>
              <a:defRPr sz="2000"/>
            </a:lvl2pPr>
            <a:lvl3pPr lvl="2" algn="ctr">
              <a:lnSpc>
                <a:spcPct val="90000"/>
              </a:lnSpc>
              <a:spcBef>
                <a:spcPts val="1000"/>
              </a:spcBef>
              <a:spcAft>
                <a:spcPts val="0"/>
              </a:spcAft>
              <a:buClr>
                <a:srgbClr val="595959"/>
              </a:buClr>
              <a:buSzPts val="1800"/>
              <a:buNone/>
              <a:defRPr sz="1800"/>
            </a:lvl3pPr>
            <a:lvl4pPr lvl="3" algn="ctr">
              <a:lnSpc>
                <a:spcPct val="90000"/>
              </a:lnSpc>
              <a:spcBef>
                <a:spcPts val="1000"/>
              </a:spcBef>
              <a:spcAft>
                <a:spcPts val="0"/>
              </a:spcAft>
              <a:buClr>
                <a:srgbClr val="595959"/>
              </a:buClr>
              <a:buSzPts val="1600"/>
              <a:buNone/>
              <a:defRPr sz="1600"/>
            </a:lvl4pPr>
            <a:lvl5pPr lvl="4" algn="ctr">
              <a:lnSpc>
                <a:spcPct val="90000"/>
              </a:lnSpc>
              <a:spcBef>
                <a:spcPts val="1000"/>
              </a:spcBef>
              <a:spcAft>
                <a:spcPts val="0"/>
              </a:spcAft>
              <a:buClr>
                <a:srgbClr val="595959"/>
              </a:buClr>
              <a:buSzPts val="1600"/>
              <a:buNone/>
              <a:defRPr sz="1600"/>
            </a:lvl5pPr>
            <a:lvl6pPr lvl="5" algn="ctr">
              <a:lnSpc>
                <a:spcPct val="90000"/>
              </a:lnSpc>
              <a:spcBef>
                <a:spcPts val="1000"/>
              </a:spcBef>
              <a:spcAft>
                <a:spcPts val="0"/>
              </a:spcAft>
              <a:buClr>
                <a:schemeClr val="dk1"/>
              </a:buClr>
              <a:buSzPts val="1600"/>
              <a:buNone/>
              <a:defRPr sz="1600"/>
            </a:lvl6pPr>
            <a:lvl7pPr lvl="6" algn="ctr">
              <a:lnSpc>
                <a:spcPct val="90000"/>
              </a:lnSpc>
              <a:spcBef>
                <a:spcPts val="1000"/>
              </a:spcBef>
              <a:spcAft>
                <a:spcPts val="0"/>
              </a:spcAft>
              <a:buClr>
                <a:schemeClr val="dk1"/>
              </a:buClr>
              <a:buSzPts val="1600"/>
              <a:buNone/>
              <a:defRPr sz="1600"/>
            </a:lvl7pPr>
            <a:lvl8pPr lvl="7" algn="ctr">
              <a:lnSpc>
                <a:spcPct val="90000"/>
              </a:lnSpc>
              <a:spcBef>
                <a:spcPts val="1000"/>
              </a:spcBef>
              <a:spcAft>
                <a:spcPts val="0"/>
              </a:spcAft>
              <a:buClr>
                <a:schemeClr val="dk1"/>
              </a:buClr>
              <a:buSzPts val="1600"/>
              <a:buNone/>
              <a:defRPr sz="1600"/>
            </a:lvl8pPr>
            <a:lvl9pPr lvl="8" algn="ctr">
              <a:lnSpc>
                <a:spcPct val="90000"/>
              </a:lnSpc>
              <a:spcBef>
                <a:spcPts val="1000"/>
              </a:spcBef>
              <a:spcAft>
                <a:spcPts val="1000"/>
              </a:spcAft>
              <a:buClr>
                <a:schemeClr val="dk1"/>
              </a:buClr>
              <a:buSzPts val="1600"/>
              <a:buNone/>
              <a:defRPr sz="1600"/>
            </a:lvl9pPr>
          </a:lstStyle>
          <a:p>
            <a:endParaRPr/>
          </a:p>
        </p:txBody>
      </p:sp>
      <p:sp>
        <p:nvSpPr>
          <p:cNvPr id="47" name="Google Shape;47;p40"/>
          <p:cNvSpPr txBox="1">
            <a:spLocks noGrp="1"/>
          </p:cNvSpPr>
          <p:nvPr>
            <p:ph type="sldNum" idx="12"/>
          </p:nvPr>
        </p:nvSpPr>
        <p:spPr>
          <a:xfrm>
            <a:off x="9049273" y="6245150"/>
            <a:ext cx="2138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fully white">
  <p:cSld name="CUSTOM_2">
    <p:spTree>
      <p:nvGrpSpPr>
        <p:cNvPr id="1" name="Shape 48"/>
        <p:cNvGrpSpPr/>
        <p:nvPr/>
      </p:nvGrpSpPr>
      <p:grpSpPr>
        <a:xfrm>
          <a:off x="0" y="0"/>
          <a:ext cx="0" cy="0"/>
          <a:chOff x="0" y="0"/>
          <a:chExt cx="0" cy="0"/>
        </a:xfrm>
      </p:grpSpPr>
      <p:sp>
        <p:nvSpPr>
          <p:cNvPr id="49" name="Google Shape;49;g3f95de07730_1_431"/>
          <p:cNvSpPr txBox="1">
            <a:spLocks noGrp="1"/>
          </p:cNvSpPr>
          <p:nvPr>
            <p:ph type="title"/>
          </p:nvPr>
        </p:nvSpPr>
        <p:spPr>
          <a:xfrm>
            <a:off x="838200" y="365125"/>
            <a:ext cx="10515600" cy="132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g3f95de07730_1_431"/>
          <p:cNvSpPr/>
          <p:nvPr/>
        </p:nvSpPr>
        <p:spPr>
          <a:xfrm>
            <a:off x="-68033" y="5907767"/>
            <a:ext cx="12325500" cy="1111200"/>
          </a:xfrm>
          <a:prstGeom prst="rect">
            <a:avLst/>
          </a:prstGeom>
          <a:solidFill>
            <a:schemeClr val="lt1"/>
          </a:solidFill>
          <a:ln w="12700"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lvl="0" indent="0" algn="ctr" rtl="0">
              <a:spcBef>
                <a:spcPts val="0"/>
              </a:spcBef>
              <a:spcAft>
                <a:spcPts val="0"/>
              </a:spcAft>
              <a:buNone/>
            </a:pPr>
            <a:endParaRPr sz="19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
  <p:cSld name="CUSTOM_3">
    <p:spTree>
      <p:nvGrpSpPr>
        <p:cNvPr id="1" name="Shape 51"/>
        <p:cNvGrpSpPr/>
        <p:nvPr/>
      </p:nvGrpSpPr>
      <p:grpSpPr>
        <a:xfrm>
          <a:off x="0" y="0"/>
          <a:ext cx="0" cy="0"/>
          <a:chOff x="0" y="0"/>
          <a:chExt cx="0" cy="0"/>
        </a:xfrm>
      </p:grpSpPr>
      <p:sp>
        <p:nvSpPr>
          <p:cNvPr id="52" name="Google Shape;52;g3f95de07730_1_434"/>
          <p:cNvSpPr txBox="1">
            <a:spLocks noGrp="1"/>
          </p:cNvSpPr>
          <p:nvPr>
            <p:ph type="title"/>
          </p:nvPr>
        </p:nvSpPr>
        <p:spPr>
          <a:xfrm>
            <a:off x="838200" y="365131"/>
            <a:ext cx="10515600" cy="99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g3f95de07730_1_434"/>
          <p:cNvSpPr txBox="1">
            <a:spLocks noGrp="1"/>
          </p:cNvSpPr>
          <p:nvPr>
            <p:ph type="sldNum" idx="12"/>
          </p:nvPr>
        </p:nvSpPr>
        <p:spPr>
          <a:xfrm>
            <a:off x="11601600" y="6236033"/>
            <a:ext cx="423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54" name="Google Shape;54;g3f95de07730_1_434"/>
          <p:cNvSpPr txBox="1">
            <a:spLocks noGrp="1"/>
          </p:cNvSpPr>
          <p:nvPr>
            <p:ph type="body" idx="1"/>
          </p:nvPr>
        </p:nvSpPr>
        <p:spPr>
          <a:xfrm>
            <a:off x="838200" y="1253400"/>
            <a:ext cx="50697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115000"/>
              </a:lnSpc>
              <a:spcBef>
                <a:spcPts val="1300"/>
              </a:spcBef>
              <a:spcAft>
                <a:spcPts val="0"/>
              </a:spcAft>
              <a:buClr>
                <a:schemeClr val="dk1"/>
              </a:buClr>
              <a:buSzPts val="2800"/>
              <a:buChar char="•"/>
              <a:defRPr sz="2800" i="0" u="none" strike="noStrike" cap="none">
                <a:solidFill>
                  <a:schemeClr val="dk1"/>
                </a:solidFill>
              </a:defRPr>
            </a:lvl1pPr>
            <a:lvl2pPr marL="914400" marR="0" lvl="1" indent="-381000" algn="l">
              <a:lnSpc>
                <a:spcPct val="115000"/>
              </a:lnSpc>
              <a:spcBef>
                <a:spcPts val="1300"/>
              </a:spcBef>
              <a:spcAft>
                <a:spcPts val="0"/>
              </a:spcAft>
              <a:buClr>
                <a:schemeClr val="dk1"/>
              </a:buClr>
              <a:buSzPts val="2400"/>
              <a:buChar char="•"/>
              <a:defRPr sz="2400" i="0" u="none" strike="noStrike" cap="none">
                <a:solidFill>
                  <a:schemeClr val="dk1"/>
                </a:solidFill>
              </a:defRPr>
            </a:lvl2pPr>
            <a:lvl3pPr marL="1371600" marR="0" lvl="2" indent="-355600" algn="l">
              <a:lnSpc>
                <a:spcPct val="115000"/>
              </a:lnSpc>
              <a:spcBef>
                <a:spcPts val="1300"/>
              </a:spcBef>
              <a:spcAft>
                <a:spcPts val="0"/>
              </a:spcAft>
              <a:buClr>
                <a:schemeClr val="dk1"/>
              </a:buClr>
              <a:buSzPts val="2000"/>
              <a:buChar char="•"/>
              <a:defRPr sz="2000" i="0" u="none" strike="noStrike" cap="none">
                <a:solidFill>
                  <a:schemeClr val="dk1"/>
                </a:solidFill>
              </a:defRPr>
            </a:lvl3pPr>
            <a:lvl4pPr marL="1828800" marR="0" lvl="3" indent="-349250" algn="l">
              <a:lnSpc>
                <a:spcPct val="115000"/>
              </a:lnSpc>
              <a:spcBef>
                <a:spcPts val="1300"/>
              </a:spcBef>
              <a:spcAft>
                <a:spcPts val="0"/>
              </a:spcAft>
              <a:buClr>
                <a:schemeClr val="dk1"/>
              </a:buClr>
              <a:buSzPts val="1900"/>
              <a:buChar char="•"/>
              <a:defRPr sz="1900" i="0" u="none" strike="noStrike" cap="none">
                <a:solidFill>
                  <a:schemeClr val="dk1"/>
                </a:solidFill>
              </a:defRPr>
            </a:lvl4pPr>
            <a:lvl5pPr marL="2286000" marR="0" lvl="4" indent="-349250" algn="l">
              <a:lnSpc>
                <a:spcPct val="115000"/>
              </a:lnSpc>
              <a:spcBef>
                <a:spcPts val="1300"/>
              </a:spcBef>
              <a:spcAft>
                <a:spcPts val="0"/>
              </a:spcAft>
              <a:buClr>
                <a:schemeClr val="dk1"/>
              </a:buClr>
              <a:buSzPts val="1900"/>
              <a:buChar char="•"/>
              <a:defRPr sz="1900" i="0" u="none" strike="noStrike" cap="none">
                <a:solidFill>
                  <a:schemeClr val="dk1"/>
                </a:solidFill>
              </a:defRPr>
            </a:lvl5pPr>
            <a:lvl6pPr marL="2743200" marR="0" lvl="5" indent="-349250" algn="l">
              <a:lnSpc>
                <a:spcPct val="115000"/>
              </a:lnSpc>
              <a:spcBef>
                <a:spcPts val="1300"/>
              </a:spcBef>
              <a:spcAft>
                <a:spcPts val="0"/>
              </a:spcAft>
              <a:buClr>
                <a:schemeClr val="dk1"/>
              </a:buClr>
              <a:buSzPts val="1900"/>
              <a:buChar char="•"/>
              <a:defRPr sz="1900" i="0" u="none" strike="noStrike" cap="none">
                <a:solidFill>
                  <a:schemeClr val="dk1"/>
                </a:solidFill>
              </a:defRPr>
            </a:lvl6pPr>
            <a:lvl7pPr marL="3200400" marR="0" lvl="6" indent="-349250" algn="l">
              <a:lnSpc>
                <a:spcPct val="115000"/>
              </a:lnSpc>
              <a:spcBef>
                <a:spcPts val="1300"/>
              </a:spcBef>
              <a:spcAft>
                <a:spcPts val="0"/>
              </a:spcAft>
              <a:buClr>
                <a:schemeClr val="dk1"/>
              </a:buClr>
              <a:buSzPts val="1900"/>
              <a:buChar char="•"/>
              <a:defRPr sz="1900" i="0" u="none" strike="noStrike" cap="none">
                <a:solidFill>
                  <a:schemeClr val="dk1"/>
                </a:solidFill>
              </a:defRPr>
            </a:lvl7pPr>
            <a:lvl8pPr marL="3657600" marR="0" lvl="7" indent="-349250" algn="l">
              <a:lnSpc>
                <a:spcPct val="115000"/>
              </a:lnSpc>
              <a:spcBef>
                <a:spcPts val="1300"/>
              </a:spcBef>
              <a:spcAft>
                <a:spcPts val="0"/>
              </a:spcAft>
              <a:buClr>
                <a:schemeClr val="dk1"/>
              </a:buClr>
              <a:buSzPts val="1900"/>
              <a:buChar char="•"/>
              <a:defRPr sz="1900" i="0" u="none" strike="noStrike" cap="none">
                <a:solidFill>
                  <a:schemeClr val="dk1"/>
                </a:solidFill>
              </a:defRPr>
            </a:lvl8pPr>
            <a:lvl9pPr marL="4114800" marR="0" lvl="8" indent="-349250" algn="l">
              <a:lnSpc>
                <a:spcPct val="115000"/>
              </a:lnSpc>
              <a:spcBef>
                <a:spcPts val="1300"/>
              </a:spcBef>
              <a:spcAft>
                <a:spcPts val="0"/>
              </a:spcAft>
              <a:buClr>
                <a:schemeClr val="dk1"/>
              </a:buClr>
              <a:buSzPts val="1900"/>
              <a:buChar char="•"/>
              <a:defRPr sz="1900" i="0" u="none" strike="noStrike" cap="none">
                <a:solidFill>
                  <a:schemeClr val="dk1"/>
                </a:solidFill>
              </a:defRPr>
            </a:lvl9pPr>
          </a:lstStyle>
          <a:p>
            <a:endParaRPr/>
          </a:p>
        </p:txBody>
      </p:sp>
      <p:sp>
        <p:nvSpPr>
          <p:cNvPr id="55" name="Google Shape;55;g3f95de07730_1_434"/>
          <p:cNvSpPr txBox="1">
            <a:spLocks noGrp="1"/>
          </p:cNvSpPr>
          <p:nvPr>
            <p:ph type="body" idx="2"/>
          </p:nvPr>
        </p:nvSpPr>
        <p:spPr>
          <a:xfrm>
            <a:off x="6280174" y="1360733"/>
            <a:ext cx="50697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115000"/>
              </a:lnSpc>
              <a:spcBef>
                <a:spcPts val="1300"/>
              </a:spcBef>
              <a:spcAft>
                <a:spcPts val="0"/>
              </a:spcAft>
              <a:buClr>
                <a:schemeClr val="dk1"/>
              </a:buClr>
              <a:buSzPts val="2800"/>
              <a:buChar char="•"/>
              <a:defRPr sz="2800" i="0" u="none" strike="noStrike" cap="none">
                <a:solidFill>
                  <a:schemeClr val="dk1"/>
                </a:solidFill>
              </a:defRPr>
            </a:lvl1pPr>
            <a:lvl2pPr marL="914400" marR="0" lvl="1" indent="-381000" algn="l">
              <a:lnSpc>
                <a:spcPct val="115000"/>
              </a:lnSpc>
              <a:spcBef>
                <a:spcPts val="1300"/>
              </a:spcBef>
              <a:spcAft>
                <a:spcPts val="0"/>
              </a:spcAft>
              <a:buClr>
                <a:schemeClr val="dk1"/>
              </a:buClr>
              <a:buSzPts val="2400"/>
              <a:buChar char="•"/>
              <a:defRPr sz="2400" i="0" u="none" strike="noStrike" cap="none">
                <a:solidFill>
                  <a:schemeClr val="dk1"/>
                </a:solidFill>
              </a:defRPr>
            </a:lvl2pPr>
            <a:lvl3pPr marL="1371600" marR="0" lvl="2" indent="-355600" algn="l">
              <a:lnSpc>
                <a:spcPct val="115000"/>
              </a:lnSpc>
              <a:spcBef>
                <a:spcPts val="1300"/>
              </a:spcBef>
              <a:spcAft>
                <a:spcPts val="0"/>
              </a:spcAft>
              <a:buClr>
                <a:schemeClr val="dk1"/>
              </a:buClr>
              <a:buSzPts val="2000"/>
              <a:buChar char="•"/>
              <a:defRPr sz="2000" i="0" u="none" strike="noStrike" cap="none">
                <a:solidFill>
                  <a:schemeClr val="dk1"/>
                </a:solidFill>
              </a:defRPr>
            </a:lvl3pPr>
            <a:lvl4pPr marL="1828800" marR="0" lvl="3" indent="-349250" algn="l">
              <a:lnSpc>
                <a:spcPct val="115000"/>
              </a:lnSpc>
              <a:spcBef>
                <a:spcPts val="1300"/>
              </a:spcBef>
              <a:spcAft>
                <a:spcPts val="0"/>
              </a:spcAft>
              <a:buClr>
                <a:schemeClr val="dk1"/>
              </a:buClr>
              <a:buSzPts val="1900"/>
              <a:buChar char="•"/>
              <a:defRPr sz="1900" i="0" u="none" strike="noStrike" cap="none">
                <a:solidFill>
                  <a:schemeClr val="dk1"/>
                </a:solidFill>
              </a:defRPr>
            </a:lvl4pPr>
            <a:lvl5pPr marL="2286000" marR="0" lvl="4" indent="-349250" algn="l">
              <a:lnSpc>
                <a:spcPct val="115000"/>
              </a:lnSpc>
              <a:spcBef>
                <a:spcPts val="1300"/>
              </a:spcBef>
              <a:spcAft>
                <a:spcPts val="0"/>
              </a:spcAft>
              <a:buClr>
                <a:schemeClr val="dk1"/>
              </a:buClr>
              <a:buSzPts val="1900"/>
              <a:buChar char="•"/>
              <a:defRPr sz="1900" i="0" u="none" strike="noStrike" cap="none">
                <a:solidFill>
                  <a:schemeClr val="dk1"/>
                </a:solidFill>
              </a:defRPr>
            </a:lvl5pPr>
            <a:lvl6pPr marL="2743200" marR="0" lvl="5" indent="-349250" algn="l">
              <a:lnSpc>
                <a:spcPct val="115000"/>
              </a:lnSpc>
              <a:spcBef>
                <a:spcPts val="1300"/>
              </a:spcBef>
              <a:spcAft>
                <a:spcPts val="0"/>
              </a:spcAft>
              <a:buClr>
                <a:schemeClr val="dk1"/>
              </a:buClr>
              <a:buSzPts val="1900"/>
              <a:buChar char="•"/>
              <a:defRPr sz="1900" i="0" u="none" strike="noStrike" cap="none">
                <a:solidFill>
                  <a:schemeClr val="dk1"/>
                </a:solidFill>
              </a:defRPr>
            </a:lvl6pPr>
            <a:lvl7pPr marL="3200400" marR="0" lvl="6" indent="-349250" algn="l">
              <a:lnSpc>
                <a:spcPct val="115000"/>
              </a:lnSpc>
              <a:spcBef>
                <a:spcPts val="1300"/>
              </a:spcBef>
              <a:spcAft>
                <a:spcPts val="0"/>
              </a:spcAft>
              <a:buClr>
                <a:schemeClr val="dk1"/>
              </a:buClr>
              <a:buSzPts val="1900"/>
              <a:buChar char="•"/>
              <a:defRPr sz="1900" i="0" u="none" strike="noStrike" cap="none">
                <a:solidFill>
                  <a:schemeClr val="dk1"/>
                </a:solidFill>
              </a:defRPr>
            </a:lvl7pPr>
            <a:lvl8pPr marL="3657600" marR="0" lvl="7" indent="-349250" algn="l">
              <a:lnSpc>
                <a:spcPct val="115000"/>
              </a:lnSpc>
              <a:spcBef>
                <a:spcPts val="1300"/>
              </a:spcBef>
              <a:spcAft>
                <a:spcPts val="0"/>
              </a:spcAft>
              <a:buClr>
                <a:schemeClr val="dk1"/>
              </a:buClr>
              <a:buSzPts val="1900"/>
              <a:buChar char="•"/>
              <a:defRPr sz="1900" i="0" u="none" strike="noStrike" cap="none">
                <a:solidFill>
                  <a:schemeClr val="dk1"/>
                </a:solidFill>
              </a:defRPr>
            </a:lvl8pPr>
            <a:lvl9pPr marL="4114800" marR="0" lvl="8" indent="-349250" algn="l">
              <a:lnSpc>
                <a:spcPct val="115000"/>
              </a:lnSpc>
              <a:spcBef>
                <a:spcPts val="1300"/>
              </a:spcBef>
              <a:spcAft>
                <a:spcPts val="0"/>
              </a:spcAft>
              <a:buClr>
                <a:schemeClr val="dk1"/>
              </a:buClr>
              <a:buSzPts val="1900"/>
              <a:buChar char="•"/>
              <a:defRPr sz="1900" i="0" u="none" strike="noStrike" cap="none">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1">
  <p:cSld name="CUSTOM_1">
    <p:spTree>
      <p:nvGrpSpPr>
        <p:cNvPr id="1" name="Shape 60"/>
        <p:cNvGrpSpPr/>
        <p:nvPr/>
      </p:nvGrpSpPr>
      <p:grpSpPr>
        <a:xfrm>
          <a:off x="0" y="0"/>
          <a:ext cx="0" cy="0"/>
          <a:chOff x="0" y="0"/>
          <a:chExt cx="0" cy="0"/>
        </a:xfrm>
      </p:grpSpPr>
      <p:sp>
        <p:nvSpPr>
          <p:cNvPr id="61" name="Google Shape;61;g3f95de07730_1_646"/>
          <p:cNvSpPr txBox="1">
            <a:spLocks noGrp="1"/>
          </p:cNvSpPr>
          <p:nvPr>
            <p:ph type="title"/>
          </p:nvPr>
        </p:nvSpPr>
        <p:spPr>
          <a:xfrm>
            <a:off x="838200" y="365125"/>
            <a:ext cx="10515600" cy="1325700"/>
          </a:xfrm>
          <a:prstGeom prst="rect">
            <a:avLst/>
          </a:prstGeom>
        </p:spPr>
        <p:txBody>
          <a:bodyPr spcFirstLastPara="1" wrap="square" lIns="91425" tIns="45700" rIns="91425" bIns="45700" anchor="t" anchorCtr="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g3f95de07730_1_646"/>
          <p:cNvSpPr txBox="1">
            <a:spLocks noGrp="1"/>
          </p:cNvSpPr>
          <p:nvPr>
            <p:ph type="sldNum" idx="12"/>
          </p:nvPr>
        </p:nvSpPr>
        <p:spPr>
          <a:xfrm>
            <a:off x="11601600" y="6236033"/>
            <a:ext cx="423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chemeClr val="lt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1 1">
  <p:cSld name="Blank">
    <p:spTree>
      <p:nvGrpSpPr>
        <p:cNvPr id="1" name="Shape 77"/>
        <p:cNvGrpSpPr/>
        <p:nvPr/>
      </p:nvGrpSpPr>
      <p:grpSpPr>
        <a:xfrm>
          <a:off x="0" y="0"/>
          <a:ext cx="0" cy="0"/>
          <a:chOff x="0" y="0"/>
          <a:chExt cx="0" cy="0"/>
        </a:xfrm>
      </p:grpSpPr>
      <p:sp>
        <p:nvSpPr>
          <p:cNvPr id="78" name="Google Shape;78;g3f95de07730_1_950"/>
          <p:cNvSpPr txBox="1">
            <a:spLocks noGrp="1"/>
          </p:cNvSpPr>
          <p:nvPr>
            <p:ph type="sldNum" idx="12"/>
          </p:nvPr>
        </p:nvSpPr>
        <p:spPr>
          <a:xfrm>
            <a:off x="8778240" y="6377940"/>
            <a:ext cx="2804100" cy="1692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594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5"/>
        <p:cNvGrpSpPr/>
        <p:nvPr/>
      </p:nvGrpSpPr>
      <p:grpSpPr>
        <a:xfrm>
          <a:off x="0" y="0"/>
          <a:ext cx="0" cy="0"/>
          <a:chOff x="0" y="0"/>
          <a:chExt cx="0" cy="0"/>
        </a:xfrm>
      </p:grpSpPr>
      <p:sp>
        <p:nvSpPr>
          <p:cNvPr id="6" name="Google Shape;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A5B6E"/>
              </a:buClr>
              <a:buSzPts val="4400"/>
              <a:buFont typeface="Calibri"/>
              <a:buNone/>
              <a:defRPr sz="4400" b="1" i="0" u="none" strike="noStrike" cap="none">
                <a:solidFill>
                  <a:srgbClr val="1A5B6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33"/>
          <p:cNvSpPr txBox="1">
            <a:spLocks noGrp="1"/>
          </p:cNvSpPr>
          <p:nvPr>
            <p:ph type="body" idx="1"/>
          </p:nvPr>
        </p:nvSpPr>
        <p:spPr>
          <a:xfrm>
            <a:off x="838200" y="1825624"/>
            <a:ext cx="10515600" cy="379669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595959"/>
              </a:buClr>
              <a:buSzPts val="2800"/>
              <a:buFont typeface="Calibri"/>
              <a:buChar char="•"/>
              <a:defRPr sz="2800" b="0" i="0" u="none" strike="noStrike" cap="none">
                <a:solidFill>
                  <a:srgbClr val="595959"/>
                </a:solidFill>
                <a:latin typeface="Calibri"/>
                <a:ea typeface="Calibri"/>
                <a:cs typeface="Calibri"/>
                <a:sym typeface="Calibri"/>
              </a:defRPr>
            </a:lvl1pPr>
            <a:lvl2pPr marL="914400" marR="0" lvl="1" indent="-381000" algn="l" rtl="0">
              <a:lnSpc>
                <a:spcPct val="100000"/>
              </a:lnSpc>
              <a:spcBef>
                <a:spcPts val="1000"/>
              </a:spcBef>
              <a:spcAft>
                <a:spcPts val="0"/>
              </a:spcAft>
              <a:buClr>
                <a:srgbClr val="595959"/>
              </a:buClr>
              <a:buSzPts val="2400"/>
              <a:buFont typeface="Calibri"/>
              <a:buChar char="•"/>
              <a:defRPr sz="2400" b="0" i="0" u="none" strike="noStrike" cap="none">
                <a:solidFill>
                  <a:srgbClr val="595959"/>
                </a:solidFill>
                <a:latin typeface="Calibri"/>
                <a:ea typeface="Calibri"/>
                <a:cs typeface="Calibri"/>
                <a:sym typeface="Calibri"/>
              </a:defRPr>
            </a:lvl2pPr>
            <a:lvl3pPr marL="1371600" marR="0" lvl="2" indent="-355600" algn="l" rtl="0">
              <a:lnSpc>
                <a:spcPct val="100000"/>
              </a:lnSpc>
              <a:spcBef>
                <a:spcPts val="1000"/>
              </a:spcBef>
              <a:spcAft>
                <a:spcPts val="0"/>
              </a:spcAft>
              <a:buClr>
                <a:srgbClr val="595959"/>
              </a:buClr>
              <a:buSzPts val="2000"/>
              <a:buFont typeface="Calibri"/>
              <a:buChar char="•"/>
              <a:defRPr sz="2000" b="0" i="0" u="none" strike="noStrike" cap="none">
                <a:solidFill>
                  <a:srgbClr val="595959"/>
                </a:solidFill>
                <a:latin typeface="Calibri"/>
                <a:ea typeface="Calibri"/>
                <a:cs typeface="Calibri"/>
                <a:sym typeface="Calibri"/>
              </a:defRPr>
            </a:lvl3pPr>
            <a:lvl4pPr marL="1828800" marR="0" lvl="3" indent="-342900" algn="l" rtl="0">
              <a:lnSpc>
                <a:spcPct val="100000"/>
              </a:lnSpc>
              <a:spcBef>
                <a:spcPts val="1000"/>
              </a:spcBef>
              <a:spcAft>
                <a:spcPts val="0"/>
              </a:spcAft>
              <a:buClr>
                <a:srgbClr val="595959"/>
              </a:buClr>
              <a:buSzPts val="1800"/>
              <a:buFont typeface="Calibri"/>
              <a:buChar char="•"/>
              <a:defRPr sz="1800" b="0" i="0" u="none" strike="noStrike" cap="none">
                <a:solidFill>
                  <a:srgbClr val="595959"/>
                </a:solidFill>
                <a:latin typeface="Calibri"/>
                <a:ea typeface="Calibri"/>
                <a:cs typeface="Calibri"/>
                <a:sym typeface="Calibri"/>
              </a:defRPr>
            </a:lvl4pPr>
            <a:lvl5pPr marL="2286000" marR="0" lvl="4" indent="-342900" algn="l" rtl="0">
              <a:lnSpc>
                <a:spcPct val="100000"/>
              </a:lnSpc>
              <a:spcBef>
                <a:spcPts val="1000"/>
              </a:spcBef>
              <a:spcAft>
                <a:spcPts val="0"/>
              </a:spcAft>
              <a:buClr>
                <a:srgbClr val="595959"/>
              </a:buClr>
              <a:buSzPts val="1800"/>
              <a:buFont typeface="Calibri"/>
              <a:buChar char="•"/>
              <a:defRPr sz="1800" b="0" i="0" u="none" strike="noStrike" cap="none">
                <a:solidFill>
                  <a:srgbClr val="595959"/>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3"/>
          <p:cNvSpPr txBox="1">
            <a:spLocks noGrp="1"/>
          </p:cNvSpPr>
          <p:nvPr>
            <p:ph type="sldNum" idx="12"/>
          </p:nvPr>
        </p:nvSpPr>
        <p:spPr>
          <a:xfrm>
            <a:off x="9049266" y="624514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888888"/>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5" r:id="rId3"/>
    <p:sldLayoutId id="2147483656" r:id="rId4"/>
    <p:sldLayoutId id="2147483657" r:id="rId5"/>
    <p:sldLayoutId id="2147483658" r:id="rId6"/>
    <p:sldLayoutId id="2147483660" r:id="rId7"/>
    <p:sldLayoutId id="2147483664" r:id="rId8"/>
    <p:sldLayoutId id="214748366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8.png"/><Relationship Id="rId11" Type="http://schemas.openxmlformats.org/officeDocument/2006/relationships/hyperlink" Target="https://pegasus.isi.edu/application-showcase/" TargetMode="External"/><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1.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hyperlink" Target="https://pegasus.isi.edu/documentation/user-guide/deployment-scenarios.html#nersc-perlmutter-via-sfapi" TargetMode="External"/><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hyperlink" Target="https://dornsife.usc.edu/lloyd/projects/" TargetMode="Externa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pegasus-isi/ACCESS-Pegasus-Examples"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hyperlink" Target="mailto:pegasus-support@isi.edu"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pegasus.isi.edu"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mailto:vahi@isi.edu"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title"/>
          </p:nvPr>
        </p:nvSpPr>
        <p:spPr>
          <a:xfrm>
            <a:off x="1367366" y="2465740"/>
            <a:ext cx="9457200" cy="1926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rgbClr val="000000"/>
              </a:buClr>
              <a:buSzPct val="100000"/>
              <a:buFont typeface="Arial"/>
              <a:buNone/>
            </a:pPr>
            <a:r>
              <a:rPr lang="en-US" sz="6000" dirty="0"/>
              <a:t>Scientific Workflows with Pegasus on NERSC Resources using SFAPI </a:t>
            </a:r>
            <a:endParaRPr dirty="0"/>
          </a:p>
        </p:txBody>
      </p:sp>
      <p:sp>
        <p:nvSpPr>
          <p:cNvPr id="85" name="Google Shape;85;p1"/>
          <p:cNvSpPr txBox="1"/>
          <p:nvPr/>
        </p:nvSpPr>
        <p:spPr>
          <a:xfrm>
            <a:off x="2749776" y="4647525"/>
            <a:ext cx="6773400" cy="1231066"/>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Clr>
                <a:schemeClr val="dk1"/>
              </a:buClr>
              <a:buSzPts val="1900"/>
              <a:buFont typeface="Arial"/>
              <a:buNone/>
            </a:pPr>
            <a:r>
              <a:rPr lang="en-US" sz="3200" b="1" dirty="0">
                <a:solidFill>
                  <a:schemeClr val="accent6"/>
                </a:solidFill>
                <a:latin typeface="Calibri"/>
                <a:ea typeface="Calibri"/>
                <a:cs typeface="Calibri"/>
                <a:sym typeface="Calibri"/>
              </a:rPr>
              <a:t> Karan Vahi</a:t>
            </a:r>
            <a:endParaRPr sz="3200" b="1" dirty="0">
              <a:solidFill>
                <a:schemeClr val="accent6"/>
              </a:solidFill>
              <a:latin typeface="Calibri"/>
              <a:ea typeface="Calibri"/>
              <a:cs typeface="Calibri"/>
              <a:sym typeface="Calibri"/>
            </a:endParaRPr>
          </a:p>
          <a:p>
            <a:pPr marL="0" lvl="0" indent="0" algn="ctr" rtl="0">
              <a:spcBef>
                <a:spcPts val="0"/>
              </a:spcBef>
              <a:spcAft>
                <a:spcPts val="0"/>
              </a:spcAft>
              <a:buClr>
                <a:schemeClr val="dk1"/>
              </a:buClr>
              <a:buSzPts val="1900"/>
              <a:buFont typeface="Arial"/>
              <a:buNone/>
            </a:pPr>
            <a:r>
              <a:rPr lang="en-US" sz="3200" b="1" baseline="30000" dirty="0">
                <a:solidFill>
                  <a:srgbClr val="1A5B6E"/>
                </a:solidFill>
                <a:latin typeface="Calibri"/>
                <a:ea typeface="Calibri"/>
                <a:cs typeface="Calibri"/>
                <a:sym typeface="Calibri"/>
              </a:rPr>
              <a:t> </a:t>
            </a:r>
            <a:r>
              <a:rPr lang="en-US" sz="3200" dirty="0">
                <a:solidFill>
                  <a:srgbClr val="1A5B6E"/>
                </a:solidFill>
                <a:latin typeface="Calibri"/>
                <a:ea typeface="Calibri"/>
                <a:cs typeface="Calibri"/>
                <a:sym typeface="Calibri"/>
              </a:rPr>
              <a:t>USC Information Sciences Institute </a:t>
            </a:r>
            <a:endParaRPr sz="3200" dirty="0">
              <a:solidFill>
                <a:srgbClr val="1A5B6E"/>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f95de07730_1_27"/>
          <p:cNvSpPr txBox="1">
            <a:spLocks noGrp="1"/>
          </p:cNvSpPr>
          <p:nvPr>
            <p:ph type="title"/>
          </p:nvPr>
        </p:nvSpPr>
        <p:spPr>
          <a:xfrm>
            <a:off x="838200" y="365131"/>
            <a:ext cx="10515600" cy="995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34091"/>
              <a:buFont typeface="Arial"/>
              <a:buNone/>
            </a:pPr>
            <a:r>
              <a:rPr lang="en-US"/>
              <a:t>The Challenge: Moving Beyond the Laptop</a:t>
            </a:r>
            <a:endParaRPr/>
          </a:p>
          <a:p>
            <a:pPr marL="0" lvl="0" indent="0" algn="l" rtl="0">
              <a:spcBef>
                <a:spcPts val="0"/>
              </a:spcBef>
              <a:spcAft>
                <a:spcPts val="0"/>
              </a:spcAft>
              <a:buClr>
                <a:schemeClr val="dk1"/>
              </a:buClr>
              <a:buSzPct val="34091"/>
              <a:buFont typeface="Arial"/>
              <a:buNone/>
            </a:pPr>
            <a:endParaRPr/>
          </a:p>
          <a:p>
            <a:pPr marL="0" lvl="0" indent="0" algn="l" rtl="0">
              <a:spcBef>
                <a:spcPts val="0"/>
              </a:spcBef>
              <a:spcAft>
                <a:spcPts val="0"/>
              </a:spcAft>
              <a:buNone/>
            </a:pPr>
            <a:endParaRPr/>
          </a:p>
        </p:txBody>
      </p:sp>
      <p:sp>
        <p:nvSpPr>
          <p:cNvPr id="138" name="Google Shape;138;g3f95de07730_1_27"/>
          <p:cNvSpPr txBox="1">
            <a:spLocks noGrp="1"/>
          </p:cNvSpPr>
          <p:nvPr>
            <p:ph type="body" idx="1"/>
          </p:nvPr>
        </p:nvSpPr>
        <p:spPr>
          <a:xfrm>
            <a:off x="838200" y="3892067"/>
            <a:ext cx="5069700" cy="1712400"/>
          </a:xfrm>
          <a:prstGeom prst="rect">
            <a:avLst/>
          </a:prstGeom>
        </p:spPr>
        <p:txBody>
          <a:bodyPr spcFirstLastPara="1" wrap="square" lIns="91425" tIns="45700" rIns="91425" bIns="45700" anchor="t" anchorCtr="0">
            <a:normAutofit fontScale="92500" lnSpcReduction="10000"/>
          </a:bodyPr>
          <a:lstStyle/>
          <a:p>
            <a:pPr marL="0" lvl="0" indent="0" algn="l" rtl="0">
              <a:spcBef>
                <a:spcPts val="1300"/>
              </a:spcBef>
              <a:spcAft>
                <a:spcPts val="0"/>
              </a:spcAft>
              <a:buClr>
                <a:schemeClr val="dk1"/>
              </a:buClr>
              <a:buSzPts val="1500"/>
              <a:buFont typeface="Arial"/>
              <a:buNone/>
            </a:pPr>
            <a:r>
              <a:rPr lang="en-US" sz="1600"/>
              <a:t>Quick to code, but hard to scale</a:t>
            </a:r>
            <a:endParaRPr sz="1600"/>
          </a:p>
          <a:p>
            <a:pPr marL="0" lvl="0" indent="0" algn="l" rtl="0">
              <a:spcBef>
                <a:spcPts val="1300"/>
              </a:spcBef>
              <a:spcAft>
                <a:spcPts val="0"/>
              </a:spcAft>
              <a:buClr>
                <a:schemeClr val="dk1"/>
              </a:buClr>
              <a:buSzPts val="1500"/>
              <a:buFont typeface="Arial"/>
              <a:buNone/>
            </a:pPr>
            <a:r>
              <a:rPr lang="en-US" sz="1600"/>
              <a:t>Difficult to maintain and error-prone</a:t>
            </a:r>
            <a:endParaRPr sz="1600"/>
          </a:p>
          <a:p>
            <a:pPr marL="0" lvl="0" indent="0" algn="l" rtl="0">
              <a:spcBef>
                <a:spcPts val="1300"/>
              </a:spcBef>
              <a:spcAft>
                <a:spcPts val="0"/>
              </a:spcAft>
              <a:buClr>
                <a:schemeClr val="dk1"/>
              </a:buClr>
              <a:buSzPts val="1500"/>
              <a:buFont typeface="Arial"/>
              <a:buNone/>
            </a:pPr>
            <a:r>
              <a:rPr lang="en-US" sz="1600"/>
              <a:t>Hard to move between resources (Laptop vs. Cluster)</a:t>
            </a:r>
            <a:endParaRPr sz="1600"/>
          </a:p>
          <a:p>
            <a:pPr marL="0" lvl="0" indent="0" algn="l" rtl="0">
              <a:spcBef>
                <a:spcPts val="1300"/>
              </a:spcBef>
              <a:spcAft>
                <a:spcPts val="0"/>
              </a:spcAft>
              <a:buNone/>
            </a:pPr>
            <a:r>
              <a:rPr lang="en-US" sz="1600"/>
              <a:t>“Works on my machine” syndrome</a:t>
            </a:r>
            <a:endParaRPr sz="1600"/>
          </a:p>
        </p:txBody>
      </p:sp>
      <p:sp>
        <p:nvSpPr>
          <p:cNvPr id="139" name="Google Shape;139;g3f95de07730_1_27"/>
          <p:cNvSpPr txBox="1">
            <a:spLocks noGrp="1"/>
          </p:cNvSpPr>
          <p:nvPr>
            <p:ph type="body" idx="2"/>
          </p:nvPr>
        </p:nvSpPr>
        <p:spPr>
          <a:xfrm>
            <a:off x="6280167" y="3999267"/>
            <a:ext cx="5069700" cy="1712400"/>
          </a:xfrm>
          <a:prstGeom prst="rect">
            <a:avLst/>
          </a:prstGeom>
        </p:spPr>
        <p:txBody>
          <a:bodyPr spcFirstLastPara="1" wrap="square" lIns="91425" tIns="45700" rIns="91425" bIns="45700" anchor="t" anchorCtr="0">
            <a:normAutofit fontScale="92500" lnSpcReduction="10000"/>
          </a:bodyPr>
          <a:lstStyle/>
          <a:p>
            <a:pPr marL="0" lvl="0" indent="0" algn="l" rtl="0">
              <a:spcBef>
                <a:spcPts val="1300"/>
              </a:spcBef>
              <a:spcAft>
                <a:spcPts val="0"/>
              </a:spcAft>
              <a:buClr>
                <a:schemeClr val="dk1"/>
              </a:buClr>
              <a:buSzPts val="1500"/>
              <a:buFont typeface="Arial"/>
              <a:buNone/>
            </a:pPr>
            <a:r>
              <a:rPr lang="en-US" sz="1600"/>
              <a:t>Declarative: Describe what to do, not how</a:t>
            </a:r>
            <a:endParaRPr sz="1600"/>
          </a:p>
          <a:p>
            <a:pPr marL="0" lvl="0" indent="0" algn="l" rtl="0">
              <a:spcBef>
                <a:spcPts val="1300"/>
              </a:spcBef>
              <a:spcAft>
                <a:spcPts val="0"/>
              </a:spcAft>
              <a:buClr>
                <a:schemeClr val="dk1"/>
              </a:buClr>
              <a:buSzPts val="1500"/>
              <a:buFont typeface="Arial"/>
              <a:buNone/>
            </a:pPr>
            <a:r>
              <a:rPr lang="en-US" sz="1600"/>
              <a:t>Automated: Minimizes human involvement</a:t>
            </a:r>
            <a:endParaRPr sz="1600"/>
          </a:p>
          <a:p>
            <a:pPr marL="0" lvl="0" indent="0" algn="l" rtl="0">
              <a:spcBef>
                <a:spcPts val="1300"/>
              </a:spcBef>
              <a:spcAft>
                <a:spcPts val="0"/>
              </a:spcAft>
              <a:buClr>
                <a:schemeClr val="dk1"/>
              </a:buClr>
              <a:buSzPts val="1500"/>
              <a:buFont typeface="Arial"/>
              <a:buNone/>
            </a:pPr>
            <a:r>
              <a:rPr lang="en-US" sz="1600"/>
              <a:t>Provenance: Tracks history for reproducibility</a:t>
            </a:r>
            <a:endParaRPr sz="1600"/>
          </a:p>
          <a:p>
            <a:pPr marL="0" lvl="0" indent="0" algn="l" rtl="0">
              <a:spcBef>
                <a:spcPts val="1300"/>
              </a:spcBef>
              <a:spcAft>
                <a:spcPts val="0"/>
              </a:spcAft>
              <a:buNone/>
            </a:pPr>
            <a:r>
              <a:rPr lang="en-US" sz="1600"/>
              <a:t>Portable: Runs on ACCESS, NAIRR, cloud, …</a:t>
            </a:r>
            <a:endParaRPr sz="1600"/>
          </a:p>
        </p:txBody>
      </p:sp>
      <p:pic>
        <p:nvPicPr>
          <p:cNvPr id="140" name="Google Shape;140;g3f95de07730_1_27"/>
          <p:cNvPicPr preferRelativeResize="0"/>
          <p:nvPr/>
        </p:nvPicPr>
        <p:blipFill rotWithShape="1">
          <a:blip r:embed="rId3">
            <a:alphaModFix/>
          </a:blip>
          <a:srcRect/>
          <a:stretch/>
        </p:blipFill>
        <p:spPr>
          <a:xfrm>
            <a:off x="1916814" y="1828409"/>
            <a:ext cx="2203783" cy="1888201"/>
          </a:xfrm>
          <a:prstGeom prst="rect">
            <a:avLst/>
          </a:prstGeom>
          <a:noFill/>
          <a:ln>
            <a:noFill/>
          </a:ln>
        </p:spPr>
      </p:pic>
      <p:pic>
        <p:nvPicPr>
          <p:cNvPr id="141" name="Google Shape;141;g3f95de07730_1_27"/>
          <p:cNvPicPr preferRelativeResize="0"/>
          <p:nvPr/>
        </p:nvPicPr>
        <p:blipFill>
          <a:blip r:embed="rId4">
            <a:alphaModFix/>
          </a:blip>
          <a:stretch>
            <a:fillRect/>
          </a:stretch>
        </p:blipFill>
        <p:spPr>
          <a:xfrm>
            <a:off x="7804366" y="1652967"/>
            <a:ext cx="1734877" cy="2239100"/>
          </a:xfrm>
          <a:prstGeom prst="rect">
            <a:avLst/>
          </a:prstGeom>
          <a:noFill/>
          <a:ln>
            <a:noFill/>
          </a:ln>
        </p:spPr>
      </p:pic>
      <p:sp>
        <p:nvSpPr>
          <p:cNvPr id="142" name="Google Shape;142;g3f95de07730_1_27"/>
          <p:cNvSpPr txBox="1"/>
          <p:nvPr/>
        </p:nvSpPr>
        <p:spPr>
          <a:xfrm>
            <a:off x="539300" y="1119367"/>
            <a:ext cx="4958700" cy="5388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1900" b="1"/>
              <a:t>The Scripting Trap</a:t>
            </a:r>
            <a:endParaRPr sz="1900" b="1"/>
          </a:p>
        </p:txBody>
      </p:sp>
      <p:sp>
        <p:nvSpPr>
          <p:cNvPr id="143" name="Google Shape;143;g3f95de07730_1_27"/>
          <p:cNvSpPr txBox="1"/>
          <p:nvPr/>
        </p:nvSpPr>
        <p:spPr>
          <a:xfrm>
            <a:off x="6096000" y="1119367"/>
            <a:ext cx="5069700" cy="538800"/>
          </a:xfrm>
          <a:prstGeom prst="rect">
            <a:avLst/>
          </a:prstGeom>
          <a:noFill/>
          <a:ln>
            <a:noFill/>
          </a:ln>
        </p:spPr>
        <p:txBody>
          <a:bodyPr spcFirstLastPara="1" wrap="square" lIns="121900" tIns="121900" rIns="121900" bIns="121900" anchor="t" anchorCtr="0">
            <a:spAutoFit/>
          </a:bodyPr>
          <a:lstStyle/>
          <a:p>
            <a:pPr marL="0" lvl="0" indent="0" algn="ctr" rtl="0">
              <a:spcBef>
                <a:spcPts val="0"/>
              </a:spcBef>
              <a:spcAft>
                <a:spcPts val="0"/>
              </a:spcAft>
              <a:buNone/>
            </a:pPr>
            <a:r>
              <a:rPr lang="en-US" sz="1900" b="1"/>
              <a:t>The Workflow Advantage</a:t>
            </a:r>
            <a:endParaRPr sz="1900" b="1"/>
          </a:p>
        </p:txBody>
      </p:sp>
      <p:sp>
        <p:nvSpPr>
          <p:cNvPr id="144" name="Google Shape;144;g3f95de07730_1_27"/>
          <p:cNvSpPr/>
          <p:nvPr/>
        </p:nvSpPr>
        <p:spPr>
          <a:xfrm>
            <a:off x="5907801" y="1018153"/>
            <a:ext cx="0" cy="4815960"/>
          </a:xfrm>
          <a:custGeom>
            <a:avLst/>
            <a:gdLst/>
            <a:ahLst/>
            <a:cxnLst/>
            <a:rect l="l" t="t" r="r" b="b"/>
            <a:pathLst>
              <a:path w="120000" h="6855459" extrusionOk="0">
                <a:moveTo>
                  <a:pt x="0" y="6855418"/>
                </a:moveTo>
                <a:lnTo>
                  <a:pt x="0" y="0"/>
                </a:lnTo>
              </a:path>
            </a:pathLst>
          </a:custGeom>
          <a:noFill/>
          <a:ln w="89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300"/>
          </a:p>
        </p:txBody>
      </p:sp>
      <p:sp>
        <p:nvSpPr>
          <p:cNvPr id="145" name="Google Shape;145;g3f95de07730_1_27"/>
          <p:cNvSpPr txBox="1">
            <a:spLocks noGrp="1"/>
          </p:cNvSpPr>
          <p:nvPr>
            <p:ph type="sldNum" idx="12"/>
          </p:nvPr>
        </p:nvSpPr>
        <p:spPr>
          <a:xfrm>
            <a:off x="11601600" y="6236033"/>
            <a:ext cx="423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f95de07730_1_39"/>
          <p:cNvSpPr/>
          <p:nvPr/>
        </p:nvSpPr>
        <p:spPr>
          <a:xfrm>
            <a:off x="476766" y="4684544"/>
            <a:ext cx="1080000" cy="1080000"/>
          </a:xfrm>
          <a:prstGeom prst="roundRect">
            <a:avLst>
              <a:gd name="adj" fmla="val 11104"/>
            </a:avLst>
          </a:prstGeom>
          <a:gradFill>
            <a:gsLst>
              <a:gs pos="0">
                <a:srgbClr val="4AB9C4"/>
              </a:gs>
              <a:gs pos="86000">
                <a:srgbClr val="365CAA"/>
              </a:gs>
              <a:gs pos="100000">
                <a:srgbClr val="365CAA"/>
              </a:gs>
            </a:gsLst>
            <a:path path="circle">
              <a:fillToRect l="100000" b="100000"/>
            </a:path>
            <a:tileRect t="-100000" r="-10000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rgbClr val="F2F2F2"/>
              </a:solidFill>
              <a:latin typeface="Calibri"/>
              <a:ea typeface="Calibri"/>
              <a:cs typeface="Calibri"/>
              <a:sym typeface="Calibri"/>
            </a:endParaRPr>
          </a:p>
        </p:txBody>
      </p:sp>
      <p:pic>
        <p:nvPicPr>
          <p:cNvPr id="151" name="Google Shape;151;g3f95de07730_1_39"/>
          <p:cNvPicPr preferRelativeResize="0"/>
          <p:nvPr/>
        </p:nvPicPr>
        <p:blipFill rotWithShape="1">
          <a:blip r:embed="rId3">
            <a:alphaModFix/>
          </a:blip>
          <a:srcRect/>
          <a:stretch/>
        </p:blipFill>
        <p:spPr>
          <a:xfrm>
            <a:off x="3729983" y="1670548"/>
            <a:ext cx="1030593" cy="1186326"/>
          </a:xfrm>
          <a:prstGeom prst="rect">
            <a:avLst/>
          </a:prstGeom>
          <a:noFill/>
          <a:ln>
            <a:noFill/>
          </a:ln>
        </p:spPr>
      </p:pic>
      <p:pic>
        <p:nvPicPr>
          <p:cNvPr id="152" name="Google Shape;152;g3f95de07730_1_39"/>
          <p:cNvPicPr preferRelativeResize="0"/>
          <p:nvPr/>
        </p:nvPicPr>
        <p:blipFill rotWithShape="1">
          <a:blip r:embed="rId4">
            <a:alphaModFix/>
          </a:blip>
          <a:srcRect/>
          <a:stretch/>
        </p:blipFill>
        <p:spPr>
          <a:xfrm>
            <a:off x="3626924" y="1874676"/>
            <a:ext cx="1133652" cy="1304959"/>
          </a:xfrm>
          <a:prstGeom prst="rect">
            <a:avLst/>
          </a:prstGeom>
          <a:noFill/>
          <a:ln>
            <a:noFill/>
          </a:ln>
        </p:spPr>
      </p:pic>
      <p:pic>
        <p:nvPicPr>
          <p:cNvPr id="153" name="Google Shape;153;g3f95de07730_1_39"/>
          <p:cNvPicPr preferRelativeResize="0"/>
          <p:nvPr/>
        </p:nvPicPr>
        <p:blipFill rotWithShape="1">
          <a:blip r:embed="rId5">
            <a:alphaModFix/>
          </a:blip>
          <a:srcRect/>
          <a:stretch/>
        </p:blipFill>
        <p:spPr>
          <a:xfrm>
            <a:off x="3513559" y="2072872"/>
            <a:ext cx="1247017" cy="1435455"/>
          </a:xfrm>
          <a:prstGeom prst="rect">
            <a:avLst/>
          </a:prstGeom>
          <a:noFill/>
          <a:ln>
            <a:noFill/>
          </a:ln>
        </p:spPr>
      </p:pic>
      <p:sp>
        <p:nvSpPr>
          <p:cNvPr id="154" name="Google Shape;154;g3f95de07730_1_39"/>
          <p:cNvSpPr/>
          <p:nvPr/>
        </p:nvSpPr>
        <p:spPr>
          <a:xfrm>
            <a:off x="476766" y="2777563"/>
            <a:ext cx="2713200" cy="1332000"/>
          </a:xfrm>
          <a:prstGeom prst="round2SameRect">
            <a:avLst>
              <a:gd name="adj1" fmla="val 0"/>
              <a:gd name="adj2" fmla="val 10130"/>
            </a:avLst>
          </a:prstGeom>
          <a:gradFill>
            <a:gsLst>
              <a:gs pos="0">
                <a:srgbClr val="FFFFFF">
                  <a:alpha val="0"/>
                </a:srgbClr>
              </a:gs>
              <a:gs pos="100000">
                <a:srgbClr val="E7E6E6">
                  <a:alpha val="74902"/>
                </a:srgbClr>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lt1"/>
              </a:solidFill>
              <a:latin typeface="Calibri"/>
              <a:ea typeface="Calibri"/>
              <a:cs typeface="Calibri"/>
              <a:sym typeface="Calibri"/>
            </a:endParaRPr>
          </a:p>
        </p:txBody>
      </p:sp>
      <p:sp>
        <p:nvSpPr>
          <p:cNvPr id="155" name="Google Shape;155;g3f95de07730_1_39"/>
          <p:cNvSpPr/>
          <p:nvPr/>
        </p:nvSpPr>
        <p:spPr>
          <a:xfrm>
            <a:off x="476766" y="1226299"/>
            <a:ext cx="2713200" cy="1332000"/>
          </a:xfrm>
          <a:prstGeom prst="round2SameRect">
            <a:avLst>
              <a:gd name="adj1" fmla="val 10127"/>
              <a:gd name="adj2" fmla="val 0"/>
            </a:avLst>
          </a:prstGeom>
          <a:gradFill>
            <a:gsLst>
              <a:gs pos="0">
                <a:srgbClr val="E7E6E6">
                  <a:alpha val="74902"/>
                </a:srgbClr>
              </a:gs>
              <a:gs pos="100000">
                <a:srgbClr val="FFFFFF">
                  <a:alpha val="0"/>
                </a:srgbClr>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lt1"/>
              </a:solidFill>
              <a:latin typeface="Calibri"/>
              <a:ea typeface="Calibri"/>
              <a:cs typeface="Calibri"/>
              <a:sym typeface="Calibri"/>
            </a:endParaRPr>
          </a:p>
        </p:txBody>
      </p:sp>
      <p:sp>
        <p:nvSpPr>
          <p:cNvPr id="156" name="Google Shape;156;g3f95de07730_1_39"/>
          <p:cNvSpPr/>
          <p:nvPr/>
        </p:nvSpPr>
        <p:spPr>
          <a:xfrm rot="10800000" flipH="1">
            <a:off x="11625" y="-125"/>
            <a:ext cx="12158400" cy="1069200"/>
          </a:xfrm>
          <a:prstGeom prst="round2SameRect">
            <a:avLst>
              <a:gd name="adj1" fmla="val 29427"/>
              <a:gd name="adj2" fmla="val 0"/>
            </a:avLst>
          </a:prstGeom>
          <a:gradFill>
            <a:gsLst>
              <a:gs pos="0">
                <a:srgbClr val="FFFFFF"/>
              </a:gs>
              <a:gs pos="100000">
                <a:schemeClr val="lt2"/>
              </a:gs>
            </a:gsLst>
            <a:lin ang="540001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b="0" i="0" u="none" strike="noStrike" cap="none">
              <a:solidFill>
                <a:schemeClr val="lt1"/>
              </a:solidFill>
              <a:latin typeface="Calibri"/>
              <a:ea typeface="Calibri"/>
              <a:cs typeface="Calibri"/>
              <a:sym typeface="Calibri"/>
            </a:endParaRPr>
          </a:p>
        </p:txBody>
      </p:sp>
      <p:sp>
        <p:nvSpPr>
          <p:cNvPr id="157" name="Google Shape;157;g3f95de07730_1_39"/>
          <p:cNvSpPr/>
          <p:nvPr/>
        </p:nvSpPr>
        <p:spPr>
          <a:xfrm>
            <a:off x="2286607" y="200329"/>
            <a:ext cx="7637700" cy="5652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3200" b="0" i="0" u="none" strike="noStrike" cap="none">
                <a:solidFill>
                  <a:srgbClr val="4AB9C4"/>
                </a:solidFill>
                <a:latin typeface="Roboto Black"/>
                <a:ea typeface="Roboto Black"/>
                <a:cs typeface="Roboto Black"/>
                <a:sym typeface="Roboto Black"/>
              </a:rPr>
              <a:t>Pegasus Workflow Management System</a:t>
            </a:r>
            <a:endParaRPr sz="1500"/>
          </a:p>
        </p:txBody>
      </p:sp>
      <p:pic>
        <p:nvPicPr>
          <p:cNvPr id="158" name="Google Shape;158;g3f95de07730_1_39"/>
          <p:cNvPicPr preferRelativeResize="0"/>
          <p:nvPr/>
        </p:nvPicPr>
        <p:blipFill rotWithShape="1">
          <a:blip r:embed="rId6">
            <a:alphaModFix/>
          </a:blip>
          <a:srcRect/>
          <a:stretch/>
        </p:blipFill>
        <p:spPr>
          <a:xfrm>
            <a:off x="10298031" y="121044"/>
            <a:ext cx="988456" cy="826881"/>
          </a:xfrm>
          <a:prstGeom prst="rect">
            <a:avLst/>
          </a:prstGeom>
          <a:noFill/>
          <a:ln>
            <a:noFill/>
          </a:ln>
        </p:spPr>
      </p:pic>
      <p:pic>
        <p:nvPicPr>
          <p:cNvPr id="159" name="Google Shape;159;g3f95de07730_1_39"/>
          <p:cNvPicPr preferRelativeResize="0"/>
          <p:nvPr/>
        </p:nvPicPr>
        <p:blipFill rotWithShape="1">
          <a:blip r:embed="rId7">
            <a:alphaModFix/>
          </a:blip>
          <a:srcRect/>
          <a:stretch/>
        </p:blipFill>
        <p:spPr>
          <a:xfrm>
            <a:off x="1054175" y="92402"/>
            <a:ext cx="758278" cy="762242"/>
          </a:xfrm>
          <a:prstGeom prst="rect">
            <a:avLst/>
          </a:prstGeom>
          <a:noFill/>
          <a:ln>
            <a:noFill/>
          </a:ln>
        </p:spPr>
      </p:pic>
      <p:sp>
        <p:nvSpPr>
          <p:cNvPr id="160" name="Google Shape;160;g3f95de07730_1_39"/>
          <p:cNvSpPr/>
          <p:nvPr/>
        </p:nvSpPr>
        <p:spPr>
          <a:xfrm>
            <a:off x="464497" y="5089779"/>
            <a:ext cx="1104900" cy="534300"/>
          </a:xfrm>
          <a:prstGeom prst="rect">
            <a:avLst/>
          </a:prstGeom>
          <a:noFill/>
          <a:ln>
            <a:noFill/>
          </a:ln>
        </p:spPr>
        <p:txBody>
          <a:bodyPr spcFirstLastPara="1" wrap="square" lIns="36000" tIns="36000" rIns="36000" bIns="360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Roboto"/>
                <a:ea typeface="Roboto"/>
                <a:cs typeface="Roboto"/>
                <a:sym typeface="Roboto"/>
              </a:rPr>
              <a:t>Pegasus</a:t>
            </a:r>
            <a:endParaRPr sz="1600" b="1" i="0" u="none" strike="noStrike" cap="none">
              <a:solidFill>
                <a:schemeClr val="lt1"/>
              </a:solidFill>
              <a:latin typeface="Roboto"/>
              <a:ea typeface="Roboto"/>
              <a:cs typeface="Roboto"/>
              <a:sym typeface="Roboto"/>
            </a:endParaRPr>
          </a:p>
          <a:p>
            <a:pPr marL="0" marR="0" lvl="0" indent="0" algn="ctr" rtl="0">
              <a:spcBef>
                <a:spcPts val="0"/>
              </a:spcBef>
              <a:spcAft>
                <a:spcPts val="0"/>
              </a:spcAft>
              <a:buNone/>
            </a:pPr>
            <a:r>
              <a:rPr lang="en-US" sz="1300" b="1" i="0" u="none" strike="noStrike" cap="none">
                <a:solidFill>
                  <a:schemeClr val="lt1"/>
                </a:solidFill>
                <a:latin typeface="Roboto"/>
                <a:ea typeface="Roboto"/>
                <a:cs typeface="Roboto"/>
                <a:sym typeface="Roboto"/>
              </a:rPr>
              <a:t>in practice</a:t>
            </a:r>
            <a:endParaRPr sz="1300" b="1" i="0" u="none" strike="noStrike" cap="none">
              <a:solidFill>
                <a:schemeClr val="lt1"/>
              </a:solidFill>
              <a:latin typeface="Roboto"/>
              <a:ea typeface="Roboto"/>
              <a:cs typeface="Roboto"/>
              <a:sym typeface="Roboto"/>
            </a:endParaRPr>
          </a:p>
        </p:txBody>
      </p:sp>
      <p:sp>
        <p:nvSpPr>
          <p:cNvPr id="161" name="Google Shape;161;g3f95de07730_1_39"/>
          <p:cNvSpPr/>
          <p:nvPr/>
        </p:nvSpPr>
        <p:spPr>
          <a:xfrm>
            <a:off x="1662544" y="4649584"/>
            <a:ext cx="4348500" cy="1149900"/>
          </a:xfrm>
          <a:prstGeom prst="rect">
            <a:avLst/>
          </a:prstGeom>
          <a:noFill/>
          <a:ln>
            <a:noFill/>
          </a:ln>
        </p:spPr>
        <p:txBody>
          <a:bodyPr spcFirstLastPara="1" wrap="square" lIns="72000" tIns="36000" rIns="72000" bIns="36000" anchor="t" anchorCtr="0">
            <a:noAutofit/>
          </a:bodyPr>
          <a:lstStyle/>
          <a:p>
            <a:pPr marL="190500" marR="0" lvl="0" indent="-196850" algn="l" rtl="0">
              <a:spcBef>
                <a:spcPts val="0"/>
              </a:spcBef>
              <a:spcAft>
                <a:spcPts val="0"/>
              </a:spcAft>
              <a:buClr>
                <a:srgbClr val="2C75B6"/>
              </a:buClr>
              <a:buSzPts val="1100"/>
              <a:buFont typeface="Montserrat"/>
              <a:buChar char="▶"/>
            </a:pPr>
            <a:r>
              <a:rPr lang="en-US" sz="1100" b="1" i="0" u="none" strike="noStrike" cap="none">
                <a:solidFill>
                  <a:srgbClr val="3F3F3F"/>
                </a:solidFill>
                <a:latin typeface="Roboto"/>
                <a:ea typeface="Roboto"/>
                <a:cs typeface="Roboto"/>
                <a:sym typeface="Roboto"/>
              </a:rPr>
              <a:t>Laser Interferometer Gravitational Wave Observatory (LIGO) develops large scale analysis pipelines used for gravitational wave detection. </a:t>
            </a:r>
            <a:endParaRPr sz="1500"/>
          </a:p>
          <a:p>
            <a:pPr marL="190500" marR="0" lvl="0" indent="-196850" algn="l" rtl="0">
              <a:spcBef>
                <a:spcPts val="700"/>
              </a:spcBef>
              <a:spcAft>
                <a:spcPts val="0"/>
              </a:spcAft>
              <a:buClr>
                <a:srgbClr val="2C75B6"/>
              </a:buClr>
              <a:buSzPts val="1100"/>
              <a:buFont typeface="Montserrat"/>
              <a:buChar char="▶"/>
            </a:pPr>
            <a:r>
              <a:rPr lang="en-US" sz="1100" b="1" i="0" u="none" strike="noStrike" cap="none">
                <a:solidFill>
                  <a:srgbClr val="3F3F3F"/>
                </a:solidFill>
                <a:latin typeface="Roboto"/>
                <a:ea typeface="Roboto"/>
                <a:cs typeface="Roboto"/>
                <a:sym typeface="Roboto"/>
              </a:rPr>
              <a:t>Southern California Earthquake Center (SCEC) CyberShake project generates hazard maps using hierarchical workflows .</a:t>
            </a:r>
            <a:endParaRPr sz="1500"/>
          </a:p>
          <a:p>
            <a:pPr marL="190500" marR="0" lvl="0" indent="-196850" algn="l" rtl="0">
              <a:spcBef>
                <a:spcPts val="700"/>
              </a:spcBef>
              <a:spcAft>
                <a:spcPts val="0"/>
              </a:spcAft>
              <a:buClr>
                <a:srgbClr val="2C75B6"/>
              </a:buClr>
              <a:buSzPts val="1100"/>
              <a:buFont typeface="Montserrat"/>
              <a:buChar char="▶"/>
            </a:pPr>
            <a:r>
              <a:rPr lang="en-US" sz="1100" b="1">
                <a:solidFill>
                  <a:srgbClr val="3F3F3F"/>
                </a:solidFill>
                <a:latin typeface="Roboto"/>
                <a:ea typeface="Roboto"/>
                <a:cs typeface="Roboto"/>
                <a:sym typeface="Roboto"/>
              </a:rPr>
              <a:t>The Event Horizon Telescope uses Pegasus to orchestrate and scale complex distributed computing pipelines for data calibration, massive synthetic data generation, and deep learning inference</a:t>
            </a:r>
            <a:endParaRPr sz="1500"/>
          </a:p>
        </p:txBody>
      </p:sp>
      <p:grpSp>
        <p:nvGrpSpPr>
          <p:cNvPr id="162" name="Google Shape;162;g3f95de07730_1_39"/>
          <p:cNvGrpSpPr/>
          <p:nvPr/>
        </p:nvGrpSpPr>
        <p:grpSpPr>
          <a:xfrm>
            <a:off x="5921816" y="3573424"/>
            <a:ext cx="5794161" cy="2412587"/>
            <a:chOff x="5449707" y="4022561"/>
            <a:chExt cx="6255167" cy="2604542"/>
          </a:xfrm>
        </p:grpSpPr>
        <p:grpSp>
          <p:nvGrpSpPr>
            <p:cNvPr id="163" name="Google Shape;163;g3f95de07730_1_39"/>
            <p:cNvGrpSpPr/>
            <p:nvPr/>
          </p:nvGrpSpPr>
          <p:grpSpPr>
            <a:xfrm>
              <a:off x="5449707" y="5316150"/>
              <a:ext cx="3656157" cy="1279117"/>
              <a:chOff x="4991826" y="3848740"/>
              <a:chExt cx="3728489" cy="1304422"/>
            </a:xfrm>
          </p:grpSpPr>
          <p:sp>
            <p:nvSpPr>
              <p:cNvPr id="164" name="Google Shape;164;g3f95de07730_1_39"/>
              <p:cNvSpPr txBox="1"/>
              <p:nvPr/>
            </p:nvSpPr>
            <p:spPr>
              <a:xfrm flipH="1">
                <a:off x="4991826" y="4116181"/>
                <a:ext cx="980100" cy="7116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900" b="1" i="1" u="none" strike="noStrike" cap="none">
                    <a:solidFill>
                      <a:srgbClr val="BA083A"/>
                    </a:solidFill>
                    <a:latin typeface="Roboto"/>
                    <a:ea typeface="Roboto"/>
                    <a:cs typeface="Roboto"/>
                    <a:sym typeface="Roboto"/>
                  </a:rPr>
                  <a:t>LIGO observation </a:t>
                </a:r>
                <a:endParaRPr sz="900" b="1" i="1" u="none" strike="noStrike" cap="none">
                  <a:solidFill>
                    <a:srgbClr val="BA083A"/>
                  </a:solidFill>
                  <a:latin typeface="Roboto"/>
                  <a:ea typeface="Roboto"/>
                  <a:cs typeface="Roboto"/>
                  <a:sym typeface="Roboto"/>
                </a:endParaRPr>
              </a:p>
              <a:p>
                <a:pPr marL="0" marR="0" lvl="0" indent="0" algn="r" rtl="0">
                  <a:spcBef>
                    <a:spcPts val="0"/>
                  </a:spcBef>
                  <a:spcAft>
                    <a:spcPts val="0"/>
                  </a:spcAft>
                  <a:buNone/>
                </a:pPr>
                <a:r>
                  <a:rPr lang="en-US" sz="900" b="1" i="1" u="none" strike="noStrike" cap="none">
                    <a:solidFill>
                      <a:srgbClr val="BA083A"/>
                    </a:solidFill>
                    <a:latin typeface="Roboto"/>
                    <a:ea typeface="Roboto"/>
                    <a:cs typeface="Roboto"/>
                    <a:sym typeface="Roboto"/>
                  </a:rPr>
                  <a:t>of colliding black holes</a:t>
                </a:r>
                <a:endParaRPr sz="1500"/>
              </a:p>
            </p:txBody>
          </p:sp>
          <p:pic>
            <p:nvPicPr>
              <p:cNvPr id="165" name="Google Shape;165;g3f95de07730_1_39"/>
              <p:cNvPicPr preferRelativeResize="0"/>
              <p:nvPr/>
            </p:nvPicPr>
            <p:blipFill rotWithShape="1">
              <a:blip r:embed="rId8">
                <a:alphaModFix/>
              </a:blip>
              <a:srcRect/>
              <a:stretch/>
            </p:blipFill>
            <p:spPr>
              <a:xfrm>
                <a:off x="5991459" y="3848740"/>
                <a:ext cx="2728856" cy="1304422"/>
              </a:xfrm>
              <a:prstGeom prst="rect">
                <a:avLst/>
              </a:prstGeom>
              <a:noFill/>
              <a:ln>
                <a:noFill/>
              </a:ln>
            </p:spPr>
          </p:pic>
        </p:grpSp>
        <p:grpSp>
          <p:nvGrpSpPr>
            <p:cNvPr id="166" name="Google Shape;166;g3f95de07730_1_39"/>
            <p:cNvGrpSpPr/>
            <p:nvPr/>
          </p:nvGrpSpPr>
          <p:grpSpPr>
            <a:xfrm>
              <a:off x="9206753" y="4022561"/>
              <a:ext cx="2498122" cy="2604542"/>
              <a:chOff x="9502298" y="4233275"/>
              <a:chExt cx="2528719" cy="2330478"/>
            </a:xfrm>
          </p:grpSpPr>
          <p:pic>
            <p:nvPicPr>
              <p:cNvPr id="167" name="Google Shape;167;g3f95de07730_1_39"/>
              <p:cNvPicPr preferRelativeResize="0"/>
              <p:nvPr/>
            </p:nvPicPr>
            <p:blipFill rotWithShape="1">
              <a:blip r:embed="rId9">
                <a:alphaModFix/>
              </a:blip>
              <a:srcRect/>
              <a:stretch/>
            </p:blipFill>
            <p:spPr>
              <a:xfrm>
                <a:off x="9502298" y="4233275"/>
                <a:ext cx="2528719" cy="1896538"/>
              </a:xfrm>
              <a:prstGeom prst="rect">
                <a:avLst/>
              </a:prstGeom>
              <a:noFill/>
              <a:ln>
                <a:noFill/>
              </a:ln>
            </p:spPr>
          </p:pic>
          <p:sp>
            <p:nvSpPr>
              <p:cNvPr id="168" name="Google Shape;168;g3f95de07730_1_39"/>
              <p:cNvSpPr txBox="1"/>
              <p:nvPr/>
            </p:nvSpPr>
            <p:spPr>
              <a:xfrm flipH="1">
                <a:off x="9502315" y="6181253"/>
                <a:ext cx="2528700" cy="382500"/>
              </a:xfrm>
              <a:prstGeom prst="rect">
                <a:avLst/>
              </a:prstGeom>
              <a:noFill/>
              <a:ln>
                <a:noFill/>
              </a:ln>
            </p:spPr>
            <p:txBody>
              <a:bodyPr spcFirstLastPara="1" wrap="square" lIns="36000" tIns="36000" rIns="36000" bIns="36000" anchor="t" anchorCtr="0">
                <a:spAutoFit/>
              </a:bodyPr>
              <a:lstStyle/>
              <a:p>
                <a:pPr marL="0" marR="0" lvl="0" indent="0" algn="ctr" rtl="0">
                  <a:spcBef>
                    <a:spcPts val="0"/>
                  </a:spcBef>
                  <a:spcAft>
                    <a:spcPts val="0"/>
                  </a:spcAft>
                  <a:buNone/>
                </a:pPr>
                <a:r>
                  <a:rPr lang="en-US" sz="700" b="1" i="1" u="none" strike="noStrike" cap="none">
                    <a:solidFill>
                      <a:srgbClr val="BA083A"/>
                    </a:solidFill>
                    <a:latin typeface="Roboto"/>
                    <a:ea typeface="Roboto"/>
                    <a:cs typeface="Roboto"/>
                    <a:sym typeface="Roboto"/>
                  </a:rPr>
                  <a:t>Hazard map indicating  maximum amount of shaking at a particular geographic location generated from SCEC’s CyberShake Pegasus workflow </a:t>
                </a:r>
                <a:endParaRPr sz="1500"/>
              </a:p>
            </p:txBody>
          </p:sp>
        </p:grpSp>
        <p:sp>
          <p:nvSpPr>
            <p:cNvPr id="169" name="Google Shape;169;g3f95de07730_1_39"/>
            <p:cNvSpPr txBox="1"/>
            <p:nvPr/>
          </p:nvSpPr>
          <p:spPr>
            <a:xfrm flipH="1">
              <a:off x="6120865" y="4346430"/>
              <a:ext cx="998100" cy="365400"/>
            </a:xfrm>
            <a:prstGeom prst="rect">
              <a:avLst/>
            </a:prstGeom>
            <a:noFill/>
            <a:ln>
              <a:noFill/>
            </a:ln>
          </p:spPr>
          <p:txBody>
            <a:bodyPr spcFirstLastPara="1" wrap="square" lIns="0" tIns="45700" rIns="0" bIns="45700" anchor="t" anchorCtr="0">
              <a:spAutoFit/>
            </a:bodyPr>
            <a:lstStyle/>
            <a:p>
              <a:pPr marL="0" marR="0" lvl="0" indent="0" algn="r" rtl="0">
                <a:spcBef>
                  <a:spcPts val="0"/>
                </a:spcBef>
                <a:spcAft>
                  <a:spcPts val="0"/>
                </a:spcAft>
                <a:buNone/>
              </a:pPr>
              <a:r>
                <a:rPr lang="en-US" sz="800" b="1" i="1">
                  <a:solidFill>
                    <a:srgbClr val="BA083A"/>
                  </a:solidFill>
                  <a:latin typeface="Roboto"/>
                  <a:ea typeface="Roboto"/>
                  <a:cs typeface="Roboto"/>
                  <a:sym typeface="Roboto"/>
                </a:rPr>
                <a:t>Event Horizon Telescope</a:t>
              </a:r>
              <a:endParaRPr sz="1500"/>
            </a:p>
          </p:txBody>
        </p:sp>
      </p:grpSp>
      <p:sp>
        <p:nvSpPr>
          <p:cNvPr id="170" name="Google Shape;170;g3f95de07730_1_39"/>
          <p:cNvSpPr/>
          <p:nvPr/>
        </p:nvSpPr>
        <p:spPr>
          <a:xfrm>
            <a:off x="4815075" y="1114113"/>
            <a:ext cx="6465300" cy="11193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2000" b="1" i="0" u="none" strike="noStrike" cap="none">
                <a:solidFill>
                  <a:srgbClr val="4AB9C4"/>
                </a:solidFill>
                <a:latin typeface="Roboto"/>
                <a:ea typeface="Roboto"/>
                <a:cs typeface="Roboto"/>
                <a:sym typeface="Roboto"/>
              </a:rPr>
              <a:t>End to End Workflow</a:t>
            </a:r>
            <a:r>
              <a:rPr lang="en-US" sz="2000" b="1">
                <a:solidFill>
                  <a:srgbClr val="4AB9C4"/>
                </a:solidFill>
                <a:latin typeface="Roboto"/>
                <a:ea typeface="Roboto"/>
                <a:cs typeface="Roboto"/>
                <a:sym typeface="Roboto"/>
              </a:rPr>
              <a:t> </a:t>
            </a:r>
            <a:r>
              <a:rPr lang="en-US" sz="2000" b="1" i="0" u="none" strike="noStrike" cap="none">
                <a:solidFill>
                  <a:srgbClr val="4AB9C4"/>
                </a:solidFill>
                <a:latin typeface="Roboto"/>
                <a:ea typeface="Roboto"/>
                <a:cs typeface="Roboto"/>
                <a:sym typeface="Roboto"/>
              </a:rPr>
              <a:t>Management &amp; Execution</a:t>
            </a:r>
            <a:endParaRPr sz="2000"/>
          </a:p>
        </p:txBody>
      </p:sp>
      <p:sp>
        <p:nvSpPr>
          <p:cNvPr id="171" name="Google Shape;171;g3f95de07730_1_39"/>
          <p:cNvSpPr/>
          <p:nvPr/>
        </p:nvSpPr>
        <p:spPr>
          <a:xfrm>
            <a:off x="5879300" y="1610135"/>
            <a:ext cx="6111900" cy="1332000"/>
          </a:xfrm>
          <a:prstGeom prst="rect">
            <a:avLst/>
          </a:prstGeom>
          <a:noFill/>
          <a:ln>
            <a:noFill/>
          </a:ln>
        </p:spPr>
        <p:txBody>
          <a:bodyPr spcFirstLastPara="1" wrap="square" lIns="72000" tIns="36000" rIns="72000" bIns="36000" anchor="t" anchorCtr="0">
            <a:noAutofit/>
          </a:bodyPr>
          <a:lstStyle/>
          <a:p>
            <a:pPr marL="190500" marR="0" lvl="0" indent="-209550" algn="l" rtl="0">
              <a:spcBef>
                <a:spcPts val="0"/>
              </a:spcBef>
              <a:spcAft>
                <a:spcPts val="0"/>
              </a:spcAft>
              <a:buClr>
                <a:srgbClr val="119D96"/>
              </a:buClr>
              <a:buSzPts val="1300"/>
              <a:buFont typeface="Montserrat"/>
              <a:buChar char="▶"/>
            </a:pPr>
            <a:r>
              <a:rPr lang="en-US" sz="1300" b="1" i="0" u="none" strike="noStrike" cap="none">
                <a:solidFill>
                  <a:srgbClr val="3F3F3F"/>
                </a:solidFill>
                <a:latin typeface="Roboto"/>
                <a:ea typeface="Roboto"/>
                <a:cs typeface="Roboto"/>
                <a:sym typeface="Roboto"/>
              </a:rPr>
              <a:t>Develop portable scientific workflows in Python </a:t>
            </a:r>
            <a:r>
              <a:rPr lang="en-US" sz="1300" b="1">
                <a:solidFill>
                  <a:srgbClr val="3F3F3F"/>
                </a:solidFill>
                <a:latin typeface="Roboto"/>
                <a:ea typeface="Roboto"/>
                <a:cs typeface="Roboto"/>
                <a:sym typeface="Roboto"/>
              </a:rPr>
              <a:t>and </a:t>
            </a:r>
            <a:r>
              <a:rPr lang="en-US" sz="1300" b="1" i="0" u="none" strike="noStrike" cap="none">
                <a:solidFill>
                  <a:srgbClr val="3F3F3F"/>
                </a:solidFill>
                <a:latin typeface="Roboto"/>
                <a:ea typeface="Roboto"/>
                <a:cs typeface="Roboto"/>
                <a:sym typeface="Roboto"/>
              </a:rPr>
              <a:t>Java</a:t>
            </a:r>
            <a:endParaRPr sz="1700"/>
          </a:p>
          <a:p>
            <a:pPr marL="190500" marR="0" lvl="0" indent="-209550" algn="l" rtl="0">
              <a:spcBef>
                <a:spcPts val="400"/>
              </a:spcBef>
              <a:spcAft>
                <a:spcPts val="0"/>
              </a:spcAft>
              <a:buClr>
                <a:srgbClr val="119D96"/>
              </a:buClr>
              <a:buSzPts val="1300"/>
              <a:buFont typeface="Montserrat"/>
              <a:buChar char="▶"/>
            </a:pPr>
            <a:r>
              <a:rPr lang="en-US" sz="1300" b="1" i="0" u="none" strike="noStrike" cap="none">
                <a:solidFill>
                  <a:srgbClr val="3F3F3F"/>
                </a:solidFill>
                <a:latin typeface="Roboto"/>
                <a:ea typeface="Roboto"/>
                <a:cs typeface="Roboto"/>
                <a:sym typeface="Roboto"/>
              </a:rPr>
              <a:t>Compile workflows to be run on </a:t>
            </a:r>
            <a:r>
              <a:rPr lang="en-US" sz="1300" b="1">
                <a:solidFill>
                  <a:srgbClr val="3F3F3F"/>
                </a:solidFill>
                <a:latin typeface="Roboto"/>
                <a:ea typeface="Roboto"/>
                <a:cs typeface="Roboto"/>
                <a:sym typeface="Roboto"/>
              </a:rPr>
              <a:t>heterogeneous</a:t>
            </a:r>
            <a:r>
              <a:rPr lang="en-US" sz="1300" b="1" i="0" u="none" strike="noStrike" cap="none">
                <a:solidFill>
                  <a:srgbClr val="3F3F3F"/>
                </a:solidFill>
                <a:latin typeface="Roboto"/>
                <a:ea typeface="Roboto"/>
                <a:cs typeface="Roboto"/>
                <a:sym typeface="Roboto"/>
              </a:rPr>
              <a:t> resources</a:t>
            </a:r>
            <a:endParaRPr sz="1700"/>
          </a:p>
          <a:p>
            <a:pPr marL="190500" marR="0" lvl="0" indent="-209550" algn="l" rtl="0">
              <a:spcBef>
                <a:spcPts val="400"/>
              </a:spcBef>
              <a:spcAft>
                <a:spcPts val="0"/>
              </a:spcAft>
              <a:buClr>
                <a:srgbClr val="119D96"/>
              </a:buClr>
              <a:buSzPts val="1300"/>
              <a:buFont typeface="Montserrat"/>
              <a:buChar char="▶"/>
            </a:pPr>
            <a:r>
              <a:rPr lang="en-US" sz="1300" b="1" i="0" u="none" strike="noStrike" cap="none">
                <a:solidFill>
                  <a:srgbClr val="3F3F3F"/>
                </a:solidFill>
                <a:latin typeface="Roboto"/>
                <a:ea typeface="Roboto"/>
                <a:cs typeface="Roboto"/>
                <a:sym typeface="Roboto"/>
              </a:rPr>
              <a:t>Monitor and debug workflow execution via CLI and web-based tools</a:t>
            </a:r>
            <a:endParaRPr sz="1700"/>
          </a:p>
          <a:p>
            <a:pPr marL="190500" marR="0" lvl="0" indent="-209550" algn="l" rtl="0">
              <a:spcBef>
                <a:spcPts val="400"/>
              </a:spcBef>
              <a:spcAft>
                <a:spcPts val="0"/>
              </a:spcAft>
              <a:buClr>
                <a:srgbClr val="119D96"/>
              </a:buClr>
              <a:buSzPts val="1300"/>
              <a:buFont typeface="Montserrat"/>
              <a:buChar char="▶"/>
            </a:pPr>
            <a:r>
              <a:rPr lang="en-US" sz="1300" b="1" i="0" u="none" strike="noStrike" cap="none">
                <a:solidFill>
                  <a:srgbClr val="3F3F3F"/>
                </a:solidFill>
                <a:latin typeface="Roboto"/>
                <a:ea typeface="Roboto"/>
                <a:cs typeface="Roboto"/>
                <a:sym typeface="Roboto"/>
              </a:rPr>
              <a:t>Recover from failures with built-in fault tolerance mechanisms</a:t>
            </a:r>
            <a:endParaRPr sz="1700"/>
          </a:p>
          <a:p>
            <a:pPr marL="190500" marR="0" lvl="0" indent="-209550" algn="l" rtl="0">
              <a:spcBef>
                <a:spcPts val="400"/>
              </a:spcBef>
              <a:spcAft>
                <a:spcPts val="0"/>
              </a:spcAft>
              <a:buClr>
                <a:srgbClr val="119D96"/>
              </a:buClr>
              <a:buSzPts val="1300"/>
              <a:buFont typeface="Montserrat"/>
              <a:buChar char="▶"/>
            </a:pPr>
            <a:r>
              <a:rPr lang="en-US" sz="1300" b="1" i="0" u="none" strike="noStrike" cap="none">
                <a:solidFill>
                  <a:srgbClr val="3F3F3F"/>
                </a:solidFill>
                <a:latin typeface="Roboto"/>
                <a:ea typeface="Roboto"/>
                <a:cs typeface="Roboto"/>
                <a:sym typeface="Roboto"/>
              </a:rPr>
              <a:t>Regular release schedule incorporating latest research and development</a:t>
            </a:r>
            <a:endParaRPr sz="1700"/>
          </a:p>
        </p:txBody>
      </p:sp>
      <p:pic>
        <p:nvPicPr>
          <p:cNvPr id="172" name="Google Shape;172;g3f95de07730_1_39"/>
          <p:cNvPicPr preferRelativeResize="0"/>
          <p:nvPr/>
        </p:nvPicPr>
        <p:blipFill rotWithShape="1">
          <a:blip r:embed="rId6">
            <a:alphaModFix/>
          </a:blip>
          <a:srcRect/>
          <a:stretch/>
        </p:blipFill>
        <p:spPr>
          <a:xfrm>
            <a:off x="1977010" y="1453582"/>
            <a:ext cx="815256" cy="681985"/>
          </a:xfrm>
          <a:prstGeom prst="rect">
            <a:avLst/>
          </a:prstGeom>
          <a:noFill/>
          <a:ln>
            <a:noFill/>
          </a:ln>
        </p:spPr>
      </p:pic>
      <p:grpSp>
        <p:nvGrpSpPr>
          <p:cNvPr id="173" name="Google Shape;173;g3f95de07730_1_39"/>
          <p:cNvGrpSpPr/>
          <p:nvPr/>
        </p:nvGrpSpPr>
        <p:grpSpPr>
          <a:xfrm>
            <a:off x="2685410" y="2050526"/>
            <a:ext cx="348091" cy="369209"/>
            <a:chOff x="5967413" y="-3362325"/>
            <a:chExt cx="1133478" cy="1454150"/>
          </a:xfrm>
        </p:grpSpPr>
        <p:sp>
          <p:nvSpPr>
            <p:cNvPr id="174" name="Google Shape;174;g3f95de07730_1_39"/>
            <p:cNvSpPr/>
            <p:nvPr/>
          </p:nvSpPr>
          <p:spPr>
            <a:xfrm>
              <a:off x="5992813" y="-2208213"/>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2"/>
                  </a:lnTo>
                  <a:lnTo>
                    <a:pt x="1467" y="27"/>
                  </a:lnTo>
                  <a:lnTo>
                    <a:pt x="1511" y="35"/>
                  </a:lnTo>
                  <a:lnTo>
                    <a:pt x="1553" y="40"/>
                  </a:lnTo>
                  <a:lnTo>
                    <a:pt x="1595" y="49"/>
                  </a:lnTo>
                  <a:lnTo>
                    <a:pt x="1636" y="56"/>
                  </a:lnTo>
                  <a:lnTo>
                    <a:pt x="1673" y="64"/>
                  </a:lnTo>
                  <a:lnTo>
                    <a:pt x="1711" y="73"/>
                  </a:lnTo>
                  <a:lnTo>
                    <a:pt x="1746" y="83"/>
                  </a:lnTo>
                  <a:lnTo>
                    <a:pt x="1781" y="92"/>
                  </a:lnTo>
                  <a:lnTo>
                    <a:pt x="1812" y="103"/>
                  </a:lnTo>
                  <a:lnTo>
                    <a:pt x="1843" y="114"/>
                  </a:lnTo>
                  <a:lnTo>
                    <a:pt x="1871" y="124"/>
                  </a:lnTo>
                  <a:lnTo>
                    <a:pt x="1898" y="136"/>
                  </a:lnTo>
                  <a:lnTo>
                    <a:pt x="1922" y="148"/>
                  </a:lnTo>
                  <a:lnTo>
                    <a:pt x="1946" y="160"/>
                  </a:lnTo>
                  <a:lnTo>
                    <a:pt x="1966" y="172"/>
                  </a:lnTo>
                  <a:lnTo>
                    <a:pt x="1984" y="185"/>
                  </a:lnTo>
                  <a:lnTo>
                    <a:pt x="2000" y="198"/>
                  </a:lnTo>
                  <a:lnTo>
                    <a:pt x="2014" y="211"/>
                  </a:lnTo>
                  <a:lnTo>
                    <a:pt x="2026" y="226"/>
                  </a:lnTo>
                  <a:lnTo>
                    <a:pt x="2034" y="240"/>
                  </a:lnTo>
                  <a:lnTo>
                    <a:pt x="2041" y="254"/>
                  </a:lnTo>
                  <a:lnTo>
                    <a:pt x="2045" y="268"/>
                  </a:lnTo>
                  <a:lnTo>
                    <a:pt x="2046" y="282"/>
                  </a:lnTo>
                  <a:lnTo>
                    <a:pt x="2045" y="296"/>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1"/>
                  </a:lnTo>
                  <a:lnTo>
                    <a:pt x="1812" y="461"/>
                  </a:lnTo>
                  <a:lnTo>
                    <a:pt x="1781" y="472"/>
                  </a:lnTo>
                  <a:lnTo>
                    <a:pt x="1746" y="482"/>
                  </a:lnTo>
                  <a:lnTo>
                    <a:pt x="1711" y="491"/>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1"/>
                  </a:lnTo>
                  <a:lnTo>
                    <a:pt x="300" y="482"/>
                  </a:lnTo>
                  <a:lnTo>
                    <a:pt x="266" y="472"/>
                  </a:lnTo>
                  <a:lnTo>
                    <a:pt x="234" y="461"/>
                  </a:lnTo>
                  <a:lnTo>
                    <a:pt x="204" y="451"/>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6"/>
                  </a:lnTo>
                  <a:lnTo>
                    <a:pt x="0" y="282"/>
                  </a:lnTo>
                  <a:lnTo>
                    <a:pt x="2" y="268"/>
                  </a:lnTo>
                  <a:lnTo>
                    <a:pt x="6" y="254"/>
                  </a:lnTo>
                  <a:lnTo>
                    <a:pt x="12" y="240"/>
                  </a:lnTo>
                  <a:lnTo>
                    <a:pt x="21" y="226"/>
                  </a:lnTo>
                  <a:lnTo>
                    <a:pt x="33" y="211"/>
                  </a:lnTo>
                  <a:lnTo>
                    <a:pt x="46" y="198"/>
                  </a:lnTo>
                  <a:lnTo>
                    <a:pt x="62" y="185"/>
                  </a:lnTo>
                  <a:lnTo>
                    <a:pt x="81" y="172"/>
                  </a:lnTo>
                  <a:lnTo>
                    <a:pt x="101" y="160"/>
                  </a:lnTo>
                  <a:lnTo>
                    <a:pt x="123" y="148"/>
                  </a:lnTo>
                  <a:lnTo>
                    <a:pt x="148" y="136"/>
                  </a:lnTo>
                  <a:lnTo>
                    <a:pt x="175" y="124"/>
                  </a:lnTo>
                  <a:lnTo>
                    <a:pt x="204" y="114"/>
                  </a:lnTo>
                  <a:lnTo>
                    <a:pt x="234" y="103"/>
                  </a:lnTo>
                  <a:lnTo>
                    <a:pt x="266" y="92"/>
                  </a:lnTo>
                  <a:lnTo>
                    <a:pt x="300" y="83"/>
                  </a:lnTo>
                  <a:lnTo>
                    <a:pt x="336" y="73"/>
                  </a:lnTo>
                  <a:lnTo>
                    <a:pt x="372" y="64"/>
                  </a:lnTo>
                  <a:lnTo>
                    <a:pt x="411" y="56"/>
                  </a:lnTo>
                  <a:lnTo>
                    <a:pt x="451" y="49"/>
                  </a:lnTo>
                  <a:lnTo>
                    <a:pt x="492" y="40"/>
                  </a:lnTo>
                  <a:lnTo>
                    <a:pt x="536" y="35"/>
                  </a:lnTo>
                  <a:lnTo>
                    <a:pt x="580" y="27"/>
                  </a:lnTo>
                  <a:lnTo>
                    <a:pt x="624" y="22"/>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75" name="Google Shape;175;g3f95de07730_1_39"/>
            <p:cNvSpPr/>
            <p:nvPr/>
          </p:nvSpPr>
          <p:spPr>
            <a:xfrm>
              <a:off x="5967413" y="-2419350"/>
              <a:ext cx="1133478" cy="481013"/>
            </a:xfrm>
            <a:custGeom>
              <a:avLst/>
              <a:gdLst/>
              <a:ahLst/>
              <a:cxnLst/>
              <a:rect l="l" t="t" r="r" b="b"/>
              <a:pathLst>
                <a:path w="2141" h="908" extrusionOk="0">
                  <a:moveTo>
                    <a:pt x="2141" y="594"/>
                  </a:moveTo>
                  <a:lnTo>
                    <a:pt x="2139" y="609"/>
                  </a:lnTo>
                  <a:lnTo>
                    <a:pt x="2133" y="626"/>
                  </a:lnTo>
                  <a:lnTo>
                    <a:pt x="2126" y="641"/>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6"/>
                  </a:lnTo>
                  <a:lnTo>
                    <a:pt x="1704" y="846"/>
                  </a:lnTo>
                  <a:lnTo>
                    <a:pt x="1663" y="855"/>
                  </a:lnTo>
                  <a:lnTo>
                    <a:pt x="1619" y="862"/>
                  </a:lnTo>
                  <a:lnTo>
                    <a:pt x="1574" y="871"/>
                  </a:lnTo>
                  <a:lnTo>
                    <a:pt x="1529" y="878"/>
                  </a:lnTo>
                  <a:lnTo>
                    <a:pt x="1482" y="884"/>
                  </a:lnTo>
                  <a:lnTo>
                    <a:pt x="1434" y="890"/>
                  </a:lnTo>
                  <a:lnTo>
                    <a:pt x="1384" y="894"/>
                  </a:lnTo>
                  <a:lnTo>
                    <a:pt x="1335" y="899"/>
                  </a:lnTo>
                  <a:lnTo>
                    <a:pt x="1283" y="902"/>
                  </a:lnTo>
                  <a:lnTo>
                    <a:pt x="1231" y="905"/>
                  </a:lnTo>
                  <a:lnTo>
                    <a:pt x="1178" y="907"/>
                  </a:lnTo>
                  <a:lnTo>
                    <a:pt x="1124" y="908"/>
                  </a:lnTo>
                  <a:lnTo>
                    <a:pt x="1070" y="908"/>
                  </a:lnTo>
                  <a:lnTo>
                    <a:pt x="1015" y="908"/>
                  </a:lnTo>
                  <a:lnTo>
                    <a:pt x="962" y="907"/>
                  </a:lnTo>
                  <a:lnTo>
                    <a:pt x="909" y="905"/>
                  </a:lnTo>
                  <a:lnTo>
                    <a:pt x="858" y="902"/>
                  </a:lnTo>
                  <a:lnTo>
                    <a:pt x="806" y="899"/>
                  </a:lnTo>
                  <a:lnTo>
                    <a:pt x="755" y="894"/>
                  </a:lnTo>
                  <a:lnTo>
                    <a:pt x="707" y="890"/>
                  </a:lnTo>
                  <a:lnTo>
                    <a:pt x="658" y="884"/>
                  </a:lnTo>
                  <a:lnTo>
                    <a:pt x="611" y="878"/>
                  </a:lnTo>
                  <a:lnTo>
                    <a:pt x="565" y="871"/>
                  </a:lnTo>
                  <a:lnTo>
                    <a:pt x="522" y="862"/>
                  </a:lnTo>
                  <a:lnTo>
                    <a:pt x="478" y="855"/>
                  </a:lnTo>
                  <a:lnTo>
                    <a:pt x="437" y="846"/>
                  </a:lnTo>
                  <a:lnTo>
                    <a:pt x="397" y="836"/>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1"/>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76" name="Google Shape;176;g3f95de07730_1_39"/>
            <p:cNvSpPr/>
            <p:nvPr/>
          </p:nvSpPr>
          <p:spPr>
            <a:xfrm>
              <a:off x="5967413" y="-2590800"/>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4"/>
                  </a:lnTo>
                  <a:lnTo>
                    <a:pt x="2011" y="168"/>
                  </a:lnTo>
                  <a:lnTo>
                    <a:pt x="2035" y="182"/>
                  </a:lnTo>
                  <a:lnTo>
                    <a:pt x="2057" y="196"/>
                  </a:lnTo>
                  <a:lnTo>
                    <a:pt x="2076" y="211"/>
                  </a:lnTo>
                  <a:lnTo>
                    <a:pt x="2093" y="226"/>
                  </a:lnTo>
                  <a:lnTo>
                    <a:pt x="2107" y="241"/>
                  </a:lnTo>
                  <a:lnTo>
                    <a:pt x="2120" y="256"/>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29"/>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29"/>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6"/>
                  </a:lnTo>
                  <a:lnTo>
                    <a:pt x="33" y="241"/>
                  </a:lnTo>
                  <a:lnTo>
                    <a:pt x="47" y="226"/>
                  </a:lnTo>
                  <a:lnTo>
                    <a:pt x="64" y="211"/>
                  </a:lnTo>
                  <a:lnTo>
                    <a:pt x="83" y="196"/>
                  </a:lnTo>
                  <a:lnTo>
                    <a:pt x="104" y="182"/>
                  </a:lnTo>
                  <a:lnTo>
                    <a:pt x="128" y="168"/>
                  </a:lnTo>
                  <a:lnTo>
                    <a:pt x="154" y="154"/>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77" name="Google Shape;177;g3f95de07730_1_39"/>
            <p:cNvSpPr/>
            <p:nvPr/>
          </p:nvSpPr>
          <p:spPr>
            <a:xfrm>
              <a:off x="5992813" y="-2593975"/>
              <a:ext cx="1082677" cy="298450"/>
            </a:xfrm>
            <a:custGeom>
              <a:avLst/>
              <a:gdLst/>
              <a:ahLst/>
              <a:cxnLst/>
              <a:rect l="l" t="t" r="r" b="b"/>
              <a:pathLst>
                <a:path w="2046" h="564" extrusionOk="0">
                  <a:moveTo>
                    <a:pt x="1023" y="0"/>
                  </a:moveTo>
                  <a:lnTo>
                    <a:pt x="1076" y="0"/>
                  </a:lnTo>
                  <a:lnTo>
                    <a:pt x="1128" y="1"/>
                  </a:lnTo>
                  <a:lnTo>
                    <a:pt x="1178" y="3"/>
                  </a:lnTo>
                  <a:lnTo>
                    <a:pt x="1229" y="6"/>
                  </a:lnTo>
                  <a:lnTo>
                    <a:pt x="1278" y="9"/>
                  </a:lnTo>
                  <a:lnTo>
                    <a:pt x="1327" y="13"/>
                  </a:lnTo>
                  <a:lnTo>
                    <a:pt x="1375" y="17"/>
                  </a:lnTo>
                  <a:lnTo>
                    <a:pt x="1421" y="22"/>
                  </a:lnTo>
                  <a:lnTo>
                    <a:pt x="1467" y="28"/>
                  </a:lnTo>
                  <a:lnTo>
                    <a:pt x="1511" y="34"/>
                  </a:lnTo>
                  <a:lnTo>
                    <a:pt x="1553" y="41"/>
                  </a:lnTo>
                  <a:lnTo>
                    <a:pt x="1595" y="48"/>
                  </a:lnTo>
                  <a:lnTo>
                    <a:pt x="1636" y="56"/>
                  </a:lnTo>
                  <a:lnTo>
                    <a:pt x="1673" y="65"/>
                  </a:lnTo>
                  <a:lnTo>
                    <a:pt x="1711" y="73"/>
                  </a:lnTo>
                  <a:lnTo>
                    <a:pt x="1746" y="82"/>
                  </a:lnTo>
                  <a:lnTo>
                    <a:pt x="1781" y="92"/>
                  </a:lnTo>
                  <a:lnTo>
                    <a:pt x="1812" y="102"/>
                  </a:lnTo>
                  <a:lnTo>
                    <a:pt x="1843" y="113"/>
                  </a:lnTo>
                  <a:lnTo>
                    <a:pt x="1871" y="125"/>
                  </a:lnTo>
                  <a:lnTo>
                    <a:pt x="1898" y="135"/>
                  </a:lnTo>
                  <a:lnTo>
                    <a:pt x="1922" y="147"/>
                  </a:lnTo>
                  <a:lnTo>
                    <a:pt x="1946" y="160"/>
                  </a:lnTo>
                  <a:lnTo>
                    <a:pt x="1966" y="172"/>
                  </a:lnTo>
                  <a:lnTo>
                    <a:pt x="1984" y="185"/>
                  </a:lnTo>
                  <a:lnTo>
                    <a:pt x="2000" y="198"/>
                  </a:lnTo>
                  <a:lnTo>
                    <a:pt x="2014" y="212"/>
                  </a:lnTo>
                  <a:lnTo>
                    <a:pt x="2026" y="225"/>
                  </a:lnTo>
                  <a:lnTo>
                    <a:pt x="2034" y="239"/>
                  </a:lnTo>
                  <a:lnTo>
                    <a:pt x="2041" y="253"/>
                  </a:lnTo>
                  <a:lnTo>
                    <a:pt x="2045" y="267"/>
                  </a:lnTo>
                  <a:lnTo>
                    <a:pt x="2046" y="282"/>
                  </a:lnTo>
                  <a:lnTo>
                    <a:pt x="2045" y="297"/>
                  </a:lnTo>
                  <a:lnTo>
                    <a:pt x="2041" y="311"/>
                  </a:lnTo>
                  <a:lnTo>
                    <a:pt x="2034" y="325"/>
                  </a:lnTo>
                  <a:lnTo>
                    <a:pt x="2026" y="339"/>
                  </a:lnTo>
                  <a:lnTo>
                    <a:pt x="2014" y="352"/>
                  </a:lnTo>
                  <a:lnTo>
                    <a:pt x="2000" y="366"/>
                  </a:lnTo>
                  <a:lnTo>
                    <a:pt x="1984" y="379"/>
                  </a:lnTo>
                  <a:lnTo>
                    <a:pt x="1966" y="392"/>
                  </a:lnTo>
                  <a:lnTo>
                    <a:pt x="1946" y="404"/>
                  </a:lnTo>
                  <a:lnTo>
                    <a:pt x="1922" y="417"/>
                  </a:lnTo>
                  <a:lnTo>
                    <a:pt x="1898" y="429"/>
                  </a:lnTo>
                  <a:lnTo>
                    <a:pt x="1871" y="439"/>
                  </a:lnTo>
                  <a:lnTo>
                    <a:pt x="1843" y="451"/>
                  </a:lnTo>
                  <a:lnTo>
                    <a:pt x="1812" y="462"/>
                  </a:lnTo>
                  <a:lnTo>
                    <a:pt x="1781" y="472"/>
                  </a:lnTo>
                  <a:lnTo>
                    <a:pt x="1746" y="482"/>
                  </a:lnTo>
                  <a:lnTo>
                    <a:pt x="1711" y="491"/>
                  </a:lnTo>
                  <a:lnTo>
                    <a:pt x="1673" y="500"/>
                  </a:lnTo>
                  <a:lnTo>
                    <a:pt x="1636" y="508"/>
                  </a:lnTo>
                  <a:lnTo>
                    <a:pt x="1595" y="516"/>
                  </a:lnTo>
                  <a:lnTo>
                    <a:pt x="1553" y="523"/>
                  </a:lnTo>
                  <a:lnTo>
                    <a:pt x="1511" y="530"/>
                  </a:lnTo>
                  <a:lnTo>
                    <a:pt x="1467" y="536"/>
                  </a:lnTo>
                  <a:lnTo>
                    <a:pt x="1421" y="542"/>
                  </a:lnTo>
                  <a:lnTo>
                    <a:pt x="1375" y="547"/>
                  </a:lnTo>
                  <a:lnTo>
                    <a:pt x="1327" y="551"/>
                  </a:lnTo>
                  <a:lnTo>
                    <a:pt x="1278" y="555"/>
                  </a:lnTo>
                  <a:lnTo>
                    <a:pt x="1229" y="558"/>
                  </a:lnTo>
                  <a:lnTo>
                    <a:pt x="1178" y="561"/>
                  </a:lnTo>
                  <a:lnTo>
                    <a:pt x="1128" y="563"/>
                  </a:lnTo>
                  <a:lnTo>
                    <a:pt x="1076" y="564"/>
                  </a:lnTo>
                  <a:lnTo>
                    <a:pt x="1023" y="564"/>
                  </a:lnTo>
                  <a:lnTo>
                    <a:pt x="971" y="564"/>
                  </a:lnTo>
                  <a:lnTo>
                    <a:pt x="919" y="563"/>
                  </a:lnTo>
                  <a:lnTo>
                    <a:pt x="867" y="561"/>
                  </a:lnTo>
                  <a:lnTo>
                    <a:pt x="816" y="558"/>
                  </a:lnTo>
                  <a:lnTo>
                    <a:pt x="767" y="555"/>
                  </a:lnTo>
                  <a:lnTo>
                    <a:pt x="719" y="551"/>
                  </a:lnTo>
                  <a:lnTo>
                    <a:pt x="671" y="547"/>
                  </a:lnTo>
                  <a:lnTo>
                    <a:pt x="624" y="542"/>
                  </a:lnTo>
                  <a:lnTo>
                    <a:pt x="580" y="536"/>
                  </a:lnTo>
                  <a:lnTo>
                    <a:pt x="536" y="530"/>
                  </a:lnTo>
                  <a:lnTo>
                    <a:pt x="492" y="523"/>
                  </a:lnTo>
                  <a:lnTo>
                    <a:pt x="451" y="516"/>
                  </a:lnTo>
                  <a:lnTo>
                    <a:pt x="411" y="508"/>
                  </a:lnTo>
                  <a:lnTo>
                    <a:pt x="372" y="500"/>
                  </a:lnTo>
                  <a:lnTo>
                    <a:pt x="336" y="491"/>
                  </a:lnTo>
                  <a:lnTo>
                    <a:pt x="300" y="482"/>
                  </a:lnTo>
                  <a:lnTo>
                    <a:pt x="266" y="472"/>
                  </a:lnTo>
                  <a:lnTo>
                    <a:pt x="234" y="462"/>
                  </a:lnTo>
                  <a:lnTo>
                    <a:pt x="204" y="451"/>
                  </a:lnTo>
                  <a:lnTo>
                    <a:pt x="175" y="439"/>
                  </a:lnTo>
                  <a:lnTo>
                    <a:pt x="148" y="429"/>
                  </a:lnTo>
                  <a:lnTo>
                    <a:pt x="123" y="417"/>
                  </a:lnTo>
                  <a:lnTo>
                    <a:pt x="101" y="404"/>
                  </a:lnTo>
                  <a:lnTo>
                    <a:pt x="81" y="392"/>
                  </a:lnTo>
                  <a:lnTo>
                    <a:pt x="62" y="379"/>
                  </a:lnTo>
                  <a:lnTo>
                    <a:pt x="46" y="366"/>
                  </a:lnTo>
                  <a:lnTo>
                    <a:pt x="33" y="352"/>
                  </a:lnTo>
                  <a:lnTo>
                    <a:pt x="21" y="339"/>
                  </a:lnTo>
                  <a:lnTo>
                    <a:pt x="12" y="325"/>
                  </a:lnTo>
                  <a:lnTo>
                    <a:pt x="6" y="311"/>
                  </a:lnTo>
                  <a:lnTo>
                    <a:pt x="2" y="297"/>
                  </a:lnTo>
                  <a:lnTo>
                    <a:pt x="0" y="282"/>
                  </a:lnTo>
                  <a:lnTo>
                    <a:pt x="2" y="267"/>
                  </a:lnTo>
                  <a:lnTo>
                    <a:pt x="6" y="253"/>
                  </a:lnTo>
                  <a:lnTo>
                    <a:pt x="12" y="239"/>
                  </a:lnTo>
                  <a:lnTo>
                    <a:pt x="21" y="225"/>
                  </a:lnTo>
                  <a:lnTo>
                    <a:pt x="33" y="212"/>
                  </a:lnTo>
                  <a:lnTo>
                    <a:pt x="46" y="198"/>
                  </a:lnTo>
                  <a:lnTo>
                    <a:pt x="62" y="185"/>
                  </a:lnTo>
                  <a:lnTo>
                    <a:pt x="81" y="172"/>
                  </a:lnTo>
                  <a:lnTo>
                    <a:pt x="101" y="160"/>
                  </a:lnTo>
                  <a:lnTo>
                    <a:pt x="123" y="147"/>
                  </a:lnTo>
                  <a:lnTo>
                    <a:pt x="148" y="135"/>
                  </a:lnTo>
                  <a:lnTo>
                    <a:pt x="175" y="125"/>
                  </a:lnTo>
                  <a:lnTo>
                    <a:pt x="204" y="113"/>
                  </a:lnTo>
                  <a:lnTo>
                    <a:pt x="234" y="102"/>
                  </a:lnTo>
                  <a:lnTo>
                    <a:pt x="266" y="92"/>
                  </a:lnTo>
                  <a:lnTo>
                    <a:pt x="300" y="82"/>
                  </a:lnTo>
                  <a:lnTo>
                    <a:pt x="336" y="73"/>
                  </a:lnTo>
                  <a:lnTo>
                    <a:pt x="372" y="65"/>
                  </a:lnTo>
                  <a:lnTo>
                    <a:pt x="411" y="56"/>
                  </a:lnTo>
                  <a:lnTo>
                    <a:pt x="451" y="48"/>
                  </a:lnTo>
                  <a:lnTo>
                    <a:pt x="492" y="41"/>
                  </a:lnTo>
                  <a:lnTo>
                    <a:pt x="536" y="34"/>
                  </a:lnTo>
                  <a:lnTo>
                    <a:pt x="580" y="28"/>
                  </a:lnTo>
                  <a:lnTo>
                    <a:pt x="624" y="22"/>
                  </a:lnTo>
                  <a:lnTo>
                    <a:pt x="671" y="17"/>
                  </a:lnTo>
                  <a:lnTo>
                    <a:pt x="719" y="13"/>
                  </a:lnTo>
                  <a:lnTo>
                    <a:pt x="767" y="9"/>
                  </a:lnTo>
                  <a:lnTo>
                    <a:pt x="816" y="6"/>
                  </a:lnTo>
                  <a:lnTo>
                    <a:pt x="867" y="3"/>
                  </a:lnTo>
                  <a:lnTo>
                    <a:pt x="919" y="1"/>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78" name="Google Shape;178;g3f95de07730_1_39"/>
            <p:cNvSpPr/>
            <p:nvPr/>
          </p:nvSpPr>
          <p:spPr>
            <a:xfrm>
              <a:off x="5967413" y="-2805113"/>
              <a:ext cx="1133478" cy="481013"/>
            </a:xfrm>
            <a:custGeom>
              <a:avLst/>
              <a:gdLst/>
              <a:ahLst/>
              <a:cxnLst/>
              <a:rect l="l" t="t" r="r" b="b"/>
              <a:pathLst>
                <a:path w="2141" h="909" extrusionOk="0">
                  <a:moveTo>
                    <a:pt x="2141" y="594"/>
                  </a:moveTo>
                  <a:lnTo>
                    <a:pt x="2139" y="611"/>
                  </a:lnTo>
                  <a:lnTo>
                    <a:pt x="2133" y="626"/>
                  </a:lnTo>
                  <a:lnTo>
                    <a:pt x="2126" y="642"/>
                  </a:lnTo>
                  <a:lnTo>
                    <a:pt x="2115" y="658"/>
                  </a:lnTo>
                  <a:lnTo>
                    <a:pt x="2102" y="673"/>
                  </a:lnTo>
                  <a:lnTo>
                    <a:pt x="2087" y="688"/>
                  </a:lnTo>
                  <a:lnTo>
                    <a:pt x="2070" y="703"/>
                  </a:lnTo>
                  <a:lnTo>
                    <a:pt x="2050" y="717"/>
                  </a:lnTo>
                  <a:lnTo>
                    <a:pt x="2028" y="731"/>
                  </a:lnTo>
                  <a:lnTo>
                    <a:pt x="2004" y="745"/>
                  </a:lnTo>
                  <a:lnTo>
                    <a:pt x="1978" y="758"/>
                  </a:lnTo>
                  <a:lnTo>
                    <a:pt x="1950" y="771"/>
                  </a:lnTo>
                  <a:lnTo>
                    <a:pt x="1921" y="783"/>
                  </a:lnTo>
                  <a:lnTo>
                    <a:pt x="1889" y="794"/>
                  </a:lnTo>
                  <a:lnTo>
                    <a:pt x="1855" y="806"/>
                  </a:lnTo>
                  <a:lnTo>
                    <a:pt x="1819" y="817"/>
                  </a:lnTo>
                  <a:lnTo>
                    <a:pt x="1783" y="827"/>
                  </a:lnTo>
                  <a:lnTo>
                    <a:pt x="1744" y="838"/>
                  </a:lnTo>
                  <a:lnTo>
                    <a:pt x="1704" y="846"/>
                  </a:lnTo>
                  <a:lnTo>
                    <a:pt x="1663" y="856"/>
                  </a:lnTo>
                  <a:lnTo>
                    <a:pt x="1619" y="864"/>
                  </a:lnTo>
                  <a:lnTo>
                    <a:pt x="1574" y="871"/>
                  </a:lnTo>
                  <a:lnTo>
                    <a:pt x="1529" y="878"/>
                  </a:lnTo>
                  <a:lnTo>
                    <a:pt x="1482" y="884"/>
                  </a:lnTo>
                  <a:lnTo>
                    <a:pt x="1434" y="890"/>
                  </a:lnTo>
                  <a:lnTo>
                    <a:pt x="1384" y="895"/>
                  </a:lnTo>
                  <a:lnTo>
                    <a:pt x="1335" y="899"/>
                  </a:lnTo>
                  <a:lnTo>
                    <a:pt x="1283" y="903"/>
                  </a:lnTo>
                  <a:lnTo>
                    <a:pt x="1231" y="905"/>
                  </a:lnTo>
                  <a:lnTo>
                    <a:pt x="1178" y="908"/>
                  </a:lnTo>
                  <a:lnTo>
                    <a:pt x="1124" y="909"/>
                  </a:lnTo>
                  <a:lnTo>
                    <a:pt x="1070" y="909"/>
                  </a:lnTo>
                  <a:lnTo>
                    <a:pt x="1015" y="909"/>
                  </a:lnTo>
                  <a:lnTo>
                    <a:pt x="962" y="908"/>
                  </a:lnTo>
                  <a:lnTo>
                    <a:pt x="909" y="905"/>
                  </a:lnTo>
                  <a:lnTo>
                    <a:pt x="858" y="903"/>
                  </a:lnTo>
                  <a:lnTo>
                    <a:pt x="806" y="899"/>
                  </a:lnTo>
                  <a:lnTo>
                    <a:pt x="755" y="895"/>
                  </a:lnTo>
                  <a:lnTo>
                    <a:pt x="707" y="890"/>
                  </a:lnTo>
                  <a:lnTo>
                    <a:pt x="658" y="884"/>
                  </a:lnTo>
                  <a:lnTo>
                    <a:pt x="611" y="878"/>
                  </a:lnTo>
                  <a:lnTo>
                    <a:pt x="565" y="871"/>
                  </a:lnTo>
                  <a:lnTo>
                    <a:pt x="522" y="864"/>
                  </a:lnTo>
                  <a:lnTo>
                    <a:pt x="478" y="856"/>
                  </a:lnTo>
                  <a:lnTo>
                    <a:pt x="437" y="846"/>
                  </a:lnTo>
                  <a:lnTo>
                    <a:pt x="397" y="838"/>
                  </a:lnTo>
                  <a:lnTo>
                    <a:pt x="358" y="827"/>
                  </a:lnTo>
                  <a:lnTo>
                    <a:pt x="320" y="817"/>
                  </a:lnTo>
                  <a:lnTo>
                    <a:pt x="285" y="806"/>
                  </a:lnTo>
                  <a:lnTo>
                    <a:pt x="252" y="794"/>
                  </a:lnTo>
                  <a:lnTo>
                    <a:pt x="220" y="783"/>
                  </a:lnTo>
                  <a:lnTo>
                    <a:pt x="189" y="771"/>
                  </a:lnTo>
                  <a:lnTo>
                    <a:pt x="162" y="758"/>
                  </a:lnTo>
                  <a:lnTo>
                    <a:pt x="135" y="745"/>
                  </a:lnTo>
                  <a:lnTo>
                    <a:pt x="112" y="731"/>
                  </a:lnTo>
                  <a:lnTo>
                    <a:pt x="90" y="717"/>
                  </a:lnTo>
                  <a:lnTo>
                    <a:pt x="70" y="703"/>
                  </a:lnTo>
                  <a:lnTo>
                    <a:pt x="53" y="688"/>
                  </a:lnTo>
                  <a:lnTo>
                    <a:pt x="37" y="673"/>
                  </a:lnTo>
                  <a:lnTo>
                    <a:pt x="26" y="658"/>
                  </a:lnTo>
                  <a:lnTo>
                    <a:pt x="15" y="642"/>
                  </a:lnTo>
                  <a:lnTo>
                    <a:pt x="7" y="626"/>
                  </a:lnTo>
                  <a:lnTo>
                    <a:pt x="2" y="611"/>
                  </a:lnTo>
                  <a:lnTo>
                    <a:pt x="0" y="594"/>
                  </a:lnTo>
                  <a:lnTo>
                    <a:pt x="0" y="594"/>
                  </a:lnTo>
                  <a:lnTo>
                    <a:pt x="0" y="0"/>
                  </a:lnTo>
                  <a:lnTo>
                    <a:pt x="502" y="243"/>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79" name="Google Shape;179;g3f95de07730_1_39"/>
            <p:cNvSpPr/>
            <p:nvPr/>
          </p:nvSpPr>
          <p:spPr>
            <a:xfrm>
              <a:off x="5967413" y="-2976563"/>
              <a:ext cx="1133478" cy="341313"/>
            </a:xfrm>
            <a:custGeom>
              <a:avLst/>
              <a:gdLst/>
              <a:ahLst/>
              <a:cxnLst/>
              <a:rect l="l" t="t" r="r" b="b"/>
              <a:pathLst>
                <a:path w="2141" h="645" extrusionOk="0">
                  <a:moveTo>
                    <a:pt x="1070" y="0"/>
                  </a:moveTo>
                  <a:lnTo>
                    <a:pt x="1125" y="0"/>
                  </a:lnTo>
                  <a:lnTo>
                    <a:pt x="1179" y="2"/>
                  </a:lnTo>
                  <a:lnTo>
                    <a:pt x="1234" y="4"/>
                  </a:lnTo>
                  <a:lnTo>
                    <a:pt x="1285" y="7"/>
                  </a:lnTo>
                  <a:lnTo>
                    <a:pt x="1337" y="11"/>
                  </a:lnTo>
                  <a:lnTo>
                    <a:pt x="1389" y="14"/>
                  </a:lnTo>
                  <a:lnTo>
                    <a:pt x="1439" y="20"/>
                  </a:lnTo>
                  <a:lnTo>
                    <a:pt x="1487" y="26"/>
                  </a:lnTo>
                  <a:lnTo>
                    <a:pt x="1534" y="32"/>
                  </a:lnTo>
                  <a:lnTo>
                    <a:pt x="1580" y="39"/>
                  </a:lnTo>
                  <a:lnTo>
                    <a:pt x="1625" y="47"/>
                  </a:lnTo>
                  <a:lnTo>
                    <a:pt x="1668" y="55"/>
                  </a:lnTo>
                  <a:lnTo>
                    <a:pt x="1711" y="64"/>
                  </a:lnTo>
                  <a:lnTo>
                    <a:pt x="1751" y="74"/>
                  </a:lnTo>
                  <a:lnTo>
                    <a:pt x="1790" y="84"/>
                  </a:lnTo>
                  <a:lnTo>
                    <a:pt x="1828" y="94"/>
                  </a:lnTo>
                  <a:lnTo>
                    <a:pt x="1863" y="106"/>
                  </a:lnTo>
                  <a:lnTo>
                    <a:pt x="1896" y="118"/>
                  </a:lnTo>
                  <a:lnTo>
                    <a:pt x="1928" y="130"/>
                  </a:lnTo>
                  <a:lnTo>
                    <a:pt x="1958" y="143"/>
                  </a:lnTo>
                  <a:lnTo>
                    <a:pt x="1985" y="156"/>
                  </a:lnTo>
                  <a:lnTo>
                    <a:pt x="2011" y="169"/>
                  </a:lnTo>
                  <a:lnTo>
                    <a:pt x="2035" y="183"/>
                  </a:lnTo>
                  <a:lnTo>
                    <a:pt x="2057" y="197"/>
                  </a:lnTo>
                  <a:lnTo>
                    <a:pt x="2076" y="212"/>
                  </a:lnTo>
                  <a:lnTo>
                    <a:pt x="2093" y="226"/>
                  </a:lnTo>
                  <a:lnTo>
                    <a:pt x="2107" y="242"/>
                  </a:lnTo>
                  <a:lnTo>
                    <a:pt x="2120" y="257"/>
                  </a:lnTo>
                  <a:lnTo>
                    <a:pt x="2129" y="273"/>
                  </a:lnTo>
                  <a:lnTo>
                    <a:pt x="2135" y="290"/>
                  </a:lnTo>
                  <a:lnTo>
                    <a:pt x="2140" y="306"/>
                  </a:lnTo>
                  <a:lnTo>
                    <a:pt x="2141" y="323"/>
                  </a:lnTo>
                  <a:lnTo>
                    <a:pt x="2140" y="339"/>
                  </a:lnTo>
                  <a:lnTo>
                    <a:pt x="2135" y="356"/>
                  </a:lnTo>
                  <a:lnTo>
                    <a:pt x="2129" y="371"/>
                  </a:lnTo>
                  <a:lnTo>
                    <a:pt x="2120" y="388"/>
                  </a:lnTo>
                  <a:lnTo>
                    <a:pt x="2107" y="403"/>
                  </a:lnTo>
                  <a:lnTo>
                    <a:pt x="2093" y="418"/>
                  </a:lnTo>
                  <a:lnTo>
                    <a:pt x="2076" y="434"/>
                  </a:lnTo>
                  <a:lnTo>
                    <a:pt x="2057" y="448"/>
                  </a:lnTo>
                  <a:lnTo>
                    <a:pt x="2035" y="462"/>
                  </a:lnTo>
                  <a:lnTo>
                    <a:pt x="2011" y="476"/>
                  </a:lnTo>
                  <a:lnTo>
                    <a:pt x="1985" y="489"/>
                  </a:lnTo>
                  <a:lnTo>
                    <a:pt x="1958" y="502"/>
                  </a:lnTo>
                  <a:lnTo>
                    <a:pt x="1928" y="515"/>
                  </a:lnTo>
                  <a:lnTo>
                    <a:pt x="1896" y="528"/>
                  </a:lnTo>
                  <a:lnTo>
                    <a:pt x="1863" y="539"/>
                  </a:lnTo>
                  <a:lnTo>
                    <a:pt x="1828" y="550"/>
                  </a:lnTo>
                  <a:lnTo>
                    <a:pt x="1790" y="561"/>
                  </a:lnTo>
                  <a:lnTo>
                    <a:pt x="1751" y="572"/>
                  </a:lnTo>
                  <a:lnTo>
                    <a:pt x="1711" y="581"/>
                  </a:lnTo>
                  <a:lnTo>
                    <a:pt x="1668" y="589"/>
                  </a:lnTo>
                  <a:lnTo>
                    <a:pt x="1625" y="598"/>
                  </a:lnTo>
                  <a:lnTo>
                    <a:pt x="1580" y="606"/>
                  </a:lnTo>
                  <a:lnTo>
                    <a:pt x="1534" y="613"/>
                  </a:lnTo>
                  <a:lnTo>
                    <a:pt x="1487" y="620"/>
                  </a:lnTo>
                  <a:lnTo>
                    <a:pt x="1439" y="625"/>
                  </a:lnTo>
                  <a:lnTo>
                    <a:pt x="1389" y="631"/>
                  </a:lnTo>
                  <a:lnTo>
                    <a:pt x="1337" y="634"/>
                  </a:lnTo>
                  <a:lnTo>
                    <a:pt x="1285" y="638"/>
                  </a:lnTo>
                  <a:lnTo>
                    <a:pt x="1234" y="641"/>
                  </a:lnTo>
                  <a:lnTo>
                    <a:pt x="1179" y="643"/>
                  </a:lnTo>
                  <a:lnTo>
                    <a:pt x="1125" y="645"/>
                  </a:lnTo>
                  <a:lnTo>
                    <a:pt x="1070" y="645"/>
                  </a:lnTo>
                  <a:lnTo>
                    <a:pt x="1015" y="645"/>
                  </a:lnTo>
                  <a:lnTo>
                    <a:pt x="960" y="643"/>
                  </a:lnTo>
                  <a:lnTo>
                    <a:pt x="907" y="641"/>
                  </a:lnTo>
                  <a:lnTo>
                    <a:pt x="854" y="638"/>
                  </a:lnTo>
                  <a:lnTo>
                    <a:pt x="802" y="634"/>
                  </a:lnTo>
                  <a:lnTo>
                    <a:pt x="751" y="631"/>
                  </a:lnTo>
                  <a:lnTo>
                    <a:pt x="702" y="625"/>
                  </a:lnTo>
                  <a:lnTo>
                    <a:pt x="654" y="620"/>
                  </a:lnTo>
                  <a:lnTo>
                    <a:pt x="605" y="613"/>
                  </a:lnTo>
                  <a:lnTo>
                    <a:pt x="559" y="606"/>
                  </a:lnTo>
                  <a:lnTo>
                    <a:pt x="515" y="598"/>
                  </a:lnTo>
                  <a:lnTo>
                    <a:pt x="471" y="589"/>
                  </a:lnTo>
                  <a:lnTo>
                    <a:pt x="430" y="581"/>
                  </a:lnTo>
                  <a:lnTo>
                    <a:pt x="389" y="572"/>
                  </a:lnTo>
                  <a:lnTo>
                    <a:pt x="350" y="561"/>
                  </a:lnTo>
                  <a:lnTo>
                    <a:pt x="313" y="550"/>
                  </a:lnTo>
                  <a:lnTo>
                    <a:pt x="278" y="539"/>
                  </a:lnTo>
                  <a:lnTo>
                    <a:pt x="244" y="528"/>
                  </a:lnTo>
                  <a:lnTo>
                    <a:pt x="212" y="515"/>
                  </a:lnTo>
                  <a:lnTo>
                    <a:pt x="182" y="502"/>
                  </a:lnTo>
                  <a:lnTo>
                    <a:pt x="154" y="489"/>
                  </a:lnTo>
                  <a:lnTo>
                    <a:pt x="128" y="476"/>
                  </a:lnTo>
                  <a:lnTo>
                    <a:pt x="104" y="462"/>
                  </a:lnTo>
                  <a:lnTo>
                    <a:pt x="83" y="448"/>
                  </a:lnTo>
                  <a:lnTo>
                    <a:pt x="64" y="434"/>
                  </a:lnTo>
                  <a:lnTo>
                    <a:pt x="47" y="418"/>
                  </a:lnTo>
                  <a:lnTo>
                    <a:pt x="33" y="403"/>
                  </a:lnTo>
                  <a:lnTo>
                    <a:pt x="21" y="388"/>
                  </a:lnTo>
                  <a:lnTo>
                    <a:pt x="11" y="371"/>
                  </a:lnTo>
                  <a:lnTo>
                    <a:pt x="4" y="356"/>
                  </a:lnTo>
                  <a:lnTo>
                    <a:pt x="1" y="339"/>
                  </a:lnTo>
                  <a:lnTo>
                    <a:pt x="0" y="323"/>
                  </a:lnTo>
                  <a:lnTo>
                    <a:pt x="1" y="306"/>
                  </a:lnTo>
                  <a:lnTo>
                    <a:pt x="4" y="290"/>
                  </a:lnTo>
                  <a:lnTo>
                    <a:pt x="11" y="273"/>
                  </a:lnTo>
                  <a:lnTo>
                    <a:pt x="21" y="257"/>
                  </a:lnTo>
                  <a:lnTo>
                    <a:pt x="33" y="242"/>
                  </a:lnTo>
                  <a:lnTo>
                    <a:pt x="47" y="226"/>
                  </a:lnTo>
                  <a:lnTo>
                    <a:pt x="64" y="212"/>
                  </a:lnTo>
                  <a:lnTo>
                    <a:pt x="83" y="197"/>
                  </a:lnTo>
                  <a:lnTo>
                    <a:pt x="104" y="183"/>
                  </a:lnTo>
                  <a:lnTo>
                    <a:pt x="128" y="169"/>
                  </a:lnTo>
                  <a:lnTo>
                    <a:pt x="154" y="156"/>
                  </a:lnTo>
                  <a:lnTo>
                    <a:pt x="182" y="143"/>
                  </a:lnTo>
                  <a:lnTo>
                    <a:pt x="212" y="130"/>
                  </a:lnTo>
                  <a:lnTo>
                    <a:pt x="244" y="118"/>
                  </a:lnTo>
                  <a:lnTo>
                    <a:pt x="278" y="106"/>
                  </a:lnTo>
                  <a:lnTo>
                    <a:pt x="313" y="94"/>
                  </a:lnTo>
                  <a:lnTo>
                    <a:pt x="350" y="84"/>
                  </a:lnTo>
                  <a:lnTo>
                    <a:pt x="389" y="74"/>
                  </a:lnTo>
                  <a:lnTo>
                    <a:pt x="430" y="64"/>
                  </a:lnTo>
                  <a:lnTo>
                    <a:pt x="471" y="55"/>
                  </a:lnTo>
                  <a:lnTo>
                    <a:pt x="515" y="47"/>
                  </a:lnTo>
                  <a:lnTo>
                    <a:pt x="559" y="39"/>
                  </a:lnTo>
                  <a:lnTo>
                    <a:pt x="605" y="32"/>
                  </a:lnTo>
                  <a:lnTo>
                    <a:pt x="654" y="26"/>
                  </a:lnTo>
                  <a:lnTo>
                    <a:pt x="702" y="20"/>
                  </a:lnTo>
                  <a:lnTo>
                    <a:pt x="751" y="14"/>
                  </a:lnTo>
                  <a:lnTo>
                    <a:pt x="802" y="11"/>
                  </a:lnTo>
                  <a:lnTo>
                    <a:pt x="854" y="7"/>
                  </a:lnTo>
                  <a:lnTo>
                    <a:pt x="907" y="4"/>
                  </a:lnTo>
                  <a:lnTo>
                    <a:pt x="960" y="2"/>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0" name="Google Shape;180;g3f95de07730_1_39"/>
            <p:cNvSpPr/>
            <p:nvPr/>
          </p:nvSpPr>
          <p:spPr>
            <a:xfrm>
              <a:off x="5992813" y="-2979738"/>
              <a:ext cx="1082677" cy="300038"/>
            </a:xfrm>
            <a:custGeom>
              <a:avLst/>
              <a:gdLst/>
              <a:ahLst/>
              <a:cxnLst/>
              <a:rect l="l" t="t" r="r" b="b"/>
              <a:pathLst>
                <a:path w="2046" h="565" extrusionOk="0">
                  <a:moveTo>
                    <a:pt x="1023" y="0"/>
                  </a:moveTo>
                  <a:lnTo>
                    <a:pt x="1076" y="0"/>
                  </a:lnTo>
                  <a:lnTo>
                    <a:pt x="1128" y="2"/>
                  </a:lnTo>
                  <a:lnTo>
                    <a:pt x="1178" y="3"/>
                  </a:lnTo>
                  <a:lnTo>
                    <a:pt x="1229" y="6"/>
                  </a:lnTo>
                  <a:lnTo>
                    <a:pt x="1278" y="9"/>
                  </a:lnTo>
                  <a:lnTo>
                    <a:pt x="1327" y="12"/>
                  </a:lnTo>
                  <a:lnTo>
                    <a:pt x="1375" y="17"/>
                  </a:lnTo>
                  <a:lnTo>
                    <a:pt x="1421" y="23"/>
                  </a:lnTo>
                  <a:lnTo>
                    <a:pt x="1467" y="28"/>
                  </a:lnTo>
                  <a:lnTo>
                    <a:pt x="1511" y="35"/>
                  </a:lnTo>
                  <a:lnTo>
                    <a:pt x="1553" y="41"/>
                  </a:lnTo>
                  <a:lnTo>
                    <a:pt x="1595" y="49"/>
                  </a:lnTo>
                  <a:lnTo>
                    <a:pt x="1636" y="56"/>
                  </a:lnTo>
                  <a:lnTo>
                    <a:pt x="1673" y="64"/>
                  </a:lnTo>
                  <a:lnTo>
                    <a:pt x="1711" y="74"/>
                  </a:lnTo>
                  <a:lnTo>
                    <a:pt x="1746" y="83"/>
                  </a:lnTo>
                  <a:lnTo>
                    <a:pt x="1781" y="92"/>
                  </a:lnTo>
                  <a:lnTo>
                    <a:pt x="1812" y="103"/>
                  </a:lnTo>
                  <a:lnTo>
                    <a:pt x="1843" y="114"/>
                  </a:lnTo>
                  <a:lnTo>
                    <a:pt x="1871" y="124"/>
                  </a:lnTo>
                  <a:lnTo>
                    <a:pt x="1898" y="136"/>
                  </a:lnTo>
                  <a:lnTo>
                    <a:pt x="1922" y="148"/>
                  </a:lnTo>
                  <a:lnTo>
                    <a:pt x="1946" y="160"/>
                  </a:lnTo>
                  <a:lnTo>
                    <a:pt x="1966" y="173"/>
                  </a:lnTo>
                  <a:lnTo>
                    <a:pt x="1984" y="185"/>
                  </a:lnTo>
                  <a:lnTo>
                    <a:pt x="2000" y="198"/>
                  </a:lnTo>
                  <a:lnTo>
                    <a:pt x="2014" y="211"/>
                  </a:lnTo>
                  <a:lnTo>
                    <a:pt x="2026" y="226"/>
                  </a:lnTo>
                  <a:lnTo>
                    <a:pt x="2034" y="240"/>
                  </a:lnTo>
                  <a:lnTo>
                    <a:pt x="2041" y="254"/>
                  </a:lnTo>
                  <a:lnTo>
                    <a:pt x="2045" y="268"/>
                  </a:lnTo>
                  <a:lnTo>
                    <a:pt x="2046" y="282"/>
                  </a:lnTo>
                  <a:lnTo>
                    <a:pt x="2045" y="297"/>
                  </a:lnTo>
                  <a:lnTo>
                    <a:pt x="2041" y="312"/>
                  </a:lnTo>
                  <a:lnTo>
                    <a:pt x="2034" y="326"/>
                  </a:lnTo>
                  <a:lnTo>
                    <a:pt x="2026" y="339"/>
                  </a:lnTo>
                  <a:lnTo>
                    <a:pt x="2014" y="353"/>
                  </a:lnTo>
                  <a:lnTo>
                    <a:pt x="2000" y="366"/>
                  </a:lnTo>
                  <a:lnTo>
                    <a:pt x="1984" y="380"/>
                  </a:lnTo>
                  <a:lnTo>
                    <a:pt x="1966" y="392"/>
                  </a:lnTo>
                  <a:lnTo>
                    <a:pt x="1946" y="405"/>
                  </a:lnTo>
                  <a:lnTo>
                    <a:pt x="1922" y="416"/>
                  </a:lnTo>
                  <a:lnTo>
                    <a:pt x="1898" y="428"/>
                  </a:lnTo>
                  <a:lnTo>
                    <a:pt x="1871" y="440"/>
                  </a:lnTo>
                  <a:lnTo>
                    <a:pt x="1843" y="452"/>
                  </a:lnTo>
                  <a:lnTo>
                    <a:pt x="1812" y="462"/>
                  </a:lnTo>
                  <a:lnTo>
                    <a:pt x="1781" y="472"/>
                  </a:lnTo>
                  <a:lnTo>
                    <a:pt x="1746" y="482"/>
                  </a:lnTo>
                  <a:lnTo>
                    <a:pt x="1711" y="492"/>
                  </a:lnTo>
                  <a:lnTo>
                    <a:pt x="1673" y="500"/>
                  </a:lnTo>
                  <a:lnTo>
                    <a:pt x="1636" y="508"/>
                  </a:lnTo>
                  <a:lnTo>
                    <a:pt x="1595" y="517"/>
                  </a:lnTo>
                  <a:lnTo>
                    <a:pt x="1553" y="524"/>
                  </a:lnTo>
                  <a:lnTo>
                    <a:pt x="1511" y="531"/>
                  </a:lnTo>
                  <a:lnTo>
                    <a:pt x="1467" y="537"/>
                  </a:lnTo>
                  <a:lnTo>
                    <a:pt x="1421" y="543"/>
                  </a:lnTo>
                  <a:lnTo>
                    <a:pt x="1375" y="547"/>
                  </a:lnTo>
                  <a:lnTo>
                    <a:pt x="1327" y="552"/>
                  </a:lnTo>
                  <a:lnTo>
                    <a:pt x="1278" y="556"/>
                  </a:lnTo>
                  <a:lnTo>
                    <a:pt x="1229" y="559"/>
                  </a:lnTo>
                  <a:lnTo>
                    <a:pt x="1178" y="561"/>
                  </a:lnTo>
                  <a:lnTo>
                    <a:pt x="1128" y="563"/>
                  </a:lnTo>
                  <a:lnTo>
                    <a:pt x="1076" y="564"/>
                  </a:lnTo>
                  <a:lnTo>
                    <a:pt x="1023" y="565"/>
                  </a:lnTo>
                  <a:lnTo>
                    <a:pt x="971" y="564"/>
                  </a:lnTo>
                  <a:lnTo>
                    <a:pt x="919" y="563"/>
                  </a:lnTo>
                  <a:lnTo>
                    <a:pt x="867" y="561"/>
                  </a:lnTo>
                  <a:lnTo>
                    <a:pt x="816" y="559"/>
                  </a:lnTo>
                  <a:lnTo>
                    <a:pt x="767" y="556"/>
                  </a:lnTo>
                  <a:lnTo>
                    <a:pt x="719" y="552"/>
                  </a:lnTo>
                  <a:lnTo>
                    <a:pt x="671" y="547"/>
                  </a:lnTo>
                  <a:lnTo>
                    <a:pt x="624" y="543"/>
                  </a:lnTo>
                  <a:lnTo>
                    <a:pt x="580" y="537"/>
                  </a:lnTo>
                  <a:lnTo>
                    <a:pt x="536" y="531"/>
                  </a:lnTo>
                  <a:lnTo>
                    <a:pt x="492" y="524"/>
                  </a:lnTo>
                  <a:lnTo>
                    <a:pt x="451" y="517"/>
                  </a:lnTo>
                  <a:lnTo>
                    <a:pt x="411" y="508"/>
                  </a:lnTo>
                  <a:lnTo>
                    <a:pt x="372" y="500"/>
                  </a:lnTo>
                  <a:lnTo>
                    <a:pt x="336" y="492"/>
                  </a:lnTo>
                  <a:lnTo>
                    <a:pt x="300" y="482"/>
                  </a:lnTo>
                  <a:lnTo>
                    <a:pt x="266" y="472"/>
                  </a:lnTo>
                  <a:lnTo>
                    <a:pt x="234" y="462"/>
                  </a:lnTo>
                  <a:lnTo>
                    <a:pt x="204" y="452"/>
                  </a:lnTo>
                  <a:lnTo>
                    <a:pt x="175" y="440"/>
                  </a:lnTo>
                  <a:lnTo>
                    <a:pt x="148" y="428"/>
                  </a:lnTo>
                  <a:lnTo>
                    <a:pt x="123" y="416"/>
                  </a:lnTo>
                  <a:lnTo>
                    <a:pt x="101" y="405"/>
                  </a:lnTo>
                  <a:lnTo>
                    <a:pt x="81" y="392"/>
                  </a:lnTo>
                  <a:lnTo>
                    <a:pt x="62" y="380"/>
                  </a:lnTo>
                  <a:lnTo>
                    <a:pt x="46" y="366"/>
                  </a:lnTo>
                  <a:lnTo>
                    <a:pt x="33" y="353"/>
                  </a:lnTo>
                  <a:lnTo>
                    <a:pt x="21" y="339"/>
                  </a:lnTo>
                  <a:lnTo>
                    <a:pt x="12" y="326"/>
                  </a:lnTo>
                  <a:lnTo>
                    <a:pt x="6" y="312"/>
                  </a:lnTo>
                  <a:lnTo>
                    <a:pt x="2" y="297"/>
                  </a:lnTo>
                  <a:lnTo>
                    <a:pt x="0" y="282"/>
                  </a:lnTo>
                  <a:lnTo>
                    <a:pt x="2" y="268"/>
                  </a:lnTo>
                  <a:lnTo>
                    <a:pt x="6" y="254"/>
                  </a:lnTo>
                  <a:lnTo>
                    <a:pt x="12" y="240"/>
                  </a:lnTo>
                  <a:lnTo>
                    <a:pt x="21" y="226"/>
                  </a:lnTo>
                  <a:lnTo>
                    <a:pt x="33" y="211"/>
                  </a:lnTo>
                  <a:lnTo>
                    <a:pt x="46" y="198"/>
                  </a:lnTo>
                  <a:lnTo>
                    <a:pt x="62" y="185"/>
                  </a:lnTo>
                  <a:lnTo>
                    <a:pt x="81" y="173"/>
                  </a:lnTo>
                  <a:lnTo>
                    <a:pt x="101" y="160"/>
                  </a:lnTo>
                  <a:lnTo>
                    <a:pt x="123" y="148"/>
                  </a:lnTo>
                  <a:lnTo>
                    <a:pt x="148" y="136"/>
                  </a:lnTo>
                  <a:lnTo>
                    <a:pt x="175" y="124"/>
                  </a:lnTo>
                  <a:lnTo>
                    <a:pt x="204" y="114"/>
                  </a:lnTo>
                  <a:lnTo>
                    <a:pt x="234" y="103"/>
                  </a:lnTo>
                  <a:lnTo>
                    <a:pt x="266" y="92"/>
                  </a:lnTo>
                  <a:lnTo>
                    <a:pt x="300" y="83"/>
                  </a:lnTo>
                  <a:lnTo>
                    <a:pt x="336" y="74"/>
                  </a:lnTo>
                  <a:lnTo>
                    <a:pt x="372" y="64"/>
                  </a:lnTo>
                  <a:lnTo>
                    <a:pt x="411" y="56"/>
                  </a:lnTo>
                  <a:lnTo>
                    <a:pt x="451" y="49"/>
                  </a:lnTo>
                  <a:lnTo>
                    <a:pt x="492" y="41"/>
                  </a:lnTo>
                  <a:lnTo>
                    <a:pt x="536" y="35"/>
                  </a:lnTo>
                  <a:lnTo>
                    <a:pt x="580" y="28"/>
                  </a:lnTo>
                  <a:lnTo>
                    <a:pt x="624" y="23"/>
                  </a:lnTo>
                  <a:lnTo>
                    <a:pt x="671" y="17"/>
                  </a:lnTo>
                  <a:lnTo>
                    <a:pt x="719" y="12"/>
                  </a:lnTo>
                  <a:lnTo>
                    <a:pt x="767" y="9"/>
                  </a:lnTo>
                  <a:lnTo>
                    <a:pt x="816" y="6"/>
                  </a:lnTo>
                  <a:lnTo>
                    <a:pt x="867" y="3"/>
                  </a:lnTo>
                  <a:lnTo>
                    <a:pt x="919" y="2"/>
                  </a:lnTo>
                  <a:lnTo>
                    <a:pt x="971" y="0"/>
                  </a:lnTo>
                  <a:lnTo>
                    <a:pt x="1023" y="0"/>
                  </a:lnTo>
                  <a:close/>
                </a:path>
              </a:pathLst>
            </a:custGeom>
            <a:solidFill>
              <a:srgbClr val="606062"/>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1" name="Google Shape;181;g3f95de07730_1_39"/>
            <p:cNvSpPr/>
            <p:nvPr/>
          </p:nvSpPr>
          <p:spPr>
            <a:xfrm>
              <a:off x="5967413" y="-3190875"/>
              <a:ext cx="1133478" cy="481013"/>
            </a:xfrm>
            <a:custGeom>
              <a:avLst/>
              <a:gdLst/>
              <a:ahLst/>
              <a:cxnLst/>
              <a:rect l="l" t="t" r="r" b="b"/>
              <a:pathLst>
                <a:path w="2141" h="908" extrusionOk="0">
                  <a:moveTo>
                    <a:pt x="2141" y="594"/>
                  </a:moveTo>
                  <a:lnTo>
                    <a:pt x="2139" y="609"/>
                  </a:lnTo>
                  <a:lnTo>
                    <a:pt x="2133" y="626"/>
                  </a:lnTo>
                  <a:lnTo>
                    <a:pt x="2126" y="642"/>
                  </a:lnTo>
                  <a:lnTo>
                    <a:pt x="2115" y="657"/>
                  </a:lnTo>
                  <a:lnTo>
                    <a:pt x="2102" y="673"/>
                  </a:lnTo>
                  <a:lnTo>
                    <a:pt x="2087" y="687"/>
                  </a:lnTo>
                  <a:lnTo>
                    <a:pt x="2070" y="702"/>
                  </a:lnTo>
                  <a:lnTo>
                    <a:pt x="2050" y="716"/>
                  </a:lnTo>
                  <a:lnTo>
                    <a:pt x="2028" y="730"/>
                  </a:lnTo>
                  <a:lnTo>
                    <a:pt x="2004" y="743"/>
                  </a:lnTo>
                  <a:lnTo>
                    <a:pt x="1978" y="758"/>
                  </a:lnTo>
                  <a:lnTo>
                    <a:pt x="1950" y="769"/>
                  </a:lnTo>
                  <a:lnTo>
                    <a:pt x="1921" y="782"/>
                  </a:lnTo>
                  <a:lnTo>
                    <a:pt x="1889" y="794"/>
                  </a:lnTo>
                  <a:lnTo>
                    <a:pt x="1855" y="806"/>
                  </a:lnTo>
                  <a:lnTo>
                    <a:pt x="1819" y="816"/>
                  </a:lnTo>
                  <a:lnTo>
                    <a:pt x="1783" y="827"/>
                  </a:lnTo>
                  <a:lnTo>
                    <a:pt x="1744" y="837"/>
                  </a:lnTo>
                  <a:lnTo>
                    <a:pt x="1704" y="846"/>
                  </a:lnTo>
                  <a:lnTo>
                    <a:pt x="1663" y="855"/>
                  </a:lnTo>
                  <a:lnTo>
                    <a:pt x="1619" y="864"/>
                  </a:lnTo>
                  <a:lnTo>
                    <a:pt x="1574" y="871"/>
                  </a:lnTo>
                  <a:lnTo>
                    <a:pt x="1529" y="878"/>
                  </a:lnTo>
                  <a:lnTo>
                    <a:pt x="1482" y="884"/>
                  </a:lnTo>
                  <a:lnTo>
                    <a:pt x="1434" y="890"/>
                  </a:lnTo>
                  <a:lnTo>
                    <a:pt x="1384" y="894"/>
                  </a:lnTo>
                  <a:lnTo>
                    <a:pt x="1335" y="899"/>
                  </a:lnTo>
                  <a:lnTo>
                    <a:pt x="1283" y="903"/>
                  </a:lnTo>
                  <a:lnTo>
                    <a:pt x="1231" y="905"/>
                  </a:lnTo>
                  <a:lnTo>
                    <a:pt x="1178" y="907"/>
                  </a:lnTo>
                  <a:lnTo>
                    <a:pt x="1124" y="908"/>
                  </a:lnTo>
                  <a:lnTo>
                    <a:pt x="1070" y="908"/>
                  </a:lnTo>
                  <a:lnTo>
                    <a:pt x="1015" y="908"/>
                  </a:lnTo>
                  <a:lnTo>
                    <a:pt x="962" y="907"/>
                  </a:lnTo>
                  <a:lnTo>
                    <a:pt x="909" y="905"/>
                  </a:lnTo>
                  <a:lnTo>
                    <a:pt x="858" y="903"/>
                  </a:lnTo>
                  <a:lnTo>
                    <a:pt x="806" y="899"/>
                  </a:lnTo>
                  <a:lnTo>
                    <a:pt x="755" y="894"/>
                  </a:lnTo>
                  <a:lnTo>
                    <a:pt x="707" y="890"/>
                  </a:lnTo>
                  <a:lnTo>
                    <a:pt x="658" y="884"/>
                  </a:lnTo>
                  <a:lnTo>
                    <a:pt x="611" y="878"/>
                  </a:lnTo>
                  <a:lnTo>
                    <a:pt x="565" y="871"/>
                  </a:lnTo>
                  <a:lnTo>
                    <a:pt x="522" y="864"/>
                  </a:lnTo>
                  <a:lnTo>
                    <a:pt x="478" y="855"/>
                  </a:lnTo>
                  <a:lnTo>
                    <a:pt x="437" y="846"/>
                  </a:lnTo>
                  <a:lnTo>
                    <a:pt x="397" y="837"/>
                  </a:lnTo>
                  <a:lnTo>
                    <a:pt x="358" y="827"/>
                  </a:lnTo>
                  <a:lnTo>
                    <a:pt x="320" y="816"/>
                  </a:lnTo>
                  <a:lnTo>
                    <a:pt x="285" y="806"/>
                  </a:lnTo>
                  <a:lnTo>
                    <a:pt x="252" y="794"/>
                  </a:lnTo>
                  <a:lnTo>
                    <a:pt x="220" y="782"/>
                  </a:lnTo>
                  <a:lnTo>
                    <a:pt x="189" y="769"/>
                  </a:lnTo>
                  <a:lnTo>
                    <a:pt x="162" y="758"/>
                  </a:lnTo>
                  <a:lnTo>
                    <a:pt x="135" y="743"/>
                  </a:lnTo>
                  <a:lnTo>
                    <a:pt x="112" y="730"/>
                  </a:lnTo>
                  <a:lnTo>
                    <a:pt x="90" y="716"/>
                  </a:lnTo>
                  <a:lnTo>
                    <a:pt x="70" y="702"/>
                  </a:lnTo>
                  <a:lnTo>
                    <a:pt x="53" y="687"/>
                  </a:lnTo>
                  <a:lnTo>
                    <a:pt x="37" y="673"/>
                  </a:lnTo>
                  <a:lnTo>
                    <a:pt x="26" y="657"/>
                  </a:lnTo>
                  <a:lnTo>
                    <a:pt x="15" y="642"/>
                  </a:lnTo>
                  <a:lnTo>
                    <a:pt x="7" y="626"/>
                  </a:lnTo>
                  <a:lnTo>
                    <a:pt x="2" y="609"/>
                  </a:lnTo>
                  <a:lnTo>
                    <a:pt x="0" y="594"/>
                  </a:lnTo>
                  <a:lnTo>
                    <a:pt x="0" y="594"/>
                  </a:lnTo>
                  <a:lnTo>
                    <a:pt x="0" y="0"/>
                  </a:lnTo>
                  <a:lnTo>
                    <a:pt x="502" y="241"/>
                  </a:lnTo>
                  <a:lnTo>
                    <a:pt x="1587" y="257"/>
                  </a:lnTo>
                  <a:lnTo>
                    <a:pt x="2141" y="0"/>
                  </a:lnTo>
                  <a:lnTo>
                    <a:pt x="2141" y="594"/>
                  </a:lnTo>
                  <a:lnTo>
                    <a:pt x="2141" y="594"/>
                  </a:lnTo>
                  <a:close/>
                </a:path>
              </a:pathLst>
            </a:custGeom>
            <a:solidFill>
              <a:srgbClr val="D2D3D5"/>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2" name="Google Shape;182;g3f95de07730_1_39"/>
            <p:cNvSpPr/>
            <p:nvPr/>
          </p:nvSpPr>
          <p:spPr>
            <a:xfrm>
              <a:off x="5967413" y="-3362325"/>
              <a:ext cx="1133478" cy="341314"/>
            </a:xfrm>
            <a:custGeom>
              <a:avLst/>
              <a:gdLst/>
              <a:ahLst/>
              <a:cxnLst/>
              <a:rect l="l" t="t" r="r" b="b"/>
              <a:pathLst>
                <a:path w="2141" h="644" extrusionOk="0">
                  <a:moveTo>
                    <a:pt x="1070" y="0"/>
                  </a:moveTo>
                  <a:lnTo>
                    <a:pt x="1125" y="0"/>
                  </a:lnTo>
                  <a:lnTo>
                    <a:pt x="1179" y="1"/>
                  </a:lnTo>
                  <a:lnTo>
                    <a:pt x="1234" y="3"/>
                  </a:lnTo>
                  <a:lnTo>
                    <a:pt x="1285" y="5"/>
                  </a:lnTo>
                  <a:lnTo>
                    <a:pt x="1337" y="9"/>
                  </a:lnTo>
                  <a:lnTo>
                    <a:pt x="1389" y="14"/>
                  </a:lnTo>
                  <a:lnTo>
                    <a:pt x="1439" y="18"/>
                  </a:lnTo>
                  <a:lnTo>
                    <a:pt x="1487" y="24"/>
                  </a:lnTo>
                  <a:lnTo>
                    <a:pt x="1534" y="31"/>
                  </a:lnTo>
                  <a:lnTo>
                    <a:pt x="1580" y="38"/>
                  </a:lnTo>
                  <a:lnTo>
                    <a:pt x="1625" y="46"/>
                  </a:lnTo>
                  <a:lnTo>
                    <a:pt x="1668" y="55"/>
                  </a:lnTo>
                  <a:lnTo>
                    <a:pt x="1711" y="63"/>
                  </a:lnTo>
                  <a:lnTo>
                    <a:pt x="1751" y="73"/>
                  </a:lnTo>
                  <a:lnTo>
                    <a:pt x="1790" y="83"/>
                  </a:lnTo>
                  <a:lnTo>
                    <a:pt x="1828" y="94"/>
                  </a:lnTo>
                  <a:lnTo>
                    <a:pt x="1863" y="104"/>
                  </a:lnTo>
                  <a:lnTo>
                    <a:pt x="1896" y="116"/>
                  </a:lnTo>
                  <a:lnTo>
                    <a:pt x="1928" y="129"/>
                  </a:lnTo>
                  <a:lnTo>
                    <a:pt x="1958" y="141"/>
                  </a:lnTo>
                  <a:lnTo>
                    <a:pt x="1985" y="155"/>
                  </a:lnTo>
                  <a:lnTo>
                    <a:pt x="2011" y="168"/>
                  </a:lnTo>
                  <a:lnTo>
                    <a:pt x="2035" y="182"/>
                  </a:lnTo>
                  <a:lnTo>
                    <a:pt x="2057" y="196"/>
                  </a:lnTo>
                  <a:lnTo>
                    <a:pt x="2076" y="211"/>
                  </a:lnTo>
                  <a:lnTo>
                    <a:pt x="2093" y="226"/>
                  </a:lnTo>
                  <a:lnTo>
                    <a:pt x="2107" y="241"/>
                  </a:lnTo>
                  <a:lnTo>
                    <a:pt x="2120" y="257"/>
                  </a:lnTo>
                  <a:lnTo>
                    <a:pt x="2129" y="273"/>
                  </a:lnTo>
                  <a:lnTo>
                    <a:pt x="2135" y="288"/>
                  </a:lnTo>
                  <a:lnTo>
                    <a:pt x="2140" y="305"/>
                  </a:lnTo>
                  <a:lnTo>
                    <a:pt x="2141" y="321"/>
                  </a:lnTo>
                  <a:lnTo>
                    <a:pt x="2140" y="338"/>
                  </a:lnTo>
                  <a:lnTo>
                    <a:pt x="2135" y="354"/>
                  </a:lnTo>
                  <a:lnTo>
                    <a:pt x="2129" y="371"/>
                  </a:lnTo>
                  <a:lnTo>
                    <a:pt x="2120" y="386"/>
                  </a:lnTo>
                  <a:lnTo>
                    <a:pt x="2107" y="403"/>
                  </a:lnTo>
                  <a:lnTo>
                    <a:pt x="2093" y="418"/>
                  </a:lnTo>
                  <a:lnTo>
                    <a:pt x="2076" y="432"/>
                  </a:lnTo>
                  <a:lnTo>
                    <a:pt x="2057" y="447"/>
                  </a:lnTo>
                  <a:lnTo>
                    <a:pt x="2035" y="462"/>
                  </a:lnTo>
                  <a:lnTo>
                    <a:pt x="2011" y="476"/>
                  </a:lnTo>
                  <a:lnTo>
                    <a:pt x="1985" y="489"/>
                  </a:lnTo>
                  <a:lnTo>
                    <a:pt x="1958" y="502"/>
                  </a:lnTo>
                  <a:lnTo>
                    <a:pt x="1928" y="515"/>
                  </a:lnTo>
                  <a:lnTo>
                    <a:pt x="1896" y="526"/>
                  </a:lnTo>
                  <a:lnTo>
                    <a:pt x="1863" y="538"/>
                  </a:lnTo>
                  <a:lnTo>
                    <a:pt x="1828" y="550"/>
                  </a:lnTo>
                  <a:lnTo>
                    <a:pt x="1790" y="561"/>
                  </a:lnTo>
                  <a:lnTo>
                    <a:pt x="1751" y="570"/>
                  </a:lnTo>
                  <a:lnTo>
                    <a:pt x="1711" y="579"/>
                  </a:lnTo>
                  <a:lnTo>
                    <a:pt x="1668" y="589"/>
                  </a:lnTo>
                  <a:lnTo>
                    <a:pt x="1625" y="597"/>
                  </a:lnTo>
                  <a:lnTo>
                    <a:pt x="1580" y="605"/>
                  </a:lnTo>
                  <a:lnTo>
                    <a:pt x="1534" y="612"/>
                  </a:lnTo>
                  <a:lnTo>
                    <a:pt x="1487" y="618"/>
                  </a:lnTo>
                  <a:lnTo>
                    <a:pt x="1439" y="624"/>
                  </a:lnTo>
                  <a:lnTo>
                    <a:pt x="1389" y="630"/>
                  </a:lnTo>
                  <a:lnTo>
                    <a:pt x="1337" y="634"/>
                  </a:lnTo>
                  <a:lnTo>
                    <a:pt x="1285" y="637"/>
                  </a:lnTo>
                  <a:lnTo>
                    <a:pt x="1234" y="641"/>
                  </a:lnTo>
                  <a:lnTo>
                    <a:pt x="1179" y="642"/>
                  </a:lnTo>
                  <a:lnTo>
                    <a:pt x="1125" y="643"/>
                  </a:lnTo>
                  <a:lnTo>
                    <a:pt x="1070" y="644"/>
                  </a:lnTo>
                  <a:lnTo>
                    <a:pt x="1015" y="643"/>
                  </a:lnTo>
                  <a:lnTo>
                    <a:pt x="960" y="642"/>
                  </a:lnTo>
                  <a:lnTo>
                    <a:pt x="907" y="641"/>
                  </a:lnTo>
                  <a:lnTo>
                    <a:pt x="854" y="637"/>
                  </a:lnTo>
                  <a:lnTo>
                    <a:pt x="802" y="634"/>
                  </a:lnTo>
                  <a:lnTo>
                    <a:pt x="751" y="630"/>
                  </a:lnTo>
                  <a:lnTo>
                    <a:pt x="702" y="624"/>
                  </a:lnTo>
                  <a:lnTo>
                    <a:pt x="654" y="618"/>
                  </a:lnTo>
                  <a:lnTo>
                    <a:pt x="605" y="612"/>
                  </a:lnTo>
                  <a:lnTo>
                    <a:pt x="559" y="605"/>
                  </a:lnTo>
                  <a:lnTo>
                    <a:pt x="515" y="597"/>
                  </a:lnTo>
                  <a:lnTo>
                    <a:pt x="471" y="589"/>
                  </a:lnTo>
                  <a:lnTo>
                    <a:pt x="430" y="579"/>
                  </a:lnTo>
                  <a:lnTo>
                    <a:pt x="389" y="570"/>
                  </a:lnTo>
                  <a:lnTo>
                    <a:pt x="350" y="561"/>
                  </a:lnTo>
                  <a:lnTo>
                    <a:pt x="313" y="550"/>
                  </a:lnTo>
                  <a:lnTo>
                    <a:pt x="278" y="538"/>
                  </a:lnTo>
                  <a:lnTo>
                    <a:pt x="244" y="526"/>
                  </a:lnTo>
                  <a:lnTo>
                    <a:pt x="212" y="515"/>
                  </a:lnTo>
                  <a:lnTo>
                    <a:pt x="182" y="502"/>
                  </a:lnTo>
                  <a:lnTo>
                    <a:pt x="154" y="489"/>
                  </a:lnTo>
                  <a:lnTo>
                    <a:pt x="128" y="476"/>
                  </a:lnTo>
                  <a:lnTo>
                    <a:pt x="104" y="462"/>
                  </a:lnTo>
                  <a:lnTo>
                    <a:pt x="83" y="447"/>
                  </a:lnTo>
                  <a:lnTo>
                    <a:pt x="64" y="432"/>
                  </a:lnTo>
                  <a:lnTo>
                    <a:pt x="47" y="418"/>
                  </a:lnTo>
                  <a:lnTo>
                    <a:pt x="33" y="403"/>
                  </a:lnTo>
                  <a:lnTo>
                    <a:pt x="21" y="386"/>
                  </a:lnTo>
                  <a:lnTo>
                    <a:pt x="11" y="371"/>
                  </a:lnTo>
                  <a:lnTo>
                    <a:pt x="4" y="354"/>
                  </a:lnTo>
                  <a:lnTo>
                    <a:pt x="1" y="338"/>
                  </a:lnTo>
                  <a:lnTo>
                    <a:pt x="0" y="321"/>
                  </a:lnTo>
                  <a:lnTo>
                    <a:pt x="1" y="305"/>
                  </a:lnTo>
                  <a:lnTo>
                    <a:pt x="4" y="288"/>
                  </a:lnTo>
                  <a:lnTo>
                    <a:pt x="11" y="273"/>
                  </a:lnTo>
                  <a:lnTo>
                    <a:pt x="21" y="257"/>
                  </a:lnTo>
                  <a:lnTo>
                    <a:pt x="33" y="241"/>
                  </a:lnTo>
                  <a:lnTo>
                    <a:pt x="47" y="226"/>
                  </a:lnTo>
                  <a:lnTo>
                    <a:pt x="64" y="211"/>
                  </a:lnTo>
                  <a:lnTo>
                    <a:pt x="83" y="196"/>
                  </a:lnTo>
                  <a:lnTo>
                    <a:pt x="104" y="182"/>
                  </a:lnTo>
                  <a:lnTo>
                    <a:pt x="128" y="168"/>
                  </a:lnTo>
                  <a:lnTo>
                    <a:pt x="154" y="155"/>
                  </a:lnTo>
                  <a:lnTo>
                    <a:pt x="182" y="141"/>
                  </a:lnTo>
                  <a:lnTo>
                    <a:pt x="212" y="129"/>
                  </a:lnTo>
                  <a:lnTo>
                    <a:pt x="244" y="116"/>
                  </a:lnTo>
                  <a:lnTo>
                    <a:pt x="278" y="104"/>
                  </a:lnTo>
                  <a:lnTo>
                    <a:pt x="313" y="94"/>
                  </a:lnTo>
                  <a:lnTo>
                    <a:pt x="350" y="83"/>
                  </a:lnTo>
                  <a:lnTo>
                    <a:pt x="389" y="73"/>
                  </a:lnTo>
                  <a:lnTo>
                    <a:pt x="430" y="63"/>
                  </a:lnTo>
                  <a:lnTo>
                    <a:pt x="471" y="55"/>
                  </a:lnTo>
                  <a:lnTo>
                    <a:pt x="515" y="46"/>
                  </a:lnTo>
                  <a:lnTo>
                    <a:pt x="559" y="38"/>
                  </a:lnTo>
                  <a:lnTo>
                    <a:pt x="605" y="31"/>
                  </a:lnTo>
                  <a:lnTo>
                    <a:pt x="654" y="24"/>
                  </a:lnTo>
                  <a:lnTo>
                    <a:pt x="702" y="18"/>
                  </a:lnTo>
                  <a:lnTo>
                    <a:pt x="751" y="14"/>
                  </a:lnTo>
                  <a:lnTo>
                    <a:pt x="802" y="9"/>
                  </a:lnTo>
                  <a:lnTo>
                    <a:pt x="854" y="5"/>
                  </a:lnTo>
                  <a:lnTo>
                    <a:pt x="907" y="3"/>
                  </a:lnTo>
                  <a:lnTo>
                    <a:pt x="960" y="1"/>
                  </a:lnTo>
                  <a:lnTo>
                    <a:pt x="1015" y="0"/>
                  </a:lnTo>
                  <a:lnTo>
                    <a:pt x="1070" y="0"/>
                  </a:lnTo>
                  <a:close/>
                </a:path>
              </a:pathLst>
            </a:custGeom>
            <a:solidFill>
              <a:srgbClr val="A9ABAE"/>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3" name="Google Shape;183;g3f95de07730_1_39"/>
            <p:cNvSpPr/>
            <p:nvPr/>
          </p:nvSpPr>
          <p:spPr>
            <a:xfrm>
              <a:off x="5999163" y="-3362325"/>
              <a:ext cx="1076326" cy="271462"/>
            </a:xfrm>
            <a:custGeom>
              <a:avLst/>
              <a:gdLst/>
              <a:ahLst/>
              <a:cxnLst/>
              <a:rect l="l" t="t" r="r" b="b"/>
              <a:pathLst>
                <a:path w="2033" h="512" extrusionOk="0">
                  <a:moveTo>
                    <a:pt x="1016" y="0"/>
                  </a:moveTo>
                  <a:lnTo>
                    <a:pt x="1069" y="0"/>
                  </a:lnTo>
                  <a:lnTo>
                    <a:pt x="1120" y="1"/>
                  </a:lnTo>
                  <a:lnTo>
                    <a:pt x="1171" y="2"/>
                  </a:lnTo>
                  <a:lnTo>
                    <a:pt x="1221" y="4"/>
                  </a:lnTo>
                  <a:lnTo>
                    <a:pt x="1270" y="8"/>
                  </a:lnTo>
                  <a:lnTo>
                    <a:pt x="1318" y="11"/>
                  </a:lnTo>
                  <a:lnTo>
                    <a:pt x="1366" y="15"/>
                  </a:lnTo>
                  <a:lnTo>
                    <a:pt x="1412" y="20"/>
                  </a:lnTo>
                  <a:lnTo>
                    <a:pt x="1456" y="24"/>
                  </a:lnTo>
                  <a:lnTo>
                    <a:pt x="1501" y="30"/>
                  </a:lnTo>
                  <a:lnTo>
                    <a:pt x="1544" y="36"/>
                  </a:lnTo>
                  <a:lnTo>
                    <a:pt x="1585" y="43"/>
                  </a:lnTo>
                  <a:lnTo>
                    <a:pt x="1625" y="50"/>
                  </a:lnTo>
                  <a:lnTo>
                    <a:pt x="1663" y="59"/>
                  </a:lnTo>
                  <a:lnTo>
                    <a:pt x="1700" y="66"/>
                  </a:lnTo>
                  <a:lnTo>
                    <a:pt x="1736" y="75"/>
                  </a:lnTo>
                  <a:lnTo>
                    <a:pt x="1769" y="83"/>
                  </a:lnTo>
                  <a:lnTo>
                    <a:pt x="1801" y="93"/>
                  </a:lnTo>
                  <a:lnTo>
                    <a:pt x="1831" y="102"/>
                  </a:lnTo>
                  <a:lnTo>
                    <a:pt x="1859" y="113"/>
                  </a:lnTo>
                  <a:lnTo>
                    <a:pt x="1885" y="123"/>
                  </a:lnTo>
                  <a:lnTo>
                    <a:pt x="1910" y="134"/>
                  </a:lnTo>
                  <a:lnTo>
                    <a:pt x="1933" y="145"/>
                  </a:lnTo>
                  <a:lnTo>
                    <a:pt x="1953" y="156"/>
                  </a:lnTo>
                  <a:lnTo>
                    <a:pt x="1971" y="168"/>
                  </a:lnTo>
                  <a:lnTo>
                    <a:pt x="1987" y="180"/>
                  </a:lnTo>
                  <a:lnTo>
                    <a:pt x="2001" y="192"/>
                  </a:lnTo>
                  <a:lnTo>
                    <a:pt x="2013" y="203"/>
                  </a:lnTo>
                  <a:lnTo>
                    <a:pt x="2021" y="216"/>
                  </a:lnTo>
                  <a:lnTo>
                    <a:pt x="2028" y="229"/>
                  </a:lnTo>
                  <a:lnTo>
                    <a:pt x="2032" y="242"/>
                  </a:lnTo>
                  <a:lnTo>
                    <a:pt x="2033" y="255"/>
                  </a:lnTo>
                  <a:lnTo>
                    <a:pt x="2032" y="268"/>
                  </a:lnTo>
                  <a:lnTo>
                    <a:pt x="2028" y="282"/>
                  </a:lnTo>
                  <a:lnTo>
                    <a:pt x="2021" y="294"/>
                  </a:lnTo>
                  <a:lnTo>
                    <a:pt x="2013" y="307"/>
                  </a:lnTo>
                  <a:lnTo>
                    <a:pt x="2001" y="320"/>
                  </a:lnTo>
                  <a:lnTo>
                    <a:pt x="1987" y="332"/>
                  </a:lnTo>
                  <a:lnTo>
                    <a:pt x="1971" y="344"/>
                  </a:lnTo>
                  <a:lnTo>
                    <a:pt x="1953" y="356"/>
                  </a:lnTo>
                  <a:lnTo>
                    <a:pt x="1933" y="367"/>
                  </a:lnTo>
                  <a:lnTo>
                    <a:pt x="1910" y="378"/>
                  </a:lnTo>
                  <a:lnTo>
                    <a:pt x="1885" y="389"/>
                  </a:lnTo>
                  <a:lnTo>
                    <a:pt x="1859" y="399"/>
                  </a:lnTo>
                  <a:lnTo>
                    <a:pt x="1831" y="409"/>
                  </a:lnTo>
                  <a:lnTo>
                    <a:pt x="1801" y="419"/>
                  </a:lnTo>
                  <a:lnTo>
                    <a:pt x="1769" y="427"/>
                  </a:lnTo>
                  <a:lnTo>
                    <a:pt x="1736" y="437"/>
                  </a:lnTo>
                  <a:lnTo>
                    <a:pt x="1700" y="445"/>
                  </a:lnTo>
                  <a:lnTo>
                    <a:pt x="1663" y="453"/>
                  </a:lnTo>
                  <a:lnTo>
                    <a:pt x="1625" y="462"/>
                  </a:lnTo>
                  <a:lnTo>
                    <a:pt x="1585" y="469"/>
                  </a:lnTo>
                  <a:lnTo>
                    <a:pt x="1544" y="475"/>
                  </a:lnTo>
                  <a:lnTo>
                    <a:pt x="1501" y="480"/>
                  </a:lnTo>
                  <a:lnTo>
                    <a:pt x="1456" y="486"/>
                  </a:lnTo>
                  <a:lnTo>
                    <a:pt x="1412" y="492"/>
                  </a:lnTo>
                  <a:lnTo>
                    <a:pt x="1366" y="497"/>
                  </a:lnTo>
                  <a:lnTo>
                    <a:pt x="1318" y="500"/>
                  </a:lnTo>
                  <a:lnTo>
                    <a:pt x="1270" y="504"/>
                  </a:lnTo>
                  <a:lnTo>
                    <a:pt x="1221" y="506"/>
                  </a:lnTo>
                  <a:lnTo>
                    <a:pt x="1171" y="509"/>
                  </a:lnTo>
                  <a:lnTo>
                    <a:pt x="1120" y="511"/>
                  </a:lnTo>
                  <a:lnTo>
                    <a:pt x="1069" y="511"/>
                  </a:lnTo>
                  <a:lnTo>
                    <a:pt x="1016" y="512"/>
                  </a:lnTo>
                  <a:lnTo>
                    <a:pt x="964" y="511"/>
                  </a:lnTo>
                  <a:lnTo>
                    <a:pt x="912" y="511"/>
                  </a:lnTo>
                  <a:lnTo>
                    <a:pt x="861" y="509"/>
                  </a:lnTo>
                  <a:lnTo>
                    <a:pt x="812" y="506"/>
                  </a:lnTo>
                  <a:lnTo>
                    <a:pt x="762" y="504"/>
                  </a:lnTo>
                  <a:lnTo>
                    <a:pt x="714" y="500"/>
                  </a:lnTo>
                  <a:lnTo>
                    <a:pt x="667" y="497"/>
                  </a:lnTo>
                  <a:lnTo>
                    <a:pt x="621" y="492"/>
                  </a:lnTo>
                  <a:lnTo>
                    <a:pt x="575" y="486"/>
                  </a:lnTo>
                  <a:lnTo>
                    <a:pt x="531" y="480"/>
                  </a:lnTo>
                  <a:lnTo>
                    <a:pt x="489" y="475"/>
                  </a:lnTo>
                  <a:lnTo>
                    <a:pt x="448" y="469"/>
                  </a:lnTo>
                  <a:lnTo>
                    <a:pt x="407" y="462"/>
                  </a:lnTo>
                  <a:lnTo>
                    <a:pt x="370" y="453"/>
                  </a:lnTo>
                  <a:lnTo>
                    <a:pt x="332" y="445"/>
                  </a:lnTo>
                  <a:lnTo>
                    <a:pt x="297" y="437"/>
                  </a:lnTo>
                  <a:lnTo>
                    <a:pt x="264" y="427"/>
                  </a:lnTo>
                  <a:lnTo>
                    <a:pt x="232" y="419"/>
                  </a:lnTo>
                  <a:lnTo>
                    <a:pt x="201" y="409"/>
                  </a:lnTo>
                  <a:lnTo>
                    <a:pt x="173" y="399"/>
                  </a:lnTo>
                  <a:lnTo>
                    <a:pt x="146" y="389"/>
                  </a:lnTo>
                  <a:lnTo>
                    <a:pt x="122" y="378"/>
                  </a:lnTo>
                  <a:lnTo>
                    <a:pt x="100" y="367"/>
                  </a:lnTo>
                  <a:lnTo>
                    <a:pt x="79" y="356"/>
                  </a:lnTo>
                  <a:lnTo>
                    <a:pt x="61" y="344"/>
                  </a:lnTo>
                  <a:lnTo>
                    <a:pt x="44" y="332"/>
                  </a:lnTo>
                  <a:lnTo>
                    <a:pt x="32" y="320"/>
                  </a:lnTo>
                  <a:lnTo>
                    <a:pt x="20" y="307"/>
                  </a:lnTo>
                  <a:lnTo>
                    <a:pt x="11" y="294"/>
                  </a:lnTo>
                  <a:lnTo>
                    <a:pt x="4" y="282"/>
                  </a:lnTo>
                  <a:lnTo>
                    <a:pt x="1" y="268"/>
                  </a:lnTo>
                  <a:lnTo>
                    <a:pt x="0" y="255"/>
                  </a:lnTo>
                  <a:lnTo>
                    <a:pt x="1" y="242"/>
                  </a:lnTo>
                  <a:lnTo>
                    <a:pt x="4" y="229"/>
                  </a:lnTo>
                  <a:lnTo>
                    <a:pt x="11" y="216"/>
                  </a:lnTo>
                  <a:lnTo>
                    <a:pt x="20" y="203"/>
                  </a:lnTo>
                  <a:lnTo>
                    <a:pt x="32" y="192"/>
                  </a:lnTo>
                  <a:lnTo>
                    <a:pt x="44" y="180"/>
                  </a:lnTo>
                  <a:lnTo>
                    <a:pt x="61" y="168"/>
                  </a:lnTo>
                  <a:lnTo>
                    <a:pt x="79" y="156"/>
                  </a:lnTo>
                  <a:lnTo>
                    <a:pt x="100" y="145"/>
                  </a:lnTo>
                  <a:lnTo>
                    <a:pt x="122" y="134"/>
                  </a:lnTo>
                  <a:lnTo>
                    <a:pt x="146" y="123"/>
                  </a:lnTo>
                  <a:lnTo>
                    <a:pt x="173" y="113"/>
                  </a:lnTo>
                  <a:lnTo>
                    <a:pt x="201" y="102"/>
                  </a:lnTo>
                  <a:lnTo>
                    <a:pt x="232" y="93"/>
                  </a:lnTo>
                  <a:lnTo>
                    <a:pt x="264" y="83"/>
                  </a:lnTo>
                  <a:lnTo>
                    <a:pt x="297" y="75"/>
                  </a:lnTo>
                  <a:lnTo>
                    <a:pt x="332" y="66"/>
                  </a:lnTo>
                  <a:lnTo>
                    <a:pt x="370" y="59"/>
                  </a:lnTo>
                  <a:lnTo>
                    <a:pt x="407" y="50"/>
                  </a:lnTo>
                  <a:lnTo>
                    <a:pt x="448" y="43"/>
                  </a:lnTo>
                  <a:lnTo>
                    <a:pt x="489" y="36"/>
                  </a:lnTo>
                  <a:lnTo>
                    <a:pt x="531" y="30"/>
                  </a:lnTo>
                  <a:lnTo>
                    <a:pt x="575" y="24"/>
                  </a:lnTo>
                  <a:lnTo>
                    <a:pt x="621" y="20"/>
                  </a:lnTo>
                  <a:lnTo>
                    <a:pt x="667" y="15"/>
                  </a:lnTo>
                  <a:lnTo>
                    <a:pt x="714" y="11"/>
                  </a:lnTo>
                  <a:lnTo>
                    <a:pt x="762" y="8"/>
                  </a:lnTo>
                  <a:lnTo>
                    <a:pt x="812" y="4"/>
                  </a:lnTo>
                  <a:lnTo>
                    <a:pt x="861" y="2"/>
                  </a:lnTo>
                  <a:lnTo>
                    <a:pt x="912" y="1"/>
                  </a:lnTo>
                  <a:lnTo>
                    <a:pt x="964" y="0"/>
                  </a:lnTo>
                  <a:lnTo>
                    <a:pt x="1016"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4" name="Google Shape;184;g3f95de07730_1_39"/>
            <p:cNvSpPr/>
            <p:nvPr/>
          </p:nvSpPr>
          <p:spPr>
            <a:xfrm>
              <a:off x="6091238" y="-3340100"/>
              <a:ext cx="892175" cy="206375"/>
            </a:xfrm>
            <a:custGeom>
              <a:avLst/>
              <a:gdLst/>
              <a:ahLst/>
              <a:cxnLst/>
              <a:rect l="l" t="t" r="r" b="b"/>
              <a:pathLst>
                <a:path w="1684" h="389" extrusionOk="0">
                  <a:moveTo>
                    <a:pt x="842" y="0"/>
                  </a:moveTo>
                  <a:lnTo>
                    <a:pt x="928" y="1"/>
                  </a:lnTo>
                  <a:lnTo>
                    <a:pt x="1011" y="5"/>
                  </a:lnTo>
                  <a:lnTo>
                    <a:pt x="1093" y="10"/>
                  </a:lnTo>
                  <a:lnTo>
                    <a:pt x="1170" y="16"/>
                  </a:lnTo>
                  <a:lnTo>
                    <a:pt x="1243" y="24"/>
                  </a:lnTo>
                  <a:lnTo>
                    <a:pt x="1313" y="33"/>
                  </a:lnTo>
                  <a:lnTo>
                    <a:pt x="1378" y="45"/>
                  </a:lnTo>
                  <a:lnTo>
                    <a:pt x="1438" y="57"/>
                  </a:lnTo>
                  <a:lnTo>
                    <a:pt x="1465" y="64"/>
                  </a:lnTo>
                  <a:lnTo>
                    <a:pt x="1492" y="71"/>
                  </a:lnTo>
                  <a:lnTo>
                    <a:pt x="1517" y="78"/>
                  </a:lnTo>
                  <a:lnTo>
                    <a:pt x="1540" y="86"/>
                  </a:lnTo>
                  <a:lnTo>
                    <a:pt x="1562" y="94"/>
                  </a:lnTo>
                  <a:lnTo>
                    <a:pt x="1583" y="102"/>
                  </a:lnTo>
                  <a:lnTo>
                    <a:pt x="1601" y="111"/>
                  </a:lnTo>
                  <a:lnTo>
                    <a:pt x="1618" y="119"/>
                  </a:lnTo>
                  <a:lnTo>
                    <a:pt x="1634" y="127"/>
                  </a:lnTo>
                  <a:lnTo>
                    <a:pt x="1647" y="137"/>
                  </a:lnTo>
                  <a:lnTo>
                    <a:pt x="1657" y="146"/>
                  </a:lnTo>
                  <a:lnTo>
                    <a:pt x="1667" y="156"/>
                  </a:lnTo>
                  <a:lnTo>
                    <a:pt x="1675" y="165"/>
                  </a:lnTo>
                  <a:lnTo>
                    <a:pt x="1680" y="175"/>
                  </a:lnTo>
                  <a:lnTo>
                    <a:pt x="1683" y="185"/>
                  </a:lnTo>
                  <a:lnTo>
                    <a:pt x="1684" y="195"/>
                  </a:lnTo>
                  <a:lnTo>
                    <a:pt x="1683" y="204"/>
                  </a:lnTo>
                  <a:lnTo>
                    <a:pt x="1680" y="215"/>
                  </a:lnTo>
                  <a:lnTo>
                    <a:pt x="1675" y="224"/>
                  </a:lnTo>
                  <a:lnTo>
                    <a:pt x="1667" y="234"/>
                  </a:lnTo>
                  <a:lnTo>
                    <a:pt x="1657" y="243"/>
                  </a:lnTo>
                  <a:lnTo>
                    <a:pt x="1647" y="252"/>
                  </a:lnTo>
                  <a:lnTo>
                    <a:pt x="1634" y="262"/>
                  </a:lnTo>
                  <a:lnTo>
                    <a:pt x="1618" y="270"/>
                  </a:lnTo>
                  <a:lnTo>
                    <a:pt x="1601" y="278"/>
                  </a:lnTo>
                  <a:lnTo>
                    <a:pt x="1583" y="288"/>
                  </a:lnTo>
                  <a:lnTo>
                    <a:pt x="1562" y="295"/>
                  </a:lnTo>
                  <a:lnTo>
                    <a:pt x="1540" y="303"/>
                  </a:lnTo>
                  <a:lnTo>
                    <a:pt x="1517" y="311"/>
                  </a:lnTo>
                  <a:lnTo>
                    <a:pt x="1492" y="318"/>
                  </a:lnTo>
                  <a:lnTo>
                    <a:pt x="1465" y="325"/>
                  </a:lnTo>
                  <a:lnTo>
                    <a:pt x="1438" y="331"/>
                  </a:lnTo>
                  <a:lnTo>
                    <a:pt x="1378" y="344"/>
                  </a:lnTo>
                  <a:lnTo>
                    <a:pt x="1313" y="356"/>
                  </a:lnTo>
                  <a:lnTo>
                    <a:pt x="1243" y="366"/>
                  </a:lnTo>
                  <a:lnTo>
                    <a:pt x="1170" y="374"/>
                  </a:lnTo>
                  <a:lnTo>
                    <a:pt x="1093" y="380"/>
                  </a:lnTo>
                  <a:lnTo>
                    <a:pt x="1011" y="384"/>
                  </a:lnTo>
                  <a:lnTo>
                    <a:pt x="928" y="388"/>
                  </a:lnTo>
                  <a:lnTo>
                    <a:pt x="842" y="389"/>
                  </a:lnTo>
                  <a:lnTo>
                    <a:pt x="756" y="388"/>
                  </a:lnTo>
                  <a:lnTo>
                    <a:pt x="672" y="384"/>
                  </a:lnTo>
                  <a:lnTo>
                    <a:pt x="592" y="380"/>
                  </a:lnTo>
                  <a:lnTo>
                    <a:pt x="514" y="374"/>
                  </a:lnTo>
                  <a:lnTo>
                    <a:pt x="441" y="366"/>
                  </a:lnTo>
                  <a:lnTo>
                    <a:pt x="371" y="356"/>
                  </a:lnTo>
                  <a:lnTo>
                    <a:pt x="307" y="344"/>
                  </a:lnTo>
                  <a:lnTo>
                    <a:pt x="246" y="331"/>
                  </a:lnTo>
                  <a:lnTo>
                    <a:pt x="218" y="325"/>
                  </a:lnTo>
                  <a:lnTo>
                    <a:pt x="192" y="318"/>
                  </a:lnTo>
                  <a:lnTo>
                    <a:pt x="167" y="311"/>
                  </a:lnTo>
                  <a:lnTo>
                    <a:pt x="144" y="303"/>
                  </a:lnTo>
                  <a:lnTo>
                    <a:pt x="122" y="295"/>
                  </a:lnTo>
                  <a:lnTo>
                    <a:pt x="101" y="288"/>
                  </a:lnTo>
                  <a:lnTo>
                    <a:pt x="83" y="278"/>
                  </a:lnTo>
                  <a:lnTo>
                    <a:pt x="66" y="270"/>
                  </a:lnTo>
                  <a:lnTo>
                    <a:pt x="51" y="262"/>
                  </a:lnTo>
                  <a:lnTo>
                    <a:pt x="38" y="252"/>
                  </a:lnTo>
                  <a:lnTo>
                    <a:pt x="26" y="243"/>
                  </a:lnTo>
                  <a:lnTo>
                    <a:pt x="17" y="234"/>
                  </a:lnTo>
                  <a:lnTo>
                    <a:pt x="10" y="224"/>
                  </a:lnTo>
                  <a:lnTo>
                    <a:pt x="5" y="215"/>
                  </a:lnTo>
                  <a:lnTo>
                    <a:pt x="1" y="204"/>
                  </a:lnTo>
                  <a:lnTo>
                    <a:pt x="0" y="195"/>
                  </a:lnTo>
                  <a:lnTo>
                    <a:pt x="1" y="185"/>
                  </a:lnTo>
                  <a:lnTo>
                    <a:pt x="5" y="175"/>
                  </a:lnTo>
                  <a:lnTo>
                    <a:pt x="10" y="165"/>
                  </a:lnTo>
                  <a:lnTo>
                    <a:pt x="17" y="156"/>
                  </a:lnTo>
                  <a:lnTo>
                    <a:pt x="26" y="146"/>
                  </a:lnTo>
                  <a:lnTo>
                    <a:pt x="38" y="137"/>
                  </a:lnTo>
                  <a:lnTo>
                    <a:pt x="51" y="127"/>
                  </a:lnTo>
                  <a:lnTo>
                    <a:pt x="66" y="119"/>
                  </a:lnTo>
                  <a:lnTo>
                    <a:pt x="83" y="111"/>
                  </a:lnTo>
                  <a:lnTo>
                    <a:pt x="101" y="102"/>
                  </a:lnTo>
                  <a:lnTo>
                    <a:pt x="122" y="94"/>
                  </a:lnTo>
                  <a:lnTo>
                    <a:pt x="144" y="86"/>
                  </a:lnTo>
                  <a:lnTo>
                    <a:pt x="167" y="78"/>
                  </a:lnTo>
                  <a:lnTo>
                    <a:pt x="192" y="71"/>
                  </a:lnTo>
                  <a:lnTo>
                    <a:pt x="218" y="64"/>
                  </a:lnTo>
                  <a:lnTo>
                    <a:pt x="246" y="57"/>
                  </a:lnTo>
                  <a:lnTo>
                    <a:pt x="307" y="45"/>
                  </a:lnTo>
                  <a:lnTo>
                    <a:pt x="371" y="33"/>
                  </a:lnTo>
                  <a:lnTo>
                    <a:pt x="441" y="24"/>
                  </a:lnTo>
                  <a:lnTo>
                    <a:pt x="514" y="16"/>
                  </a:lnTo>
                  <a:lnTo>
                    <a:pt x="592" y="10"/>
                  </a:lnTo>
                  <a:lnTo>
                    <a:pt x="672" y="5"/>
                  </a:lnTo>
                  <a:lnTo>
                    <a:pt x="756" y="1"/>
                  </a:lnTo>
                  <a:lnTo>
                    <a:pt x="842" y="0"/>
                  </a:lnTo>
                  <a:close/>
                </a:path>
              </a:pathLst>
            </a:custGeom>
            <a:solidFill>
              <a:srgbClr val="2D75B6"/>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5" name="Google Shape;185;g3f95de07730_1_39"/>
            <p:cNvSpPr/>
            <p:nvPr/>
          </p:nvSpPr>
          <p:spPr>
            <a:xfrm>
              <a:off x="6175374" y="-3244850"/>
              <a:ext cx="727868" cy="111125"/>
            </a:xfrm>
            <a:custGeom>
              <a:avLst/>
              <a:gdLst/>
              <a:ahLst/>
              <a:cxnLst/>
              <a:rect l="l" t="t" r="r" b="b"/>
              <a:pathLst>
                <a:path w="1368" h="210" extrusionOk="0">
                  <a:moveTo>
                    <a:pt x="1368" y="129"/>
                  </a:moveTo>
                  <a:lnTo>
                    <a:pt x="1339" y="138"/>
                  </a:lnTo>
                  <a:lnTo>
                    <a:pt x="1307" y="146"/>
                  </a:lnTo>
                  <a:lnTo>
                    <a:pt x="1273" y="155"/>
                  </a:lnTo>
                  <a:lnTo>
                    <a:pt x="1236" y="162"/>
                  </a:lnTo>
                  <a:lnTo>
                    <a:pt x="1199" y="169"/>
                  </a:lnTo>
                  <a:lnTo>
                    <a:pt x="1160" y="176"/>
                  </a:lnTo>
                  <a:lnTo>
                    <a:pt x="1117" y="182"/>
                  </a:lnTo>
                  <a:lnTo>
                    <a:pt x="1075" y="188"/>
                  </a:lnTo>
                  <a:lnTo>
                    <a:pt x="1030" y="192"/>
                  </a:lnTo>
                  <a:lnTo>
                    <a:pt x="984" y="197"/>
                  </a:lnTo>
                  <a:lnTo>
                    <a:pt x="937" y="201"/>
                  </a:lnTo>
                  <a:lnTo>
                    <a:pt x="889" y="204"/>
                  </a:lnTo>
                  <a:lnTo>
                    <a:pt x="839" y="207"/>
                  </a:lnTo>
                  <a:lnTo>
                    <a:pt x="788" y="209"/>
                  </a:lnTo>
                  <a:lnTo>
                    <a:pt x="737" y="209"/>
                  </a:lnTo>
                  <a:lnTo>
                    <a:pt x="684" y="210"/>
                  </a:lnTo>
                  <a:lnTo>
                    <a:pt x="632" y="209"/>
                  </a:lnTo>
                  <a:lnTo>
                    <a:pt x="580" y="209"/>
                  </a:lnTo>
                  <a:lnTo>
                    <a:pt x="529" y="207"/>
                  </a:lnTo>
                  <a:lnTo>
                    <a:pt x="480" y="204"/>
                  </a:lnTo>
                  <a:lnTo>
                    <a:pt x="431" y="201"/>
                  </a:lnTo>
                  <a:lnTo>
                    <a:pt x="384" y="197"/>
                  </a:lnTo>
                  <a:lnTo>
                    <a:pt x="338" y="192"/>
                  </a:lnTo>
                  <a:lnTo>
                    <a:pt x="293" y="188"/>
                  </a:lnTo>
                  <a:lnTo>
                    <a:pt x="250" y="182"/>
                  </a:lnTo>
                  <a:lnTo>
                    <a:pt x="209" y="176"/>
                  </a:lnTo>
                  <a:lnTo>
                    <a:pt x="169" y="169"/>
                  </a:lnTo>
                  <a:lnTo>
                    <a:pt x="131" y="162"/>
                  </a:lnTo>
                  <a:lnTo>
                    <a:pt x="96" y="155"/>
                  </a:lnTo>
                  <a:lnTo>
                    <a:pt x="61" y="146"/>
                  </a:lnTo>
                  <a:lnTo>
                    <a:pt x="30" y="138"/>
                  </a:lnTo>
                  <a:lnTo>
                    <a:pt x="0" y="129"/>
                  </a:lnTo>
                  <a:lnTo>
                    <a:pt x="0" y="0"/>
                  </a:lnTo>
                  <a:lnTo>
                    <a:pt x="1368" y="0"/>
                  </a:lnTo>
                  <a:lnTo>
                    <a:pt x="1368" y="129"/>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6" name="Google Shape;186;g3f95de07730_1_39"/>
            <p:cNvSpPr/>
            <p:nvPr/>
          </p:nvSpPr>
          <p:spPr>
            <a:xfrm>
              <a:off x="6173788" y="-3319463"/>
              <a:ext cx="727074" cy="155575"/>
            </a:xfrm>
            <a:custGeom>
              <a:avLst/>
              <a:gdLst/>
              <a:ahLst/>
              <a:cxnLst/>
              <a:rect l="l" t="t" r="r" b="b"/>
              <a:pathLst>
                <a:path w="1372" h="296" extrusionOk="0">
                  <a:moveTo>
                    <a:pt x="686" y="0"/>
                  </a:moveTo>
                  <a:lnTo>
                    <a:pt x="756" y="0"/>
                  </a:lnTo>
                  <a:lnTo>
                    <a:pt x="825" y="2"/>
                  </a:lnTo>
                  <a:lnTo>
                    <a:pt x="889" y="6"/>
                  </a:lnTo>
                  <a:lnTo>
                    <a:pt x="953" y="12"/>
                  </a:lnTo>
                  <a:lnTo>
                    <a:pt x="1013" y="17"/>
                  </a:lnTo>
                  <a:lnTo>
                    <a:pt x="1070" y="24"/>
                  </a:lnTo>
                  <a:lnTo>
                    <a:pt x="1123" y="34"/>
                  </a:lnTo>
                  <a:lnTo>
                    <a:pt x="1171" y="43"/>
                  </a:lnTo>
                  <a:lnTo>
                    <a:pt x="1215" y="54"/>
                  </a:lnTo>
                  <a:lnTo>
                    <a:pt x="1255" y="65"/>
                  </a:lnTo>
                  <a:lnTo>
                    <a:pt x="1273" y="70"/>
                  </a:lnTo>
                  <a:lnTo>
                    <a:pt x="1289" y="78"/>
                  </a:lnTo>
                  <a:lnTo>
                    <a:pt x="1304" y="83"/>
                  </a:lnTo>
                  <a:lnTo>
                    <a:pt x="1318" y="90"/>
                  </a:lnTo>
                  <a:lnTo>
                    <a:pt x="1330" y="96"/>
                  </a:lnTo>
                  <a:lnTo>
                    <a:pt x="1341" y="103"/>
                  </a:lnTo>
                  <a:lnTo>
                    <a:pt x="1350" y="111"/>
                  </a:lnTo>
                  <a:lnTo>
                    <a:pt x="1357" y="118"/>
                  </a:lnTo>
                  <a:lnTo>
                    <a:pt x="1364" y="125"/>
                  </a:lnTo>
                  <a:lnTo>
                    <a:pt x="1368" y="133"/>
                  </a:lnTo>
                  <a:lnTo>
                    <a:pt x="1372" y="140"/>
                  </a:lnTo>
                  <a:lnTo>
                    <a:pt x="1372" y="148"/>
                  </a:lnTo>
                  <a:lnTo>
                    <a:pt x="1372" y="155"/>
                  </a:lnTo>
                  <a:lnTo>
                    <a:pt x="1368" y="162"/>
                  </a:lnTo>
                  <a:lnTo>
                    <a:pt x="1364" y="171"/>
                  </a:lnTo>
                  <a:lnTo>
                    <a:pt x="1357" y="178"/>
                  </a:lnTo>
                  <a:lnTo>
                    <a:pt x="1350" y="185"/>
                  </a:lnTo>
                  <a:lnTo>
                    <a:pt x="1341" y="192"/>
                  </a:lnTo>
                  <a:lnTo>
                    <a:pt x="1330" y="199"/>
                  </a:lnTo>
                  <a:lnTo>
                    <a:pt x="1318" y="205"/>
                  </a:lnTo>
                  <a:lnTo>
                    <a:pt x="1304" y="212"/>
                  </a:lnTo>
                  <a:lnTo>
                    <a:pt x="1289" y="218"/>
                  </a:lnTo>
                  <a:lnTo>
                    <a:pt x="1273" y="225"/>
                  </a:lnTo>
                  <a:lnTo>
                    <a:pt x="1255" y="231"/>
                  </a:lnTo>
                  <a:lnTo>
                    <a:pt x="1215" y="241"/>
                  </a:lnTo>
                  <a:lnTo>
                    <a:pt x="1171" y="252"/>
                  </a:lnTo>
                  <a:lnTo>
                    <a:pt x="1123" y="261"/>
                  </a:lnTo>
                  <a:lnTo>
                    <a:pt x="1070" y="271"/>
                  </a:lnTo>
                  <a:lnTo>
                    <a:pt x="1013" y="278"/>
                  </a:lnTo>
                  <a:lnTo>
                    <a:pt x="953" y="284"/>
                  </a:lnTo>
                  <a:lnTo>
                    <a:pt x="889" y="290"/>
                  </a:lnTo>
                  <a:lnTo>
                    <a:pt x="825" y="293"/>
                  </a:lnTo>
                  <a:lnTo>
                    <a:pt x="756" y="296"/>
                  </a:lnTo>
                  <a:lnTo>
                    <a:pt x="686" y="296"/>
                  </a:lnTo>
                  <a:lnTo>
                    <a:pt x="616" y="296"/>
                  </a:lnTo>
                  <a:lnTo>
                    <a:pt x="548" y="293"/>
                  </a:lnTo>
                  <a:lnTo>
                    <a:pt x="482" y="290"/>
                  </a:lnTo>
                  <a:lnTo>
                    <a:pt x="419" y="284"/>
                  </a:lnTo>
                  <a:lnTo>
                    <a:pt x="359" y="278"/>
                  </a:lnTo>
                  <a:lnTo>
                    <a:pt x="303" y="271"/>
                  </a:lnTo>
                  <a:lnTo>
                    <a:pt x="250" y="261"/>
                  </a:lnTo>
                  <a:lnTo>
                    <a:pt x="201" y="252"/>
                  </a:lnTo>
                  <a:lnTo>
                    <a:pt x="156" y="241"/>
                  </a:lnTo>
                  <a:lnTo>
                    <a:pt x="118" y="231"/>
                  </a:lnTo>
                  <a:lnTo>
                    <a:pt x="100" y="225"/>
                  </a:lnTo>
                  <a:lnTo>
                    <a:pt x="83" y="218"/>
                  </a:lnTo>
                  <a:lnTo>
                    <a:pt x="68" y="212"/>
                  </a:lnTo>
                  <a:lnTo>
                    <a:pt x="54" y="205"/>
                  </a:lnTo>
                  <a:lnTo>
                    <a:pt x="42" y="199"/>
                  </a:lnTo>
                  <a:lnTo>
                    <a:pt x="32" y="192"/>
                  </a:lnTo>
                  <a:lnTo>
                    <a:pt x="22" y="185"/>
                  </a:lnTo>
                  <a:lnTo>
                    <a:pt x="14" y="178"/>
                  </a:lnTo>
                  <a:lnTo>
                    <a:pt x="8" y="171"/>
                  </a:lnTo>
                  <a:lnTo>
                    <a:pt x="3" y="162"/>
                  </a:lnTo>
                  <a:lnTo>
                    <a:pt x="1" y="155"/>
                  </a:lnTo>
                  <a:lnTo>
                    <a:pt x="0" y="148"/>
                  </a:lnTo>
                  <a:lnTo>
                    <a:pt x="1" y="140"/>
                  </a:lnTo>
                  <a:lnTo>
                    <a:pt x="3" y="133"/>
                  </a:lnTo>
                  <a:lnTo>
                    <a:pt x="8" y="125"/>
                  </a:lnTo>
                  <a:lnTo>
                    <a:pt x="14" y="118"/>
                  </a:lnTo>
                  <a:lnTo>
                    <a:pt x="22" y="111"/>
                  </a:lnTo>
                  <a:lnTo>
                    <a:pt x="32" y="103"/>
                  </a:lnTo>
                  <a:lnTo>
                    <a:pt x="42" y="96"/>
                  </a:lnTo>
                  <a:lnTo>
                    <a:pt x="54" y="90"/>
                  </a:lnTo>
                  <a:lnTo>
                    <a:pt x="68" y="83"/>
                  </a:lnTo>
                  <a:lnTo>
                    <a:pt x="83" y="78"/>
                  </a:lnTo>
                  <a:lnTo>
                    <a:pt x="100" y="70"/>
                  </a:lnTo>
                  <a:lnTo>
                    <a:pt x="118" y="65"/>
                  </a:lnTo>
                  <a:lnTo>
                    <a:pt x="156" y="54"/>
                  </a:lnTo>
                  <a:lnTo>
                    <a:pt x="201" y="43"/>
                  </a:lnTo>
                  <a:lnTo>
                    <a:pt x="250" y="34"/>
                  </a:lnTo>
                  <a:lnTo>
                    <a:pt x="303" y="24"/>
                  </a:lnTo>
                  <a:lnTo>
                    <a:pt x="359" y="17"/>
                  </a:lnTo>
                  <a:lnTo>
                    <a:pt x="419" y="12"/>
                  </a:lnTo>
                  <a:lnTo>
                    <a:pt x="482" y="6"/>
                  </a:lnTo>
                  <a:lnTo>
                    <a:pt x="548" y="2"/>
                  </a:lnTo>
                  <a:lnTo>
                    <a:pt x="616" y="0"/>
                  </a:lnTo>
                  <a:lnTo>
                    <a:pt x="686" y="0"/>
                  </a:lnTo>
                  <a:close/>
                </a:path>
              </a:pathLst>
            </a:custGeom>
            <a:solidFill>
              <a:srgbClr val="4AB9C4"/>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187" name="Google Shape;187;g3f95de07730_1_39"/>
            <p:cNvSpPr/>
            <p:nvPr/>
          </p:nvSpPr>
          <p:spPr>
            <a:xfrm>
              <a:off x="6194425" y="-3316288"/>
              <a:ext cx="685802" cy="131763"/>
            </a:xfrm>
            <a:custGeom>
              <a:avLst/>
              <a:gdLst/>
              <a:ahLst/>
              <a:cxnLst/>
              <a:rect l="l" t="t" r="r" b="b"/>
              <a:pathLst>
                <a:path w="1298" h="247" extrusionOk="0">
                  <a:moveTo>
                    <a:pt x="649" y="0"/>
                  </a:moveTo>
                  <a:lnTo>
                    <a:pt x="716" y="0"/>
                  </a:lnTo>
                  <a:lnTo>
                    <a:pt x="779" y="2"/>
                  </a:lnTo>
                  <a:lnTo>
                    <a:pt x="842" y="5"/>
                  </a:lnTo>
                  <a:lnTo>
                    <a:pt x="902" y="9"/>
                  </a:lnTo>
                  <a:lnTo>
                    <a:pt x="959" y="14"/>
                  </a:lnTo>
                  <a:lnTo>
                    <a:pt x="1012" y="21"/>
                  </a:lnTo>
                  <a:lnTo>
                    <a:pt x="1062" y="28"/>
                  </a:lnTo>
                  <a:lnTo>
                    <a:pt x="1108" y="35"/>
                  </a:lnTo>
                  <a:lnTo>
                    <a:pt x="1149" y="45"/>
                  </a:lnTo>
                  <a:lnTo>
                    <a:pt x="1187" y="54"/>
                  </a:lnTo>
                  <a:lnTo>
                    <a:pt x="1219" y="65"/>
                  </a:lnTo>
                  <a:lnTo>
                    <a:pt x="1247" y="75"/>
                  </a:lnTo>
                  <a:lnTo>
                    <a:pt x="1258" y="81"/>
                  </a:lnTo>
                  <a:lnTo>
                    <a:pt x="1269" y="87"/>
                  </a:lnTo>
                  <a:lnTo>
                    <a:pt x="1278" y="93"/>
                  </a:lnTo>
                  <a:lnTo>
                    <a:pt x="1285" y="99"/>
                  </a:lnTo>
                  <a:lnTo>
                    <a:pt x="1291" y="105"/>
                  </a:lnTo>
                  <a:lnTo>
                    <a:pt x="1294" y="111"/>
                  </a:lnTo>
                  <a:lnTo>
                    <a:pt x="1297" y="117"/>
                  </a:lnTo>
                  <a:lnTo>
                    <a:pt x="1298" y="124"/>
                  </a:lnTo>
                  <a:lnTo>
                    <a:pt x="1297" y="130"/>
                  </a:lnTo>
                  <a:lnTo>
                    <a:pt x="1294" y="137"/>
                  </a:lnTo>
                  <a:lnTo>
                    <a:pt x="1291" y="143"/>
                  </a:lnTo>
                  <a:lnTo>
                    <a:pt x="1285" y="148"/>
                  </a:lnTo>
                  <a:lnTo>
                    <a:pt x="1278" y="154"/>
                  </a:lnTo>
                  <a:lnTo>
                    <a:pt x="1269" y="160"/>
                  </a:lnTo>
                  <a:lnTo>
                    <a:pt x="1258" y="166"/>
                  </a:lnTo>
                  <a:lnTo>
                    <a:pt x="1247" y="172"/>
                  </a:lnTo>
                  <a:lnTo>
                    <a:pt x="1219" y="183"/>
                  </a:lnTo>
                  <a:lnTo>
                    <a:pt x="1187" y="193"/>
                  </a:lnTo>
                  <a:lnTo>
                    <a:pt x="1149" y="203"/>
                  </a:lnTo>
                  <a:lnTo>
                    <a:pt x="1108" y="211"/>
                  </a:lnTo>
                  <a:lnTo>
                    <a:pt x="1062" y="219"/>
                  </a:lnTo>
                  <a:lnTo>
                    <a:pt x="1012" y="226"/>
                  </a:lnTo>
                  <a:lnTo>
                    <a:pt x="959" y="233"/>
                  </a:lnTo>
                  <a:lnTo>
                    <a:pt x="902" y="238"/>
                  </a:lnTo>
                  <a:lnTo>
                    <a:pt x="842" y="242"/>
                  </a:lnTo>
                  <a:lnTo>
                    <a:pt x="779" y="245"/>
                  </a:lnTo>
                  <a:lnTo>
                    <a:pt x="716" y="247"/>
                  </a:lnTo>
                  <a:lnTo>
                    <a:pt x="649" y="247"/>
                  </a:lnTo>
                  <a:lnTo>
                    <a:pt x="583" y="247"/>
                  </a:lnTo>
                  <a:lnTo>
                    <a:pt x="518" y="245"/>
                  </a:lnTo>
                  <a:lnTo>
                    <a:pt x="456" y="242"/>
                  </a:lnTo>
                  <a:lnTo>
                    <a:pt x="396" y="238"/>
                  </a:lnTo>
                  <a:lnTo>
                    <a:pt x="340" y="233"/>
                  </a:lnTo>
                  <a:lnTo>
                    <a:pt x="287" y="226"/>
                  </a:lnTo>
                  <a:lnTo>
                    <a:pt x="236" y="219"/>
                  </a:lnTo>
                  <a:lnTo>
                    <a:pt x="190" y="211"/>
                  </a:lnTo>
                  <a:lnTo>
                    <a:pt x="149" y="203"/>
                  </a:lnTo>
                  <a:lnTo>
                    <a:pt x="111" y="193"/>
                  </a:lnTo>
                  <a:lnTo>
                    <a:pt x="78" y="183"/>
                  </a:lnTo>
                  <a:lnTo>
                    <a:pt x="51" y="172"/>
                  </a:lnTo>
                  <a:lnTo>
                    <a:pt x="39" y="166"/>
                  </a:lnTo>
                  <a:lnTo>
                    <a:pt x="30" y="160"/>
                  </a:lnTo>
                  <a:lnTo>
                    <a:pt x="20" y="154"/>
                  </a:lnTo>
                  <a:lnTo>
                    <a:pt x="13" y="148"/>
                  </a:lnTo>
                  <a:lnTo>
                    <a:pt x="7" y="143"/>
                  </a:lnTo>
                  <a:lnTo>
                    <a:pt x="4" y="137"/>
                  </a:lnTo>
                  <a:lnTo>
                    <a:pt x="2" y="130"/>
                  </a:lnTo>
                  <a:lnTo>
                    <a:pt x="0" y="124"/>
                  </a:lnTo>
                  <a:lnTo>
                    <a:pt x="2" y="117"/>
                  </a:lnTo>
                  <a:lnTo>
                    <a:pt x="4" y="111"/>
                  </a:lnTo>
                  <a:lnTo>
                    <a:pt x="7" y="105"/>
                  </a:lnTo>
                  <a:lnTo>
                    <a:pt x="13" y="99"/>
                  </a:lnTo>
                  <a:lnTo>
                    <a:pt x="20" y="93"/>
                  </a:lnTo>
                  <a:lnTo>
                    <a:pt x="30" y="87"/>
                  </a:lnTo>
                  <a:lnTo>
                    <a:pt x="39" y="81"/>
                  </a:lnTo>
                  <a:lnTo>
                    <a:pt x="51" y="75"/>
                  </a:lnTo>
                  <a:lnTo>
                    <a:pt x="78" y="65"/>
                  </a:lnTo>
                  <a:lnTo>
                    <a:pt x="111" y="54"/>
                  </a:lnTo>
                  <a:lnTo>
                    <a:pt x="149" y="45"/>
                  </a:lnTo>
                  <a:lnTo>
                    <a:pt x="190" y="35"/>
                  </a:lnTo>
                  <a:lnTo>
                    <a:pt x="236" y="28"/>
                  </a:lnTo>
                  <a:lnTo>
                    <a:pt x="287" y="21"/>
                  </a:lnTo>
                  <a:lnTo>
                    <a:pt x="340" y="14"/>
                  </a:lnTo>
                  <a:lnTo>
                    <a:pt x="396" y="9"/>
                  </a:lnTo>
                  <a:lnTo>
                    <a:pt x="456" y="5"/>
                  </a:lnTo>
                  <a:lnTo>
                    <a:pt x="518" y="2"/>
                  </a:lnTo>
                  <a:lnTo>
                    <a:pt x="583" y="0"/>
                  </a:lnTo>
                  <a:lnTo>
                    <a:pt x="649" y="0"/>
                  </a:lnTo>
                  <a:close/>
                </a:path>
              </a:pathLst>
            </a:custGeom>
            <a:solidFill>
              <a:srgbClr val="4B4B4D"/>
            </a:solidFill>
            <a:ln>
              <a:noFill/>
            </a:ln>
            <a:effectLst>
              <a:reflection stA="25000" endPos="10000" fadeDir="5400012" sy="-100000" algn="bl" rotWithShape="0"/>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188" name="Google Shape;188;g3f95de07730_1_39"/>
          <p:cNvSpPr/>
          <p:nvPr/>
        </p:nvSpPr>
        <p:spPr>
          <a:xfrm>
            <a:off x="657667" y="1828878"/>
            <a:ext cx="899100" cy="324300"/>
          </a:xfrm>
          <a:prstGeom prst="roundRect">
            <a:avLst>
              <a:gd name="adj" fmla="val 50000"/>
            </a:avLst>
          </a:prstGeom>
          <a:solidFill>
            <a:srgbClr val="2D75B6"/>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200" b="1">
                <a:solidFill>
                  <a:schemeClr val="lt1"/>
                </a:solidFill>
                <a:latin typeface="Roboto"/>
                <a:ea typeface="Roboto"/>
                <a:cs typeface="Roboto"/>
                <a:sym typeface="Roboto"/>
              </a:rPr>
              <a:t>Planner</a:t>
            </a:r>
            <a:endParaRPr sz="1500"/>
          </a:p>
        </p:txBody>
      </p:sp>
      <p:sp>
        <p:nvSpPr>
          <p:cNvPr id="189" name="Google Shape;189;g3f95de07730_1_39"/>
          <p:cNvSpPr/>
          <p:nvPr/>
        </p:nvSpPr>
        <p:spPr>
          <a:xfrm>
            <a:off x="657667" y="2221212"/>
            <a:ext cx="2079900" cy="324300"/>
          </a:xfrm>
          <a:prstGeom prst="roundRect">
            <a:avLst>
              <a:gd name="adj" fmla="val 50000"/>
            </a:avLst>
          </a:prstGeom>
          <a:solidFill>
            <a:srgbClr val="119D96"/>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200" b="1">
                <a:solidFill>
                  <a:schemeClr val="lt1"/>
                </a:solidFill>
                <a:latin typeface="Roboto"/>
                <a:ea typeface="Roboto"/>
                <a:cs typeface="Roboto"/>
                <a:sym typeface="Roboto"/>
              </a:rPr>
              <a:t>Monitoring &amp; Provenance</a:t>
            </a:r>
            <a:endParaRPr sz="1500"/>
          </a:p>
        </p:txBody>
      </p:sp>
      <p:sp>
        <p:nvSpPr>
          <p:cNvPr id="190" name="Google Shape;190;g3f95de07730_1_39"/>
          <p:cNvSpPr/>
          <p:nvPr/>
        </p:nvSpPr>
        <p:spPr>
          <a:xfrm>
            <a:off x="662080" y="1292808"/>
            <a:ext cx="1035900" cy="503700"/>
          </a:xfrm>
          <a:prstGeom prst="rect">
            <a:avLst/>
          </a:prstGeom>
          <a:noFill/>
          <a:ln>
            <a:noFill/>
          </a:ln>
        </p:spPr>
        <p:txBody>
          <a:bodyPr spcFirstLastPara="1" wrap="square" lIns="36000" tIns="36000" rIns="36000" bIns="36000" anchor="t" anchorCtr="0">
            <a:noAutofit/>
          </a:bodyPr>
          <a:lstStyle/>
          <a:p>
            <a:pPr marL="0" marR="0" lvl="0" indent="0" algn="l" rtl="0">
              <a:spcBef>
                <a:spcPts val="0"/>
              </a:spcBef>
              <a:spcAft>
                <a:spcPts val="0"/>
              </a:spcAft>
              <a:buNone/>
            </a:pPr>
            <a:r>
              <a:rPr lang="en-US" sz="1500" b="1">
                <a:solidFill>
                  <a:srgbClr val="3F3F3F"/>
                </a:solidFill>
                <a:latin typeface="Roboto"/>
                <a:ea typeface="Roboto"/>
                <a:cs typeface="Roboto"/>
                <a:sym typeface="Roboto"/>
              </a:rPr>
              <a:t>Pegasus</a:t>
            </a:r>
            <a:endParaRPr sz="1500" b="1">
              <a:solidFill>
                <a:srgbClr val="3F3F3F"/>
              </a:solidFill>
              <a:latin typeface="Roboto"/>
              <a:ea typeface="Roboto"/>
              <a:cs typeface="Roboto"/>
              <a:sym typeface="Roboto"/>
            </a:endParaRPr>
          </a:p>
          <a:p>
            <a:pPr marL="0" marR="0" lvl="0" indent="0" algn="l" rtl="0">
              <a:spcBef>
                <a:spcPts val="0"/>
              </a:spcBef>
              <a:spcAft>
                <a:spcPts val="0"/>
              </a:spcAft>
              <a:buNone/>
            </a:pPr>
            <a:r>
              <a:rPr lang="en-US" sz="1500" b="1">
                <a:solidFill>
                  <a:srgbClr val="3F3F3F"/>
                </a:solidFill>
                <a:latin typeface="Roboto"/>
                <a:ea typeface="Roboto"/>
                <a:cs typeface="Roboto"/>
                <a:sym typeface="Roboto"/>
              </a:rPr>
              <a:t>WMS</a:t>
            </a:r>
            <a:endParaRPr sz="1500"/>
          </a:p>
        </p:txBody>
      </p:sp>
      <p:cxnSp>
        <p:nvCxnSpPr>
          <p:cNvPr id="191" name="Google Shape;191;g3f95de07730_1_39"/>
          <p:cNvCxnSpPr/>
          <p:nvPr/>
        </p:nvCxnSpPr>
        <p:spPr>
          <a:xfrm>
            <a:off x="650934" y="2664731"/>
            <a:ext cx="2364900" cy="0"/>
          </a:xfrm>
          <a:prstGeom prst="straightConnector1">
            <a:avLst/>
          </a:prstGeom>
          <a:noFill/>
          <a:ln w="9525" cap="flat" cmpd="sng">
            <a:solidFill>
              <a:srgbClr val="BFBFBF"/>
            </a:solidFill>
            <a:prstDash val="dash"/>
            <a:miter lim="800000"/>
            <a:headEnd type="none" w="sm" len="sm"/>
            <a:tailEnd type="none" w="sm" len="sm"/>
          </a:ln>
        </p:spPr>
      </p:cxnSp>
      <p:pic>
        <p:nvPicPr>
          <p:cNvPr id="192" name="Google Shape;192;g3f95de07730_1_39"/>
          <p:cNvPicPr preferRelativeResize="0"/>
          <p:nvPr/>
        </p:nvPicPr>
        <p:blipFill rotWithShape="1">
          <a:blip r:embed="rId10">
            <a:alphaModFix/>
          </a:blip>
          <a:srcRect/>
          <a:stretch/>
        </p:blipFill>
        <p:spPr>
          <a:xfrm>
            <a:off x="662079" y="3576279"/>
            <a:ext cx="1260586" cy="378768"/>
          </a:xfrm>
          <a:prstGeom prst="rect">
            <a:avLst/>
          </a:prstGeom>
          <a:noFill/>
          <a:ln>
            <a:noFill/>
          </a:ln>
        </p:spPr>
      </p:pic>
      <p:sp>
        <p:nvSpPr>
          <p:cNvPr id="193" name="Google Shape;193;g3f95de07730_1_39"/>
          <p:cNvSpPr txBox="1"/>
          <p:nvPr/>
        </p:nvSpPr>
        <p:spPr>
          <a:xfrm>
            <a:off x="4066211" y="3541839"/>
            <a:ext cx="2406900" cy="7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i="1">
                <a:solidFill>
                  <a:srgbClr val="119D96"/>
                </a:solidFill>
                <a:latin typeface="Roboto"/>
                <a:ea typeface="Roboto"/>
                <a:cs typeface="Roboto"/>
                <a:sym typeface="Roboto"/>
              </a:rPr>
              <a:t>                        &gt; Cloud Resources</a:t>
            </a:r>
            <a:endParaRPr sz="1500"/>
          </a:p>
          <a:p>
            <a:pPr marL="0" marR="0" lvl="0" indent="0" algn="l" rtl="0">
              <a:spcBef>
                <a:spcPts val="300"/>
              </a:spcBef>
              <a:spcAft>
                <a:spcPts val="0"/>
              </a:spcAft>
              <a:buNone/>
            </a:pPr>
            <a:r>
              <a:rPr lang="en-US" sz="800" i="1">
                <a:solidFill>
                  <a:srgbClr val="119D96"/>
                </a:solidFill>
                <a:latin typeface="Roboto"/>
                <a:ea typeface="Roboto"/>
                <a:cs typeface="Roboto"/>
                <a:sym typeface="Roboto"/>
              </a:rPr>
              <a:t>                &gt; OSG OSPool</a:t>
            </a:r>
            <a:endParaRPr sz="1500"/>
          </a:p>
          <a:p>
            <a:pPr marL="0" marR="0" lvl="0" indent="0" algn="l" rtl="0">
              <a:spcBef>
                <a:spcPts val="300"/>
              </a:spcBef>
              <a:spcAft>
                <a:spcPts val="0"/>
              </a:spcAft>
              <a:buNone/>
            </a:pPr>
            <a:r>
              <a:rPr lang="en-US" sz="800" i="1">
                <a:solidFill>
                  <a:srgbClr val="119D96"/>
                </a:solidFill>
                <a:latin typeface="Roboto"/>
                <a:ea typeface="Roboto"/>
                <a:cs typeface="Roboto"/>
                <a:sym typeface="Roboto"/>
              </a:rPr>
              <a:t>        &gt; HPC Systems</a:t>
            </a:r>
            <a:endParaRPr sz="1500"/>
          </a:p>
          <a:p>
            <a:pPr marL="0" marR="0" lvl="0" indent="0" algn="l" rtl="0">
              <a:spcBef>
                <a:spcPts val="300"/>
              </a:spcBef>
              <a:spcAft>
                <a:spcPts val="0"/>
              </a:spcAft>
              <a:buNone/>
            </a:pPr>
            <a:r>
              <a:rPr lang="en-US" sz="800" i="1">
                <a:solidFill>
                  <a:srgbClr val="119D96"/>
                </a:solidFill>
                <a:latin typeface="Roboto"/>
                <a:ea typeface="Roboto"/>
                <a:cs typeface="Roboto"/>
                <a:sym typeface="Roboto"/>
              </a:rPr>
              <a:t>&gt; HTCondor Pools</a:t>
            </a:r>
            <a:endParaRPr sz="1500"/>
          </a:p>
        </p:txBody>
      </p:sp>
      <p:sp>
        <p:nvSpPr>
          <p:cNvPr id="194" name="Google Shape;194;g3f95de07730_1_39"/>
          <p:cNvSpPr/>
          <p:nvPr/>
        </p:nvSpPr>
        <p:spPr>
          <a:xfrm>
            <a:off x="657667" y="2783913"/>
            <a:ext cx="899100" cy="324300"/>
          </a:xfrm>
          <a:prstGeom prst="roundRect">
            <a:avLst>
              <a:gd name="adj" fmla="val 50000"/>
            </a:avLst>
          </a:prstGeom>
          <a:solidFill>
            <a:srgbClr val="BA083A"/>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200" b="1">
                <a:solidFill>
                  <a:schemeClr val="lt1"/>
                </a:solidFill>
                <a:latin typeface="Roboto"/>
                <a:ea typeface="Roboto"/>
                <a:cs typeface="Roboto"/>
                <a:sym typeface="Roboto"/>
              </a:rPr>
              <a:t>Engine</a:t>
            </a:r>
            <a:endParaRPr sz="1500"/>
          </a:p>
        </p:txBody>
      </p:sp>
      <p:sp>
        <p:nvSpPr>
          <p:cNvPr id="195" name="Google Shape;195;g3f95de07730_1_39"/>
          <p:cNvSpPr/>
          <p:nvPr/>
        </p:nvSpPr>
        <p:spPr>
          <a:xfrm>
            <a:off x="657668" y="3182001"/>
            <a:ext cx="1093500" cy="324300"/>
          </a:xfrm>
          <a:prstGeom prst="roundRect">
            <a:avLst>
              <a:gd name="adj" fmla="val 50000"/>
            </a:avLst>
          </a:prstGeom>
          <a:solidFill>
            <a:srgbClr val="BA083A"/>
          </a:solidFill>
          <a:ln>
            <a:noFill/>
          </a:ln>
        </p:spPr>
        <p:txBody>
          <a:bodyPr spcFirstLastPara="1" wrap="square" lIns="72000" tIns="36000" rIns="0" bIns="36000" anchor="ctr" anchorCtr="0">
            <a:noAutofit/>
          </a:bodyPr>
          <a:lstStyle/>
          <a:p>
            <a:pPr marL="0" marR="0" lvl="0" indent="0" algn="l" rtl="0">
              <a:spcBef>
                <a:spcPts val="0"/>
              </a:spcBef>
              <a:spcAft>
                <a:spcPts val="0"/>
              </a:spcAft>
              <a:buNone/>
            </a:pPr>
            <a:r>
              <a:rPr lang="en-US" sz="1200" b="1">
                <a:solidFill>
                  <a:schemeClr val="lt1"/>
                </a:solidFill>
                <a:latin typeface="Roboto"/>
                <a:ea typeface="Roboto"/>
                <a:cs typeface="Roboto"/>
                <a:sym typeface="Roboto"/>
              </a:rPr>
              <a:t>Scheduler</a:t>
            </a:r>
            <a:endParaRPr sz="1500"/>
          </a:p>
        </p:txBody>
      </p:sp>
      <p:sp>
        <p:nvSpPr>
          <p:cNvPr id="196" name="Google Shape;196;g3f95de07730_1_39"/>
          <p:cNvSpPr/>
          <p:nvPr/>
        </p:nvSpPr>
        <p:spPr>
          <a:xfrm>
            <a:off x="476766" y="4386808"/>
            <a:ext cx="2713200" cy="2112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900" b="1" i="1">
                <a:solidFill>
                  <a:srgbClr val="3F3F3F"/>
                </a:solidFill>
                <a:latin typeface="Roboto"/>
                <a:ea typeface="Roboto"/>
                <a:cs typeface="Roboto"/>
                <a:sym typeface="Roboto"/>
              </a:rPr>
              <a:t>Submit Node</a:t>
            </a:r>
            <a:endParaRPr sz="1500"/>
          </a:p>
        </p:txBody>
      </p:sp>
      <p:sp>
        <p:nvSpPr>
          <p:cNvPr id="197" name="Google Shape;197;g3f95de07730_1_39"/>
          <p:cNvSpPr/>
          <p:nvPr/>
        </p:nvSpPr>
        <p:spPr>
          <a:xfrm>
            <a:off x="3661316" y="4386808"/>
            <a:ext cx="1835700" cy="2112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900" b="1" i="1">
                <a:solidFill>
                  <a:srgbClr val="3F3F3F"/>
                </a:solidFill>
                <a:latin typeface="Roboto"/>
                <a:ea typeface="Roboto"/>
                <a:cs typeface="Roboto"/>
                <a:sym typeface="Roboto"/>
              </a:rPr>
              <a:t>Compute Resources</a:t>
            </a:r>
            <a:endParaRPr sz="1500"/>
          </a:p>
        </p:txBody>
      </p:sp>
      <p:sp>
        <p:nvSpPr>
          <p:cNvPr id="198" name="Google Shape;198;g3f95de07730_1_39"/>
          <p:cNvSpPr/>
          <p:nvPr/>
        </p:nvSpPr>
        <p:spPr>
          <a:xfrm rot="5400000">
            <a:off x="1784809" y="2939953"/>
            <a:ext cx="97200" cy="2713200"/>
          </a:xfrm>
          <a:prstGeom prst="rightBrace">
            <a:avLst>
              <a:gd name="adj1" fmla="val 85245"/>
              <a:gd name="adj2" fmla="val 50000"/>
            </a:avLst>
          </a:prstGeom>
          <a:noFill/>
          <a:ln w="12700" cap="rnd" cmpd="sng">
            <a:solidFill>
              <a:schemeClr val="accent1"/>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dk1"/>
              </a:solidFill>
              <a:latin typeface="Calibri"/>
              <a:ea typeface="Calibri"/>
              <a:cs typeface="Calibri"/>
              <a:sym typeface="Calibri"/>
            </a:endParaRPr>
          </a:p>
        </p:txBody>
      </p:sp>
      <p:sp>
        <p:nvSpPr>
          <p:cNvPr id="199" name="Google Shape;199;g3f95de07730_1_39"/>
          <p:cNvSpPr/>
          <p:nvPr/>
        </p:nvSpPr>
        <p:spPr>
          <a:xfrm rot="5400000">
            <a:off x="4530505" y="2996355"/>
            <a:ext cx="97200" cy="2600400"/>
          </a:xfrm>
          <a:prstGeom prst="rightBrace">
            <a:avLst>
              <a:gd name="adj1" fmla="val 85245"/>
              <a:gd name="adj2" fmla="val 50000"/>
            </a:avLst>
          </a:prstGeom>
          <a:noFill/>
          <a:ln w="12700" cap="rnd" cmpd="sng">
            <a:solidFill>
              <a:srgbClr val="119D96"/>
            </a:solidFill>
            <a:prstDash val="solid"/>
            <a:bevel/>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dk1"/>
              </a:solidFill>
              <a:latin typeface="Calibri"/>
              <a:ea typeface="Calibri"/>
              <a:cs typeface="Calibri"/>
              <a:sym typeface="Calibri"/>
            </a:endParaRPr>
          </a:p>
        </p:txBody>
      </p:sp>
      <p:sp>
        <p:nvSpPr>
          <p:cNvPr id="200" name="Google Shape;200;g3f95de07730_1_39"/>
          <p:cNvSpPr/>
          <p:nvPr/>
        </p:nvSpPr>
        <p:spPr>
          <a:xfrm>
            <a:off x="2722669" y="3775362"/>
            <a:ext cx="883444" cy="290512"/>
          </a:xfrm>
          <a:custGeom>
            <a:avLst/>
            <a:gdLst/>
            <a:ahLst/>
            <a:cxnLst/>
            <a:rect l="l" t="t" r="r" b="b"/>
            <a:pathLst>
              <a:path w="883444" h="290512" extrusionOk="0">
                <a:moveTo>
                  <a:pt x="883444" y="45244"/>
                </a:moveTo>
                <a:lnTo>
                  <a:pt x="471487" y="290512"/>
                </a:lnTo>
                <a:lnTo>
                  <a:pt x="0" y="0"/>
                </a:lnTo>
              </a:path>
            </a:pathLst>
          </a:custGeom>
          <a:noFill/>
          <a:ln w="9525" cap="flat" cmpd="sng">
            <a:solidFill>
              <a:srgbClr val="BA083A"/>
            </a:solidFill>
            <a:prstDash val="dash"/>
            <a:miter lim="800000"/>
            <a:headEnd type="oval" w="sm" len="sm"/>
            <a:tailEnd type="oval" w="sm" len="sm"/>
          </a:ln>
          <a:effectLst>
            <a:outerShdw blurRad="25400" dist="635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Calibri"/>
              <a:ea typeface="Calibri"/>
              <a:cs typeface="Calibri"/>
              <a:sym typeface="Calibri"/>
            </a:endParaRPr>
          </a:p>
        </p:txBody>
      </p:sp>
      <p:grpSp>
        <p:nvGrpSpPr>
          <p:cNvPr id="201" name="Google Shape;201;g3f95de07730_1_39"/>
          <p:cNvGrpSpPr/>
          <p:nvPr/>
        </p:nvGrpSpPr>
        <p:grpSpPr>
          <a:xfrm>
            <a:off x="2207400" y="2753768"/>
            <a:ext cx="803207" cy="1209669"/>
            <a:chOff x="4575915" y="1374775"/>
            <a:chExt cx="1396397" cy="2103042"/>
          </a:xfrm>
        </p:grpSpPr>
        <p:sp>
          <p:nvSpPr>
            <p:cNvPr id="202" name="Google Shape;202;g3f95de07730_1_39"/>
            <p:cNvSpPr/>
            <p:nvPr/>
          </p:nvSpPr>
          <p:spPr>
            <a:xfrm flipH="1">
              <a:off x="4577433" y="2004659"/>
              <a:ext cx="493776" cy="1471390"/>
            </a:xfrm>
            <a:custGeom>
              <a:avLst/>
              <a:gdLst/>
              <a:ahLst/>
              <a:cxnLst/>
              <a:rect l="l" t="t" r="r" b="b"/>
              <a:pathLst>
                <a:path w="812800" h="2432050" extrusionOk="0">
                  <a:moveTo>
                    <a:pt x="0" y="463550"/>
                  </a:moveTo>
                  <a:lnTo>
                    <a:pt x="796925" y="0"/>
                  </a:lnTo>
                  <a:lnTo>
                    <a:pt x="812800" y="1974850"/>
                  </a:lnTo>
                  <a:lnTo>
                    <a:pt x="9525" y="2432050"/>
                  </a:lnTo>
                  <a:cubicBezTo>
                    <a:pt x="8467" y="1774825"/>
                    <a:pt x="7408" y="1117600"/>
                    <a:pt x="0" y="463550"/>
                  </a:cubicBez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03" name="Google Shape;203;g3f95de07730_1_39"/>
            <p:cNvSpPr/>
            <p:nvPr/>
          </p:nvSpPr>
          <p:spPr>
            <a:xfrm flipH="1">
              <a:off x="5226252" y="1439578"/>
              <a:ext cx="302754" cy="240411"/>
            </a:xfrm>
            <a:custGeom>
              <a:avLst/>
              <a:gdLst/>
              <a:ahLst/>
              <a:cxnLst/>
              <a:rect l="l" t="t" r="r" b="b"/>
              <a:pathLst>
                <a:path w="498360" h="399022" extrusionOk="0">
                  <a:moveTo>
                    <a:pt x="233014" y="0"/>
                  </a:moveTo>
                  <a:lnTo>
                    <a:pt x="498360" y="399022"/>
                  </a:lnTo>
                  <a:lnTo>
                    <a:pt x="0" y="167054"/>
                  </a:lnTo>
                  <a:lnTo>
                    <a:pt x="233014" y="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04" name="Google Shape;204;g3f95de07730_1_39"/>
            <p:cNvSpPr/>
            <p:nvPr/>
          </p:nvSpPr>
          <p:spPr>
            <a:xfrm flipH="1">
              <a:off x="4582900" y="1497373"/>
              <a:ext cx="1359813" cy="793321"/>
            </a:xfrm>
            <a:custGeom>
              <a:avLst/>
              <a:gdLst/>
              <a:ahLst/>
              <a:cxnLst/>
              <a:rect l="l" t="t" r="r" b="b"/>
              <a:pathLst>
                <a:path w="2238375" h="1311275" extrusionOk="0">
                  <a:moveTo>
                    <a:pt x="777875" y="0"/>
                  </a:moveTo>
                  <a:lnTo>
                    <a:pt x="2238375" y="850900"/>
                  </a:lnTo>
                  <a:lnTo>
                    <a:pt x="1450975" y="1311275"/>
                  </a:lnTo>
                  <a:lnTo>
                    <a:pt x="0" y="473075"/>
                  </a:lnTo>
                  <a:lnTo>
                    <a:pt x="441325" y="47625"/>
                  </a:lnTo>
                  <a:cubicBezTo>
                    <a:pt x="444755" y="44363"/>
                    <a:pt x="454025" y="41275"/>
                    <a:pt x="454025" y="41275"/>
                  </a:cubicBezTo>
                  <a:lnTo>
                    <a:pt x="777875" y="0"/>
                  </a:lnTo>
                  <a:close/>
                </a:path>
              </a:pathLst>
            </a:custGeom>
            <a:gradFill>
              <a:gsLst>
                <a:gs pos="0">
                  <a:srgbClr val="242424"/>
                </a:gs>
                <a:gs pos="50000">
                  <a:srgbClr val="343434"/>
                </a:gs>
                <a:gs pos="100000">
                  <a:srgbClr val="3F3F3F"/>
                </a:gs>
              </a:gsLst>
              <a:lin ang="13500032"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sp>
          <p:nvSpPr>
            <p:cNvPr id="205" name="Google Shape;205;g3f95de07730_1_39"/>
            <p:cNvSpPr/>
            <p:nvPr/>
          </p:nvSpPr>
          <p:spPr>
            <a:xfrm flipH="1">
              <a:off x="4759882" y="1434030"/>
              <a:ext cx="1108898" cy="470614"/>
            </a:xfrm>
            <a:custGeom>
              <a:avLst/>
              <a:gdLst/>
              <a:ahLst/>
              <a:cxnLst/>
              <a:rect l="l" t="t" r="r" b="b"/>
              <a:pathLst>
                <a:path w="1832889" h="777875" extrusionOk="0">
                  <a:moveTo>
                    <a:pt x="193675" y="365125"/>
                  </a:moveTo>
                  <a:lnTo>
                    <a:pt x="0" y="476250"/>
                  </a:lnTo>
                  <a:lnTo>
                    <a:pt x="3175" y="542925"/>
                  </a:lnTo>
                  <a:lnTo>
                    <a:pt x="812800" y="47625"/>
                  </a:lnTo>
                  <a:lnTo>
                    <a:pt x="958850" y="295275"/>
                  </a:lnTo>
                  <a:lnTo>
                    <a:pt x="1793875" y="777875"/>
                  </a:lnTo>
                  <a:cubicBezTo>
                    <a:pt x="1832889" y="755117"/>
                    <a:pt x="1831975" y="770353"/>
                    <a:pt x="1831975" y="752475"/>
                  </a:cubicBezTo>
                  <a:lnTo>
                    <a:pt x="990600" y="266700"/>
                  </a:lnTo>
                  <a:lnTo>
                    <a:pt x="819150" y="0"/>
                  </a:lnTo>
                  <a:lnTo>
                    <a:pt x="193675" y="365125"/>
                  </a:lnTo>
                  <a:close/>
                </a:path>
              </a:pathLst>
            </a:custGeom>
            <a:gradFill>
              <a:gsLst>
                <a:gs pos="0">
                  <a:srgbClr val="0C0C0C"/>
                </a:gs>
                <a:gs pos="100000">
                  <a:srgbClr val="262626"/>
                </a:gs>
              </a:gsLst>
              <a:lin ang="10800025"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sp>
          <p:nvSpPr>
            <p:cNvPr id="206" name="Google Shape;206;g3f95de07730_1_39"/>
            <p:cNvSpPr/>
            <p:nvPr/>
          </p:nvSpPr>
          <p:spPr>
            <a:xfrm flipH="1">
              <a:off x="5368594" y="1374775"/>
              <a:ext cx="603718" cy="352973"/>
            </a:xfrm>
            <a:custGeom>
              <a:avLst/>
              <a:gdLst/>
              <a:ahLst/>
              <a:cxnLst/>
              <a:rect l="l" t="t" r="r" b="b"/>
              <a:pathLst>
                <a:path w="993775" h="581025" extrusionOk="0">
                  <a:moveTo>
                    <a:pt x="0" y="479425"/>
                  </a:moveTo>
                  <a:lnTo>
                    <a:pt x="174625" y="581025"/>
                  </a:lnTo>
                  <a:lnTo>
                    <a:pt x="993775" y="98425"/>
                  </a:lnTo>
                  <a:lnTo>
                    <a:pt x="822325" y="0"/>
                  </a:lnTo>
                  <a:lnTo>
                    <a:pt x="0" y="479425"/>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07" name="Google Shape;207;g3f95de07730_1_39"/>
            <p:cNvSpPr/>
            <p:nvPr/>
          </p:nvSpPr>
          <p:spPr>
            <a:xfrm flipH="1">
              <a:off x="5057953" y="1656827"/>
              <a:ext cx="914257" cy="1820990"/>
            </a:xfrm>
            <a:custGeom>
              <a:avLst/>
              <a:gdLst/>
              <a:ahLst/>
              <a:cxnLst/>
              <a:rect l="l" t="t" r="r" b="b"/>
              <a:pathLst>
                <a:path w="1504950" h="3009900" extrusionOk="0">
                  <a:moveTo>
                    <a:pt x="1504950" y="3009900"/>
                  </a:moveTo>
                  <a:cubicBezTo>
                    <a:pt x="1502833" y="2292350"/>
                    <a:pt x="1500717" y="1574800"/>
                    <a:pt x="1498600" y="857250"/>
                  </a:cubicBezTo>
                  <a:lnTo>
                    <a:pt x="1339850" y="768350"/>
                  </a:lnTo>
                  <a:lnTo>
                    <a:pt x="1174750" y="844550"/>
                  </a:lnTo>
                  <a:lnTo>
                    <a:pt x="342900" y="368300"/>
                  </a:lnTo>
                  <a:lnTo>
                    <a:pt x="307975" y="320675"/>
                  </a:lnTo>
                  <a:lnTo>
                    <a:pt x="238125" y="222250"/>
                  </a:lnTo>
                  <a:cubicBezTo>
                    <a:pt x="235479" y="219604"/>
                    <a:pt x="199496" y="166158"/>
                    <a:pt x="165100" y="98425"/>
                  </a:cubicBezTo>
                  <a:cubicBezTo>
                    <a:pt x="133879" y="71967"/>
                    <a:pt x="100012" y="58738"/>
                    <a:pt x="0" y="0"/>
                  </a:cubicBezTo>
                  <a:lnTo>
                    <a:pt x="25400" y="2203450"/>
                  </a:lnTo>
                  <a:lnTo>
                    <a:pt x="139700" y="2279650"/>
                  </a:lnTo>
                  <a:lnTo>
                    <a:pt x="336550" y="2197100"/>
                  </a:lnTo>
                  <a:lnTo>
                    <a:pt x="1130300" y="2635250"/>
                  </a:lnTo>
                  <a:lnTo>
                    <a:pt x="1308100" y="2895600"/>
                  </a:lnTo>
                  <a:lnTo>
                    <a:pt x="1504950" y="30099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08" name="Google Shape;208;g3f95de07730_1_39"/>
            <p:cNvSpPr/>
            <p:nvPr/>
          </p:nvSpPr>
          <p:spPr>
            <a:xfrm flipH="1">
              <a:off x="4583827" y="1902038"/>
              <a:ext cx="96441" cy="109490"/>
            </a:xfrm>
            <a:custGeom>
              <a:avLst/>
              <a:gdLst/>
              <a:ahLst/>
              <a:cxnLst/>
              <a:rect l="l" t="t" r="r" b="b"/>
              <a:pathLst>
                <a:path w="158750" h="180975" extrusionOk="0">
                  <a:moveTo>
                    <a:pt x="0" y="95250"/>
                  </a:moveTo>
                  <a:lnTo>
                    <a:pt x="146050" y="180975"/>
                  </a:lnTo>
                  <a:lnTo>
                    <a:pt x="158750" y="0"/>
                  </a:lnTo>
                  <a:lnTo>
                    <a:pt x="0" y="95250"/>
                  </a:lnTo>
                  <a:close/>
                </a:path>
              </a:pathLst>
            </a:custGeom>
            <a:gradFill>
              <a:gsLst>
                <a:gs pos="0">
                  <a:srgbClr val="0C0C0C"/>
                </a:gs>
                <a:gs pos="100000">
                  <a:srgbClr val="262626"/>
                </a:gs>
              </a:gsLst>
              <a:lin ang="10800025"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sp>
          <p:nvSpPr>
            <p:cNvPr id="209" name="Google Shape;209;g3f95de07730_1_39"/>
            <p:cNvSpPr/>
            <p:nvPr/>
          </p:nvSpPr>
          <p:spPr>
            <a:xfrm flipH="1">
              <a:off x="4633119" y="2120285"/>
              <a:ext cx="380333" cy="299656"/>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gradFill>
              <a:gsLst>
                <a:gs pos="0">
                  <a:srgbClr val="242424"/>
                </a:gs>
                <a:gs pos="50000">
                  <a:srgbClr val="343434"/>
                </a:gs>
                <a:gs pos="100000">
                  <a:srgbClr val="3F3F3F"/>
                </a:gs>
              </a:gsLst>
              <a:lin ang="1890004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sp>
          <p:nvSpPr>
            <p:cNvPr id="210" name="Google Shape;210;g3f95de07730_1_39"/>
            <p:cNvSpPr/>
            <p:nvPr/>
          </p:nvSpPr>
          <p:spPr>
            <a:xfrm flipH="1">
              <a:off x="4575915" y="1842833"/>
              <a:ext cx="590217" cy="343329"/>
            </a:xfrm>
            <a:custGeom>
              <a:avLst/>
              <a:gdLst/>
              <a:ahLst/>
              <a:cxnLst/>
              <a:rect l="l" t="t" r="r" b="b"/>
              <a:pathLst>
                <a:path w="971550" h="565150" extrusionOk="0">
                  <a:moveTo>
                    <a:pt x="0" y="463550"/>
                  </a:moveTo>
                  <a:lnTo>
                    <a:pt x="800100" y="0"/>
                  </a:lnTo>
                  <a:lnTo>
                    <a:pt x="971550" y="101600"/>
                  </a:lnTo>
                  <a:lnTo>
                    <a:pt x="171450" y="565150"/>
                  </a:lnTo>
                  <a:lnTo>
                    <a:pt x="0" y="46355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11" name="Google Shape;211;g3f95de07730_1_39"/>
            <p:cNvSpPr/>
            <p:nvPr/>
          </p:nvSpPr>
          <p:spPr>
            <a:xfrm flipH="1">
              <a:off x="4633119" y="2232025"/>
              <a:ext cx="380333" cy="299656"/>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gradFill>
              <a:gsLst>
                <a:gs pos="0">
                  <a:srgbClr val="242424"/>
                </a:gs>
                <a:gs pos="50000">
                  <a:srgbClr val="343434"/>
                </a:gs>
                <a:gs pos="100000">
                  <a:srgbClr val="3F3F3F"/>
                </a:gs>
              </a:gsLst>
              <a:lin ang="1890004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sp>
          <p:nvSpPr>
            <p:cNvPr id="212" name="Google Shape;212;g3f95de07730_1_39"/>
            <p:cNvSpPr/>
            <p:nvPr/>
          </p:nvSpPr>
          <p:spPr>
            <a:xfrm flipH="1">
              <a:off x="4942729" y="2511425"/>
              <a:ext cx="70723" cy="55721"/>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sp>
          <p:nvSpPr>
            <p:cNvPr id="213" name="Google Shape;213;g3f95de07730_1_39"/>
            <p:cNvSpPr/>
            <p:nvPr/>
          </p:nvSpPr>
          <p:spPr>
            <a:xfrm flipH="1">
              <a:off x="4942729" y="2557466"/>
              <a:ext cx="70723" cy="55721"/>
            </a:xfrm>
            <a:custGeom>
              <a:avLst/>
              <a:gdLst/>
              <a:ahLst/>
              <a:cxnLst/>
              <a:rect l="l" t="t" r="r" b="b"/>
              <a:pathLst>
                <a:path w="628650" h="495300" extrusionOk="0">
                  <a:moveTo>
                    <a:pt x="0" y="358775"/>
                  </a:moveTo>
                  <a:cubicBezTo>
                    <a:pt x="1058" y="404283"/>
                    <a:pt x="2117" y="449792"/>
                    <a:pt x="3175" y="495300"/>
                  </a:cubicBezTo>
                  <a:lnTo>
                    <a:pt x="628650" y="136525"/>
                  </a:lnTo>
                  <a:cubicBezTo>
                    <a:pt x="627592" y="91017"/>
                    <a:pt x="626533" y="45508"/>
                    <a:pt x="625475" y="0"/>
                  </a:cubicBezTo>
                  <a:lnTo>
                    <a:pt x="0" y="358775"/>
                  </a:lnTo>
                  <a:close/>
                </a:path>
              </a:pathLst>
            </a:cu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rgbClr val="FFFFFF"/>
                </a:solidFill>
                <a:latin typeface="Calibri"/>
                <a:ea typeface="Calibri"/>
                <a:cs typeface="Calibri"/>
                <a:sym typeface="Calibri"/>
              </a:endParaRPr>
            </a:p>
          </p:txBody>
        </p:sp>
      </p:grpSp>
      <p:grpSp>
        <p:nvGrpSpPr>
          <p:cNvPr id="214" name="Google Shape;214;g3f95de07730_1_39"/>
          <p:cNvGrpSpPr/>
          <p:nvPr/>
        </p:nvGrpSpPr>
        <p:grpSpPr>
          <a:xfrm>
            <a:off x="2291662" y="3189129"/>
            <a:ext cx="758268" cy="622652"/>
            <a:chOff x="2282137" y="3704944"/>
            <a:chExt cx="758268" cy="622652"/>
          </a:xfrm>
        </p:grpSpPr>
        <p:sp>
          <p:nvSpPr>
            <p:cNvPr id="215" name="Google Shape;215;g3f95de07730_1_39"/>
            <p:cNvSpPr/>
            <p:nvPr/>
          </p:nvSpPr>
          <p:spPr>
            <a:xfrm>
              <a:off x="2449405" y="3704944"/>
              <a:ext cx="591000" cy="441900"/>
            </a:xfrm>
            <a:prstGeom prst="rect">
              <a:avLst/>
            </a:prstGeom>
            <a:noFill/>
            <a:ln>
              <a:noFill/>
            </a:ln>
          </p:spPr>
          <p:txBody>
            <a:bodyPr spcFirstLastPara="1" wrap="square" lIns="72000" tIns="36000" rIns="72000" bIns="36000" anchor="t" anchorCtr="0">
              <a:noAutofit/>
            </a:bodyPr>
            <a:lstStyle/>
            <a:p>
              <a:pPr marL="0" marR="0" lvl="0" indent="0" algn="ctr" rtl="0">
                <a:spcBef>
                  <a:spcPts val="0"/>
                </a:spcBef>
                <a:spcAft>
                  <a:spcPts val="0"/>
                </a:spcAft>
                <a:buNone/>
              </a:pPr>
              <a:r>
                <a:rPr lang="en-US" sz="1200" b="1">
                  <a:solidFill>
                    <a:srgbClr val="FFCCCC"/>
                  </a:solidFill>
                  <a:latin typeface="Roboto Black"/>
                  <a:ea typeface="Roboto Black"/>
                  <a:cs typeface="Roboto Black"/>
                  <a:sym typeface="Roboto Black"/>
                </a:rPr>
                <a:t>Job</a:t>
              </a:r>
              <a:endParaRPr sz="1200" b="1">
                <a:solidFill>
                  <a:srgbClr val="FFCCCC"/>
                </a:solidFill>
                <a:latin typeface="Roboto Black"/>
                <a:ea typeface="Roboto Black"/>
                <a:cs typeface="Roboto Black"/>
                <a:sym typeface="Roboto Black"/>
              </a:endParaRPr>
            </a:p>
            <a:p>
              <a:pPr marL="0" marR="0" lvl="0" indent="0" algn="ctr" rtl="0">
                <a:spcBef>
                  <a:spcPts val="0"/>
                </a:spcBef>
                <a:spcAft>
                  <a:spcPts val="0"/>
                </a:spcAft>
                <a:buNone/>
              </a:pPr>
              <a:r>
                <a:rPr lang="en-US" sz="1200" b="1">
                  <a:solidFill>
                    <a:srgbClr val="FFCCCC"/>
                  </a:solidFill>
                  <a:latin typeface="Roboto Black"/>
                  <a:ea typeface="Roboto Black"/>
                  <a:cs typeface="Roboto Black"/>
                  <a:sym typeface="Roboto Black"/>
                </a:rPr>
                <a:t>Queue</a:t>
              </a:r>
              <a:endParaRPr sz="1500"/>
            </a:p>
          </p:txBody>
        </p:sp>
        <p:sp>
          <p:nvSpPr>
            <p:cNvPr id="216" name="Google Shape;216;g3f95de07730_1_39"/>
            <p:cNvSpPr/>
            <p:nvPr/>
          </p:nvSpPr>
          <p:spPr>
            <a:xfrm>
              <a:off x="2282137" y="3929886"/>
              <a:ext cx="99300" cy="12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FFCCCC"/>
                  </a:solidFill>
                  <a:latin typeface="Roboto"/>
                  <a:ea typeface="Roboto"/>
                  <a:cs typeface="Roboto"/>
                  <a:sym typeface="Roboto"/>
                </a:rPr>
                <a:t>jN</a:t>
              </a:r>
              <a:endParaRPr sz="800" b="1">
                <a:solidFill>
                  <a:srgbClr val="FFCCCC"/>
                </a:solidFill>
                <a:latin typeface="Roboto"/>
                <a:ea typeface="Roboto"/>
                <a:cs typeface="Roboto"/>
                <a:sym typeface="Roboto"/>
              </a:endParaRPr>
            </a:p>
          </p:txBody>
        </p:sp>
        <p:sp>
          <p:nvSpPr>
            <p:cNvPr id="217" name="Google Shape;217;g3f95de07730_1_39"/>
            <p:cNvSpPr/>
            <p:nvPr/>
          </p:nvSpPr>
          <p:spPr>
            <a:xfrm>
              <a:off x="2288550" y="4067241"/>
              <a:ext cx="86700" cy="12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FFCCCC"/>
                  </a:solidFill>
                  <a:latin typeface="Roboto"/>
                  <a:ea typeface="Roboto"/>
                  <a:cs typeface="Roboto"/>
                  <a:sym typeface="Roboto"/>
                </a:rPr>
                <a:t>j2</a:t>
              </a:r>
              <a:endParaRPr sz="800" b="1">
                <a:solidFill>
                  <a:srgbClr val="FFCCCC"/>
                </a:solidFill>
                <a:latin typeface="Roboto"/>
                <a:ea typeface="Roboto"/>
                <a:cs typeface="Roboto"/>
                <a:sym typeface="Roboto"/>
              </a:endParaRPr>
            </a:p>
          </p:txBody>
        </p:sp>
        <p:sp>
          <p:nvSpPr>
            <p:cNvPr id="218" name="Google Shape;218;g3f95de07730_1_39"/>
            <p:cNvSpPr/>
            <p:nvPr/>
          </p:nvSpPr>
          <p:spPr>
            <a:xfrm>
              <a:off x="2288550" y="4204596"/>
              <a:ext cx="86700" cy="123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800" b="1">
                  <a:solidFill>
                    <a:srgbClr val="FFCCCC"/>
                  </a:solidFill>
                  <a:latin typeface="Roboto"/>
                  <a:ea typeface="Roboto"/>
                  <a:cs typeface="Roboto"/>
                  <a:sym typeface="Roboto"/>
                </a:rPr>
                <a:t>j1</a:t>
              </a:r>
              <a:endParaRPr sz="800" b="1">
                <a:solidFill>
                  <a:srgbClr val="FFCCCC"/>
                </a:solidFill>
                <a:latin typeface="Roboto"/>
                <a:ea typeface="Roboto"/>
                <a:cs typeface="Roboto"/>
                <a:sym typeface="Roboto"/>
              </a:endParaRPr>
            </a:p>
          </p:txBody>
        </p:sp>
      </p:grpSp>
      <p:grpSp>
        <p:nvGrpSpPr>
          <p:cNvPr id="219" name="Google Shape;219;g3f95de07730_1_39"/>
          <p:cNvGrpSpPr/>
          <p:nvPr/>
        </p:nvGrpSpPr>
        <p:grpSpPr>
          <a:xfrm>
            <a:off x="3405447" y="2401622"/>
            <a:ext cx="1355349" cy="1581425"/>
            <a:chOff x="2590800" y="1219200"/>
            <a:chExt cx="1839758" cy="2146634"/>
          </a:xfrm>
        </p:grpSpPr>
        <p:sp>
          <p:nvSpPr>
            <p:cNvPr id="220" name="Google Shape;220;g3f95de07730_1_39"/>
            <p:cNvSpPr/>
            <p:nvPr/>
          </p:nvSpPr>
          <p:spPr>
            <a:xfrm>
              <a:off x="2590801" y="1692006"/>
              <a:ext cx="1839757" cy="1084500"/>
            </a:xfrm>
            <a:custGeom>
              <a:avLst/>
              <a:gdLst/>
              <a:ahLst/>
              <a:cxnLst/>
              <a:rect l="l" t="t" r="r" b="b"/>
              <a:pathLst>
                <a:path w="10941" h="10000" extrusionOk="0">
                  <a:moveTo>
                    <a:pt x="0" y="6495"/>
                  </a:moveTo>
                  <a:lnTo>
                    <a:pt x="7093" y="0"/>
                  </a:lnTo>
                  <a:lnTo>
                    <a:pt x="10941" y="3707"/>
                  </a:lnTo>
                  <a:lnTo>
                    <a:pt x="3815" y="10000"/>
                  </a:lnTo>
                  <a:lnTo>
                    <a:pt x="0" y="6495"/>
                  </a:lnTo>
                  <a:close/>
                </a:path>
              </a:pathLst>
            </a:custGeom>
            <a:gradFill>
              <a:gsLst>
                <a:gs pos="0">
                  <a:srgbClr val="3F3F3F"/>
                </a:gs>
                <a:gs pos="30000">
                  <a:srgbClr val="3F3F3F"/>
                </a:gs>
                <a:gs pos="50000">
                  <a:srgbClr val="6A6A6A"/>
                </a:gs>
                <a:gs pos="100000">
                  <a:srgbClr val="7F7F7F"/>
                </a:gs>
              </a:gsLst>
              <a:lin ang="13500032" scaled="0"/>
            </a:gradFill>
            <a:ln w="9525" cap="flat" cmpd="sng">
              <a:solidFill>
                <a:srgbClr val="59595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1" name="Google Shape;221;g3f95de07730_1_39"/>
            <p:cNvSpPr/>
            <p:nvPr/>
          </p:nvSpPr>
          <p:spPr>
            <a:xfrm>
              <a:off x="3235921" y="2086053"/>
              <a:ext cx="1192604" cy="1279780"/>
            </a:xfrm>
            <a:custGeom>
              <a:avLst/>
              <a:gdLst/>
              <a:ahLst/>
              <a:cxnLst/>
              <a:rect l="l" t="t" r="r" b="b"/>
              <a:pathLst>
                <a:path w="684" h="734" extrusionOk="0">
                  <a:moveTo>
                    <a:pt x="684" y="330"/>
                  </a:moveTo>
                  <a:lnTo>
                    <a:pt x="0" y="734"/>
                  </a:lnTo>
                  <a:lnTo>
                    <a:pt x="0" y="392"/>
                  </a:lnTo>
                  <a:lnTo>
                    <a:pt x="684" y="0"/>
                  </a:lnTo>
                  <a:lnTo>
                    <a:pt x="684" y="33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2" name="Google Shape;222;g3f95de07730_1_39"/>
            <p:cNvSpPr/>
            <p:nvPr/>
          </p:nvSpPr>
          <p:spPr>
            <a:xfrm>
              <a:off x="2590800" y="2396408"/>
              <a:ext cx="645121" cy="969426"/>
            </a:xfrm>
            <a:custGeom>
              <a:avLst/>
              <a:gdLst/>
              <a:ahLst/>
              <a:cxnLst/>
              <a:rect l="l" t="t" r="r" b="b"/>
              <a:pathLst>
                <a:path w="370" h="556" extrusionOk="0">
                  <a:moveTo>
                    <a:pt x="0" y="0"/>
                  </a:moveTo>
                  <a:lnTo>
                    <a:pt x="368" y="218"/>
                  </a:lnTo>
                  <a:lnTo>
                    <a:pt x="370" y="556"/>
                  </a:lnTo>
                  <a:lnTo>
                    <a:pt x="2" y="334"/>
                  </a:lnTo>
                  <a:lnTo>
                    <a:pt x="0" y="0"/>
                  </a:lnTo>
                  <a:close/>
                </a:path>
              </a:pathLst>
            </a:custGeom>
            <a:gradFill>
              <a:gsLst>
                <a:gs pos="0">
                  <a:srgbClr val="BFBFBF"/>
                </a:gs>
                <a:gs pos="830">
                  <a:srgbClr val="BFBFBF"/>
                </a:gs>
                <a:gs pos="37000">
                  <a:srgbClr val="E2E2E2"/>
                </a:gs>
                <a:gs pos="60000">
                  <a:srgbClr val="F2F2F2"/>
                </a:gs>
                <a:gs pos="99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3" name="Google Shape;223;g3f95de07730_1_39"/>
            <p:cNvSpPr/>
            <p:nvPr/>
          </p:nvSpPr>
          <p:spPr>
            <a:xfrm>
              <a:off x="2590800" y="2344101"/>
              <a:ext cx="728813" cy="428918"/>
            </a:xfrm>
            <a:custGeom>
              <a:avLst/>
              <a:gdLst/>
              <a:ahLst/>
              <a:cxnLst/>
              <a:rect l="l" t="t" r="r" b="b"/>
              <a:pathLst>
                <a:path w="418" h="246" extrusionOk="0">
                  <a:moveTo>
                    <a:pt x="50" y="0"/>
                  </a:moveTo>
                  <a:lnTo>
                    <a:pt x="418" y="216"/>
                  </a:lnTo>
                  <a:lnTo>
                    <a:pt x="366" y="246"/>
                  </a:lnTo>
                  <a:lnTo>
                    <a:pt x="0" y="30"/>
                  </a:lnTo>
                  <a:lnTo>
                    <a:pt x="50" y="0"/>
                  </a:lnTo>
                  <a:close/>
                </a:path>
              </a:pathLst>
            </a:custGeom>
            <a:gradFill>
              <a:gsLst>
                <a:gs pos="0">
                  <a:srgbClr val="CACBCE"/>
                </a:gs>
                <a:gs pos="47000">
                  <a:srgbClr val="BFBFBF"/>
                </a:gs>
                <a:gs pos="57000">
                  <a:srgbClr val="D8D8D8"/>
                </a:gs>
                <a:gs pos="77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4" name="Google Shape;224;g3f95de07730_1_39"/>
            <p:cNvSpPr/>
            <p:nvPr/>
          </p:nvSpPr>
          <p:spPr>
            <a:xfrm>
              <a:off x="3228947" y="2720713"/>
              <a:ext cx="97640" cy="641634"/>
            </a:xfrm>
            <a:custGeom>
              <a:avLst/>
              <a:gdLst/>
              <a:ahLst/>
              <a:cxnLst/>
              <a:rect l="l" t="t" r="r" b="b"/>
              <a:pathLst>
                <a:path w="56" h="368" extrusionOk="0">
                  <a:moveTo>
                    <a:pt x="4" y="368"/>
                  </a:moveTo>
                  <a:lnTo>
                    <a:pt x="0" y="30"/>
                  </a:lnTo>
                  <a:lnTo>
                    <a:pt x="52" y="0"/>
                  </a:lnTo>
                  <a:lnTo>
                    <a:pt x="56" y="338"/>
                  </a:lnTo>
                  <a:lnTo>
                    <a:pt x="4" y="368"/>
                  </a:lnTo>
                  <a:close/>
                </a:path>
              </a:pathLst>
            </a:custGeom>
            <a:gradFill>
              <a:gsLst>
                <a:gs pos="0">
                  <a:srgbClr val="CACBCE"/>
                </a:gs>
                <a:gs pos="19000">
                  <a:srgbClr val="D8D8D8"/>
                </a:gs>
                <a:gs pos="67000">
                  <a:srgbClr val="F2F2F2"/>
                </a:gs>
                <a:gs pos="100000">
                  <a:srgbClr val="BFBFBF"/>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nvGrpSpPr>
            <p:cNvPr id="225" name="Google Shape;225;g3f95de07730_1_39"/>
            <p:cNvGrpSpPr/>
            <p:nvPr/>
          </p:nvGrpSpPr>
          <p:grpSpPr>
            <a:xfrm>
              <a:off x="2611587" y="2434689"/>
              <a:ext cx="261513" cy="282434"/>
              <a:chOff x="2858178" y="1605236"/>
              <a:chExt cx="484732" cy="523510"/>
            </a:xfrm>
          </p:grpSpPr>
          <p:sp>
            <p:nvSpPr>
              <p:cNvPr id="226" name="Google Shape;226;g3f95de07730_1_39"/>
              <p:cNvSpPr/>
              <p:nvPr/>
            </p:nvSpPr>
            <p:spPr>
              <a:xfrm>
                <a:off x="3013292" y="17021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7" name="Google Shape;227;g3f95de07730_1_39"/>
              <p:cNvSpPr/>
              <p:nvPr/>
            </p:nvSpPr>
            <p:spPr>
              <a:xfrm>
                <a:off x="3103776" y="17603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8" name="Google Shape;228;g3f95de07730_1_39"/>
              <p:cNvSpPr/>
              <p:nvPr/>
            </p:nvSpPr>
            <p:spPr>
              <a:xfrm>
                <a:off x="2942199" y="16569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29" name="Google Shape;229;g3f95de07730_1_39"/>
              <p:cNvSpPr/>
              <p:nvPr/>
            </p:nvSpPr>
            <p:spPr>
              <a:xfrm>
                <a:off x="2858178" y="1605236"/>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0" name="Google Shape;230;g3f95de07730_1_39"/>
              <p:cNvSpPr/>
              <p:nvPr/>
            </p:nvSpPr>
            <p:spPr>
              <a:xfrm>
                <a:off x="2858178" y="17538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1" name="Google Shape;231;g3f95de07730_1_39"/>
              <p:cNvSpPr/>
              <p:nvPr/>
            </p:nvSpPr>
            <p:spPr>
              <a:xfrm>
                <a:off x="3013292" y="1850833"/>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2" name="Google Shape;232;g3f95de07730_1_39"/>
              <p:cNvSpPr/>
              <p:nvPr/>
            </p:nvSpPr>
            <p:spPr>
              <a:xfrm>
                <a:off x="2942199" y="18055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233" name="Google Shape;233;g3f95de07730_1_39"/>
            <p:cNvSpPr/>
            <p:nvPr/>
          </p:nvSpPr>
          <p:spPr>
            <a:xfrm>
              <a:off x="3180127" y="2773020"/>
              <a:ext cx="31384" cy="80204"/>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006C2D"/>
                </a:gs>
                <a:gs pos="50000">
                  <a:srgbClr val="009E40"/>
                </a:gs>
                <a:gs pos="100000">
                  <a:srgbClr val="00BD4E"/>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4" name="Google Shape;234;g3f95de07730_1_39"/>
            <p:cNvSpPr/>
            <p:nvPr/>
          </p:nvSpPr>
          <p:spPr>
            <a:xfrm>
              <a:off x="3180127" y="2853224"/>
              <a:ext cx="31384" cy="66256"/>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770000"/>
                </a:gs>
                <a:gs pos="50000">
                  <a:srgbClr val="AC0000"/>
                </a:gs>
                <a:gs pos="100000">
                  <a:srgbClr val="CE0000"/>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5" name="Google Shape;235;g3f95de07730_1_39"/>
            <p:cNvSpPr/>
            <p:nvPr/>
          </p:nvSpPr>
          <p:spPr>
            <a:xfrm>
              <a:off x="2590800" y="1459029"/>
              <a:ext cx="1833535" cy="1084500"/>
            </a:xfrm>
            <a:custGeom>
              <a:avLst/>
              <a:gdLst/>
              <a:ahLst/>
              <a:cxnLst/>
              <a:rect l="l" t="t" r="r" b="b"/>
              <a:pathLst>
                <a:path w="10799" h="10000" extrusionOk="0">
                  <a:moveTo>
                    <a:pt x="0" y="6495"/>
                  </a:moveTo>
                  <a:lnTo>
                    <a:pt x="7025" y="0"/>
                  </a:lnTo>
                  <a:lnTo>
                    <a:pt x="10799" y="3682"/>
                  </a:lnTo>
                  <a:lnTo>
                    <a:pt x="3779" y="10000"/>
                  </a:lnTo>
                  <a:lnTo>
                    <a:pt x="0" y="6495"/>
                  </a:lnTo>
                  <a:close/>
                </a:path>
              </a:pathLst>
            </a:custGeom>
            <a:gradFill>
              <a:gsLst>
                <a:gs pos="0">
                  <a:srgbClr val="3F3F3F"/>
                </a:gs>
                <a:gs pos="30000">
                  <a:srgbClr val="3F3F3F"/>
                </a:gs>
                <a:gs pos="50000">
                  <a:srgbClr val="6A6A6A"/>
                </a:gs>
                <a:gs pos="100000">
                  <a:srgbClr val="7F7F7F"/>
                </a:gs>
              </a:gsLst>
              <a:lin ang="13500032" scaled="0"/>
            </a:gradFill>
            <a:ln w="9525" cap="flat" cmpd="sng">
              <a:solidFill>
                <a:srgbClr val="59595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6" name="Google Shape;236;g3f95de07730_1_39"/>
            <p:cNvSpPr/>
            <p:nvPr/>
          </p:nvSpPr>
          <p:spPr>
            <a:xfrm>
              <a:off x="3235921" y="1853076"/>
              <a:ext cx="1192604" cy="878761"/>
            </a:xfrm>
            <a:custGeom>
              <a:avLst/>
              <a:gdLst/>
              <a:ahLst/>
              <a:cxnLst/>
              <a:rect l="l" t="t" r="r" b="b"/>
              <a:pathLst>
                <a:path w="684" h="504" extrusionOk="0">
                  <a:moveTo>
                    <a:pt x="684" y="100"/>
                  </a:moveTo>
                  <a:lnTo>
                    <a:pt x="0" y="504"/>
                  </a:lnTo>
                  <a:lnTo>
                    <a:pt x="0" y="392"/>
                  </a:lnTo>
                  <a:lnTo>
                    <a:pt x="684" y="0"/>
                  </a:lnTo>
                  <a:lnTo>
                    <a:pt x="684" y="1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7" name="Google Shape;237;g3f95de07730_1_39"/>
            <p:cNvSpPr/>
            <p:nvPr/>
          </p:nvSpPr>
          <p:spPr>
            <a:xfrm>
              <a:off x="2590800" y="2163432"/>
              <a:ext cx="645121" cy="568404"/>
            </a:xfrm>
            <a:custGeom>
              <a:avLst/>
              <a:gdLst/>
              <a:ahLst/>
              <a:cxnLst/>
              <a:rect l="l" t="t" r="r" b="b"/>
              <a:pathLst>
                <a:path w="370" h="326" extrusionOk="0">
                  <a:moveTo>
                    <a:pt x="0" y="0"/>
                  </a:moveTo>
                  <a:lnTo>
                    <a:pt x="368" y="218"/>
                  </a:lnTo>
                  <a:lnTo>
                    <a:pt x="370" y="326"/>
                  </a:lnTo>
                  <a:lnTo>
                    <a:pt x="2" y="104"/>
                  </a:lnTo>
                  <a:lnTo>
                    <a:pt x="0" y="0"/>
                  </a:lnTo>
                  <a:close/>
                </a:path>
              </a:pathLst>
            </a:custGeom>
            <a:gradFill>
              <a:gsLst>
                <a:gs pos="0">
                  <a:srgbClr val="BFBFBF"/>
                </a:gs>
                <a:gs pos="830">
                  <a:srgbClr val="BFBFBF"/>
                </a:gs>
                <a:gs pos="37000">
                  <a:srgbClr val="E2E2E2"/>
                </a:gs>
                <a:gs pos="60000">
                  <a:srgbClr val="F2F2F2"/>
                </a:gs>
                <a:gs pos="99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8" name="Google Shape;238;g3f95de07730_1_39"/>
            <p:cNvSpPr/>
            <p:nvPr/>
          </p:nvSpPr>
          <p:spPr>
            <a:xfrm>
              <a:off x="2590800" y="2111124"/>
              <a:ext cx="728813" cy="428918"/>
            </a:xfrm>
            <a:custGeom>
              <a:avLst/>
              <a:gdLst/>
              <a:ahLst/>
              <a:cxnLst/>
              <a:rect l="l" t="t" r="r" b="b"/>
              <a:pathLst>
                <a:path w="418" h="246" extrusionOk="0">
                  <a:moveTo>
                    <a:pt x="50" y="0"/>
                  </a:moveTo>
                  <a:lnTo>
                    <a:pt x="418" y="216"/>
                  </a:lnTo>
                  <a:lnTo>
                    <a:pt x="366" y="246"/>
                  </a:lnTo>
                  <a:lnTo>
                    <a:pt x="0" y="30"/>
                  </a:lnTo>
                  <a:lnTo>
                    <a:pt x="50" y="0"/>
                  </a:lnTo>
                  <a:close/>
                </a:path>
              </a:pathLst>
            </a:custGeom>
            <a:gradFill>
              <a:gsLst>
                <a:gs pos="0">
                  <a:srgbClr val="CACBCE"/>
                </a:gs>
                <a:gs pos="47000">
                  <a:srgbClr val="BFBFBF"/>
                </a:gs>
                <a:gs pos="57000">
                  <a:srgbClr val="D8D8D8"/>
                </a:gs>
                <a:gs pos="77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39" name="Google Shape;239;g3f95de07730_1_39"/>
            <p:cNvSpPr/>
            <p:nvPr/>
          </p:nvSpPr>
          <p:spPr>
            <a:xfrm>
              <a:off x="3228947" y="2487736"/>
              <a:ext cx="97640" cy="244100"/>
            </a:xfrm>
            <a:custGeom>
              <a:avLst/>
              <a:gdLst/>
              <a:ahLst/>
              <a:cxnLst/>
              <a:rect l="l" t="t" r="r" b="b"/>
              <a:pathLst>
                <a:path w="56" h="140" extrusionOk="0">
                  <a:moveTo>
                    <a:pt x="4" y="140"/>
                  </a:moveTo>
                  <a:lnTo>
                    <a:pt x="0" y="30"/>
                  </a:lnTo>
                  <a:lnTo>
                    <a:pt x="52" y="0"/>
                  </a:lnTo>
                  <a:lnTo>
                    <a:pt x="56" y="110"/>
                  </a:lnTo>
                  <a:lnTo>
                    <a:pt x="4" y="140"/>
                  </a:lnTo>
                  <a:close/>
                </a:path>
              </a:pathLst>
            </a:custGeom>
            <a:gradFill>
              <a:gsLst>
                <a:gs pos="0">
                  <a:srgbClr val="CACBCE"/>
                </a:gs>
                <a:gs pos="19000">
                  <a:srgbClr val="D8D8D8"/>
                </a:gs>
                <a:gs pos="67000">
                  <a:srgbClr val="F2F2F2"/>
                </a:gs>
                <a:gs pos="100000">
                  <a:srgbClr val="BFBFBF"/>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nvGrpSpPr>
            <p:cNvPr id="240" name="Google Shape;240;g3f95de07730_1_39"/>
            <p:cNvGrpSpPr/>
            <p:nvPr/>
          </p:nvGrpSpPr>
          <p:grpSpPr>
            <a:xfrm>
              <a:off x="2611540" y="2201617"/>
              <a:ext cx="261513" cy="282433"/>
              <a:chOff x="3848778" y="3662637"/>
              <a:chExt cx="484732" cy="523509"/>
            </a:xfrm>
          </p:grpSpPr>
          <p:sp>
            <p:nvSpPr>
              <p:cNvPr id="241" name="Google Shape;241;g3f95de07730_1_39"/>
              <p:cNvSpPr/>
              <p:nvPr/>
            </p:nvSpPr>
            <p:spPr>
              <a:xfrm>
                <a:off x="4003892" y="37595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2" name="Google Shape;242;g3f95de07730_1_39"/>
              <p:cNvSpPr/>
              <p:nvPr/>
            </p:nvSpPr>
            <p:spPr>
              <a:xfrm>
                <a:off x="4094376" y="38177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3" name="Google Shape;243;g3f95de07730_1_39"/>
              <p:cNvSpPr/>
              <p:nvPr/>
            </p:nvSpPr>
            <p:spPr>
              <a:xfrm>
                <a:off x="3932799" y="37143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4" name="Google Shape;244;g3f95de07730_1_39"/>
              <p:cNvSpPr/>
              <p:nvPr/>
            </p:nvSpPr>
            <p:spPr>
              <a:xfrm>
                <a:off x="3848778" y="3662637"/>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5" name="Google Shape;245;g3f95de07730_1_39"/>
              <p:cNvSpPr/>
              <p:nvPr/>
            </p:nvSpPr>
            <p:spPr>
              <a:xfrm>
                <a:off x="3848778" y="38112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6" name="Google Shape;246;g3f95de07730_1_39"/>
              <p:cNvSpPr/>
              <p:nvPr/>
            </p:nvSpPr>
            <p:spPr>
              <a:xfrm>
                <a:off x="4003892" y="3908234"/>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7" name="Google Shape;247;g3f95de07730_1_39"/>
              <p:cNvSpPr/>
              <p:nvPr/>
            </p:nvSpPr>
            <p:spPr>
              <a:xfrm>
                <a:off x="3932799" y="38629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248" name="Google Shape;248;g3f95de07730_1_39"/>
            <p:cNvSpPr/>
            <p:nvPr/>
          </p:nvSpPr>
          <p:spPr>
            <a:xfrm>
              <a:off x="3180127" y="2540043"/>
              <a:ext cx="31384" cy="80204"/>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006C2D"/>
                </a:gs>
                <a:gs pos="50000">
                  <a:srgbClr val="009E40"/>
                </a:gs>
                <a:gs pos="100000">
                  <a:srgbClr val="00BD4E"/>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49" name="Google Shape;249;g3f95de07730_1_39"/>
            <p:cNvSpPr/>
            <p:nvPr/>
          </p:nvSpPr>
          <p:spPr>
            <a:xfrm>
              <a:off x="3180127" y="2620247"/>
              <a:ext cx="31384" cy="66256"/>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770000"/>
                </a:gs>
                <a:gs pos="50000">
                  <a:srgbClr val="AC0000"/>
                </a:gs>
                <a:gs pos="100000">
                  <a:srgbClr val="CE0000"/>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nvGrpSpPr>
            <p:cNvPr id="250" name="Google Shape;250;g3f95de07730_1_39"/>
            <p:cNvGrpSpPr/>
            <p:nvPr/>
          </p:nvGrpSpPr>
          <p:grpSpPr>
            <a:xfrm>
              <a:off x="2611587" y="2637540"/>
              <a:ext cx="261513" cy="282434"/>
              <a:chOff x="2858178" y="1605236"/>
              <a:chExt cx="484732" cy="523510"/>
            </a:xfrm>
          </p:grpSpPr>
          <p:sp>
            <p:nvSpPr>
              <p:cNvPr id="251" name="Google Shape;251;g3f95de07730_1_39"/>
              <p:cNvSpPr/>
              <p:nvPr/>
            </p:nvSpPr>
            <p:spPr>
              <a:xfrm>
                <a:off x="3013292" y="17021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52" name="Google Shape;252;g3f95de07730_1_39"/>
              <p:cNvSpPr/>
              <p:nvPr/>
            </p:nvSpPr>
            <p:spPr>
              <a:xfrm>
                <a:off x="3103776" y="17603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53" name="Google Shape;253;g3f95de07730_1_39"/>
              <p:cNvSpPr/>
              <p:nvPr/>
            </p:nvSpPr>
            <p:spPr>
              <a:xfrm>
                <a:off x="2942199" y="16569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54" name="Google Shape;254;g3f95de07730_1_39"/>
              <p:cNvSpPr/>
              <p:nvPr/>
            </p:nvSpPr>
            <p:spPr>
              <a:xfrm>
                <a:off x="2858178" y="1605236"/>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55" name="Google Shape;255;g3f95de07730_1_39"/>
              <p:cNvSpPr/>
              <p:nvPr/>
            </p:nvSpPr>
            <p:spPr>
              <a:xfrm>
                <a:off x="2858178" y="17538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56" name="Google Shape;256;g3f95de07730_1_39"/>
              <p:cNvSpPr/>
              <p:nvPr/>
            </p:nvSpPr>
            <p:spPr>
              <a:xfrm>
                <a:off x="3013292" y="1850833"/>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57" name="Google Shape;257;g3f95de07730_1_39"/>
              <p:cNvSpPr/>
              <p:nvPr/>
            </p:nvSpPr>
            <p:spPr>
              <a:xfrm>
                <a:off x="2942199" y="18055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grpSp>
          <p:nvGrpSpPr>
            <p:cNvPr id="258" name="Google Shape;258;g3f95de07730_1_39"/>
            <p:cNvGrpSpPr/>
            <p:nvPr/>
          </p:nvGrpSpPr>
          <p:grpSpPr>
            <a:xfrm>
              <a:off x="2611587" y="2843107"/>
              <a:ext cx="261513" cy="282434"/>
              <a:chOff x="2858178" y="1605236"/>
              <a:chExt cx="484732" cy="523510"/>
            </a:xfrm>
          </p:grpSpPr>
          <p:sp>
            <p:nvSpPr>
              <p:cNvPr id="259" name="Google Shape;259;g3f95de07730_1_39"/>
              <p:cNvSpPr/>
              <p:nvPr/>
            </p:nvSpPr>
            <p:spPr>
              <a:xfrm>
                <a:off x="3013292" y="17021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0" name="Google Shape;260;g3f95de07730_1_39"/>
              <p:cNvSpPr/>
              <p:nvPr/>
            </p:nvSpPr>
            <p:spPr>
              <a:xfrm>
                <a:off x="3103776" y="17603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1" name="Google Shape;261;g3f95de07730_1_39"/>
              <p:cNvSpPr/>
              <p:nvPr/>
            </p:nvSpPr>
            <p:spPr>
              <a:xfrm>
                <a:off x="2942199" y="16569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2" name="Google Shape;262;g3f95de07730_1_39"/>
              <p:cNvSpPr/>
              <p:nvPr/>
            </p:nvSpPr>
            <p:spPr>
              <a:xfrm>
                <a:off x="2858178" y="1605236"/>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3" name="Google Shape;263;g3f95de07730_1_39"/>
              <p:cNvSpPr/>
              <p:nvPr/>
            </p:nvSpPr>
            <p:spPr>
              <a:xfrm>
                <a:off x="2858178" y="17538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4" name="Google Shape;264;g3f95de07730_1_39"/>
              <p:cNvSpPr/>
              <p:nvPr/>
            </p:nvSpPr>
            <p:spPr>
              <a:xfrm>
                <a:off x="3013292" y="1850833"/>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5" name="Google Shape;265;g3f95de07730_1_39"/>
              <p:cNvSpPr/>
              <p:nvPr/>
            </p:nvSpPr>
            <p:spPr>
              <a:xfrm>
                <a:off x="2942199" y="18055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266" name="Google Shape;266;g3f95de07730_1_39"/>
            <p:cNvSpPr/>
            <p:nvPr/>
          </p:nvSpPr>
          <p:spPr>
            <a:xfrm>
              <a:off x="2590800" y="1219200"/>
              <a:ext cx="1833535" cy="1084500"/>
            </a:xfrm>
            <a:custGeom>
              <a:avLst/>
              <a:gdLst/>
              <a:ahLst/>
              <a:cxnLst/>
              <a:rect l="l" t="t" r="r" b="b"/>
              <a:pathLst>
                <a:path w="10799" h="10000" extrusionOk="0">
                  <a:moveTo>
                    <a:pt x="0" y="6495"/>
                  </a:moveTo>
                  <a:lnTo>
                    <a:pt x="7025" y="0"/>
                  </a:lnTo>
                  <a:lnTo>
                    <a:pt x="10799" y="3682"/>
                  </a:lnTo>
                  <a:lnTo>
                    <a:pt x="3779" y="10000"/>
                  </a:lnTo>
                  <a:lnTo>
                    <a:pt x="0" y="6495"/>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7" name="Google Shape;267;g3f95de07730_1_39"/>
            <p:cNvSpPr/>
            <p:nvPr/>
          </p:nvSpPr>
          <p:spPr>
            <a:xfrm>
              <a:off x="3235921" y="1613247"/>
              <a:ext cx="1192604" cy="878761"/>
            </a:xfrm>
            <a:custGeom>
              <a:avLst/>
              <a:gdLst/>
              <a:ahLst/>
              <a:cxnLst/>
              <a:rect l="l" t="t" r="r" b="b"/>
              <a:pathLst>
                <a:path w="684" h="504" extrusionOk="0">
                  <a:moveTo>
                    <a:pt x="684" y="100"/>
                  </a:moveTo>
                  <a:lnTo>
                    <a:pt x="0" y="504"/>
                  </a:lnTo>
                  <a:lnTo>
                    <a:pt x="0" y="392"/>
                  </a:lnTo>
                  <a:lnTo>
                    <a:pt x="684" y="0"/>
                  </a:lnTo>
                  <a:lnTo>
                    <a:pt x="684" y="100"/>
                  </a:lnTo>
                  <a:close/>
                </a:path>
              </a:pathLst>
            </a:custGeom>
            <a:gradFill>
              <a:gsLst>
                <a:gs pos="0">
                  <a:srgbClr val="494949"/>
                </a:gs>
                <a:gs pos="50000">
                  <a:srgbClr val="6A6A6A"/>
                </a:gs>
                <a:gs pos="100000">
                  <a:srgbClr val="7F7F7F"/>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8" name="Google Shape;268;g3f95de07730_1_39"/>
            <p:cNvSpPr/>
            <p:nvPr/>
          </p:nvSpPr>
          <p:spPr>
            <a:xfrm>
              <a:off x="2590800" y="1923603"/>
              <a:ext cx="645121" cy="568404"/>
            </a:xfrm>
            <a:custGeom>
              <a:avLst/>
              <a:gdLst/>
              <a:ahLst/>
              <a:cxnLst/>
              <a:rect l="l" t="t" r="r" b="b"/>
              <a:pathLst>
                <a:path w="370" h="326" extrusionOk="0">
                  <a:moveTo>
                    <a:pt x="0" y="0"/>
                  </a:moveTo>
                  <a:lnTo>
                    <a:pt x="368" y="218"/>
                  </a:lnTo>
                  <a:lnTo>
                    <a:pt x="370" y="326"/>
                  </a:lnTo>
                  <a:lnTo>
                    <a:pt x="2" y="104"/>
                  </a:lnTo>
                  <a:lnTo>
                    <a:pt x="0" y="0"/>
                  </a:lnTo>
                  <a:close/>
                </a:path>
              </a:pathLst>
            </a:custGeom>
            <a:gradFill>
              <a:gsLst>
                <a:gs pos="0">
                  <a:srgbClr val="BFBFBF"/>
                </a:gs>
                <a:gs pos="830">
                  <a:srgbClr val="BFBFBF"/>
                </a:gs>
                <a:gs pos="37000">
                  <a:srgbClr val="E2E2E2"/>
                </a:gs>
                <a:gs pos="60000">
                  <a:srgbClr val="F2F2F2"/>
                </a:gs>
                <a:gs pos="99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69" name="Google Shape;269;g3f95de07730_1_39"/>
            <p:cNvSpPr/>
            <p:nvPr/>
          </p:nvSpPr>
          <p:spPr>
            <a:xfrm>
              <a:off x="2590800" y="1871295"/>
              <a:ext cx="728813" cy="428918"/>
            </a:xfrm>
            <a:custGeom>
              <a:avLst/>
              <a:gdLst/>
              <a:ahLst/>
              <a:cxnLst/>
              <a:rect l="l" t="t" r="r" b="b"/>
              <a:pathLst>
                <a:path w="418" h="246" extrusionOk="0">
                  <a:moveTo>
                    <a:pt x="50" y="0"/>
                  </a:moveTo>
                  <a:lnTo>
                    <a:pt x="418" y="216"/>
                  </a:lnTo>
                  <a:lnTo>
                    <a:pt x="366" y="246"/>
                  </a:lnTo>
                  <a:lnTo>
                    <a:pt x="0" y="30"/>
                  </a:lnTo>
                  <a:lnTo>
                    <a:pt x="50" y="0"/>
                  </a:lnTo>
                  <a:close/>
                </a:path>
              </a:pathLst>
            </a:custGeom>
            <a:gradFill>
              <a:gsLst>
                <a:gs pos="0">
                  <a:srgbClr val="CACBCE"/>
                </a:gs>
                <a:gs pos="47000">
                  <a:srgbClr val="D8D8D8"/>
                </a:gs>
                <a:gs pos="57000">
                  <a:srgbClr val="F2F2F2"/>
                </a:gs>
                <a:gs pos="77000">
                  <a:srgbClr val="BFBFBF"/>
                </a:gs>
                <a:gs pos="100000">
                  <a:srgbClr val="BFBFBF"/>
                </a:gs>
              </a:gsLst>
              <a:lin ang="7200017"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0" name="Google Shape;270;g3f95de07730_1_39"/>
            <p:cNvSpPr/>
            <p:nvPr/>
          </p:nvSpPr>
          <p:spPr>
            <a:xfrm>
              <a:off x="3228947" y="2247907"/>
              <a:ext cx="97640" cy="244100"/>
            </a:xfrm>
            <a:custGeom>
              <a:avLst/>
              <a:gdLst/>
              <a:ahLst/>
              <a:cxnLst/>
              <a:rect l="l" t="t" r="r" b="b"/>
              <a:pathLst>
                <a:path w="56" h="140" extrusionOk="0">
                  <a:moveTo>
                    <a:pt x="4" y="140"/>
                  </a:moveTo>
                  <a:lnTo>
                    <a:pt x="0" y="30"/>
                  </a:lnTo>
                  <a:lnTo>
                    <a:pt x="52" y="0"/>
                  </a:lnTo>
                  <a:lnTo>
                    <a:pt x="56" y="110"/>
                  </a:lnTo>
                  <a:lnTo>
                    <a:pt x="4" y="140"/>
                  </a:lnTo>
                  <a:close/>
                </a:path>
              </a:pathLst>
            </a:custGeom>
            <a:gradFill>
              <a:gsLst>
                <a:gs pos="0">
                  <a:srgbClr val="CACBCE"/>
                </a:gs>
                <a:gs pos="19000">
                  <a:srgbClr val="D8D8D8"/>
                </a:gs>
                <a:gs pos="63000">
                  <a:srgbClr val="F2F2F2"/>
                </a:gs>
                <a:gs pos="100000">
                  <a:srgbClr val="BFBFBF"/>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nvGrpSpPr>
            <p:cNvPr id="271" name="Google Shape;271;g3f95de07730_1_39"/>
            <p:cNvGrpSpPr/>
            <p:nvPr/>
          </p:nvGrpSpPr>
          <p:grpSpPr>
            <a:xfrm>
              <a:off x="2611540" y="1961788"/>
              <a:ext cx="261513" cy="282433"/>
              <a:chOff x="3848778" y="3662637"/>
              <a:chExt cx="484732" cy="523509"/>
            </a:xfrm>
          </p:grpSpPr>
          <p:sp>
            <p:nvSpPr>
              <p:cNvPr id="272" name="Google Shape;272;g3f95de07730_1_39"/>
              <p:cNvSpPr/>
              <p:nvPr/>
            </p:nvSpPr>
            <p:spPr>
              <a:xfrm>
                <a:off x="4003892" y="3759583"/>
                <a:ext cx="64631" cy="155114"/>
              </a:xfrm>
              <a:custGeom>
                <a:avLst/>
                <a:gdLst/>
                <a:ahLst/>
                <a:cxnLst/>
                <a:rect l="l" t="t" r="r" b="b"/>
                <a:pathLst>
                  <a:path w="20" h="48" extrusionOk="0">
                    <a:moveTo>
                      <a:pt x="20" y="12"/>
                    </a:moveTo>
                    <a:lnTo>
                      <a:pt x="0" y="0"/>
                    </a:lnTo>
                    <a:lnTo>
                      <a:pt x="0" y="36"/>
                    </a:lnTo>
                    <a:lnTo>
                      <a:pt x="20" y="4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3" name="Google Shape;273;g3f95de07730_1_39"/>
              <p:cNvSpPr/>
              <p:nvPr/>
            </p:nvSpPr>
            <p:spPr>
              <a:xfrm>
                <a:off x="4094376" y="3817750"/>
                <a:ext cx="239134" cy="368396"/>
              </a:xfrm>
              <a:custGeom>
                <a:avLst/>
                <a:gdLst/>
                <a:ahLst/>
                <a:cxnLst/>
                <a:rect l="l" t="t" r="r" b="b"/>
                <a:pathLst>
                  <a:path w="74" h="114" extrusionOk="0">
                    <a:moveTo>
                      <a:pt x="0" y="36"/>
                    </a:moveTo>
                    <a:lnTo>
                      <a:pt x="0" y="36"/>
                    </a:lnTo>
                    <a:lnTo>
                      <a:pt x="0" y="36"/>
                    </a:lnTo>
                    <a:lnTo>
                      <a:pt x="0" y="70"/>
                    </a:lnTo>
                    <a:lnTo>
                      <a:pt x="74" y="114"/>
                    </a:lnTo>
                    <a:lnTo>
                      <a:pt x="74" y="44"/>
                    </a:lnTo>
                    <a:lnTo>
                      <a:pt x="0" y="0"/>
                    </a:lnTo>
                    <a:lnTo>
                      <a:pt x="0"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4" name="Google Shape;274;g3f95de07730_1_39"/>
              <p:cNvSpPr/>
              <p:nvPr/>
            </p:nvSpPr>
            <p:spPr>
              <a:xfrm>
                <a:off x="3932799" y="3714341"/>
                <a:ext cx="45242" cy="148651"/>
              </a:xfrm>
              <a:custGeom>
                <a:avLst/>
                <a:gdLst/>
                <a:ahLst/>
                <a:cxnLst/>
                <a:rect l="l" t="t" r="r" b="b"/>
                <a:pathLst>
                  <a:path w="14" h="46" extrusionOk="0">
                    <a:moveTo>
                      <a:pt x="14" y="10"/>
                    </a:moveTo>
                    <a:lnTo>
                      <a:pt x="0" y="0"/>
                    </a:lnTo>
                    <a:lnTo>
                      <a:pt x="0" y="36"/>
                    </a:lnTo>
                    <a:lnTo>
                      <a:pt x="14" y="46"/>
                    </a:lnTo>
                    <a:lnTo>
                      <a:pt x="14"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5" name="Google Shape;275;g3f95de07730_1_39"/>
              <p:cNvSpPr/>
              <p:nvPr/>
            </p:nvSpPr>
            <p:spPr>
              <a:xfrm>
                <a:off x="3848778" y="3662637"/>
                <a:ext cx="58168" cy="148651"/>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6" name="Google Shape;276;g3f95de07730_1_39"/>
              <p:cNvSpPr/>
              <p:nvPr/>
            </p:nvSpPr>
            <p:spPr>
              <a:xfrm>
                <a:off x="3848778" y="3811287"/>
                <a:ext cx="58168" cy="122799"/>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7" name="Google Shape;277;g3f95de07730_1_39"/>
              <p:cNvSpPr/>
              <p:nvPr/>
            </p:nvSpPr>
            <p:spPr>
              <a:xfrm>
                <a:off x="4003892" y="3908234"/>
                <a:ext cx="64631" cy="122799"/>
              </a:xfrm>
              <a:custGeom>
                <a:avLst/>
                <a:gdLst/>
                <a:ahLst/>
                <a:cxnLst/>
                <a:rect l="l" t="t" r="r" b="b"/>
                <a:pathLst>
                  <a:path w="20" h="38" extrusionOk="0">
                    <a:moveTo>
                      <a:pt x="20" y="12"/>
                    </a:moveTo>
                    <a:lnTo>
                      <a:pt x="0" y="0"/>
                    </a:lnTo>
                    <a:lnTo>
                      <a:pt x="0" y="26"/>
                    </a:lnTo>
                    <a:lnTo>
                      <a:pt x="20" y="38"/>
                    </a:lnTo>
                    <a:lnTo>
                      <a:pt x="20" y="12"/>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78" name="Google Shape;278;g3f95de07730_1_39"/>
              <p:cNvSpPr/>
              <p:nvPr/>
            </p:nvSpPr>
            <p:spPr>
              <a:xfrm>
                <a:off x="3932799" y="3862992"/>
                <a:ext cx="45242" cy="116335"/>
              </a:xfrm>
              <a:custGeom>
                <a:avLst/>
                <a:gdLst/>
                <a:ahLst/>
                <a:cxnLst/>
                <a:rect l="l" t="t" r="r" b="b"/>
                <a:pathLst>
                  <a:path w="14" h="36" extrusionOk="0">
                    <a:moveTo>
                      <a:pt x="14" y="36"/>
                    </a:moveTo>
                    <a:lnTo>
                      <a:pt x="14" y="8"/>
                    </a:lnTo>
                    <a:lnTo>
                      <a:pt x="0" y="0"/>
                    </a:lnTo>
                    <a:lnTo>
                      <a:pt x="0" y="26"/>
                    </a:lnTo>
                    <a:lnTo>
                      <a:pt x="14" y="36"/>
                    </a:lnTo>
                    <a:close/>
                  </a:path>
                </a:pathLst>
              </a:custGeom>
              <a:gradFill>
                <a:gsLst>
                  <a:gs pos="0">
                    <a:srgbClr val="494949"/>
                  </a:gs>
                  <a:gs pos="50000">
                    <a:srgbClr val="6A6A6A"/>
                  </a:gs>
                  <a:gs pos="100000">
                    <a:srgbClr val="7F7F7F"/>
                  </a:gs>
                </a:gsLst>
                <a:lin ang="16200038"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279" name="Google Shape;279;g3f95de07730_1_39"/>
            <p:cNvSpPr/>
            <p:nvPr/>
          </p:nvSpPr>
          <p:spPr>
            <a:xfrm>
              <a:off x="3180127" y="2300214"/>
              <a:ext cx="31384" cy="80204"/>
            </a:xfrm>
            <a:custGeom>
              <a:avLst/>
              <a:gdLst/>
              <a:ahLst/>
              <a:cxnLst/>
              <a:rect l="l" t="t" r="r" b="b"/>
              <a:pathLst>
                <a:path w="18" h="46" extrusionOk="0">
                  <a:moveTo>
                    <a:pt x="2" y="38"/>
                  </a:moveTo>
                  <a:lnTo>
                    <a:pt x="18" y="46"/>
                  </a:lnTo>
                  <a:lnTo>
                    <a:pt x="18" y="12"/>
                  </a:lnTo>
                  <a:lnTo>
                    <a:pt x="0" y="0"/>
                  </a:lnTo>
                  <a:lnTo>
                    <a:pt x="0" y="40"/>
                  </a:lnTo>
                  <a:lnTo>
                    <a:pt x="2" y="38"/>
                  </a:lnTo>
                  <a:close/>
                </a:path>
              </a:pathLst>
            </a:custGeom>
            <a:gradFill>
              <a:gsLst>
                <a:gs pos="0">
                  <a:srgbClr val="006C2D"/>
                </a:gs>
                <a:gs pos="50000">
                  <a:srgbClr val="009E40"/>
                </a:gs>
                <a:gs pos="100000">
                  <a:srgbClr val="00BD4E"/>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80" name="Google Shape;280;g3f95de07730_1_39"/>
            <p:cNvSpPr/>
            <p:nvPr/>
          </p:nvSpPr>
          <p:spPr>
            <a:xfrm>
              <a:off x="3180127" y="2380418"/>
              <a:ext cx="31384" cy="66256"/>
            </a:xfrm>
            <a:custGeom>
              <a:avLst/>
              <a:gdLst/>
              <a:ahLst/>
              <a:cxnLst/>
              <a:rect l="l" t="t" r="r" b="b"/>
              <a:pathLst>
                <a:path w="18" h="38" extrusionOk="0">
                  <a:moveTo>
                    <a:pt x="18" y="10"/>
                  </a:moveTo>
                  <a:lnTo>
                    <a:pt x="0" y="0"/>
                  </a:lnTo>
                  <a:lnTo>
                    <a:pt x="0" y="28"/>
                  </a:lnTo>
                  <a:lnTo>
                    <a:pt x="18" y="38"/>
                  </a:lnTo>
                  <a:lnTo>
                    <a:pt x="18" y="10"/>
                  </a:lnTo>
                  <a:close/>
                </a:path>
              </a:pathLst>
            </a:custGeom>
            <a:gradFill>
              <a:gsLst>
                <a:gs pos="0">
                  <a:srgbClr val="770000"/>
                </a:gs>
                <a:gs pos="50000">
                  <a:srgbClr val="AC0000"/>
                </a:gs>
                <a:gs pos="100000">
                  <a:srgbClr val="CE0000"/>
                </a:gs>
              </a:gsLst>
              <a:lin ang="13500032"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281" name="Google Shape;281;g3f95de07730_1_39"/>
          <p:cNvSpPr/>
          <p:nvPr/>
        </p:nvSpPr>
        <p:spPr>
          <a:xfrm>
            <a:off x="3194876" y="3525167"/>
            <a:ext cx="1621762" cy="645633"/>
          </a:xfrm>
          <a:custGeom>
            <a:avLst/>
            <a:gdLst/>
            <a:ahLst/>
            <a:cxnLst/>
            <a:rect l="l" t="t" r="r" b="b"/>
            <a:pathLst>
              <a:path w="626768" h="253438" extrusionOk="0">
                <a:moveTo>
                  <a:pt x="626768" y="0"/>
                </a:moveTo>
                <a:lnTo>
                  <a:pt x="218883" y="252268"/>
                </a:lnTo>
                <a:lnTo>
                  <a:pt x="67548" y="253438"/>
                </a:lnTo>
                <a:lnTo>
                  <a:pt x="0" y="212128"/>
                </a:lnTo>
              </a:path>
            </a:pathLst>
          </a:custGeom>
          <a:noFill/>
          <a:ln w="9525" cap="flat" cmpd="sng">
            <a:solidFill>
              <a:srgbClr val="119D96"/>
            </a:solidFill>
            <a:prstDash val="dash"/>
            <a:miter lim="800000"/>
            <a:headEnd type="oval" w="sm" len="sm"/>
            <a:tailEnd type="oval" w="sm" len="sm"/>
          </a:ln>
          <a:effectLst>
            <a:outerShdw blurRad="25400" dist="12700" dir="5400000" algn="t"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900">
              <a:solidFill>
                <a:schemeClr val="lt1"/>
              </a:solidFill>
              <a:latin typeface="Calibri"/>
              <a:ea typeface="Calibri"/>
              <a:cs typeface="Calibri"/>
              <a:sym typeface="Calibri"/>
            </a:endParaRPr>
          </a:p>
        </p:txBody>
      </p:sp>
      <p:pic>
        <p:nvPicPr>
          <p:cNvPr id="282" name="Google Shape;282;g3f95de07730_1_39"/>
          <p:cNvPicPr preferRelativeResize="0"/>
          <p:nvPr/>
        </p:nvPicPr>
        <p:blipFill rotWithShape="1">
          <a:blip r:embed="rId6">
            <a:alphaModFix/>
          </a:blip>
          <a:srcRect/>
          <a:stretch/>
        </p:blipFill>
        <p:spPr>
          <a:xfrm>
            <a:off x="878890" y="4817282"/>
            <a:ext cx="336681" cy="281652"/>
          </a:xfrm>
          <a:prstGeom prst="rect">
            <a:avLst/>
          </a:prstGeom>
          <a:noFill/>
          <a:ln>
            <a:noFill/>
          </a:ln>
        </p:spPr>
      </p:pic>
      <p:grpSp>
        <p:nvGrpSpPr>
          <p:cNvPr id="283" name="Google Shape;283;g3f95de07730_1_39"/>
          <p:cNvGrpSpPr/>
          <p:nvPr/>
        </p:nvGrpSpPr>
        <p:grpSpPr>
          <a:xfrm>
            <a:off x="2976243" y="1147719"/>
            <a:ext cx="429179" cy="429179"/>
            <a:chOff x="3957638" y="3803651"/>
            <a:chExt cx="941388" cy="941388"/>
          </a:xfrm>
        </p:grpSpPr>
        <p:sp>
          <p:nvSpPr>
            <p:cNvPr id="284" name="Google Shape;284;g3f95de07730_1_39"/>
            <p:cNvSpPr/>
            <p:nvPr/>
          </p:nvSpPr>
          <p:spPr>
            <a:xfrm>
              <a:off x="4411663" y="3803651"/>
              <a:ext cx="487363" cy="941388"/>
            </a:xfrm>
            <a:custGeom>
              <a:avLst/>
              <a:gdLst/>
              <a:ahLst/>
              <a:cxnLst/>
              <a:rect l="l" t="t" r="r" b="b"/>
              <a:pathLst>
                <a:path w="615" h="1186" extrusionOk="0">
                  <a:moveTo>
                    <a:pt x="3" y="1"/>
                  </a:moveTo>
                  <a:lnTo>
                    <a:pt x="3" y="1"/>
                  </a:lnTo>
                  <a:lnTo>
                    <a:pt x="29" y="0"/>
                  </a:lnTo>
                  <a:lnTo>
                    <a:pt x="53" y="1"/>
                  </a:lnTo>
                  <a:lnTo>
                    <a:pt x="78" y="3"/>
                  </a:lnTo>
                  <a:lnTo>
                    <a:pt x="104" y="5"/>
                  </a:lnTo>
                  <a:lnTo>
                    <a:pt x="128" y="8"/>
                  </a:lnTo>
                  <a:lnTo>
                    <a:pt x="154" y="14"/>
                  </a:lnTo>
                  <a:lnTo>
                    <a:pt x="178" y="20"/>
                  </a:lnTo>
                  <a:lnTo>
                    <a:pt x="202" y="27"/>
                  </a:lnTo>
                  <a:lnTo>
                    <a:pt x="225" y="35"/>
                  </a:lnTo>
                  <a:lnTo>
                    <a:pt x="249" y="44"/>
                  </a:lnTo>
                  <a:lnTo>
                    <a:pt x="272" y="54"/>
                  </a:lnTo>
                  <a:lnTo>
                    <a:pt x="295" y="65"/>
                  </a:lnTo>
                  <a:lnTo>
                    <a:pt x="316" y="78"/>
                  </a:lnTo>
                  <a:lnTo>
                    <a:pt x="338" y="91"/>
                  </a:lnTo>
                  <a:lnTo>
                    <a:pt x="359" y="105"/>
                  </a:lnTo>
                  <a:lnTo>
                    <a:pt x="379" y="119"/>
                  </a:lnTo>
                  <a:lnTo>
                    <a:pt x="399" y="135"/>
                  </a:lnTo>
                  <a:lnTo>
                    <a:pt x="419" y="152"/>
                  </a:lnTo>
                  <a:lnTo>
                    <a:pt x="437" y="169"/>
                  </a:lnTo>
                  <a:lnTo>
                    <a:pt x="454" y="186"/>
                  </a:lnTo>
                  <a:lnTo>
                    <a:pt x="471" y="206"/>
                  </a:lnTo>
                  <a:lnTo>
                    <a:pt x="488" y="225"/>
                  </a:lnTo>
                  <a:lnTo>
                    <a:pt x="503" y="246"/>
                  </a:lnTo>
                  <a:lnTo>
                    <a:pt x="518" y="266"/>
                  </a:lnTo>
                  <a:lnTo>
                    <a:pt x="531" y="287"/>
                  </a:lnTo>
                  <a:lnTo>
                    <a:pt x="544" y="310"/>
                  </a:lnTo>
                  <a:lnTo>
                    <a:pt x="555" y="333"/>
                  </a:lnTo>
                  <a:lnTo>
                    <a:pt x="567" y="356"/>
                  </a:lnTo>
                  <a:lnTo>
                    <a:pt x="577" y="380"/>
                  </a:lnTo>
                  <a:lnTo>
                    <a:pt x="585" y="404"/>
                  </a:lnTo>
                  <a:lnTo>
                    <a:pt x="592" y="430"/>
                  </a:lnTo>
                  <a:lnTo>
                    <a:pt x="600" y="455"/>
                  </a:lnTo>
                  <a:lnTo>
                    <a:pt x="600" y="455"/>
                  </a:lnTo>
                  <a:lnTo>
                    <a:pt x="605" y="487"/>
                  </a:lnTo>
                  <a:lnTo>
                    <a:pt x="611" y="518"/>
                  </a:lnTo>
                  <a:lnTo>
                    <a:pt x="614" y="548"/>
                  </a:lnTo>
                  <a:lnTo>
                    <a:pt x="615" y="579"/>
                  </a:lnTo>
                  <a:lnTo>
                    <a:pt x="615" y="609"/>
                  </a:lnTo>
                  <a:lnTo>
                    <a:pt x="614" y="640"/>
                  </a:lnTo>
                  <a:lnTo>
                    <a:pt x="611" y="670"/>
                  </a:lnTo>
                  <a:lnTo>
                    <a:pt x="607" y="700"/>
                  </a:lnTo>
                  <a:lnTo>
                    <a:pt x="600" y="729"/>
                  </a:lnTo>
                  <a:lnTo>
                    <a:pt x="592" y="757"/>
                  </a:lnTo>
                  <a:lnTo>
                    <a:pt x="584" y="786"/>
                  </a:lnTo>
                  <a:lnTo>
                    <a:pt x="574" y="813"/>
                  </a:lnTo>
                  <a:lnTo>
                    <a:pt x="561" y="840"/>
                  </a:lnTo>
                  <a:lnTo>
                    <a:pt x="548" y="867"/>
                  </a:lnTo>
                  <a:lnTo>
                    <a:pt x="534" y="892"/>
                  </a:lnTo>
                  <a:lnTo>
                    <a:pt x="520" y="917"/>
                  </a:lnTo>
                  <a:lnTo>
                    <a:pt x="503" y="941"/>
                  </a:lnTo>
                  <a:lnTo>
                    <a:pt x="484" y="965"/>
                  </a:lnTo>
                  <a:lnTo>
                    <a:pt x="466" y="988"/>
                  </a:lnTo>
                  <a:lnTo>
                    <a:pt x="446" y="1009"/>
                  </a:lnTo>
                  <a:lnTo>
                    <a:pt x="424" y="1029"/>
                  </a:lnTo>
                  <a:lnTo>
                    <a:pt x="402" y="1049"/>
                  </a:lnTo>
                  <a:lnTo>
                    <a:pt x="379" y="1068"/>
                  </a:lnTo>
                  <a:lnTo>
                    <a:pt x="355" y="1085"/>
                  </a:lnTo>
                  <a:lnTo>
                    <a:pt x="329" y="1100"/>
                  </a:lnTo>
                  <a:lnTo>
                    <a:pt x="302" y="1116"/>
                  </a:lnTo>
                  <a:lnTo>
                    <a:pt x="275" y="1129"/>
                  </a:lnTo>
                  <a:lnTo>
                    <a:pt x="248" y="1142"/>
                  </a:lnTo>
                  <a:lnTo>
                    <a:pt x="218" y="1153"/>
                  </a:lnTo>
                  <a:lnTo>
                    <a:pt x="188" y="1162"/>
                  </a:lnTo>
                  <a:lnTo>
                    <a:pt x="158" y="1170"/>
                  </a:lnTo>
                  <a:lnTo>
                    <a:pt x="127" y="1177"/>
                  </a:lnTo>
                  <a:lnTo>
                    <a:pt x="127" y="1177"/>
                  </a:lnTo>
                  <a:lnTo>
                    <a:pt x="96" y="1182"/>
                  </a:lnTo>
                  <a:lnTo>
                    <a:pt x="64" y="1186"/>
                  </a:lnTo>
                  <a:lnTo>
                    <a:pt x="34" y="1186"/>
                  </a:lnTo>
                  <a:lnTo>
                    <a:pt x="3" y="1184"/>
                  </a:lnTo>
                  <a:lnTo>
                    <a:pt x="3" y="1184"/>
                  </a:lnTo>
                  <a:lnTo>
                    <a:pt x="3" y="976"/>
                  </a:lnTo>
                  <a:lnTo>
                    <a:pt x="3" y="976"/>
                  </a:lnTo>
                  <a:lnTo>
                    <a:pt x="29" y="975"/>
                  </a:lnTo>
                  <a:lnTo>
                    <a:pt x="54" y="972"/>
                  </a:lnTo>
                  <a:lnTo>
                    <a:pt x="81" y="968"/>
                  </a:lnTo>
                  <a:lnTo>
                    <a:pt x="107" y="962"/>
                  </a:lnTo>
                  <a:lnTo>
                    <a:pt x="107" y="962"/>
                  </a:lnTo>
                  <a:lnTo>
                    <a:pt x="130" y="955"/>
                  </a:lnTo>
                  <a:lnTo>
                    <a:pt x="151" y="948"/>
                  </a:lnTo>
                  <a:lnTo>
                    <a:pt x="172" y="939"/>
                  </a:lnTo>
                  <a:lnTo>
                    <a:pt x="194" y="929"/>
                  </a:lnTo>
                  <a:lnTo>
                    <a:pt x="212" y="918"/>
                  </a:lnTo>
                  <a:lnTo>
                    <a:pt x="231" y="907"/>
                  </a:lnTo>
                  <a:lnTo>
                    <a:pt x="248" y="894"/>
                  </a:lnTo>
                  <a:lnTo>
                    <a:pt x="265" y="880"/>
                  </a:lnTo>
                  <a:lnTo>
                    <a:pt x="281" y="865"/>
                  </a:lnTo>
                  <a:lnTo>
                    <a:pt x="293" y="848"/>
                  </a:lnTo>
                  <a:lnTo>
                    <a:pt x="308" y="831"/>
                  </a:lnTo>
                  <a:lnTo>
                    <a:pt x="319" y="813"/>
                  </a:lnTo>
                  <a:lnTo>
                    <a:pt x="329" y="793"/>
                  </a:lnTo>
                  <a:lnTo>
                    <a:pt x="339" y="771"/>
                  </a:lnTo>
                  <a:lnTo>
                    <a:pt x="348" y="749"/>
                  </a:lnTo>
                  <a:lnTo>
                    <a:pt x="353" y="726"/>
                  </a:lnTo>
                  <a:lnTo>
                    <a:pt x="353" y="726"/>
                  </a:lnTo>
                  <a:lnTo>
                    <a:pt x="357" y="707"/>
                  </a:lnTo>
                  <a:lnTo>
                    <a:pt x="360" y="695"/>
                  </a:lnTo>
                  <a:lnTo>
                    <a:pt x="360" y="686"/>
                  </a:lnTo>
                  <a:lnTo>
                    <a:pt x="360" y="682"/>
                  </a:lnTo>
                  <a:lnTo>
                    <a:pt x="359" y="679"/>
                  </a:lnTo>
                  <a:lnTo>
                    <a:pt x="356" y="677"/>
                  </a:lnTo>
                  <a:lnTo>
                    <a:pt x="353" y="675"/>
                  </a:lnTo>
                  <a:lnTo>
                    <a:pt x="343" y="673"/>
                  </a:lnTo>
                  <a:lnTo>
                    <a:pt x="330" y="673"/>
                  </a:lnTo>
                  <a:lnTo>
                    <a:pt x="312" y="672"/>
                  </a:lnTo>
                  <a:lnTo>
                    <a:pt x="312" y="672"/>
                  </a:lnTo>
                  <a:lnTo>
                    <a:pt x="298" y="672"/>
                  </a:lnTo>
                  <a:lnTo>
                    <a:pt x="298" y="672"/>
                  </a:lnTo>
                  <a:lnTo>
                    <a:pt x="271" y="672"/>
                  </a:lnTo>
                  <a:lnTo>
                    <a:pt x="258" y="673"/>
                  </a:lnTo>
                  <a:lnTo>
                    <a:pt x="251" y="675"/>
                  </a:lnTo>
                  <a:lnTo>
                    <a:pt x="245" y="676"/>
                  </a:lnTo>
                  <a:lnTo>
                    <a:pt x="245" y="676"/>
                  </a:lnTo>
                  <a:lnTo>
                    <a:pt x="244" y="679"/>
                  </a:lnTo>
                  <a:lnTo>
                    <a:pt x="241" y="682"/>
                  </a:lnTo>
                  <a:lnTo>
                    <a:pt x="239" y="692"/>
                  </a:lnTo>
                  <a:lnTo>
                    <a:pt x="238" y="705"/>
                  </a:lnTo>
                  <a:lnTo>
                    <a:pt x="235" y="714"/>
                  </a:lnTo>
                  <a:lnTo>
                    <a:pt x="235" y="714"/>
                  </a:lnTo>
                  <a:lnTo>
                    <a:pt x="228" y="732"/>
                  </a:lnTo>
                  <a:lnTo>
                    <a:pt x="221" y="747"/>
                  </a:lnTo>
                  <a:lnTo>
                    <a:pt x="211" y="763"/>
                  </a:lnTo>
                  <a:lnTo>
                    <a:pt x="201" y="777"/>
                  </a:lnTo>
                  <a:lnTo>
                    <a:pt x="188" y="791"/>
                  </a:lnTo>
                  <a:lnTo>
                    <a:pt x="175" y="803"/>
                  </a:lnTo>
                  <a:lnTo>
                    <a:pt x="161" y="814"/>
                  </a:lnTo>
                  <a:lnTo>
                    <a:pt x="145" y="826"/>
                  </a:lnTo>
                  <a:lnTo>
                    <a:pt x="130" y="834"/>
                  </a:lnTo>
                  <a:lnTo>
                    <a:pt x="114" y="843"/>
                  </a:lnTo>
                  <a:lnTo>
                    <a:pt x="96" y="850"/>
                  </a:lnTo>
                  <a:lnTo>
                    <a:pt x="78" y="855"/>
                  </a:lnTo>
                  <a:lnTo>
                    <a:pt x="60" y="860"/>
                  </a:lnTo>
                  <a:lnTo>
                    <a:pt x="41" y="863"/>
                  </a:lnTo>
                  <a:lnTo>
                    <a:pt x="21" y="864"/>
                  </a:lnTo>
                  <a:lnTo>
                    <a:pt x="3" y="864"/>
                  </a:lnTo>
                  <a:lnTo>
                    <a:pt x="3" y="864"/>
                  </a:lnTo>
                  <a:lnTo>
                    <a:pt x="2" y="421"/>
                  </a:lnTo>
                  <a:lnTo>
                    <a:pt x="2" y="421"/>
                  </a:lnTo>
                  <a:lnTo>
                    <a:pt x="0" y="323"/>
                  </a:lnTo>
                  <a:lnTo>
                    <a:pt x="0" y="323"/>
                  </a:lnTo>
                  <a:lnTo>
                    <a:pt x="17" y="320"/>
                  </a:lnTo>
                  <a:lnTo>
                    <a:pt x="33" y="317"/>
                  </a:lnTo>
                  <a:lnTo>
                    <a:pt x="50" y="317"/>
                  </a:lnTo>
                  <a:lnTo>
                    <a:pt x="66" y="317"/>
                  </a:lnTo>
                  <a:lnTo>
                    <a:pt x="80" y="319"/>
                  </a:lnTo>
                  <a:lnTo>
                    <a:pt x="96" y="320"/>
                  </a:lnTo>
                  <a:lnTo>
                    <a:pt x="111" y="323"/>
                  </a:lnTo>
                  <a:lnTo>
                    <a:pt x="125" y="327"/>
                  </a:lnTo>
                  <a:lnTo>
                    <a:pt x="140" y="333"/>
                  </a:lnTo>
                  <a:lnTo>
                    <a:pt x="152" y="339"/>
                  </a:lnTo>
                  <a:lnTo>
                    <a:pt x="167" y="346"/>
                  </a:lnTo>
                  <a:lnTo>
                    <a:pt x="180" y="354"/>
                  </a:lnTo>
                  <a:lnTo>
                    <a:pt x="192" y="363"/>
                  </a:lnTo>
                  <a:lnTo>
                    <a:pt x="204" y="374"/>
                  </a:lnTo>
                  <a:lnTo>
                    <a:pt x="217" y="386"/>
                  </a:lnTo>
                  <a:lnTo>
                    <a:pt x="228" y="398"/>
                  </a:lnTo>
                  <a:lnTo>
                    <a:pt x="228" y="398"/>
                  </a:lnTo>
                  <a:lnTo>
                    <a:pt x="235" y="407"/>
                  </a:lnTo>
                  <a:lnTo>
                    <a:pt x="236" y="411"/>
                  </a:lnTo>
                  <a:lnTo>
                    <a:pt x="236" y="415"/>
                  </a:lnTo>
                  <a:lnTo>
                    <a:pt x="235" y="418"/>
                  </a:lnTo>
                  <a:lnTo>
                    <a:pt x="232" y="421"/>
                  </a:lnTo>
                  <a:lnTo>
                    <a:pt x="226" y="424"/>
                  </a:lnTo>
                  <a:lnTo>
                    <a:pt x="221" y="427"/>
                  </a:lnTo>
                  <a:lnTo>
                    <a:pt x="221" y="427"/>
                  </a:lnTo>
                  <a:lnTo>
                    <a:pt x="182" y="443"/>
                  </a:lnTo>
                  <a:lnTo>
                    <a:pt x="141" y="460"/>
                  </a:lnTo>
                  <a:lnTo>
                    <a:pt x="141" y="460"/>
                  </a:lnTo>
                  <a:lnTo>
                    <a:pt x="356" y="589"/>
                  </a:lnTo>
                  <a:lnTo>
                    <a:pt x="356" y="589"/>
                  </a:lnTo>
                  <a:lnTo>
                    <a:pt x="360" y="591"/>
                  </a:lnTo>
                  <a:lnTo>
                    <a:pt x="363" y="591"/>
                  </a:lnTo>
                  <a:lnTo>
                    <a:pt x="366" y="591"/>
                  </a:lnTo>
                  <a:lnTo>
                    <a:pt x="367" y="589"/>
                  </a:lnTo>
                  <a:lnTo>
                    <a:pt x="369" y="585"/>
                  </a:lnTo>
                  <a:lnTo>
                    <a:pt x="370" y="579"/>
                  </a:lnTo>
                  <a:lnTo>
                    <a:pt x="370" y="579"/>
                  </a:lnTo>
                  <a:lnTo>
                    <a:pt x="417" y="366"/>
                  </a:lnTo>
                  <a:lnTo>
                    <a:pt x="417" y="366"/>
                  </a:lnTo>
                  <a:lnTo>
                    <a:pt x="417" y="356"/>
                  </a:lnTo>
                  <a:lnTo>
                    <a:pt x="417" y="351"/>
                  </a:lnTo>
                  <a:lnTo>
                    <a:pt x="416" y="350"/>
                  </a:lnTo>
                  <a:lnTo>
                    <a:pt x="413" y="349"/>
                  </a:lnTo>
                  <a:lnTo>
                    <a:pt x="409" y="349"/>
                  </a:lnTo>
                  <a:lnTo>
                    <a:pt x="399" y="351"/>
                  </a:lnTo>
                  <a:lnTo>
                    <a:pt x="399" y="351"/>
                  </a:lnTo>
                  <a:lnTo>
                    <a:pt x="355" y="370"/>
                  </a:lnTo>
                  <a:lnTo>
                    <a:pt x="355" y="370"/>
                  </a:lnTo>
                  <a:lnTo>
                    <a:pt x="348" y="373"/>
                  </a:lnTo>
                  <a:lnTo>
                    <a:pt x="340" y="373"/>
                  </a:lnTo>
                  <a:lnTo>
                    <a:pt x="335" y="370"/>
                  </a:lnTo>
                  <a:lnTo>
                    <a:pt x="329" y="363"/>
                  </a:lnTo>
                  <a:lnTo>
                    <a:pt x="329" y="363"/>
                  </a:lnTo>
                  <a:lnTo>
                    <a:pt x="315" y="340"/>
                  </a:lnTo>
                  <a:lnTo>
                    <a:pt x="299" y="320"/>
                  </a:lnTo>
                  <a:lnTo>
                    <a:pt x="283" y="302"/>
                  </a:lnTo>
                  <a:lnTo>
                    <a:pt x="266" y="284"/>
                  </a:lnTo>
                  <a:lnTo>
                    <a:pt x="248" y="270"/>
                  </a:lnTo>
                  <a:lnTo>
                    <a:pt x="229" y="256"/>
                  </a:lnTo>
                  <a:lnTo>
                    <a:pt x="211" y="245"/>
                  </a:lnTo>
                  <a:lnTo>
                    <a:pt x="189" y="235"/>
                  </a:lnTo>
                  <a:lnTo>
                    <a:pt x="170" y="226"/>
                  </a:lnTo>
                  <a:lnTo>
                    <a:pt x="148" y="219"/>
                  </a:lnTo>
                  <a:lnTo>
                    <a:pt x="125" y="213"/>
                  </a:lnTo>
                  <a:lnTo>
                    <a:pt x="103" y="210"/>
                  </a:lnTo>
                  <a:lnTo>
                    <a:pt x="78" y="208"/>
                  </a:lnTo>
                  <a:lnTo>
                    <a:pt x="54" y="206"/>
                  </a:lnTo>
                  <a:lnTo>
                    <a:pt x="29" y="208"/>
                  </a:lnTo>
                  <a:lnTo>
                    <a:pt x="3" y="209"/>
                  </a:lnTo>
                  <a:lnTo>
                    <a:pt x="3" y="209"/>
                  </a:lnTo>
                  <a:lnTo>
                    <a:pt x="3" y="1"/>
                  </a:lnTo>
                  <a:lnTo>
                    <a:pt x="3" y="1"/>
                  </a:lnTo>
                  <a:close/>
                </a:path>
              </a:pathLst>
            </a:custGeom>
            <a:solidFill>
              <a:srgbClr val="9CC2E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85" name="Google Shape;285;g3f95de07730_1_39"/>
            <p:cNvSpPr/>
            <p:nvPr/>
          </p:nvSpPr>
          <p:spPr>
            <a:xfrm>
              <a:off x="3957638" y="3805238"/>
              <a:ext cx="455613" cy="939799"/>
            </a:xfrm>
            <a:custGeom>
              <a:avLst/>
              <a:gdLst/>
              <a:ahLst/>
              <a:cxnLst/>
              <a:rect l="l" t="t" r="r" b="b"/>
              <a:pathLst>
                <a:path w="574" h="1183" extrusionOk="0">
                  <a:moveTo>
                    <a:pt x="574" y="975"/>
                  </a:moveTo>
                  <a:lnTo>
                    <a:pt x="574" y="975"/>
                  </a:lnTo>
                  <a:lnTo>
                    <a:pt x="574" y="1183"/>
                  </a:lnTo>
                  <a:lnTo>
                    <a:pt x="574" y="1183"/>
                  </a:lnTo>
                  <a:lnTo>
                    <a:pt x="550" y="1182"/>
                  </a:lnTo>
                  <a:lnTo>
                    <a:pt x="527" y="1181"/>
                  </a:lnTo>
                  <a:lnTo>
                    <a:pt x="504" y="1178"/>
                  </a:lnTo>
                  <a:lnTo>
                    <a:pt x="481" y="1175"/>
                  </a:lnTo>
                  <a:lnTo>
                    <a:pt x="459" y="1171"/>
                  </a:lnTo>
                  <a:lnTo>
                    <a:pt x="437" y="1165"/>
                  </a:lnTo>
                  <a:lnTo>
                    <a:pt x="416" y="1159"/>
                  </a:lnTo>
                  <a:lnTo>
                    <a:pt x="395" y="1152"/>
                  </a:lnTo>
                  <a:lnTo>
                    <a:pt x="373" y="1143"/>
                  </a:lnTo>
                  <a:lnTo>
                    <a:pt x="353" y="1135"/>
                  </a:lnTo>
                  <a:lnTo>
                    <a:pt x="333" y="1126"/>
                  </a:lnTo>
                  <a:lnTo>
                    <a:pt x="313" y="1115"/>
                  </a:lnTo>
                  <a:lnTo>
                    <a:pt x="293" y="1104"/>
                  </a:lnTo>
                  <a:lnTo>
                    <a:pt x="274" y="1092"/>
                  </a:lnTo>
                  <a:lnTo>
                    <a:pt x="255" y="1079"/>
                  </a:lnTo>
                  <a:lnTo>
                    <a:pt x="237" y="1065"/>
                  </a:lnTo>
                  <a:lnTo>
                    <a:pt x="237" y="1065"/>
                  </a:lnTo>
                  <a:lnTo>
                    <a:pt x="211" y="1045"/>
                  </a:lnTo>
                  <a:lnTo>
                    <a:pt x="187" y="1024"/>
                  </a:lnTo>
                  <a:lnTo>
                    <a:pt x="164" y="1001"/>
                  </a:lnTo>
                  <a:lnTo>
                    <a:pt x="143" y="978"/>
                  </a:lnTo>
                  <a:lnTo>
                    <a:pt x="123" y="954"/>
                  </a:lnTo>
                  <a:lnTo>
                    <a:pt x="106" y="930"/>
                  </a:lnTo>
                  <a:lnTo>
                    <a:pt x="88" y="904"/>
                  </a:lnTo>
                  <a:lnTo>
                    <a:pt x="73" y="879"/>
                  </a:lnTo>
                  <a:lnTo>
                    <a:pt x="59" y="852"/>
                  </a:lnTo>
                  <a:lnTo>
                    <a:pt x="47" y="823"/>
                  </a:lnTo>
                  <a:lnTo>
                    <a:pt x="36" y="795"/>
                  </a:lnTo>
                  <a:lnTo>
                    <a:pt x="26" y="766"/>
                  </a:lnTo>
                  <a:lnTo>
                    <a:pt x="19" y="735"/>
                  </a:lnTo>
                  <a:lnTo>
                    <a:pt x="12" y="705"/>
                  </a:lnTo>
                  <a:lnTo>
                    <a:pt x="6" y="672"/>
                  </a:lnTo>
                  <a:lnTo>
                    <a:pt x="3" y="639"/>
                  </a:lnTo>
                  <a:lnTo>
                    <a:pt x="3" y="639"/>
                  </a:lnTo>
                  <a:lnTo>
                    <a:pt x="0" y="611"/>
                  </a:lnTo>
                  <a:lnTo>
                    <a:pt x="0" y="581"/>
                  </a:lnTo>
                  <a:lnTo>
                    <a:pt x="2" y="553"/>
                  </a:lnTo>
                  <a:lnTo>
                    <a:pt x="4" y="524"/>
                  </a:lnTo>
                  <a:lnTo>
                    <a:pt x="7" y="496"/>
                  </a:lnTo>
                  <a:lnTo>
                    <a:pt x="13" y="469"/>
                  </a:lnTo>
                  <a:lnTo>
                    <a:pt x="20" y="440"/>
                  </a:lnTo>
                  <a:lnTo>
                    <a:pt x="27" y="414"/>
                  </a:lnTo>
                  <a:lnTo>
                    <a:pt x="36" y="387"/>
                  </a:lnTo>
                  <a:lnTo>
                    <a:pt x="46" y="362"/>
                  </a:lnTo>
                  <a:lnTo>
                    <a:pt x="57" y="336"/>
                  </a:lnTo>
                  <a:lnTo>
                    <a:pt x="70" y="312"/>
                  </a:lnTo>
                  <a:lnTo>
                    <a:pt x="84" y="288"/>
                  </a:lnTo>
                  <a:lnTo>
                    <a:pt x="98" y="265"/>
                  </a:lnTo>
                  <a:lnTo>
                    <a:pt x="114" y="242"/>
                  </a:lnTo>
                  <a:lnTo>
                    <a:pt x="131" y="219"/>
                  </a:lnTo>
                  <a:lnTo>
                    <a:pt x="148" y="199"/>
                  </a:lnTo>
                  <a:lnTo>
                    <a:pt x="168" y="178"/>
                  </a:lnTo>
                  <a:lnTo>
                    <a:pt x="187" y="160"/>
                  </a:lnTo>
                  <a:lnTo>
                    <a:pt x="208" y="141"/>
                  </a:lnTo>
                  <a:lnTo>
                    <a:pt x="229" y="124"/>
                  </a:lnTo>
                  <a:lnTo>
                    <a:pt x="251" y="107"/>
                  </a:lnTo>
                  <a:lnTo>
                    <a:pt x="274" y="91"/>
                  </a:lnTo>
                  <a:lnTo>
                    <a:pt x="298" y="77"/>
                  </a:lnTo>
                  <a:lnTo>
                    <a:pt x="322" y="64"/>
                  </a:lnTo>
                  <a:lnTo>
                    <a:pt x="348" y="51"/>
                  </a:lnTo>
                  <a:lnTo>
                    <a:pt x="373" y="40"/>
                  </a:lnTo>
                  <a:lnTo>
                    <a:pt x="400" y="31"/>
                  </a:lnTo>
                  <a:lnTo>
                    <a:pt x="427" y="23"/>
                  </a:lnTo>
                  <a:lnTo>
                    <a:pt x="454" y="14"/>
                  </a:lnTo>
                  <a:lnTo>
                    <a:pt x="483" y="9"/>
                  </a:lnTo>
                  <a:lnTo>
                    <a:pt x="511" y="4"/>
                  </a:lnTo>
                  <a:lnTo>
                    <a:pt x="511" y="4"/>
                  </a:lnTo>
                  <a:lnTo>
                    <a:pt x="543" y="0"/>
                  </a:lnTo>
                  <a:lnTo>
                    <a:pt x="558" y="0"/>
                  </a:lnTo>
                  <a:lnTo>
                    <a:pt x="574" y="0"/>
                  </a:lnTo>
                  <a:lnTo>
                    <a:pt x="574" y="0"/>
                  </a:lnTo>
                  <a:lnTo>
                    <a:pt x="574" y="208"/>
                  </a:lnTo>
                  <a:lnTo>
                    <a:pt x="574" y="208"/>
                  </a:lnTo>
                  <a:lnTo>
                    <a:pt x="538" y="215"/>
                  </a:lnTo>
                  <a:lnTo>
                    <a:pt x="506" y="224"/>
                  </a:lnTo>
                  <a:lnTo>
                    <a:pt x="473" y="235"/>
                  </a:lnTo>
                  <a:lnTo>
                    <a:pt x="442" y="248"/>
                  </a:lnTo>
                  <a:lnTo>
                    <a:pt x="412" y="264"/>
                  </a:lnTo>
                  <a:lnTo>
                    <a:pt x="383" y="282"/>
                  </a:lnTo>
                  <a:lnTo>
                    <a:pt x="370" y="293"/>
                  </a:lnTo>
                  <a:lnTo>
                    <a:pt x="358" y="305"/>
                  </a:lnTo>
                  <a:lnTo>
                    <a:pt x="345" y="316"/>
                  </a:lnTo>
                  <a:lnTo>
                    <a:pt x="332" y="329"/>
                  </a:lnTo>
                  <a:lnTo>
                    <a:pt x="332" y="329"/>
                  </a:lnTo>
                  <a:lnTo>
                    <a:pt x="318" y="346"/>
                  </a:lnTo>
                  <a:lnTo>
                    <a:pt x="303" y="365"/>
                  </a:lnTo>
                  <a:lnTo>
                    <a:pt x="293" y="385"/>
                  </a:lnTo>
                  <a:lnTo>
                    <a:pt x="283" y="403"/>
                  </a:lnTo>
                  <a:lnTo>
                    <a:pt x="276" y="424"/>
                  </a:lnTo>
                  <a:lnTo>
                    <a:pt x="271" y="446"/>
                  </a:lnTo>
                  <a:lnTo>
                    <a:pt x="266" y="469"/>
                  </a:lnTo>
                  <a:lnTo>
                    <a:pt x="265" y="491"/>
                  </a:lnTo>
                  <a:lnTo>
                    <a:pt x="265" y="491"/>
                  </a:lnTo>
                  <a:lnTo>
                    <a:pt x="265" y="500"/>
                  </a:lnTo>
                  <a:lnTo>
                    <a:pt x="268" y="506"/>
                  </a:lnTo>
                  <a:lnTo>
                    <a:pt x="271" y="508"/>
                  </a:lnTo>
                  <a:lnTo>
                    <a:pt x="274" y="510"/>
                  </a:lnTo>
                  <a:lnTo>
                    <a:pt x="276" y="511"/>
                  </a:lnTo>
                  <a:lnTo>
                    <a:pt x="282" y="510"/>
                  </a:lnTo>
                  <a:lnTo>
                    <a:pt x="282" y="510"/>
                  </a:lnTo>
                  <a:lnTo>
                    <a:pt x="302" y="507"/>
                  </a:lnTo>
                  <a:lnTo>
                    <a:pt x="323" y="507"/>
                  </a:lnTo>
                  <a:lnTo>
                    <a:pt x="365" y="507"/>
                  </a:lnTo>
                  <a:lnTo>
                    <a:pt x="365" y="507"/>
                  </a:lnTo>
                  <a:lnTo>
                    <a:pt x="370" y="507"/>
                  </a:lnTo>
                  <a:lnTo>
                    <a:pt x="375" y="504"/>
                  </a:lnTo>
                  <a:lnTo>
                    <a:pt x="377" y="501"/>
                  </a:lnTo>
                  <a:lnTo>
                    <a:pt x="379" y="494"/>
                  </a:lnTo>
                  <a:lnTo>
                    <a:pt x="379" y="494"/>
                  </a:lnTo>
                  <a:lnTo>
                    <a:pt x="383" y="476"/>
                  </a:lnTo>
                  <a:lnTo>
                    <a:pt x="387" y="457"/>
                  </a:lnTo>
                  <a:lnTo>
                    <a:pt x="395" y="440"/>
                  </a:lnTo>
                  <a:lnTo>
                    <a:pt x="403" y="424"/>
                  </a:lnTo>
                  <a:lnTo>
                    <a:pt x="413" y="410"/>
                  </a:lnTo>
                  <a:lnTo>
                    <a:pt x="424" y="396"/>
                  </a:lnTo>
                  <a:lnTo>
                    <a:pt x="436" y="383"/>
                  </a:lnTo>
                  <a:lnTo>
                    <a:pt x="450" y="372"/>
                  </a:lnTo>
                  <a:lnTo>
                    <a:pt x="464" y="362"/>
                  </a:lnTo>
                  <a:lnTo>
                    <a:pt x="479" y="353"/>
                  </a:lnTo>
                  <a:lnTo>
                    <a:pt x="493" y="345"/>
                  </a:lnTo>
                  <a:lnTo>
                    <a:pt x="508" y="338"/>
                  </a:lnTo>
                  <a:lnTo>
                    <a:pt x="524" y="332"/>
                  </a:lnTo>
                  <a:lnTo>
                    <a:pt x="540" y="328"/>
                  </a:lnTo>
                  <a:lnTo>
                    <a:pt x="555" y="323"/>
                  </a:lnTo>
                  <a:lnTo>
                    <a:pt x="571" y="322"/>
                  </a:lnTo>
                  <a:lnTo>
                    <a:pt x="571" y="322"/>
                  </a:lnTo>
                  <a:lnTo>
                    <a:pt x="573" y="420"/>
                  </a:lnTo>
                  <a:lnTo>
                    <a:pt x="573" y="420"/>
                  </a:lnTo>
                  <a:lnTo>
                    <a:pt x="574" y="863"/>
                  </a:lnTo>
                  <a:lnTo>
                    <a:pt x="574" y="863"/>
                  </a:lnTo>
                  <a:lnTo>
                    <a:pt x="545" y="863"/>
                  </a:lnTo>
                  <a:lnTo>
                    <a:pt x="520" y="860"/>
                  </a:lnTo>
                  <a:lnTo>
                    <a:pt x="496" y="853"/>
                  </a:lnTo>
                  <a:lnTo>
                    <a:pt x="473" y="844"/>
                  </a:lnTo>
                  <a:lnTo>
                    <a:pt x="450" y="833"/>
                  </a:lnTo>
                  <a:lnTo>
                    <a:pt x="430" y="817"/>
                  </a:lnTo>
                  <a:lnTo>
                    <a:pt x="410" y="800"/>
                  </a:lnTo>
                  <a:lnTo>
                    <a:pt x="392" y="782"/>
                  </a:lnTo>
                  <a:lnTo>
                    <a:pt x="392" y="782"/>
                  </a:lnTo>
                  <a:lnTo>
                    <a:pt x="385" y="772"/>
                  </a:lnTo>
                  <a:lnTo>
                    <a:pt x="383" y="768"/>
                  </a:lnTo>
                  <a:lnTo>
                    <a:pt x="385" y="765"/>
                  </a:lnTo>
                  <a:lnTo>
                    <a:pt x="386" y="762"/>
                  </a:lnTo>
                  <a:lnTo>
                    <a:pt x="389" y="759"/>
                  </a:lnTo>
                  <a:lnTo>
                    <a:pt x="399" y="755"/>
                  </a:lnTo>
                  <a:lnTo>
                    <a:pt x="399" y="755"/>
                  </a:lnTo>
                  <a:lnTo>
                    <a:pt x="419" y="746"/>
                  </a:lnTo>
                  <a:lnTo>
                    <a:pt x="437" y="739"/>
                  </a:lnTo>
                  <a:lnTo>
                    <a:pt x="480" y="721"/>
                  </a:lnTo>
                  <a:lnTo>
                    <a:pt x="480" y="721"/>
                  </a:lnTo>
                  <a:lnTo>
                    <a:pt x="266" y="592"/>
                  </a:lnTo>
                  <a:lnTo>
                    <a:pt x="266" y="592"/>
                  </a:lnTo>
                  <a:lnTo>
                    <a:pt x="261" y="590"/>
                  </a:lnTo>
                  <a:lnTo>
                    <a:pt x="256" y="590"/>
                  </a:lnTo>
                  <a:lnTo>
                    <a:pt x="254" y="590"/>
                  </a:lnTo>
                  <a:lnTo>
                    <a:pt x="252" y="592"/>
                  </a:lnTo>
                  <a:lnTo>
                    <a:pt x="249" y="600"/>
                  </a:lnTo>
                  <a:lnTo>
                    <a:pt x="248" y="607"/>
                  </a:lnTo>
                  <a:lnTo>
                    <a:pt x="248" y="607"/>
                  </a:lnTo>
                  <a:lnTo>
                    <a:pt x="231" y="682"/>
                  </a:lnTo>
                  <a:lnTo>
                    <a:pt x="217" y="756"/>
                  </a:lnTo>
                  <a:lnTo>
                    <a:pt x="217" y="756"/>
                  </a:lnTo>
                  <a:lnTo>
                    <a:pt x="211" y="776"/>
                  </a:lnTo>
                  <a:lnTo>
                    <a:pt x="207" y="795"/>
                  </a:lnTo>
                  <a:lnTo>
                    <a:pt x="204" y="815"/>
                  </a:lnTo>
                  <a:lnTo>
                    <a:pt x="202" y="826"/>
                  </a:lnTo>
                  <a:lnTo>
                    <a:pt x="204" y="836"/>
                  </a:lnTo>
                  <a:lnTo>
                    <a:pt x="204" y="836"/>
                  </a:lnTo>
                  <a:lnTo>
                    <a:pt x="232" y="825"/>
                  </a:lnTo>
                  <a:lnTo>
                    <a:pt x="261" y="813"/>
                  </a:lnTo>
                  <a:lnTo>
                    <a:pt x="261" y="813"/>
                  </a:lnTo>
                  <a:lnTo>
                    <a:pt x="271" y="809"/>
                  </a:lnTo>
                  <a:lnTo>
                    <a:pt x="275" y="809"/>
                  </a:lnTo>
                  <a:lnTo>
                    <a:pt x="279" y="809"/>
                  </a:lnTo>
                  <a:lnTo>
                    <a:pt x="283" y="812"/>
                  </a:lnTo>
                  <a:lnTo>
                    <a:pt x="286" y="815"/>
                  </a:lnTo>
                  <a:lnTo>
                    <a:pt x="295" y="823"/>
                  </a:lnTo>
                  <a:lnTo>
                    <a:pt x="295" y="823"/>
                  </a:lnTo>
                  <a:lnTo>
                    <a:pt x="306" y="842"/>
                  </a:lnTo>
                  <a:lnTo>
                    <a:pt x="319" y="859"/>
                  </a:lnTo>
                  <a:lnTo>
                    <a:pt x="333" y="876"/>
                  </a:lnTo>
                  <a:lnTo>
                    <a:pt x="349" y="890"/>
                  </a:lnTo>
                  <a:lnTo>
                    <a:pt x="365" y="904"/>
                  </a:lnTo>
                  <a:lnTo>
                    <a:pt x="382" y="917"/>
                  </a:lnTo>
                  <a:lnTo>
                    <a:pt x="400" y="930"/>
                  </a:lnTo>
                  <a:lnTo>
                    <a:pt x="420" y="940"/>
                  </a:lnTo>
                  <a:lnTo>
                    <a:pt x="420" y="940"/>
                  </a:lnTo>
                  <a:lnTo>
                    <a:pt x="439" y="948"/>
                  </a:lnTo>
                  <a:lnTo>
                    <a:pt x="457" y="956"/>
                  </a:lnTo>
                  <a:lnTo>
                    <a:pt x="476" y="961"/>
                  </a:lnTo>
                  <a:lnTo>
                    <a:pt x="494" y="967"/>
                  </a:lnTo>
                  <a:lnTo>
                    <a:pt x="514" y="970"/>
                  </a:lnTo>
                  <a:lnTo>
                    <a:pt x="534" y="973"/>
                  </a:lnTo>
                  <a:lnTo>
                    <a:pt x="574" y="975"/>
                  </a:lnTo>
                  <a:lnTo>
                    <a:pt x="574" y="975"/>
                  </a:lnTo>
                  <a:close/>
                </a:path>
              </a:pathLst>
            </a:custGeom>
            <a:solidFill>
              <a:srgbClr val="BBD6E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86" name="Google Shape;286;g3f95de07730_1_39"/>
            <p:cNvSpPr/>
            <p:nvPr/>
          </p:nvSpPr>
          <p:spPr>
            <a:xfrm>
              <a:off x="4117975" y="4273551"/>
              <a:ext cx="579438" cy="306388"/>
            </a:xfrm>
            <a:custGeom>
              <a:avLst/>
              <a:gdLst/>
              <a:ahLst/>
              <a:cxnLst/>
              <a:rect l="l" t="t" r="r" b="b"/>
              <a:pathLst>
                <a:path w="729" h="385" extrusionOk="0">
                  <a:moveTo>
                    <a:pt x="372" y="385"/>
                  </a:moveTo>
                  <a:lnTo>
                    <a:pt x="372" y="385"/>
                  </a:lnTo>
                  <a:lnTo>
                    <a:pt x="332" y="383"/>
                  </a:lnTo>
                  <a:lnTo>
                    <a:pt x="312" y="380"/>
                  </a:lnTo>
                  <a:lnTo>
                    <a:pt x="292" y="377"/>
                  </a:lnTo>
                  <a:lnTo>
                    <a:pt x="274" y="371"/>
                  </a:lnTo>
                  <a:lnTo>
                    <a:pt x="255" y="366"/>
                  </a:lnTo>
                  <a:lnTo>
                    <a:pt x="237" y="358"/>
                  </a:lnTo>
                  <a:lnTo>
                    <a:pt x="218" y="350"/>
                  </a:lnTo>
                  <a:lnTo>
                    <a:pt x="218" y="350"/>
                  </a:lnTo>
                  <a:lnTo>
                    <a:pt x="198" y="340"/>
                  </a:lnTo>
                  <a:lnTo>
                    <a:pt x="180" y="327"/>
                  </a:lnTo>
                  <a:lnTo>
                    <a:pt x="163" y="314"/>
                  </a:lnTo>
                  <a:lnTo>
                    <a:pt x="147" y="300"/>
                  </a:lnTo>
                  <a:lnTo>
                    <a:pt x="131" y="286"/>
                  </a:lnTo>
                  <a:lnTo>
                    <a:pt x="117" y="269"/>
                  </a:lnTo>
                  <a:lnTo>
                    <a:pt x="104" y="252"/>
                  </a:lnTo>
                  <a:lnTo>
                    <a:pt x="93" y="233"/>
                  </a:lnTo>
                  <a:lnTo>
                    <a:pt x="93" y="233"/>
                  </a:lnTo>
                  <a:lnTo>
                    <a:pt x="84" y="225"/>
                  </a:lnTo>
                  <a:lnTo>
                    <a:pt x="81" y="222"/>
                  </a:lnTo>
                  <a:lnTo>
                    <a:pt x="77" y="219"/>
                  </a:lnTo>
                  <a:lnTo>
                    <a:pt x="73" y="219"/>
                  </a:lnTo>
                  <a:lnTo>
                    <a:pt x="69" y="219"/>
                  </a:lnTo>
                  <a:lnTo>
                    <a:pt x="59" y="223"/>
                  </a:lnTo>
                  <a:lnTo>
                    <a:pt x="59" y="223"/>
                  </a:lnTo>
                  <a:lnTo>
                    <a:pt x="30" y="235"/>
                  </a:lnTo>
                  <a:lnTo>
                    <a:pt x="2" y="246"/>
                  </a:lnTo>
                  <a:lnTo>
                    <a:pt x="2" y="246"/>
                  </a:lnTo>
                  <a:lnTo>
                    <a:pt x="0" y="236"/>
                  </a:lnTo>
                  <a:lnTo>
                    <a:pt x="2" y="225"/>
                  </a:lnTo>
                  <a:lnTo>
                    <a:pt x="5" y="205"/>
                  </a:lnTo>
                  <a:lnTo>
                    <a:pt x="9" y="186"/>
                  </a:lnTo>
                  <a:lnTo>
                    <a:pt x="15" y="166"/>
                  </a:lnTo>
                  <a:lnTo>
                    <a:pt x="15" y="166"/>
                  </a:lnTo>
                  <a:lnTo>
                    <a:pt x="29" y="92"/>
                  </a:lnTo>
                  <a:lnTo>
                    <a:pt x="46" y="17"/>
                  </a:lnTo>
                  <a:lnTo>
                    <a:pt x="46" y="17"/>
                  </a:lnTo>
                  <a:lnTo>
                    <a:pt x="47" y="10"/>
                  </a:lnTo>
                  <a:lnTo>
                    <a:pt x="50" y="2"/>
                  </a:lnTo>
                  <a:lnTo>
                    <a:pt x="52" y="0"/>
                  </a:lnTo>
                  <a:lnTo>
                    <a:pt x="54" y="0"/>
                  </a:lnTo>
                  <a:lnTo>
                    <a:pt x="59" y="0"/>
                  </a:lnTo>
                  <a:lnTo>
                    <a:pt x="64" y="2"/>
                  </a:lnTo>
                  <a:lnTo>
                    <a:pt x="64" y="2"/>
                  </a:lnTo>
                  <a:lnTo>
                    <a:pt x="278" y="131"/>
                  </a:lnTo>
                  <a:lnTo>
                    <a:pt x="278" y="131"/>
                  </a:lnTo>
                  <a:lnTo>
                    <a:pt x="235" y="149"/>
                  </a:lnTo>
                  <a:lnTo>
                    <a:pt x="217" y="156"/>
                  </a:lnTo>
                  <a:lnTo>
                    <a:pt x="197" y="165"/>
                  </a:lnTo>
                  <a:lnTo>
                    <a:pt x="197" y="165"/>
                  </a:lnTo>
                  <a:lnTo>
                    <a:pt x="187" y="169"/>
                  </a:lnTo>
                  <a:lnTo>
                    <a:pt x="184" y="172"/>
                  </a:lnTo>
                  <a:lnTo>
                    <a:pt x="183" y="175"/>
                  </a:lnTo>
                  <a:lnTo>
                    <a:pt x="181" y="178"/>
                  </a:lnTo>
                  <a:lnTo>
                    <a:pt x="183" y="182"/>
                  </a:lnTo>
                  <a:lnTo>
                    <a:pt x="190" y="192"/>
                  </a:lnTo>
                  <a:lnTo>
                    <a:pt x="190" y="192"/>
                  </a:lnTo>
                  <a:lnTo>
                    <a:pt x="208" y="210"/>
                  </a:lnTo>
                  <a:lnTo>
                    <a:pt x="228" y="227"/>
                  </a:lnTo>
                  <a:lnTo>
                    <a:pt x="248" y="243"/>
                  </a:lnTo>
                  <a:lnTo>
                    <a:pt x="271" y="254"/>
                  </a:lnTo>
                  <a:lnTo>
                    <a:pt x="294" y="263"/>
                  </a:lnTo>
                  <a:lnTo>
                    <a:pt x="318" y="270"/>
                  </a:lnTo>
                  <a:lnTo>
                    <a:pt x="343" y="273"/>
                  </a:lnTo>
                  <a:lnTo>
                    <a:pt x="372" y="273"/>
                  </a:lnTo>
                  <a:lnTo>
                    <a:pt x="372" y="273"/>
                  </a:lnTo>
                  <a:lnTo>
                    <a:pt x="390" y="273"/>
                  </a:lnTo>
                  <a:lnTo>
                    <a:pt x="410" y="272"/>
                  </a:lnTo>
                  <a:lnTo>
                    <a:pt x="429" y="269"/>
                  </a:lnTo>
                  <a:lnTo>
                    <a:pt x="447" y="264"/>
                  </a:lnTo>
                  <a:lnTo>
                    <a:pt x="465" y="259"/>
                  </a:lnTo>
                  <a:lnTo>
                    <a:pt x="483" y="252"/>
                  </a:lnTo>
                  <a:lnTo>
                    <a:pt x="499" y="243"/>
                  </a:lnTo>
                  <a:lnTo>
                    <a:pt x="514" y="235"/>
                  </a:lnTo>
                  <a:lnTo>
                    <a:pt x="530" y="223"/>
                  </a:lnTo>
                  <a:lnTo>
                    <a:pt x="544" y="212"/>
                  </a:lnTo>
                  <a:lnTo>
                    <a:pt x="557" y="200"/>
                  </a:lnTo>
                  <a:lnTo>
                    <a:pt x="570" y="186"/>
                  </a:lnTo>
                  <a:lnTo>
                    <a:pt x="580" y="172"/>
                  </a:lnTo>
                  <a:lnTo>
                    <a:pt x="590" y="156"/>
                  </a:lnTo>
                  <a:lnTo>
                    <a:pt x="597" y="141"/>
                  </a:lnTo>
                  <a:lnTo>
                    <a:pt x="604" y="123"/>
                  </a:lnTo>
                  <a:lnTo>
                    <a:pt x="604" y="123"/>
                  </a:lnTo>
                  <a:lnTo>
                    <a:pt x="607" y="114"/>
                  </a:lnTo>
                  <a:lnTo>
                    <a:pt x="608" y="101"/>
                  </a:lnTo>
                  <a:lnTo>
                    <a:pt x="610" y="91"/>
                  </a:lnTo>
                  <a:lnTo>
                    <a:pt x="613" y="88"/>
                  </a:lnTo>
                  <a:lnTo>
                    <a:pt x="614" y="85"/>
                  </a:lnTo>
                  <a:lnTo>
                    <a:pt x="614" y="85"/>
                  </a:lnTo>
                  <a:lnTo>
                    <a:pt x="620" y="84"/>
                  </a:lnTo>
                  <a:lnTo>
                    <a:pt x="627" y="82"/>
                  </a:lnTo>
                  <a:lnTo>
                    <a:pt x="640" y="81"/>
                  </a:lnTo>
                  <a:lnTo>
                    <a:pt x="667" y="81"/>
                  </a:lnTo>
                  <a:lnTo>
                    <a:pt x="667" y="81"/>
                  </a:lnTo>
                  <a:lnTo>
                    <a:pt x="681" y="81"/>
                  </a:lnTo>
                  <a:lnTo>
                    <a:pt x="681" y="81"/>
                  </a:lnTo>
                  <a:lnTo>
                    <a:pt x="699" y="82"/>
                  </a:lnTo>
                  <a:lnTo>
                    <a:pt x="712" y="82"/>
                  </a:lnTo>
                  <a:lnTo>
                    <a:pt x="722" y="84"/>
                  </a:lnTo>
                  <a:lnTo>
                    <a:pt x="725" y="86"/>
                  </a:lnTo>
                  <a:lnTo>
                    <a:pt x="728" y="88"/>
                  </a:lnTo>
                  <a:lnTo>
                    <a:pt x="729" y="91"/>
                  </a:lnTo>
                  <a:lnTo>
                    <a:pt x="729" y="95"/>
                  </a:lnTo>
                  <a:lnTo>
                    <a:pt x="729" y="104"/>
                  </a:lnTo>
                  <a:lnTo>
                    <a:pt x="726" y="116"/>
                  </a:lnTo>
                  <a:lnTo>
                    <a:pt x="722" y="135"/>
                  </a:lnTo>
                  <a:lnTo>
                    <a:pt x="722" y="135"/>
                  </a:lnTo>
                  <a:lnTo>
                    <a:pt x="717" y="158"/>
                  </a:lnTo>
                  <a:lnTo>
                    <a:pt x="708" y="180"/>
                  </a:lnTo>
                  <a:lnTo>
                    <a:pt x="698" y="202"/>
                  </a:lnTo>
                  <a:lnTo>
                    <a:pt x="688" y="222"/>
                  </a:lnTo>
                  <a:lnTo>
                    <a:pt x="677" y="240"/>
                  </a:lnTo>
                  <a:lnTo>
                    <a:pt x="662" y="257"/>
                  </a:lnTo>
                  <a:lnTo>
                    <a:pt x="650" y="274"/>
                  </a:lnTo>
                  <a:lnTo>
                    <a:pt x="634" y="289"/>
                  </a:lnTo>
                  <a:lnTo>
                    <a:pt x="617" y="303"/>
                  </a:lnTo>
                  <a:lnTo>
                    <a:pt x="600" y="316"/>
                  </a:lnTo>
                  <a:lnTo>
                    <a:pt x="581" y="327"/>
                  </a:lnTo>
                  <a:lnTo>
                    <a:pt x="563" y="338"/>
                  </a:lnTo>
                  <a:lnTo>
                    <a:pt x="541" y="348"/>
                  </a:lnTo>
                  <a:lnTo>
                    <a:pt x="520" y="357"/>
                  </a:lnTo>
                  <a:lnTo>
                    <a:pt x="499" y="364"/>
                  </a:lnTo>
                  <a:lnTo>
                    <a:pt x="476" y="371"/>
                  </a:lnTo>
                  <a:lnTo>
                    <a:pt x="476" y="371"/>
                  </a:lnTo>
                  <a:lnTo>
                    <a:pt x="450" y="377"/>
                  </a:lnTo>
                  <a:lnTo>
                    <a:pt x="423" y="381"/>
                  </a:lnTo>
                  <a:lnTo>
                    <a:pt x="398" y="384"/>
                  </a:lnTo>
                  <a:lnTo>
                    <a:pt x="372" y="385"/>
                  </a:lnTo>
                  <a:lnTo>
                    <a:pt x="372" y="385"/>
                  </a:lnTo>
                  <a:close/>
                </a:path>
              </a:pathLst>
            </a:custGeom>
            <a:solidFill>
              <a:srgbClr val="FDFEF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sp>
          <p:nvSpPr>
            <p:cNvPr id="287" name="Google Shape;287;g3f95de07730_1_39"/>
            <p:cNvSpPr/>
            <p:nvPr/>
          </p:nvSpPr>
          <p:spPr>
            <a:xfrm>
              <a:off x="4167188" y="3968751"/>
              <a:ext cx="574675" cy="304800"/>
            </a:xfrm>
            <a:custGeom>
              <a:avLst/>
              <a:gdLst/>
              <a:ahLst/>
              <a:cxnLst/>
              <a:rect l="l" t="t" r="r" b="b"/>
              <a:pathLst>
                <a:path w="723" h="385" extrusionOk="0">
                  <a:moveTo>
                    <a:pt x="306" y="117"/>
                  </a:moveTo>
                  <a:lnTo>
                    <a:pt x="306" y="117"/>
                  </a:lnTo>
                  <a:lnTo>
                    <a:pt x="290" y="118"/>
                  </a:lnTo>
                  <a:lnTo>
                    <a:pt x="275" y="123"/>
                  </a:lnTo>
                  <a:lnTo>
                    <a:pt x="259" y="127"/>
                  </a:lnTo>
                  <a:lnTo>
                    <a:pt x="243" y="133"/>
                  </a:lnTo>
                  <a:lnTo>
                    <a:pt x="228" y="140"/>
                  </a:lnTo>
                  <a:lnTo>
                    <a:pt x="214" y="148"/>
                  </a:lnTo>
                  <a:lnTo>
                    <a:pt x="199" y="157"/>
                  </a:lnTo>
                  <a:lnTo>
                    <a:pt x="185" y="167"/>
                  </a:lnTo>
                  <a:lnTo>
                    <a:pt x="171" y="178"/>
                  </a:lnTo>
                  <a:lnTo>
                    <a:pt x="159" y="191"/>
                  </a:lnTo>
                  <a:lnTo>
                    <a:pt x="148" y="205"/>
                  </a:lnTo>
                  <a:lnTo>
                    <a:pt x="138" y="219"/>
                  </a:lnTo>
                  <a:lnTo>
                    <a:pt x="130" y="235"/>
                  </a:lnTo>
                  <a:lnTo>
                    <a:pt x="122" y="252"/>
                  </a:lnTo>
                  <a:lnTo>
                    <a:pt x="118" y="271"/>
                  </a:lnTo>
                  <a:lnTo>
                    <a:pt x="114" y="289"/>
                  </a:lnTo>
                  <a:lnTo>
                    <a:pt x="114" y="289"/>
                  </a:lnTo>
                  <a:lnTo>
                    <a:pt x="112" y="296"/>
                  </a:lnTo>
                  <a:lnTo>
                    <a:pt x="110" y="299"/>
                  </a:lnTo>
                  <a:lnTo>
                    <a:pt x="105" y="302"/>
                  </a:lnTo>
                  <a:lnTo>
                    <a:pt x="100" y="302"/>
                  </a:lnTo>
                  <a:lnTo>
                    <a:pt x="100" y="302"/>
                  </a:lnTo>
                  <a:lnTo>
                    <a:pt x="58" y="302"/>
                  </a:lnTo>
                  <a:lnTo>
                    <a:pt x="37" y="302"/>
                  </a:lnTo>
                  <a:lnTo>
                    <a:pt x="17" y="305"/>
                  </a:lnTo>
                  <a:lnTo>
                    <a:pt x="17" y="305"/>
                  </a:lnTo>
                  <a:lnTo>
                    <a:pt x="11" y="306"/>
                  </a:lnTo>
                  <a:lnTo>
                    <a:pt x="9" y="305"/>
                  </a:lnTo>
                  <a:lnTo>
                    <a:pt x="6" y="303"/>
                  </a:lnTo>
                  <a:lnTo>
                    <a:pt x="3" y="301"/>
                  </a:lnTo>
                  <a:lnTo>
                    <a:pt x="0" y="295"/>
                  </a:lnTo>
                  <a:lnTo>
                    <a:pt x="0" y="286"/>
                  </a:lnTo>
                  <a:lnTo>
                    <a:pt x="0" y="286"/>
                  </a:lnTo>
                  <a:lnTo>
                    <a:pt x="1" y="264"/>
                  </a:lnTo>
                  <a:lnTo>
                    <a:pt x="6" y="241"/>
                  </a:lnTo>
                  <a:lnTo>
                    <a:pt x="11" y="219"/>
                  </a:lnTo>
                  <a:lnTo>
                    <a:pt x="18" y="198"/>
                  </a:lnTo>
                  <a:lnTo>
                    <a:pt x="28" y="180"/>
                  </a:lnTo>
                  <a:lnTo>
                    <a:pt x="38" y="160"/>
                  </a:lnTo>
                  <a:lnTo>
                    <a:pt x="53" y="141"/>
                  </a:lnTo>
                  <a:lnTo>
                    <a:pt x="67" y="124"/>
                  </a:lnTo>
                  <a:lnTo>
                    <a:pt x="67" y="124"/>
                  </a:lnTo>
                  <a:lnTo>
                    <a:pt x="80" y="111"/>
                  </a:lnTo>
                  <a:lnTo>
                    <a:pt x="93" y="100"/>
                  </a:lnTo>
                  <a:lnTo>
                    <a:pt x="105" y="88"/>
                  </a:lnTo>
                  <a:lnTo>
                    <a:pt x="118" y="77"/>
                  </a:lnTo>
                  <a:lnTo>
                    <a:pt x="147" y="59"/>
                  </a:lnTo>
                  <a:lnTo>
                    <a:pt x="177" y="43"/>
                  </a:lnTo>
                  <a:lnTo>
                    <a:pt x="208" y="30"/>
                  </a:lnTo>
                  <a:lnTo>
                    <a:pt x="241" y="19"/>
                  </a:lnTo>
                  <a:lnTo>
                    <a:pt x="273" y="10"/>
                  </a:lnTo>
                  <a:lnTo>
                    <a:pt x="309" y="3"/>
                  </a:lnTo>
                  <a:lnTo>
                    <a:pt x="309" y="3"/>
                  </a:lnTo>
                  <a:lnTo>
                    <a:pt x="335" y="2"/>
                  </a:lnTo>
                  <a:lnTo>
                    <a:pt x="360" y="0"/>
                  </a:lnTo>
                  <a:lnTo>
                    <a:pt x="384" y="2"/>
                  </a:lnTo>
                  <a:lnTo>
                    <a:pt x="409" y="4"/>
                  </a:lnTo>
                  <a:lnTo>
                    <a:pt x="431" y="7"/>
                  </a:lnTo>
                  <a:lnTo>
                    <a:pt x="454" y="13"/>
                  </a:lnTo>
                  <a:lnTo>
                    <a:pt x="476" y="20"/>
                  </a:lnTo>
                  <a:lnTo>
                    <a:pt x="495" y="29"/>
                  </a:lnTo>
                  <a:lnTo>
                    <a:pt x="517" y="39"/>
                  </a:lnTo>
                  <a:lnTo>
                    <a:pt x="535" y="50"/>
                  </a:lnTo>
                  <a:lnTo>
                    <a:pt x="554" y="64"/>
                  </a:lnTo>
                  <a:lnTo>
                    <a:pt x="572" y="78"/>
                  </a:lnTo>
                  <a:lnTo>
                    <a:pt x="589" y="96"/>
                  </a:lnTo>
                  <a:lnTo>
                    <a:pt x="605" y="114"/>
                  </a:lnTo>
                  <a:lnTo>
                    <a:pt x="621" y="134"/>
                  </a:lnTo>
                  <a:lnTo>
                    <a:pt x="635" y="157"/>
                  </a:lnTo>
                  <a:lnTo>
                    <a:pt x="635" y="157"/>
                  </a:lnTo>
                  <a:lnTo>
                    <a:pt x="641" y="164"/>
                  </a:lnTo>
                  <a:lnTo>
                    <a:pt x="646" y="167"/>
                  </a:lnTo>
                  <a:lnTo>
                    <a:pt x="654" y="167"/>
                  </a:lnTo>
                  <a:lnTo>
                    <a:pt x="661" y="164"/>
                  </a:lnTo>
                  <a:lnTo>
                    <a:pt x="661" y="164"/>
                  </a:lnTo>
                  <a:lnTo>
                    <a:pt x="705" y="145"/>
                  </a:lnTo>
                  <a:lnTo>
                    <a:pt x="705" y="145"/>
                  </a:lnTo>
                  <a:lnTo>
                    <a:pt x="715" y="143"/>
                  </a:lnTo>
                  <a:lnTo>
                    <a:pt x="719" y="143"/>
                  </a:lnTo>
                  <a:lnTo>
                    <a:pt x="722" y="144"/>
                  </a:lnTo>
                  <a:lnTo>
                    <a:pt x="723" y="145"/>
                  </a:lnTo>
                  <a:lnTo>
                    <a:pt x="723" y="150"/>
                  </a:lnTo>
                  <a:lnTo>
                    <a:pt x="723" y="160"/>
                  </a:lnTo>
                  <a:lnTo>
                    <a:pt x="723" y="160"/>
                  </a:lnTo>
                  <a:lnTo>
                    <a:pt x="676" y="373"/>
                  </a:lnTo>
                  <a:lnTo>
                    <a:pt x="676" y="373"/>
                  </a:lnTo>
                  <a:lnTo>
                    <a:pt x="675" y="379"/>
                  </a:lnTo>
                  <a:lnTo>
                    <a:pt x="673" y="383"/>
                  </a:lnTo>
                  <a:lnTo>
                    <a:pt x="672" y="385"/>
                  </a:lnTo>
                  <a:lnTo>
                    <a:pt x="669" y="385"/>
                  </a:lnTo>
                  <a:lnTo>
                    <a:pt x="666" y="385"/>
                  </a:lnTo>
                  <a:lnTo>
                    <a:pt x="662" y="383"/>
                  </a:lnTo>
                  <a:lnTo>
                    <a:pt x="662" y="383"/>
                  </a:lnTo>
                  <a:lnTo>
                    <a:pt x="447" y="254"/>
                  </a:lnTo>
                  <a:lnTo>
                    <a:pt x="447" y="254"/>
                  </a:lnTo>
                  <a:lnTo>
                    <a:pt x="488" y="237"/>
                  </a:lnTo>
                  <a:lnTo>
                    <a:pt x="527" y="221"/>
                  </a:lnTo>
                  <a:lnTo>
                    <a:pt x="527" y="221"/>
                  </a:lnTo>
                  <a:lnTo>
                    <a:pt x="532" y="218"/>
                  </a:lnTo>
                  <a:lnTo>
                    <a:pt x="538" y="215"/>
                  </a:lnTo>
                  <a:lnTo>
                    <a:pt x="541" y="212"/>
                  </a:lnTo>
                  <a:lnTo>
                    <a:pt x="542" y="209"/>
                  </a:lnTo>
                  <a:lnTo>
                    <a:pt x="542" y="205"/>
                  </a:lnTo>
                  <a:lnTo>
                    <a:pt x="541" y="201"/>
                  </a:lnTo>
                  <a:lnTo>
                    <a:pt x="534" y="192"/>
                  </a:lnTo>
                  <a:lnTo>
                    <a:pt x="534" y="192"/>
                  </a:lnTo>
                  <a:lnTo>
                    <a:pt x="523" y="180"/>
                  </a:lnTo>
                  <a:lnTo>
                    <a:pt x="510" y="168"/>
                  </a:lnTo>
                  <a:lnTo>
                    <a:pt x="498" y="157"/>
                  </a:lnTo>
                  <a:lnTo>
                    <a:pt x="486" y="148"/>
                  </a:lnTo>
                  <a:lnTo>
                    <a:pt x="473" y="140"/>
                  </a:lnTo>
                  <a:lnTo>
                    <a:pt x="458" y="133"/>
                  </a:lnTo>
                  <a:lnTo>
                    <a:pt x="446" y="127"/>
                  </a:lnTo>
                  <a:lnTo>
                    <a:pt x="431" y="121"/>
                  </a:lnTo>
                  <a:lnTo>
                    <a:pt x="417" y="117"/>
                  </a:lnTo>
                  <a:lnTo>
                    <a:pt x="402" y="114"/>
                  </a:lnTo>
                  <a:lnTo>
                    <a:pt x="386" y="113"/>
                  </a:lnTo>
                  <a:lnTo>
                    <a:pt x="372" y="111"/>
                  </a:lnTo>
                  <a:lnTo>
                    <a:pt x="356" y="111"/>
                  </a:lnTo>
                  <a:lnTo>
                    <a:pt x="339" y="111"/>
                  </a:lnTo>
                  <a:lnTo>
                    <a:pt x="323" y="114"/>
                  </a:lnTo>
                  <a:lnTo>
                    <a:pt x="306" y="117"/>
                  </a:lnTo>
                  <a:lnTo>
                    <a:pt x="306" y="117"/>
                  </a:lnTo>
                  <a:close/>
                </a:path>
              </a:pathLst>
            </a:custGeom>
            <a:solidFill>
              <a:srgbClr val="FDFEF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900">
                <a:solidFill>
                  <a:schemeClr val="dk1"/>
                </a:solidFill>
                <a:latin typeface="Calibri"/>
                <a:ea typeface="Calibri"/>
                <a:cs typeface="Calibri"/>
                <a:sym typeface="Calibri"/>
              </a:endParaRPr>
            </a:p>
          </p:txBody>
        </p:sp>
      </p:grpSp>
      <p:sp>
        <p:nvSpPr>
          <p:cNvPr id="288" name="Google Shape;288;g3f95de07730_1_39"/>
          <p:cNvSpPr txBox="1"/>
          <p:nvPr/>
        </p:nvSpPr>
        <p:spPr>
          <a:xfrm>
            <a:off x="0" y="0"/>
            <a:ext cx="3000000" cy="861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400" b="1">
                <a:solidFill>
                  <a:schemeClr val="dk1"/>
                </a:solidFill>
              </a:rPr>
              <a:t> </a:t>
            </a:r>
            <a:endParaRPr sz="1500"/>
          </a:p>
        </p:txBody>
      </p:sp>
      <p:sp>
        <p:nvSpPr>
          <p:cNvPr id="289" name="Google Shape;289;g3f95de07730_1_39"/>
          <p:cNvSpPr txBox="1"/>
          <p:nvPr/>
        </p:nvSpPr>
        <p:spPr>
          <a:xfrm>
            <a:off x="105500" y="6379327"/>
            <a:ext cx="11980800" cy="50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700" dirty="0">
                <a:solidFill>
                  <a:srgbClr val="595959"/>
                </a:solidFill>
                <a:latin typeface="Calibri"/>
                <a:ea typeface="Calibri"/>
                <a:cs typeface="Calibri"/>
                <a:sym typeface="Calibri"/>
              </a:rPr>
              <a:t>Application Showcase: </a:t>
            </a:r>
            <a:r>
              <a:rPr lang="en-US" sz="2700" u="sng" dirty="0">
                <a:solidFill>
                  <a:schemeClr val="hlink"/>
                </a:solidFill>
                <a:latin typeface="Calibri"/>
                <a:ea typeface="Calibri"/>
                <a:cs typeface="Calibri"/>
                <a:sym typeface="Calibri"/>
                <a:hlinkClick r:id="rId11"/>
              </a:rPr>
              <a:t>https://pegasus.isi.edu/application-showcase/</a:t>
            </a:r>
            <a:r>
              <a:rPr lang="en-US" sz="2700" dirty="0">
                <a:solidFill>
                  <a:srgbClr val="595959"/>
                </a:solidFill>
                <a:latin typeface="Calibri"/>
                <a:ea typeface="Calibri"/>
                <a:cs typeface="Calibri"/>
                <a:sym typeface="Calibri"/>
              </a:rPr>
              <a:t> </a:t>
            </a:r>
            <a:endParaRPr sz="2700" dirty="0">
              <a:solidFill>
                <a:srgbClr val="595959"/>
              </a:solidFill>
              <a:latin typeface="Calibri"/>
              <a:ea typeface="Calibri"/>
              <a:cs typeface="Calibri"/>
              <a:sym typeface="Calibri"/>
            </a:endParaRPr>
          </a:p>
        </p:txBody>
      </p:sp>
      <p:pic>
        <p:nvPicPr>
          <p:cNvPr id="290" name="Google Shape;290;g3f95de07730_1_39"/>
          <p:cNvPicPr preferRelativeResize="0"/>
          <p:nvPr/>
        </p:nvPicPr>
        <p:blipFill>
          <a:blip r:embed="rId12">
            <a:alphaModFix/>
          </a:blip>
          <a:stretch>
            <a:fillRect/>
          </a:stretch>
        </p:blipFill>
        <p:spPr>
          <a:xfrm>
            <a:off x="7594425" y="3313544"/>
            <a:ext cx="1454854" cy="1332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3f95de07730_1_183"/>
          <p:cNvSpPr txBox="1">
            <a:spLocks noGrp="1"/>
          </p:cNvSpPr>
          <p:nvPr>
            <p:ph type="title"/>
          </p:nvPr>
        </p:nvSpPr>
        <p:spPr>
          <a:xfrm>
            <a:off x="838200" y="365125"/>
            <a:ext cx="10515600" cy="769500"/>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Clr>
                <a:srgbClr val="2D75B6"/>
              </a:buClr>
              <a:buSzPts val="3600"/>
              <a:buFont typeface="Roboto Black"/>
              <a:buNone/>
            </a:pPr>
            <a:r>
              <a:rPr lang="en-US"/>
              <a:t>Key Pegasus Concepts</a:t>
            </a:r>
            <a:endParaRPr/>
          </a:p>
        </p:txBody>
      </p:sp>
      <p:grpSp>
        <p:nvGrpSpPr>
          <p:cNvPr id="296" name="Google Shape;296;g3f95de07730_1_183"/>
          <p:cNvGrpSpPr/>
          <p:nvPr/>
        </p:nvGrpSpPr>
        <p:grpSpPr>
          <a:xfrm>
            <a:off x="1129871" y="1355795"/>
            <a:ext cx="7177072" cy="1458342"/>
            <a:chOff x="4511040" y="1264992"/>
            <a:chExt cx="7177072" cy="1458342"/>
          </a:xfrm>
        </p:grpSpPr>
        <p:sp>
          <p:nvSpPr>
            <p:cNvPr id="297" name="Google Shape;297;g3f95de07730_1_183"/>
            <p:cNvSpPr/>
            <p:nvPr/>
          </p:nvSpPr>
          <p:spPr>
            <a:xfrm>
              <a:off x="4511040" y="1264992"/>
              <a:ext cx="1767900" cy="3189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365CAA"/>
                  </a:solidFill>
                  <a:latin typeface="Roboto"/>
                  <a:ea typeface="Roboto"/>
                  <a:cs typeface="Roboto"/>
                  <a:sym typeface="Roboto"/>
                </a:rPr>
                <a:t>Pegasus WMS ==</a:t>
              </a:r>
              <a:endParaRPr sz="1500" b="0" i="0" u="none" strike="noStrike" cap="none">
                <a:solidFill>
                  <a:srgbClr val="000000"/>
                </a:solidFill>
                <a:latin typeface="Arial"/>
                <a:ea typeface="Arial"/>
                <a:cs typeface="Arial"/>
                <a:sym typeface="Arial"/>
              </a:endParaRPr>
            </a:p>
          </p:txBody>
        </p:sp>
        <p:sp>
          <p:nvSpPr>
            <p:cNvPr id="298" name="Google Shape;298;g3f95de07730_1_183"/>
            <p:cNvSpPr/>
            <p:nvPr/>
          </p:nvSpPr>
          <p:spPr>
            <a:xfrm>
              <a:off x="6209212" y="1264992"/>
              <a:ext cx="5478900" cy="5652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3F3F3F"/>
                  </a:solidFill>
                  <a:latin typeface="Roboto"/>
                  <a:ea typeface="Roboto"/>
                  <a:cs typeface="Roboto"/>
                  <a:sym typeface="Roboto"/>
                </a:rPr>
                <a:t>Pegasus planner (mapper) + DAGMan workflow engine + HTCondor scheduler/broker</a:t>
              </a:r>
              <a:endParaRPr sz="1500" b="0" i="0" u="none" strike="noStrike" cap="none">
                <a:solidFill>
                  <a:srgbClr val="000000"/>
                </a:solidFill>
                <a:latin typeface="Arial"/>
                <a:ea typeface="Arial"/>
                <a:cs typeface="Arial"/>
                <a:sym typeface="Arial"/>
              </a:endParaRPr>
            </a:p>
          </p:txBody>
        </p:sp>
        <p:sp>
          <p:nvSpPr>
            <p:cNvPr id="299" name="Google Shape;299;g3f95de07730_1_183"/>
            <p:cNvSpPr/>
            <p:nvPr/>
          </p:nvSpPr>
          <p:spPr>
            <a:xfrm>
              <a:off x="4511040" y="1850334"/>
              <a:ext cx="5742900" cy="873000"/>
            </a:xfrm>
            <a:prstGeom prst="rect">
              <a:avLst/>
            </a:prstGeom>
            <a:noFill/>
            <a:ln>
              <a:noFill/>
            </a:ln>
          </p:spPr>
          <p:txBody>
            <a:bodyPr spcFirstLastPara="1" wrap="square" lIns="72000" tIns="36000" rIns="72000" bIns="36000" anchor="t" anchorCtr="0">
              <a:noAutofit/>
            </a:bodyPr>
            <a:lstStyle/>
            <a:p>
              <a:pPr marL="203200" marR="0" lvl="0" indent="-209550" algn="l" rtl="0">
                <a:lnSpc>
                  <a:spcPct val="100000"/>
                </a:lnSpc>
                <a:spcBef>
                  <a:spcPts val="0"/>
                </a:spcBef>
                <a:spcAft>
                  <a:spcPts val="0"/>
                </a:spcAft>
                <a:buClr>
                  <a:srgbClr val="74CA21"/>
                </a:buClr>
                <a:buSzPts val="1500"/>
                <a:buFont typeface="Noto Sans Symbols"/>
                <a:buChar char="▪"/>
              </a:pPr>
              <a:r>
                <a:rPr lang="en-US" sz="1500" b="0" i="0" u="none" strike="noStrike" cap="none" dirty="0">
                  <a:solidFill>
                    <a:srgbClr val="3F3F3F"/>
                  </a:solidFill>
                  <a:latin typeface="Roboto"/>
                  <a:ea typeface="Roboto"/>
                  <a:cs typeface="Roboto"/>
                  <a:sym typeface="Roboto"/>
                </a:rPr>
                <a:t>Pegasus maps workflows to infrastructure</a:t>
              </a:r>
              <a:endParaRPr sz="1500" b="0" i="0" u="none" strike="noStrike" cap="none" dirty="0">
                <a:solidFill>
                  <a:srgbClr val="000000"/>
                </a:solidFill>
                <a:latin typeface="Arial"/>
                <a:ea typeface="Arial"/>
                <a:cs typeface="Aria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err="1">
                  <a:solidFill>
                    <a:srgbClr val="3F3F3F"/>
                  </a:solidFill>
                  <a:latin typeface="Roboto"/>
                  <a:ea typeface="Roboto"/>
                  <a:cs typeface="Roboto"/>
                  <a:sym typeface="Roboto"/>
                </a:rPr>
                <a:t>DAGMan</a:t>
              </a:r>
              <a:r>
                <a:rPr lang="en-US" sz="1500" b="0" i="0" u="none" strike="noStrike" cap="none" dirty="0">
                  <a:solidFill>
                    <a:srgbClr val="3F3F3F"/>
                  </a:solidFill>
                  <a:latin typeface="Roboto"/>
                  <a:ea typeface="Roboto"/>
                  <a:cs typeface="Roboto"/>
                  <a:sym typeface="Roboto"/>
                </a:rPr>
                <a:t> manages dependencies and reliability</a:t>
              </a:r>
              <a:endParaRPr sz="1500" b="0" i="0" u="none" strike="noStrike" cap="none" dirty="0">
                <a:solidFill>
                  <a:srgbClr val="000000"/>
                </a:solidFill>
                <a:latin typeface="Arial"/>
                <a:ea typeface="Arial"/>
                <a:cs typeface="Aria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err="1">
                  <a:solidFill>
                    <a:srgbClr val="3F3F3F"/>
                  </a:solidFill>
                  <a:latin typeface="Roboto"/>
                  <a:ea typeface="Roboto"/>
                  <a:cs typeface="Roboto"/>
                  <a:sym typeface="Roboto"/>
                </a:rPr>
                <a:t>HTCondor</a:t>
              </a:r>
              <a:r>
                <a:rPr lang="en-US" sz="1500" b="0" i="0" u="none" strike="noStrike" cap="none" dirty="0">
                  <a:solidFill>
                    <a:srgbClr val="3F3F3F"/>
                  </a:solidFill>
                  <a:latin typeface="Roboto"/>
                  <a:ea typeface="Roboto"/>
                  <a:cs typeface="Roboto"/>
                  <a:sym typeface="Roboto"/>
                </a:rPr>
                <a:t> is used as a broker to interface with different schedulers</a:t>
              </a:r>
              <a:endParaRPr sz="1500" b="0" i="0" u="none" strike="noStrike" cap="none" dirty="0">
                <a:solidFill>
                  <a:srgbClr val="000000"/>
                </a:solidFill>
                <a:latin typeface="Arial"/>
                <a:ea typeface="Arial"/>
                <a:cs typeface="Arial"/>
                <a:sym typeface="Arial"/>
              </a:endParaRPr>
            </a:p>
          </p:txBody>
        </p:sp>
      </p:grpSp>
      <p:grpSp>
        <p:nvGrpSpPr>
          <p:cNvPr id="300" name="Google Shape;300;g3f95de07730_1_183"/>
          <p:cNvGrpSpPr/>
          <p:nvPr/>
        </p:nvGrpSpPr>
        <p:grpSpPr>
          <a:xfrm>
            <a:off x="1129871" y="3307064"/>
            <a:ext cx="5742900" cy="1216022"/>
            <a:chOff x="4511040" y="2957065"/>
            <a:chExt cx="5742900" cy="1216022"/>
          </a:xfrm>
        </p:grpSpPr>
        <p:sp>
          <p:nvSpPr>
            <p:cNvPr id="301" name="Google Shape;301;g3f95de07730_1_183"/>
            <p:cNvSpPr/>
            <p:nvPr/>
          </p:nvSpPr>
          <p:spPr>
            <a:xfrm>
              <a:off x="4511040" y="2957065"/>
              <a:ext cx="2677500" cy="349800"/>
            </a:xfrm>
            <a:prstGeom prst="rect">
              <a:avLst/>
            </a:prstGeom>
            <a:noFill/>
            <a:ln>
              <a:noFill/>
            </a:ln>
          </p:spPr>
          <p:txBody>
            <a:bodyPr spcFirstLastPara="1" wrap="square" lIns="72000" tIns="36000" rIns="72000" bIns="360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a:solidFill>
                    <a:srgbClr val="365CAA"/>
                  </a:solidFill>
                  <a:latin typeface="Roboto"/>
                  <a:ea typeface="Roboto"/>
                  <a:cs typeface="Roboto"/>
                  <a:sym typeface="Roboto"/>
                </a:rPr>
                <a:t>Workflows are DAGs</a:t>
              </a:r>
              <a:endParaRPr sz="1500" b="0" i="0" u="none" strike="noStrike" cap="none">
                <a:solidFill>
                  <a:srgbClr val="000000"/>
                </a:solidFill>
                <a:latin typeface="Arial"/>
                <a:ea typeface="Arial"/>
                <a:cs typeface="Arial"/>
                <a:sym typeface="Arial"/>
              </a:endParaRPr>
            </a:p>
          </p:txBody>
        </p:sp>
        <p:sp>
          <p:nvSpPr>
            <p:cNvPr id="302" name="Google Shape;302;g3f95de07730_1_183"/>
            <p:cNvSpPr/>
            <p:nvPr/>
          </p:nvSpPr>
          <p:spPr>
            <a:xfrm>
              <a:off x="4511040" y="3300087"/>
              <a:ext cx="5742900" cy="873000"/>
            </a:xfrm>
            <a:prstGeom prst="rect">
              <a:avLst/>
            </a:prstGeom>
            <a:noFill/>
            <a:ln>
              <a:noFill/>
            </a:ln>
          </p:spPr>
          <p:txBody>
            <a:bodyPr spcFirstLastPara="1" wrap="square" lIns="72000" tIns="36000" rIns="72000" bIns="36000" anchor="t" anchorCtr="0">
              <a:noAutofit/>
            </a:bodyPr>
            <a:lstStyle/>
            <a:p>
              <a:pPr marL="203200" marR="0" lvl="0" indent="-209550" algn="l" rtl="0">
                <a:lnSpc>
                  <a:spcPct val="100000"/>
                </a:lnSpc>
                <a:spcBef>
                  <a:spcPts val="0"/>
                </a:spcBef>
                <a:spcAft>
                  <a:spcPts val="0"/>
                </a:spcAft>
                <a:buClr>
                  <a:srgbClr val="74CA21"/>
                </a:buClr>
                <a:buSzPts val="1500"/>
                <a:buFont typeface="Noto Sans Symbols"/>
                <a:buChar char="▪"/>
              </a:pPr>
              <a:r>
                <a:rPr lang="en-US" sz="1500" b="0" i="0" u="none" strike="noStrike" cap="none" dirty="0">
                  <a:solidFill>
                    <a:srgbClr val="3F3F3F"/>
                  </a:solidFill>
                  <a:latin typeface="Roboto"/>
                  <a:ea typeface="Roboto"/>
                  <a:cs typeface="Roboto"/>
                  <a:sym typeface="Roboto"/>
                </a:rPr>
                <a:t>Nodes: jobs, edges: dependencies</a:t>
              </a:r>
              <a:endParaRPr sz="1500" b="0" i="0" u="none" strike="noStrike" cap="none" dirty="0">
                <a:solidFill>
                  <a:srgbClr val="000000"/>
                </a:solidFill>
                <a:latin typeface="Arial"/>
                <a:ea typeface="Arial"/>
                <a:cs typeface="Aria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a:solidFill>
                    <a:srgbClr val="3F3F3F"/>
                  </a:solidFill>
                  <a:latin typeface="Roboto"/>
                  <a:ea typeface="Roboto"/>
                  <a:cs typeface="Roboto"/>
                  <a:sym typeface="Roboto"/>
                </a:rPr>
                <a:t>No while loops, no conditional branches</a:t>
              </a:r>
              <a:endParaRPr sz="1500" b="0" i="0" u="none" strike="noStrike" cap="none" dirty="0">
                <a:solidFill>
                  <a:srgbClr val="000000"/>
                </a:solidFill>
                <a:latin typeface="Arial"/>
                <a:ea typeface="Arial"/>
                <a:cs typeface="Arial"/>
                <a:sym typeface="Arial"/>
              </a:endParaRPr>
            </a:p>
            <a:p>
              <a:pPr marL="203200" marR="0" lvl="0" indent="-209550" algn="l" rtl="0">
                <a:lnSpc>
                  <a:spcPct val="100000"/>
                </a:lnSpc>
                <a:spcBef>
                  <a:spcPts val="700"/>
                </a:spcBef>
                <a:spcAft>
                  <a:spcPts val="0"/>
                </a:spcAft>
                <a:buClr>
                  <a:srgbClr val="74CA21"/>
                </a:buClr>
                <a:buSzPts val="1500"/>
                <a:buFont typeface="Noto Sans Symbols"/>
                <a:buChar char="▪"/>
              </a:pPr>
              <a:r>
                <a:rPr lang="en-US" sz="1500" b="0" i="0" u="none" strike="noStrike" cap="none" dirty="0">
                  <a:solidFill>
                    <a:srgbClr val="3F3F3F"/>
                  </a:solidFill>
                  <a:latin typeface="Roboto"/>
                  <a:ea typeface="Roboto"/>
                  <a:cs typeface="Roboto"/>
                  <a:sym typeface="Roboto"/>
                </a:rPr>
                <a:t>Jobs are standalone executables</a:t>
              </a:r>
              <a:endParaRPr sz="1500" b="0" i="0" u="none" strike="noStrike" cap="none" dirty="0">
                <a:solidFill>
                  <a:srgbClr val="000000"/>
                </a:solidFill>
                <a:latin typeface="Arial"/>
                <a:ea typeface="Arial"/>
                <a:cs typeface="Arial"/>
                <a:sym typeface="Arial"/>
              </a:endParaRPr>
            </a:p>
          </p:txBody>
        </p:sp>
      </p:grpSp>
      <p:sp>
        <p:nvSpPr>
          <p:cNvPr id="303" name="Google Shape;303;g3f95de07730_1_183"/>
          <p:cNvSpPr/>
          <p:nvPr/>
        </p:nvSpPr>
        <p:spPr>
          <a:xfrm>
            <a:off x="1129871" y="4798538"/>
            <a:ext cx="4064100" cy="350100"/>
          </a:xfrm>
          <a:prstGeom prst="rect">
            <a:avLst/>
          </a:prstGeom>
          <a:noFill/>
          <a:ln>
            <a:noFill/>
          </a:ln>
        </p:spPr>
        <p:txBody>
          <a:bodyPr spcFirstLastPara="1" wrap="square" lIns="72000" tIns="36000" rIns="72000" bIns="36000" anchor="ctr"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a:solidFill>
                  <a:srgbClr val="365CAA"/>
                </a:solidFill>
                <a:latin typeface="Roboto"/>
                <a:ea typeface="Roboto"/>
                <a:cs typeface="Roboto"/>
                <a:sym typeface="Roboto"/>
              </a:rPr>
              <a:t>Planning occurs ahead of execution</a:t>
            </a:r>
            <a:endParaRPr sz="1500" b="0" i="0" u="none" strike="noStrike" cap="none">
              <a:solidFill>
                <a:srgbClr val="000000"/>
              </a:solidFill>
              <a:latin typeface="Arial"/>
              <a:ea typeface="Arial"/>
              <a:cs typeface="Arial"/>
              <a:sym typeface="Arial"/>
            </a:endParaRPr>
          </a:p>
        </p:txBody>
      </p:sp>
      <p:grpSp>
        <p:nvGrpSpPr>
          <p:cNvPr id="304" name="Google Shape;304;g3f95de07730_1_183"/>
          <p:cNvGrpSpPr/>
          <p:nvPr/>
        </p:nvGrpSpPr>
        <p:grpSpPr>
          <a:xfrm>
            <a:off x="1129871" y="5432489"/>
            <a:ext cx="8079304" cy="620338"/>
            <a:chOff x="4511040" y="4677983"/>
            <a:chExt cx="8079304" cy="620338"/>
          </a:xfrm>
        </p:grpSpPr>
        <p:sp>
          <p:nvSpPr>
            <p:cNvPr id="305" name="Google Shape;305;g3f95de07730_1_183"/>
            <p:cNvSpPr/>
            <p:nvPr/>
          </p:nvSpPr>
          <p:spPr>
            <a:xfrm>
              <a:off x="4511044" y="4677983"/>
              <a:ext cx="8079300" cy="3189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700" b="1" i="0" u="none" strike="noStrike" cap="none">
                  <a:solidFill>
                    <a:srgbClr val="365CAA"/>
                  </a:solidFill>
                  <a:latin typeface="Roboto"/>
                  <a:ea typeface="Roboto"/>
                  <a:cs typeface="Roboto"/>
                  <a:sym typeface="Roboto"/>
                </a:rPr>
                <a:t>Planning converts an abstract workflow into a concrete, executable workflow</a:t>
              </a:r>
              <a:endParaRPr sz="1500" b="0" i="0" u="none" strike="noStrike" cap="none">
                <a:solidFill>
                  <a:srgbClr val="000000"/>
                </a:solidFill>
                <a:latin typeface="Arial"/>
                <a:ea typeface="Arial"/>
                <a:cs typeface="Arial"/>
                <a:sym typeface="Arial"/>
              </a:endParaRPr>
            </a:p>
          </p:txBody>
        </p:sp>
        <p:sp>
          <p:nvSpPr>
            <p:cNvPr id="306" name="Google Shape;306;g3f95de07730_1_183"/>
            <p:cNvSpPr/>
            <p:nvPr/>
          </p:nvSpPr>
          <p:spPr>
            <a:xfrm>
              <a:off x="4511040" y="5010321"/>
              <a:ext cx="5742900" cy="288000"/>
            </a:xfrm>
            <a:prstGeom prst="rect">
              <a:avLst/>
            </a:prstGeom>
            <a:noFill/>
            <a:ln>
              <a:noFill/>
            </a:ln>
          </p:spPr>
          <p:txBody>
            <a:bodyPr spcFirstLastPara="1" wrap="square" lIns="72000" tIns="36000" rIns="72000" bIns="36000" anchor="t" anchorCtr="0">
              <a:noAutofit/>
            </a:bodyPr>
            <a:lstStyle/>
            <a:p>
              <a:pPr marL="203200" marR="0" lvl="0" indent="-209550" algn="l" rtl="0">
                <a:lnSpc>
                  <a:spcPct val="100000"/>
                </a:lnSpc>
                <a:spcBef>
                  <a:spcPts val="0"/>
                </a:spcBef>
                <a:spcAft>
                  <a:spcPts val="0"/>
                </a:spcAft>
                <a:buClr>
                  <a:srgbClr val="74CA21"/>
                </a:buClr>
                <a:buSzPts val="1500"/>
                <a:buFont typeface="Noto Sans Symbols"/>
                <a:buChar char="▪"/>
              </a:pPr>
              <a:r>
                <a:rPr lang="en-US" sz="1500" b="0" i="0" u="none" strike="noStrike" cap="none">
                  <a:solidFill>
                    <a:srgbClr val="3F3F3F"/>
                  </a:solidFill>
                  <a:latin typeface="Roboto"/>
                  <a:ea typeface="Roboto"/>
                  <a:cs typeface="Roboto"/>
                  <a:sym typeface="Roboto"/>
                </a:rPr>
                <a:t>Planner is like a compiler</a:t>
              </a:r>
              <a:endParaRPr sz="1500" b="0" i="0" u="none" strike="noStrike" cap="none">
                <a:solidFill>
                  <a:srgbClr val="000000"/>
                </a:solidFill>
                <a:latin typeface="Arial"/>
                <a:ea typeface="Arial"/>
                <a:cs typeface="Arial"/>
                <a:sym typeface="Arial"/>
              </a:endParaRPr>
            </a:p>
          </p:txBody>
        </p:sp>
      </p:grpSp>
      <p:cxnSp>
        <p:nvCxnSpPr>
          <p:cNvPr id="307" name="Google Shape;307;g3f95de07730_1_183"/>
          <p:cNvCxnSpPr/>
          <p:nvPr/>
        </p:nvCxnSpPr>
        <p:spPr>
          <a:xfrm>
            <a:off x="1129871" y="3169049"/>
            <a:ext cx="5550300" cy="0"/>
          </a:xfrm>
          <a:prstGeom prst="straightConnector1">
            <a:avLst/>
          </a:prstGeom>
          <a:noFill/>
          <a:ln w="9525" cap="flat" cmpd="sng">
            <a:solidFill>
              <a:srgbClr val="74CA21"/>
            </a:solidFill>
            <a:prstDash val="dash"/>
            <a:miter lim="800000"/>
            <a:headEnd type="none" w="sm" len="sm"/>
            <a:tailEnd type="none" w="sm" len="sm"/>
          </a:ln>
        </p:spPr>
      </p:cxnSp>
      <p:cxnSp>
        <p:nvCxnSpPr>
          <p:cNvPr id="308" name="Google Shape;308;g3f95de07730_1_183"/>
          <p:cNvCxnSpPr/>
          <p:nvPr/>
        </p:nvCxnSpPr>
        <p:spPr>
          <a:xfrm>
            <a:off x="1129871" y="4649506"/>
            <a:ext cx="3645300" cy="0"/>
          </a:xfrm>
          <a:prstGeom prst="straightConnector1">
            <a:avLst/>
          </a:prstGeom>
          <a:noFill/>
          <a:ln w="9525" cap="flat" cmpd="sng">
            <a:solidFill>
              <a:srgbClr val="74CA21"/>
            </a:solidFill>
            <a:prstDash val="dash"/>
            <a:miter lim="800000"/>
            <a:headEnd type="none" w="sm" len="sm"/>
            <a:tailEnd type="none" w="sm" len="sm"/>
          </a:ln>
        </p:spPr>
      </p:cxnSp>
      <p:cxnSp>
        <p:nvCxnSpPr>
          <p:cNvPr id="309" name="Google Shape;309;g3f95de07730_1_183"/>
          <p:cNvCxnSpPr/>
          <p:nvPr/>
        </p:nvCxnSpPr>
        <p:spPr>
          <a:xfrm>
            <a:off x="1129871" y="5293940"/>
            <a:ext cx="4064100" cy="0"/>
          </a:xfrm>
          <a:prstGeom prst="straightConnector1">
            <a:avLst/>
          </a:prstGeom>
          <a:noFill/>
          <a:ln w="9525" cap="flat" cmpd="sng">
            <a:solidFill>
              <a:srgbClr val="74CA21"/>
            </a:solidFill>
            <a:prstDash val="dash"/>
            <a:miter lim="800000"/>
            <a:headEnd type="none" w="sm" len="sm"/>
            <a:tailEnd type="none" w="sm" len="sm"/>
          </a:ln>
        </p:spPr>
      </p:cxnSp>
      <p:grpSp>
        <p:nvGrpSpPr>
          <p:cNvPr id="310" name="Google Shape;310;g3f95de07730_1_183"/>
          <p:cNvGrpSpPr/>
          <p:nvPr/>
        </p:nvGrpSpPr>
        <p:grpSpPr>
          <a:xfrm>
            <a:off x="8596198" y="1871947"/>
            <a:ext cx="2934702" cy="3517764"/>
            <a:chOff x="928409" y="2383826"/>
            <a:chExt cx="2733261" cy="3276301"/>
          </a:xfrm>
        </p:grpSpPr>
        <p:cxnSp>
          <p:nvCxnSpPr>
            <p:cNvPr id="311" name="Google Shape;311;g3f95de07730_1_183"/>
            <p:cNvCxnSpPr>
              <a:stCxn id="312" idx="3"/>
              <a:endCxn id="313" idx="0"/>
            </p:cNvCxnSpPr>
            <p:nvPr/>
          </p:nvCxnSpPr>
          <p:spPr>
            <a:xfrm flipH="1">
              <a:off x="1118920" y="2709030"/>
              <a:ext cx="10485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14" name="Google Shape;314;g3f95de07730_1_183"/>
            <p:cNvCxnSpPr>
              <a:stCxn id="312" idx="3"/>
              <a:endCxn id="315" idx="0"/>
            </p:cNvCxnSpPr>
            <p:nvPr/>
          </p:nvCxnSpPr>
          <p:spPr>
            <a:xfrm flipH="1">
              <a:off x="1903120" y="2709030"/>
              <a:ext cx="2643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16" name="Google Shape;316;g3f95de07730_1_183"/>
            <p:cNvCxnSpPr>
              <a:stCxn id="312" idx="5"/>
              <a:endCxn id="317" idx="0"/>
            </p:cNvCxnSpPr>
            <p:nvPr/>
          </p:nvCxnSpPr>
          <p:spPr>
            <a:xfrm>
              <a:off x="2436828" y="2709030"/>
              <a:ext cx="2502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18" name="Google Shape;318;g3f95de07730_1_183"/>
            <p:cNvCxnSpPr>
              <a:stCxn id="312" idx="5"/>
              <a:endCxn id="319" idx="0"/>
            </p:cNvCxnSpPr>
            <p:nvPr/>
          </p:nvCxnSpPr>
          <p:spPr>
            <a:xfrm>
              <a:off x="2436828" y="2709030"/>
              <a:ext cx="10344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0" name="Google Shape;320;g3f95de07730_1_183"/>
            <p:cNvCxnSpPr>
              <a:stCxn id="315" idx="4"/>
              <a:endCxn id="321" idx="1"/>
            </p:cNvCxnSpPr>
            <p:nvPr/>
          </p:nvCxnSpPr>
          <p:spPr>
            <a:xfrm>
              <a:off x="1902996" y="3801096"/>
              <a:ext cx="2643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2" name="Google Shape;322;g3f95de07730_1_183"/>
            <p:cNvCxnSpPr>
              <a:stCxn id="313" idx="4"/>
              <a:endCxn id="321" idx="1"/>
            </p:cNvCxnSpPr>
            <p:nvPr/>
          </p:nvCxnSpPr>
          <p:spPr>
            <a:xfrm>
              <a:off x="1118909" y="3801096"/>
              <a:ext cx="10485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3" name="Google Shape;323;g3f95de07730_1_183"/>
            <p:cNvCxnSpPr>
              <a:stCxn id="317" idx="4"/>
              <a:endCxn id="321" idx="7"/>
            </p:cNvCxnSpPr>
            <p:nvPr/>
          </p:nvCxnSpPr>
          <p:spPr>
            <a:xfrm flipH="1">
              <a:off x="2436883" y="3801096"/>
              <a:ext cx="2502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4" name="Google Shape;324;g3f95de07730_1_183"/>
            <p:cNvCxnSpPr>
              <a:stCxn id="319" idx="4"/>
              <a:endCxn id="321" idx="7"/>
            </p:cNvCxnSpPr>
            <p:nvPr/>
          </p:nvCxnSpPr>
          <p:spPr>
            <a:xfrm flipH="1">
              <a:off x="2436770" y="3801096"/>
              <a:ext cx="10344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25" name="Google Shape;325;g3f95de07730_1_183"/>
            <p:cNvCxnSpPr>
              <a:stCxn id="321" idx="4"/>
              <a:endCxn id="326" idx="0"/>
            </p:cNvCxnSpPr>
            <p:nvPr/>
          </p:nvCxnSpPr>
          <p:spPr>
            <a:xfrm>
              <a:off x="2302124" y="4851579"/>
              <a:ext cx="0" cy="427500"/>
            </a:xfrm>
            <a:prstGeom prst="straightConnector1">
              <a:avLst/>
            </a:prstGeom>
            <a:noFill/>
            <a:ln w="19075" cap="flat" cmpd="sng">
              <a:solidFill>
                <a:srgbClr val="2D75B6">
                  <a:alpha val="80000"/>
                </a:srgbClr>
              </a:solidFill>
              <a:prstDash val="solid"/>
              <a:miter lim="800000"/>
              <a:headEnd type="none" w="sm" len="sm"/>
              <a:tailEnd type="stealth" w="med" len="med"/>
            </a:ln>
          </p:spPr>
        </p:cxnSp>
        <p:sp>
          <p:nvSpPr>
            <p:cNvPr id="327" name="Google Shape;327;g3f95de07730_1_183"/>
            <p:cNvSpPr/>
            <p:nvPr/>
          </p:nvSpPr>
          <p:spPr>
            <a:xfrm>
              <a:off x="2148308" y="2419547"/>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28" name="Google Shape;328;g3f95de07730_1_183"/>
            <p:cNvSpPr/>
            <p:nvPr/>
          </p:nvSpPr>
          <p:spPr>
            <a:xfrm>
              <a:off x="965092"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29" name="Google Shape;329;g3f95de07730_1_183"/>
            <p:cNvSpPr/>
            <p:nvPr/>
          </p:nvSpPr>
          <p:spPr>
            <a:xfrm>
              <a:off x="1749179"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0" name="Google Shape;330;g3f95de07730_1_183"/>
            <p:cNvSpPr/>
            <p:nvPr/>
          </p:nvSpPr>
          <p:spPr>
            <a:xfrm>
              <a:off x="2533266"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1" name="Google Shape;331;g3f95de07730_1_183"/>
            <p:cNvSpPr/>
            <p:nvPr/>
          </p:nvSpPr>
          <p:spPr>
            <a:xfrm>
              <a:off x="3317353"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2" name="Google Shape;332;g3f95de07730_1_183"/>
            <p:cNvSpPr/>
            <p:nvPr/>
          </p:nvSpPr>
          <p:spPr>
            <a:xfrm>
              <a:off x="2148308" y="4507262"/>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3" name="Google Shape;333;g3f95de07730_1_183"/>
            <p:cNvSpPr/>
            <p:nvPr/>
          </p:nvSpPr>
          <p:spPr>
            <a:xfrm>
              <a:off x="2148308" y="5315811"/>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12" name="Google Shape;312;g3f95de07730_1_183"/>
            <p:cNvSpPr/>
            <p:nvPr/>
          </p:nvSpPr>
          <p:spPr>
            <a:xfrm>
              <a:off x="2111624" y="238382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13" name="Google Shape;313;g3f95de07730_1_183"/>
            <p:cNvSpPr/>
            <p:nvPr/>
          </p:nvSpPr>
          <p:spPr>
            <a:xfrm>
              <a:off x="928409"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15" name="Google Shape;315;g3f95de07730_1_183"/>
            <p:cNvSpPr/>
            <p:nvPr/>
          </p:nvSpPr>
          <p:spPr>
            <a:xfrm>
              <a:off x="1712496"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17" name="Google Shape;317;g3f95de07730_1_183"/>
            <p:cNvSpPr/>
            <p:nvPr/>
          </p:nvSpPr>
          <p:spPr>
            <a:xfrm>
              <a:off x="2496583"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19" name="Google Shape;319;g3f95de07730_1_183"/>
            <p:cNvSpPr/>
            <p:nvPr/>
          </p:nvSpPr>
          <p:spPr>
            <a:xfrm>
              <a:off x="3280670"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21" name="Google Shape;321;g3f95de07730_1_183"/>
            <p:cNvSpPr/>
            <p:nvPr/>
          </p:nvSpPr>
          <p:spPr>
            <a:xfrm>
              <a:off x="2111624" y="4470579"/>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26" name="Google Shape;326;g3f95de07730_1_183"/>
            <p:cNvSpPr/>
            <p:nvPr/>
          </p:nvSpPr>
          <p:spPr>
            <a:xfrm>
              <a:off x="2111624" y="5279127"/>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grpSp>
      <p:sp>
        <p:nvSpPr>
          <p:cNvPr id="334" name="Google Shape;334;g3f95de07730_1_183"/>
          <p:cNvSpPr/>
          <p:nvPr/>
        </p:nvSpPr>
        <p:spPr>
          <a:xfrm flipH="1">
            <a:off x="955195" y="1448107"/>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5" name="Google Shape;335;g3f95de07730_1_183"/>
          <p:cNvSpPr/>
          <p:nvPr/>
        </p:nvSpPr>
        <p:spPr>
          <a:xfrm flipH="1">
            <a:off x="955195" y="3418808"/>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6" name="Google Shape;336;g3f95de07730_1_183"/>
          <p:cNvSpPr/>
          <p:nvPr/>
        </p:nvSpPr>
        <p:spPr>
          <a:xfrm flipH="1">
            <a:off x="955195" y="4911366"/>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7" name="Google Shape;337;g3f95de07730_1_183"/>
          <p:cNvSpPr/>
          <p:nvPr/>
        </p:nvSpPr>
        <p:spPr>
          <a:xfrm flipH="1">
            <a:off x="955195" y="5516784"/>
            <a:ext cx="109200" cy="109200"/>
          </a:xfrm>
          <a:prstGeom prst="rtTriangle">
            <a:avLst/>
          </a:prstGeom>
          <a:solidFill>
            <a:srgbClr val="BA083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38" name="Google Shape;338;g3f95de07730_1_183"/>
          <p:cNvSpPr txBox="1"/>
          <p:nvPr/>
        </p:nvSpPr>
        <p:spPr>
          <a:xfrm>
            <a:off x="9209175" y="1807313"/>
            <a:ext cx="13197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a:solidFill>
                  <a:srgbClr val="595959"/>
                </a:solidFill>
                <a:latin typeface="Roboto"/>
                <a:ea typeface="Roboto"/>
                <a:cs typeface="Roboto"/>
                <a:sym typeface="Roboto"/>
              </a:rPr>
              <a:t>Task</a:t>
            </a:r>
            <a:endParaRPr sz="1500">
              <a:solidFill>
                <a:srgbClr val="595959"/>
              </a:solidFill>
              <a:latin typeface="Roboto"/>
              <a:ea typeface="Roboto"/>
              <a:cs typeface="Roboto"/>
              <a:sym typeface="Roboto"/>
            </a:endParaRPr>
          </a:p>
        </p:txBody>
      </p:sp>
      <p:sp>
        <p:nvSpPr>
          <p:cNvPr id="339" name="Google Shape;339;g3f95de07730_1_183"/>
          <p:cNvSpPr txBox="1"/>
          <p:nvPr/>
        </p:nvSpPr>
        <p:spPr>
          <a:xfrm>
            <a:off x="7830525" y="2267524"/>
            <a:ext cx="1796700" cy="3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500">
                <a:solidFill>
                  <a:srgbClr val="595959"/>
                </a:solidFill>
                <a:latin typeface="Roboto"/>
                <a:ea typeface="Roboto"/>
                <a:cs typeface="Roboto"/>
                <a:sym typeface="Roboto"/>
              </a:rPr>
              <a:t>Data dependency</a:t>
            </a:r>
            <a:endParaRPr sz="1500">
              <a:solidFill>
                <a:srgbClr val="595959"/>
              </a:solidFill>
              <a:latin typeface="Roboto"/>
              <a:ea typeface="Roboto"/>
              <a:cs typeface="Roboto"/>
              <a:sym typeface="Roboto"/>
            </a:endParaRPr>
          </a:p>
          <a:p>
            <a:pPr marL="0" lvl="0" indent="0" algn="l" rtl="0">
              <a:spcBef>
                <a:spcPts val="0"/>
              </a:spcBef>
              <a:spcAft>
                <a:spcPts val="0"/>
              </a:spcAft>
              <a:buNone/>
            </a:pPr>
            <a:endParaRPr sz="1500">
              <a:solidFill>
                <a:srgbClr val="595959"/>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343"/>
        <p:cNvGrpSpPr/>
        <p:nvPr/>
      </p:nvGrpSpPr>
      <p:grpSpPr>
        <a:xfrm>
          <a:off x="0" y="0"/>
          <a:ext cx="0" cy="0"/>
          <a:chOff x="0" y="0"/>
          <a:chExt cx="0" cy="0"/>
        </a:xfrm>
      </p:grpSpPr>
      <p:sp>
        <p:nvSpPr>
          <p:cNvPr id="344" name="Google Shape;344;g3f95de07730_1_231" descr="$PPTXTitle"/>
          <p:cNvSpPr txBox="1">
            <a:spLocks noGrp="1"/>
          </p:cNvSpPr>
          <p:nvPr>
            <p:ph type="title"/>
          </p:nvPr>
        </p:nvSpPr>
        <p:spPr>
          <a:xfrm>
            <a:off x="483000" y="-92083"/>
            <a:ext cx="9002400" cy="878400"/>
          </a:xfrm>
          <a:prstGeom prst="rect">
            <a:avLst/>
          </a:prstGeom>
          <a:noFill/>
          <a:ln>
            <a:noFill/>
          </a:ln>
        </p:spPr>
        <p:txBody>
          <a:bodyPr spcFirstLastPara="1" wrap="square" lIns="0" tIns="305775" rIns="0" bIns="0" anchor="t" anchorCtr="0">
            <a:spAutoFit/>
          </a:bodyPr>
          <a:lstStyle/>
          <a:p>
            <a:pPr marL="38100" lvl="0" indent="0" algn="l" rtl="0">
              <a:lnSpc>
                <a:spcPct val="100000"/>
              </a:lnSpc>
              <a:spcBef>
                <a:spcPts val="0"/>
              </a:spcBef>
              <a:spcAft>
                <a:spcPts val="0"/>
              </a:spcAft>
              <a:buNone/>
            </a:pPr>
            <a:r>
              <a:rPr lang="en-US" sz="3700">
                <a:solidFill>
                  <a:srgbClr val="0F4F75"/>
                </a:solidFill>
              </a:rPr>
              <a:t>Defining Workflows in Python</a:t>
            </a:r>
            <a:endParaRPr sz="3700"/>
          </a:p>
        </p:txBody>
      </p:sp>
      <p:sp>
        <p:nvSpPr>
          <p:cNvPr id="345" name="Google Shape;345;g3f95de07730_1_231"/>
          <p:cNvSpPr txBox="1"/>
          <p:nvPr/>
        </p:nvSpPr>
        <p:spPr>
          <a:xfrm>
            <a:off x="8720075" y="3214688"/>
            <a:ext cx="3296100" cy="634200"/>
          </a:xfrm>
          <a:prstGeom prst="rect">
            <a:avLst/>
          </a:prstGeom>
          <a:noFill/>
          <a:ln>
            <a:noFill/>
          </a:ln>
        </p:spPr>
        <p:txBody>
          <a:bodyPr spcFirstLastPara="1" wrap="square" lIns="0" tIns="41300" rIns="0" bIns="0" anchor="t" anchorCtr="0">
            <a:spAutoFit/>
          </a:bodyPr>
          <a:lstStyle/>
          <a:p>
            <a:pPr marL="241300" lvl="0" indent="0" algn="l" rtl="0">
              <a:lnSpc>
                <a:spcPct val="100000"/>
              </a:lnSpc>
              <a:spcBef>
                <a:spcPts val="0"/>
              </a:spcBef>
              <a:spcAft>
                <a:spcPts val="0"/>
              </a:spcAft>
              <a:buNone/>
            </a:pPr>
            <a:r>
              <a:rPr lang="en-US" sz="2000" b="1">
                <a:solidFill>
                  <a:srgbClr val="0F4F75"/>
                </a:solidFill>
                <a:latin typeface="Arial"/>
                <a:ea typeface="Arial"/>
                <a:cs typeface="Arial"/>
                <a:sym typeface="Arial"/>
              </a:rPr>
              <a:t>Declarative job addition</a:t>
            </a:r>
            <a:endParaRPr sz="2000">
              <a:latin typeface="Arial"/>
              <a:ea typeface="Arial"/>
              <a:cs typeface="Arial"/>
              <a:sym typeface="Arial"/>
            </a:endParaRPr>
          </a:p>
          <a:p>
            <a:pPr marL="0" lvl="0" indent="0" algn="l" rtl="0">
              <a:lnSpc>
                <a:spcPct val="100000"/>
              </a:lnSpc>
              <a:spcBef>
                <a:spcPts val="300"/>
              </a:spcBef>
              <a:spcAft>
                <a:spcPts val="0"/>
              </a:spcAft>
              <a:buNone/>
            </a:pPr>
            <a:endParaRPr sz="1600">
              <a:latin typeface="Arial"/>
              <a:ea typeface="Arial"/>
              <a:cs typeface="Arial"/>
              <a:sym typeface="Arial"/>
            </a:endParaRPr>
          </a:p>
        </p:txBody>
      </p:sp>
      <p:sp>
        <p:nvSpPr>
          <p:cNvPr id="346" name="Google Shape;346;g3f95de07730_1_231"/>
          <p:cNvSpPr txBox="1"/>
          <p:nvPr/>
        </p:nvSpPr>
        <p:spPr>
          <a:xfrm>
            <a:off x="9742291" y="4116859"/>
            <a:ext cx="2399100" cy="933900"/>
          </a:xfrm>
          <a:prstGeom prst="rect">
            <a:avLst/>
          </a:prstGeom>
          <a:noFill/>
          <a:ln>
            <a:noFill/>
          </a:ln>
        </p:spPr>
        <p:txBody>
          <a:bodyPr spcFirstLastPara="1" wrap="square" lIns="0" tIns="10225" rIns="0" bIns="0" anchor="t" anchorCtr="0">
            <a:spAutoFit/>
          </a:bodyPr>
          <a:lstStyle/>
          <a:p>
            <a:pPr marL="12700" lvl="0" indent="0" algn="l" rtl="0">
              <a:lnSpc>
                <a:spcPct val="100000"/>
              </a:lnSpc>
              <a:spcBef>
                <a:spcPts val="0"/>
              </a:spcBef>
              <a:spcAft>
                <a:spcPts val="0"/>
              </a:spcAft>
              <a:buNone/>
            </a:pPr>
            <a:r>
              <a:rPr lang="en-US" sz="2000" b="1">
                <a:solidFill>
                  <a:srgbClr val="0F4F75"/>
                </a:solidFill>
              </a:rPr>
              <a:t>Simple dependency definition</a:t>
            </a:r>
            <a:endParaRPr sz="2000" b="1">
              <a:solidFill>
                <a:srgbClr val="0F4F75"/>
              </a:solidFill>
            </a:endParaRPr>
          </a:p>
          <a:p>
            <a:pPr marL="0" lvl="0" indent="0" algn="l" rtl="0">
              <a:lnSpc>
                <a:spcPct val="100000"/>
              </a:lnSpc>
              <a:spcBef>
                <a:spcPts val="0"/>
              </a:spcBef>
              <a:spcAft>
                <a:spcPts val="0"/>
              </a:spcAft>
              <a:buNone/>
            </a:pPr>
            <a:endParaRPr sz="2000" b="1">
              <a:solidFill>
                <a:srgbClr val="0F4F75"/>
              </a:solidFill>
            </a:endParaRPr>
          </a:p>
        </p:txBody>
      </p:sp>
      <p:sp>
        <p:nvSpPr>
          <p:cNvPr id="347" name="Google Shape;347;g3f95de07730_1_231"/>
          <p:cNvSpPr txBox="1"/>
          <p:nvPr/>
        </p:nvSpPr>
        <p:spPr>
          <a:xfrm>
            <a:off x="8883073" y="5670089"/>
            <a:ext cx="2918100" cy="625800"/>
          </a:xfrm>
          <a:prstGeom prst="rect">
            <a:avLst/>
          </a:prstGeom>
          <a:noFill/>
          <a:ln>
            <a:noFill/>
          </a:ln>
        </p:spPr>
        <p:txBody>
          <a:bodyPr spcFirstLastPara="1" wrap="square" lIns="0" tIns="6675" rIns="0" bIns="0" anchor="t" anchorCtr="0">
            <a:spAutoFit/>
          </a:bodyPr>
          <a:lstStyle/>
          <a:p>
            <a:pPr marL="12700" marR="0" lvl="0" indent="0" algn="l" rtl="0">
              <a:lnSpc>
                <a:spcPct val="101099"/>
              </a:lnSpc>
              <a:spcBef>
                <a:spcPts val="0"/>
              </a:spcBef>
              <a:spcAft>
                <a:spcPts val="0"/>
              </a:spcAft>
              <a:buNone/>
            </a:pPr>
            <a:r>
              <a:rPr lang="en-US" sz="2000" b="1">
                <a:solidFill>
                  <a:srgbClr val="0F4F75"/>
                </a:solidFill>
                <a:latin typeface="Arial"/>
                <a:ea typeface="Arial"/>
                <a:cs typeface="Arial"/>
                <a:sym typeface="Arial"/>
              </a:rPr>
              <a:t>Generates the abstract workflow (DAG</a:t>
            </a:r>
            <a:r>
              <a:rPr lang="en-US" sz="2000" b="1">
                <a:solidFill>
                  <a:srgbClr val="0F4F75"/>
                </a:solidFill>
              </a:rPr>
              <a:t>)</a:t>
            </a:r>
            <a:endParaRPr sz="2000">
              <a:latin typeface="Arial"/>
              <a:ea typeface="Arial"/>
              <a:cs typeface="Arial"/>
              <a:sym typeface="Arial"/>
            </a:endParaRPr>
          </a:p>
        </p:txBody>
      </p:sp>
      <p:sp>
        <p:nvSpPr>
          <p:cNvPr id="348" name="Google Shape;348;g3f95de07730_1_231"/>
          <p:cNvSpPr txBox="1"/>
          <p:nvPr/>
        </p:nvSpPr>
        <p:spPr>
          <a:xfrm>
            <a:off x="542477" y="990387"/>
            <a:ext cx="7296300" cy="5439600"/>
          </a:xfrm>
          <a:prstGeom prst="rect">
            <a:avLst/>
          </a:prstGeom>
          <a:noFill/>
          <a:ln>
            <a:noFill/>
          </a:ln>
        </p:spPr>
        <p:txBody>
          <a:bodyPr spcFirstLastPara="1" wrap="square" lIns="63975" tIns="63975" rIns="63975" bIns="63975" anchor="t" anchorCtr="0">
            <a:spAutoFit/>
          </a:bodyPr>
          <a:lstStyle/>
          <a:p>
            <a:pPr marL="0" lvl="0" indent="0" algn="l" rtl="0">
              <a:spcBef>
                <a:spcPts val="0"/>
              </a:spcBef>
              <a:spcAft>
                <a:spcPts val="0"/>
              </a:spcAft>
              <a:buNone/>
            </a:pPr>
            <a:r>
              <a:rPr lang="en-US" sz="1500" b="1">
                <a:solidFill>
                  <a:srgbClr val="444444"/>
                </a:solidFill>
                <a:latin typeface="Courier New"/>
                <a:ea typeface="Courier New"/>
                <a:cs typeface="Courier New"/>
                <a:sym typeface="Courier New"/>
              </a:rPr>
              <a:t>from</a:t>
            </a:r>
            <a:r>
              <a:rPr lang="en-US" sz="1500">
                <a:solidFill>
                  <a:srgbClr val="444444"/>
                </a:solidFill>
                <a:latin typeface="Courier New"/>
                <a:ea typeface="Courier New"/>
                <a:cs typeface="Courier New"/>
                <a:sym typeface="Courier New"/>
              </a:rPr>
              <a:t> Pegasus.api </a:t>
            </a:r>
            <a:r>
              <a:rPr lang="en-US" sz="1500" b="1">
                <a:solidFill>
                  <a:srgbClr val="444444"/>
                </a:solidFill>
                <a:latin typeface="Courier New"/>
                <a:ea typeface="Courier New"/>
                <a:cs typeface="Courier New"/>
                <a:sym typeface="Courier New"/>
              </a:rPr>
              <a:t>import</a:t>
            </a:r>
            <a:r>
              <a:rPr lang="en-US" sz="1500">
                <a:solidFill>
                  <a:srgbClr val="444444"/>
                </a:solidFill>
                <a:latin typeface="Courier New"/>
                <a:ea typeface="Courier New"/>
                <a:cs typeface="Courier New"/>
                <a:sym typeface="Courier New"/>
              </a:rPr>
              <a:t> *</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697070"/>
                </a:solidFill>
                <a:latin typeface="Courier New"/>
                <a:ea typeface="Courier New"/>
                <a:cs typeface="Courier New"/>
                <a:sym typeface="Courier New"/>
              </a:rPr>
              <a:t># Create abstract workflow</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wf = Workflow(</a:t>
            </a:r>
            <a:r>
              <a:rPr lang="en-US" sz="1500">
                <a:solidFill>
                  <a:srgbClr val="880000"/>
                </a:solidFill>
                <a:latin typeface="Courier New"/>
                <a:ea typeface="Courier New"/>
                <a:cs typeface="Courier New"/>
                <a:sym typeface="Courier New"/>
              </a:rPr>
              <a:t>"pipeline"</a:t>
            </a:r>
            <a:r>
              <a:rPr lang="en-US" sz="1500">
                <a:solidFill>
                  <a:srgbClr val="444444"/>
                </a:solidFill>
                <a:latin typeface="Courier New"/>
                <a:ea typeface="Courier New"/>
                <a:cs typeface="Courier New"/>
                <a:sym typeface="Courier New"/>
              </a:rPr>
              <a:t>)</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697070"/>
                </a:solidFill>
                <a:latin typeface="Courier New"/>
                <a:ea typeface="Courier New"/>
                <a:cs typeface="Courier New"/>
                <a:sym typeface="Courier New"/>
              </a:rPr>
              <a:t># Track the data</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page = File(</a:t>
            </a:r>
            <a:r>
              <a:rPr lang="en-US" sz="1500">
                <a:solidFill>
                  <a:srgbClr val="880000"/>
                </a:solidFill>
                <a:latin typeface="Courier New"/>
                <a:ea typeface="Courier New"/>
                <a:cs typeface="Courier New"/>
                <a:sym typeface="Courier New"/>
              </a:rPr>
              <a:t>"page.html"</a:t>
            </a:r>
            <a:r>
              <a:rPr lang="en-US" sz="1500">
                <a:solidFill>
                  <a:srgbClr val="444444"/>
                </a:solidFill>
                <a:latin typeface="Courier New"/>
                <a:ea typeface="Courier New"/>
                <a:cs typeface="Courier New"/>
                <a:sym typeface="Courier New"/>
              </a:rPr>
              <a:t>)</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697070"/>
                </a:solidFill>
                <a:latin typeface="Courier New"/>
                <a:ea typeface="Courier New"/>
                <a:cs typeface="Courier New"/>
                <a:sym typeface="Courier New"/>
              </a:rPr>
              <a:t># Create a Job</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curl_job = Job(</a:t>
            </a:r>
            <a:r>
              <a:rPr lang="en-US" sz="1500">
                <a:solidFill>
                  <a:srgbClr val="880000"/>
                </a:solidFill>
                <a:latin typeface="Courier New"/>
                <a:ea typeface="Courier New"/>
                <a:cs typeface="Courier New"/>
                <a:sym typeface="Courier New"/>
              </a:rPr>
              <a:t>"curl"</a:t>
            </a:r>
            <a:r>
              <a:rPr lang="en-US" sz="1500">
                <a:solidFill>
                  <a:srgbClr val="444444"/>
                </a:solidFill>
                <a:latin typeface="Courier New"/>
                <a:ea typeface="Courier New"/>
                <a:cs typeface="Courier New"/>
                <a:sym typeface="Courier New"/>
              </a:rPr>
              <a:t>)\</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           .add_args(</a:t>
            </a:r>
            <a:r>
              <a:rPr lang="en-US" sz="1500">
                <a:solidFill>
                  <a:srgbClr val="880000"/>
                </a:solidFill>
                <a:latin typeface="Courier New"/>
                <a:ea typeface="Courier New"/>
                <a:cs typeface="Courier New"/>
                <a:sym typeface="Courier New"/>
              </a:rPr>
              <a:t>"-o"</a:t>
            </a:r>
            <a:r>
              <a:rPr lang="en-US" sz="1500">
                <a:solidFill>
                  <a:srgbClr val="444444"/>
                </a:solidFill>
                <a:latin typeface="Courier New"/>
                <a:ea typeface="Courier New"/>
                <a:cs typeface="Courier New"/>
                <a:sym typeface="Courier New"/>
              </a:rPr>
              <a:t>, page, </a:t>
            </a:r>
            <a:r>
              <a:rPr lang="en-US" sz="1500">
                <a:solidFill>
                  <a:srgbClr val="880000"/>
                </a:solidFill>
                <a:latin typeface="Courier New"/>
                <a:ea typeface="Courier New"/>
                <a:cs typeface="Courier New"/>
                <a:sym typeface="Courier New"/>
              </a:rPr>
              <a:t>"https://pegasus.isi.edu"</a:t>
            </a:r>
            <a:r>
              <a:rPr lang="en-US" sz="1500">
                <a:solidFill>
                  <a:srgbClr val="444444"/>
                </a:solidFill>
                <a:latin typeface="Courier New"/>
                <a:ea typeface="Courier New"/>
                <a:cs typeface="Courier New"/>
                <a:sym typeface="Courier New"/>
              </a:rPr>
              <a:t>)\</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           .add_outputs(page)</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697070"/>
                </a:solidFill>
                <a:latin typeface="Courier New"/>
                <a:ea typeface="Courier New"/>
                <a:cs typeface="Courier New"/>
                <a:sym typeface="Courier New"/>
              </a:rPr>
              <a:t># Create a Dependent Job</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wc_job = Job(</a:t>
            </a:r>
            <a:r>
              <a:rPr lang="en-US" sz="1500">
                <a:solidFill>
                  <a:srgbClr val="880000"/>
                </a:solidFill>
                <a:latin typeface="Courier New"/>
                <a:ea typeface="Courier New"/>
                <a:cs typeface="Courier New"/>
                <a:sym typeface="Courier New"/>
              </a:rPr>
              <a:t>"wc"</a:t>
            </a:r>
            <a:r>
              <a:rPr lang="en-US" sz="1500">
                <a:solidFill>
                  <a:srgbClr val="444444"/>
                </a:solidFill>
                <a:latin typeface="Courier New"/>
                <a:ea typeface="Courier New"/>
                <a:cs typeface="Courier New"/>
                <a:sym typeface="Courier New"/>
              </a:rPr>
              <a:t>)\</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         .add_args(</a:t>
            </a:r>
            <a:r>
              <a:rPr lang="en-US" sz="1500">
                <a:solidFill>
                  <a:srgbClr val="880000"/>
                </a:solidFill>
                <a:latin typeface="Courier New"/>
                <a:ea typeface="Courier New"/>
                <a:cs typeface="Courier New"/>
                <a:sym typeface="Courier New"/>
              </a:rPr>
              <a:t>"-l"</a:t>
            </a:r>
            <a:r>
              <a:rPr lang="en-US" sz="1500">
                <a:solidFill>
                  <a:srgbClr val="444444"/>
                </a:solidFill>
                <a:latin typeface="Courier New"/>
                <a:ea typeface="Courier New"/>
                <a:cs typeface="Courier New"/>
                <a:sym typeface="Courier New"/>
              </a:rPr>
              <a:t>, page)\</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         .add_inputs(page)</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697070"/>
                </a:solidFill>
                <a:latin typeface="Courier New"/>
                <a:ea typeface="Courier New"/>
                <a:cs typeface="Courier New"/>
                <a:sym typeface="Courier New"/>
              </a:rPr>
              <a:t># Add jobs and dependencies</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wf.add_jobs(curl_job, wc_job)</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wf.add_dependency(wc_job, parents=[curl_job])</a:t>
            </a: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endParaRPr sz="1500">
              <a:solidFill>
                <a:srgbClr val="444444"/>
              </a:solidFill>
              <a:latin typeface="Courier New"/>
              <a:ea typeface="Courier New"/>
              <a:cs typeface="Courier New"/>
              <a:sym typeface="Courier New"/>
            </a:endParaRPr>
          </a:p>
          <a:p>
            <a:pPr marL="0" lvl="0" indent="0" algn="l" rtl="0">
              <a:spcBef>
                <a:spcPts val="0"/>
              </a:spcBef>
              <a:spcAft>
                <a:spcPts val="0"/>
              </a:spcAft>
              <a:buNone/>
            </a:pPr>
            <a:r>
              <a:rPr lang="en-US" sz="1500">
                <a:solidFill>
                  <a:srgbClr val="444444"/>
                </a:solidFill>
                <a:latin typeface="Courier New"/>
                <a:ea typeface="Courier New"/>
                <a:cs typeface="Courier New"/>
                <a:sym typeface="Courier New"/>
              </a:rPr>
              <a:t>wf.write(</a:t>
            </a:r>
            <a:r>
              <a:rPr lang="en-US" sz="1500">
                <a:solidFill>
                  <a:srgbClr val="880000"/>
                </a:solidFill>
                <a:latin typeface="Courier New"/>
                <a:ea typeface="Courier New"/>
                <a:cs typeface="Courier New"/>
                <a:sym typeface="Courier New"/>
              </a:rPr>
              <a:t>"pipeline.yml"</a:t>
            </a:r>
            <a:r>
              <a:rPr lang="en-US" sz="1500">
                <a:solidFill>
                  <a:srgbClr val="444444"/>
                </a:solidFill>
                <a:latin typeface="Courier New"/>
                <a:ea typeface="Courier New"/>
                <a:cs typeface="Courier New"/>
                <a:sym typeface="Courier New"/>
              </a:rPr>
              <a:t>)</a:t>
            </a:r>
            <a:endParaRPr sz="1500">
              <a:latin typeface="Courier New"/>
              <a:ea typeface="Courier New"/>
              <a:cs typeface="Courier New"/>
              <a:sym typeface="Courier New"/>
            </a:endParaRPr>
          </a:p>
        </p:txBody>
      </p:sp>
      <p:cxnSp>
        <p:nvCxnSpPr>
          <p:cNvPr id="349" name="Google Shape;349;g3f95de07730_1_231"/>
          <p:cNvCxnSpPr/>
          <p:nvPr/>
        </p:nvCxnSpPr>
        <p:spPr>
          <a:xfrm flipH="1">
            <a:off x="5774616" y="4547594"/>
            <a:ext cx="3664500" cy="1086000"/>
          </a:xfrm>
          <a:prstGeom prst="straightConnector1">
            <a:avLst/>
          </a:prstGeom>
          <a:noFill/>
          <a:ln w="53300" cap="flat" cmpd="sng">
            <a:solidFill>
              <a:schemeClr val="accent5"/>
            </a:solidFill>
            <a:prstDash val="solid"/>
            <a:round/>
            <a:headEnd type="none" w="med" len="med"/>
            <a:tailEnd type="triangle" w="med" len="med"/>
          </a:ln>
        </p:spPr>
      </p:cxnSp>
      <p:cxnSp>
        <p:nvCxnSpPr>
          <p:cNvPr id="350" name="Google Shape;350;g3f95de07730_1_231"/>
          <p:cNvCxnSpPr/>
          <p:nvPr/>
        </p:nvCxnSpPr>
        <p:spPr>
          <a:xfrm flipH="1">
            <a:off x="5102826" y="3722466"/>
            <a:ext cx="4198500" cy="1011900"/>
          </a:xfrm>
          <a:prstGeom prst="straightConnector1">
            <a:avLst/>
          </a:prstGeom>
          <a:noFill/>
          <a:ln w="53300" cap="flat" cmpd="sng">
            <a:solidFill>
              <a:schemeClr val="accent5"/>
            </a:solidFill>
            <a:prstDash val="solid"/>
            <a:round/>
            <a:headEnd type="none" w="med" len="med"/>
            <a:tailEnd type="triangle" w="med" len="med"/>
          </a:ln>
        </p:spPr>
      </p:cxnSp>
      <p:cxnSp>
        <p:nvCxnSpPr>
          <p:cNvPr id="351" name="Google Shape;351;g3f95de07730_1_231"/>
          <p:cNvCxnSpPr/>
          <p:nvPr/>
        </p:nvCxnSpPr>
        <p:spPr>
          <a:xfrm flipH="1">
            <a:off x="3553776" y="6063917"/>
            <a:ext cx="5166300" cy="79200"/>
          </a:xfrm>
          <a:prstGeom prst="straightConnector1">
            <a:avLst/>
          </a:prstGeom>
          <a:noFill/>
          <a:ln w="53300" cap="flat" cmpd="sng">
            <a:solidFill>
              <a:schemeClr val="accent5"/>
            </a:solidFill>
            <a:prstDash val="solid"/>
            <a:round/>
            <a:headEnd type="none" w="med" len="med"/>
            <a:tailEnd type="triangle" w="med" len="med"/>
          </a:ln>
        </p:spPr>
      </p:cxnSp>
      <p:sp>
        <p:nvSpPr>
          <p:cNvPr id="352" name="Google Shape;352;g3f95de07730_1_231"/>
          <p:cNvSpPr txBox="1">
            <a:spLocks noGrp="1"/>
          </p:cNvSpPr>
          <p:nvPr>
            <p:ph type="sldNum" idx="12"/>
          </p:nvPr>
        </p:nvSpPr>
        <p:spPr>
          <a:xfrm>
            <a:off x="6457950" y="4767263"/>
            <a:ext cx="20577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g3f5c399fe94_0_0"/>
          <p:cNvSpPr/>
          <p:nvPr/>
        </p:nvSpPr>
        <p:spPr>
          <a:xfrm>
            <a:off x="647699" y="365024"/>
            <a:ext cx="4119600" cy="400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1A5B6E"/>
                </a:solidFill>
                <a:latin typeface="Roboto"/>
                <a:ea typeface="Roboto"/>
                <a:cs typeface="Roboto"/>
                <a:sym typeface="Roboto"/>
              </a:rPr>
              <a:t>Input Workflow Specification</a:t>
            </a:r>
            <a:endParaRPr sz="2400" b="1" i="0" u="none" strike="noStrike" cap="none">
              <a:solidFill>
                <a:srgbClr val="1A5B6E"/>
              </a:solidFill>
              <a:latin typeface="Roboto"/>
              <a:ea typeface="Roboto"/>
              <a:cs typeface="Roboto"/>
              <a:sym typeface="Roboto"/>
            </a:endParaRPr>
          </a:p>
        </p:txBody>
      </p:sp>
      <p:sp>
        <p:nvSpPr>
          <p:cNvPr id="370" name="Google Shape;370;g3f5c399fe94_0_0"/>
          <p:cNvSpPr/>
          <p:nvPr/>
        </p:nvSpPr>
        <p:spPr>
          <a:xfrm>
            <a:off x="9053391" y="365027"/>
            <a:ext cx="2642700" cy="4005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2000"/>
              <a:buFont typeface="Arial"/>
              <a:buNone/>
            </a:pPr>
            <a:r>
              <a:rPr lang="en-US" sz="2000" b="1" i="0" u="none" strike="noStrike" cap="none">
                <a:solidFill>
                  <a:srgbClr val="1A5B6E"/>
                </a:solidFill>
                <a:latin typeface="Roboto"/>
                <a:ea typeface="Roboto"/>
                <a:cs typeface="Roboto"/>
                <a:sym typeface="Roboto"/>
              </a:rPr>
              <a:t>Output Workflow</a:t>
            </a:r>
            <a:endParaRPr sz="1500" b="0" i="0" u="none" strike="noStrike" cap="none">
              <a:solidFill>
                <a:srgbClr val="1A5B6E"/>
              </a:solidFill>
              <a:latin typeface="Arial"/>
              <a:ea typeface="Arial"/>
              <a:cs typeface="Arial"/>
              <a:sym typeface="Arial"/>
            </a:endParaRPr>
          </a:p>
        </p:txBody>
      </p:sp>
      <p:grpSp>
        <p:nvGrpSpPr>
          <p:cNvPr id="371" name="Google Shape;371;g3f5c399fe94_0_0"/>
          <p:cNvGrpSpPr/>
          <p:nvPr/>
        </p:nvGrpSpPr>
        <p:grpSpPr>
          <a:xfrm>
            <a:off x="1207601" y="2473958"/>
            <a:ext cx="2733261" cy="3276301"/>
            <a:chOff x="928409" y="2383826"/>
            <a:chExt cx="2733261" cy="3276301"/>
          </a:xfrm>
        </p:grpSpPr>
        <p:cxnSp>
          <p:nvCxnSpPr>
            <p:cNvPr id="372" name="Google Shape;372;g3f5c399fe94_0_0"/>
            <p:cNvCxnSpPr>
              <a:stCxn id="373" idx="3"/>
              <a:endCxn id="374" idx="0"/>
            </p:cNvCxnSpPr>
            <p:nvPr/>
          </p:nvCxnSpPr>
          <p:spPr>
            <a:xfrm flipH="1">
              <a:off x="1118920" y="2709030"/>
              <a:ext cx="10485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75" name="Google Shape;375;g3f5c399fe94_0_0"/>
            <p:cNvCxnSpPr>
              <a:stCxn id="373" idx="3"/>
              <a:endCxn id="376" idx="0"/>
            </p:cNvCxnSpPr>
            <p:nvPr/>
          </p:nvCxnSpPr>
          <p:spPr>
            <a:xfrm flipH="1">
              <a:off x="1903120" y="2709030"/>
              <a:ext cx="2643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77" name="Google Shape;377;g3f5c399fe94_0_0"/>
            <p:cNvCxnSpPr>
              <a:stCxn id="373" idx="5"/>
              <a:endCxn id="378" idx="0"/>
            </p:cNvCxnSpPr>
            <p:nvPr/>
          </p:nvCxnSpPr>
          <p:spPr>
            <a:xfrm>
              <a:off x="2436828" y="2709030"/>
              <a:ext cx="2502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79" name="Google Shape;379;g3f5c399fe94_0_0"/>
            <p:cNvCxnSpPr>
              <a:stCxn id="373" idx="5"/>
              <a:endCxn id="380" idx="0"/>
            </p:cNvCxnSpPr>
            <p:nvPr/>
          </p:nvCxnSpPr>
          <p:spPr>
            <a:xfrm>
              <a:off x="2436828" y="2709030"/>
              <a:ext cx="1034400" cy="7110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1" name="Google Shape;381;g3f5c399fe94_0_0"/>
            <p:cNvCxnSpPr>
              <a:stCxn id="376" idx="4"/>
              <a:endCxn id="382" idx="1"/>
            </p:cNvCxnSpPr>
            <p:nvPr/>
          </p:nvCxnSpPr>
          <p:spPr>
            <a:xfrm>
              <a:off x="1902996" y="3801096"/>
              <a:ext cx="2643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3" name="Google Shape;383;g3f5c399fe94_0_0"/>
            <p:cNvCxnSpPr>
              <a:stCxn id="374" idx="4"/>
              <a:endCxn id="382" idx="1"/>
            </p:cNvCxnSpPr>
            <p:nvPr/>
          </p:nvCxnSpPr>
          <p:spPr>
            <a:xfrm>
              <a:off x="1118909" y="3801096"/>
              <a:ext cx="10485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4" name="Google Shape;384;g3f5c399fe94_0_0"/>
            <p:cNvCxnSpPr>
              <a:stCxn id="378" idx="4"/>
              <a:endCxn id="382" idx="7"/>
            </p:cNvCxnSpPr>
            <p:nvPr/>
          </p:nvCxnSpPr>
          <p:spPr>
            <a:xfrm flipH="1">
              <a:off x="2436883" y="3801096"/>
              <a:ext cx="2502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5" name="Google Shape;385;g3f5c399fe94_0_0"/>
            <p:cNvCxnSpPr>
              <a:stCxn id="380" idx="4"/>
              <a:endCxn id="382" idx="7"/>
            </p:cNvCxnSpPr>
            <p:nvPr/>
          </p:nvCxnSpPr>
          <p:spPr>
            <a:xfrm flipH="1">
              <a:off x="2436770" y="3801096"/>
              <a:ext cx="1034400" cy="725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386" name="Google Shape;386;g3f5c399fe94_0_0"/>
            <p:cNvCxnSpPr>
              <a:stCxn id="382" idx="4"/>
              <a:endCxn id="387" idx="0"/>
            </p:cNvCxnSpPr>
            <p:nvPr/>
          </p:nvCxnSpPr>
          <p:spPr>
            <a:xfrm>
              <a:off x="2302124" y="4851579"/>
              <a:ext cx="0" cy="427500"/>
            </a:xfrm>
            <a:prstGeom prst="straightConnector1">
              <a:avLst/>
            </a:prstGeom>
            <a:noFill/>
            <a:ln w="19075" cap="flat" cmpd="sng">
              <a:solidFill>
                <a:srgbClr val="2D75B6">
                  <a:alpha val="80000"/>
                </a:srgbClr>
              </a:solidFill>
              <a:prstDash val="solid"/>
              <a:miter lim="800000"/>
              <a:headEnd type="none" w="sm" len="sm"/>
              <a:tailEnd type="stealth" w="med" len="med"/>
            </a:ln>
          </p:spPr>
        </p:cxnSp>
        <p:sp>
          <p:nvSpPr>
            <p:cNvPr id="388" name="Google Shape;388;g3f5c399fe94_0_0"/>
            <p:cNvSpPr/>
            <p:nvPr/>
          </p:nvSpPr>
          <p:spPr>
            <a:xfrm>
              <a:off x="2148308" y="2419547"/>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9" name="Google Shape;389;g3f5c399fe94_0_0"/>
            <p:cNvSpPr/>
            <p:nvPr/>
          </p:nvSpPr>
          <p:spPr>
            <a:xfrm>
              <a:off x="965092"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0" name="Google Shape;390;g3f5c399fe94_0_0"/>
            <p:cNvSpPr/>
            <p:nvPr/>
          </p:nvSpPr>
          <p:spPr>
            <a:xfrm>
              <a:off x="1749179"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1" name="Google Shape;391;g3f5c399fe94_0_0"/>
            <p:cNvSpPr/>
            <p:nvPr/>
          </p:nvSpPr>
          <p:spPr>
            <a:xfrm>
              <a:off x="2533266"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2" name="Google Shape;392;g3f5c399fe94_0_0"/>
            <p:cNvSpPr/>
            <p:nvPr/>
          </p:nvSpPr>
          <p:spPr>
            <a:xfrm>
              <a:off x="3317353" y="3456780"/>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3" name="Google Shape;393;g3f5c399fe94_0_0"/>
            <p:cNvSpPr/>
            <p:nvPr/>
          </p:nvSpPr>
          <p:spPr>
            <a:xfrm>
              <a:off x="2148308" y="4507262"/>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4" name="Google Shape;394;g3f5c399fe94_0_0"/>
            <p:cNvSpPr/>
            <p:nvPr/>
          </p:nvSpPr>
          <p:spPr>
            <a:xfrm>
              <a:off x="2148308" y="5315811"/>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3" name="Google Shape;373;g3f5c399fe94_0_0"/>
            <p:cNvSpPr/>
            <p:nvPr/>
          </p:nvSpPr>
          <p:spPr>
            <a:xfrm>
              <a:off x="2111624" y="238382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4" name="Google Shape;374;g3f5c399fe94_0_0"/>
            <p:cNvSpPr/>
            <p:nvPr/>
          </p:nvSpPr>
          <p:spPr>
            <a:xfrm>
              <a:off x="928409"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6" name="Google Shape;376;g3f5c399fe94_0_0"/>
            <p:cNvSpPr/>
            <p:nvPr/>
          </p:nvSpPr>
          <p:spPr>
            <a:xfrm>
              <a:off x="1712496"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78" name="Google Shape;378;g3f5c399fe94_0_0"/>
            <p:cNvSpPr/>
            <p:nvPr/>
          </p:nvSpPr>
          <p:spPr>
            <a:xfrm>
              <a:off x="2496583"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0" name="Google Shape;380;g3f5c399fe94_0_0"/>
            <p:cNvSpPr/>
            <p:nvPr/>
          </p:nvSpPr>
          <p:spPr>
            <a:xfrm>
              <a:off x="3280670" y="3420096"/>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2" name="Google Shape;382;g3f5c399fe94_0_0"/>
            <p:cNvSpPr/>
            <p:nvPr/>
          </p:nvSpPr>
          <p:spPr>
            <a:xfrm>
              <a:off x="2111624" y="4470579"/>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87" name="Google Shape;387;g3f5c399fe94_0_0"/>
            <p:cNvSpPr/>
            <p:nvPr/>
          </p:nvSpPr>
          <p:spPr>
            <a:xfrm>
              <a:off x="2111624" y="5279127"/>
              <a:ext cx="381000" cy="3810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grpSp>
      <p:sp>
        <p:nvSpPr>
          <p:cNvPr id="395" name="Google Shape;395;g3f5c399fe94_0_0"/>
          <p:cNvSpPr/>
          <p:nvPr/>
        </p:nvSpPr>
        <p:spPr>
          <a:xfrm>
            <a:off x="647700" y="999673"/>
            <a:ext cx="4343700" cy="3501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900"/>
              <a:buFont typeface="Arial"/>
              <a:buNone/>
            </a:pPr>
            <a:r>
              <a:rPr lang="en-US" sz="1900" b="1" i="0" u="none" strike="noStrike" cap="none">
                <a:solidFill>
                  <a:srgbClr val="74CA21"/>
                </a:solidFill>
                <a:latin typeface="Roboto"/>
                <a:ea typeface="Roboto"/>
                <a:cs typeface="Roboto"/>
                <a:sym typeface="Roboto"/>
              </a:rPr>
              <a:t>Portable Description</a:t>
            </a:r>
            <a:endParaRPr sz="1500" b="0" i="0" u="none" strike="noStrike" cap="none">
              <a:solidFill>
                <a:srgbClr val="000000"/>
              </a:solidFill>
              <a:latin typeface="Arial"/>
              <a:ea typeface="Arial"/>
              <a:cs typeface="Arial"/>
              <a:sym typeface="Arial"/>
            </a:endParaRPr>
          </a:p>
        </p:txBody>
      </p:sp>
      <p:sp>
        <p:nvSpPr>
          <p:cNvPr id="396" name="Google Shape;396;g3f5c399fe94_0_0"/>
          <p:cNvSpPr/>
          <p:nvPr/>
        </p:nvSpPr>
        <p:spPr>
          <a:xfrm>
            <a:off x="647700" y="1293531"/>
            <a:ext cx="4343700" cy="2880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7F7F7F"/>
                </a:solidFill>
                <a:latin typeface="Roboto"/>
                <a:ea typeface="Roboto"/>
                <a:cs typeface="Roboto"/>
                <a:sym typeface="Roboto"/>
              </a:rPr>
              <a:t>Users do not worry about low level execution details</a:t>
            </a:r>
            <a:endParaRPr sz="1500" b="0" i="0" u="none" strike="noStrike" cap="none">
              <a:solidFill>
                <a:srgbClr val="000000"/>
              </a:solidFill>
              <a:latin typeface="Arial"/>
              <a:ea typeface="Arial"/>
              <a:cs typeface="Arial"/>
              <a:sym typeface="Arial"/>
            </a:endParaRPr>
          </a:p>
        </p:txBody>
      </p:sp>
      <p:grpSp>
        <p:nvGrpSpPr>
          <p:cNvPr id="397" name="Google Shape;397;g3f5c399fe94_0_0"/>
          <p:cNvGrpSpPr/>
          <p:nvPr/>
        </p:nvGrpSpPr>
        <p:grpSpPr>
          <a:xfrm>
            <a:off x="1650480" y="3145605"/>
            <a:ext cx="225002" cy="225002"/>
            <a:chOff x="1360030" y="3045613"/>
            <a:chExt cx="247500" cy="247500"/>
          </a:xfrm>
        </p:grpSpPr>
        <p:sp>
          <p:nvSpPr>
            <p:cNvPr id="398" name="Google Shape;398;g3f5c399fe94_0_0"/>
            <p:cNvSpPr/>
            <p:nvPr/>
          </p:nvSpPr>
          <p:spPr>
            <a:xfrm>
              <a:off x="1360030" y="304561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399" name="Google Shape;399;g3f5c399fe94_0_0"/>
            <p:cNvSpPr/>
            <p:nvPr/>
          </p:nvSpPr>
          <p:spPr>
            <a:xfrm>
              <a:off x="1432295" y="309918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0" name="Google Shape;400;g3f5c399fe94_0_0"/>
          <p:cNvGrpSpPr/>
          <p:nvPr/>
        </p:nvGrpSpPr>
        <p:grpSpPr>
          <a:xfrm>
            <a:off x="2221525" y="3021922"/>
            <a:ext cx="225002" cy="225002"/>
            <a:chOff x="1931069" y="2921931"/>
            <a:chExt cx="247500" cy="247500"/>
          </a:xfrm>
        </p:grpSpPr>
        <p:sp>
          <p:nvSpPr>
            <p:cNvPr id="401" name="Google Shape;401;g3f5c399fe94_0_0"/>
            <p:cNvSpPr/>
            <p:nvPr/>
          </p:nvSpPr>
          <p:spPr>
            <a:xfrm>
              <a:off x="1931069" y="2921931"/>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02" name="Google Shape;402;g3f5c399fe94_0_0"/>
            <p:cNvSpPr/>
            <p:nvPr/>
          </p:nvSpPr>
          <p:spPr>
            <a:xfrm>
              <a:off x="2003334" y="2975499"/>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3" name="Google Shape;403;g3f5c399fe94_0_0"/>
          <p:cNvGrpSpPr/>
          <p:nvPr/>
        </p:nvGrpSpPr>
        <p:grpSpPr>
          <a:xfrm>
            <a:off x="2703206" y="3021922"/>
            <a:ext cx="225002" cy="225002"/>
            <a:chOff x="2412745" y="2921931"/>
            <a:chExt cx="247500" cy="247500"/>
          </a:xfrm>
        </p:grpSpPr>
        <p:sp>
          <p:nvSpPr>
            <p:cNvPr id="404" name="Google Shape;404;g3f5c399fe94_0_0"/>
            <p:cNvSpPr/>
            <p:nvPr/>
          </p:nvSpPr>
          <p:spPr>
            <a:xfrm>
              <a:off x="2412745" y="2921931"/>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05" name="Google Shape;405;g3f5c399fe94_0_0"/>
            <p:cNvSpPr/>
            <p:nvPr/>
          </p:nvSpPr>
          <p:spPr>
            <a:xfrm>
              <a:off x="2485010" y="2975499"/>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6" name="Google Shape;406;g3f5c399fe94_0_0"/>
          <p:cNvGrpSpPr/>
          <p:nvPr/>
        </p:nvGrpSpPr>
        <p:grpSpPr>
          <a:xfrm>
            <a:off x="3274252" y="3145605"/>
            <a:ext cx="225002" cy="225002"/>
            <a:chOff x="2983784" y="3045613"/>
            <a:chExt cx="247500" cy="247500"/>
          </a:xfrm>
        </p:grpSpPr>
        <p:sp>
          <p:nvSpPr>
            <p:cNvPr id="407" name="Google Shape;407;g3f5c399fe94_0_0"/>
            <p:cNvSpPr/>
            <p:nvPr/>
          </p:nvSpPr>
          <p:spPr>
            <a:xfrm>
              <a:off x="2983784" y="304561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08" name="Google Shape;408;g3f5c399fe94_0_0"/>
            <p:cNvSpPr/>
            <p:nvPr/>
          </p:nvSpPr>
          <p:spPr>
            <a:xfrm>
              <a:off x="3056049" y="309918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09" name="Google Shape;409;g3f5c399fe94_0_0"/>
          <p:cNvGrpSpPr/>
          <p:nvPr/>
        </p:nvGrpSpPr>
        <p:grpSpPr>
          <a:xfrm>
            <a:off x="1599063" y="3975130"/>
            <a:ext cx="225002" cy="225002"/>
            <a:chOff x="1308613" y="3875129"/>
            <a:chExt cx="247500" cy="247500"/>
          </a:xfrm>
        </p:grpSpPr>
        <p:sp>
          <p:nvSpPr>
            <p:cNvPr id="410" name="Google Shape;410;g3f5c399fe94_0_0"/>
            <p:cNvSpPr/>
            <p:nvPr/>
          </p:nvSpPr>
          <p:spPr>
            <a:xfrm>
              <a:off x="1308613" y="3875129"/>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11" name="Google Shape;411;g3f5c399fe94_0_0"/>
            <p:cNvSpPr/>
            <p:nvPr/>
          </p:nvSpPr>
          <p:spPr>
            <a:xfrm>
              <a:off x="1380878" y="3928697"/>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12" name="Google Shape;412;g3f5c399fe94_0_0"/>
          <p:cNvGrpSpPr/>
          <p:nvPr/>
        </p:nvGrpSpPr>
        <p:grpSpPr>
          <a:xfrm>
            <a:off x="2148145" y="4045245"/>
            <a:ext cx="225002" cy="225002"/>
            <a:chOff x="1857689" y="3945243"/>
            <a:chExt cx="247500" cy="247500"/>
          </a:xfrm>
        </p:grpSpPr>
        <p:sp>
          <p:nvSpPr>
            <p:cNvPr id="413" name="Google Shape;413;g3f5c399fe94_0_0"/>
            <p:cNvSpPr/>
            <p:nvPr/>
          </p:nvSpPr>
          <p:spPr>
            <a:xfrm>
              <a:off x="1857689" y="394524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14" name="Google Shape;414;g3f5c399fe94_0_0"/>
            <p:cNvSpPr/>
            <p:nvPr/>
          </p:nvSpPr>
          <p:spPr>
            <a:xfrm>
              <a:off x="1929954" y="399881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15" name="Google Shape;415;g3f5c399fe94_0_0"/>
          <p:cNvGrpSpPr/>
          <p:nvPr/>
        </p:nvGrpSpPr>
        <p:grpSpPr>
          <a:xfrm>
            <a:off x="2775472" y="4045245"/>
            <a:ext cx="225002" cy="225002"/>
            <a:chOff x="2485010" y="3945243"/>
            <a:chExt cx="247500" cy="247500"/>
          </a:xfrm>
        </p:grpSpPr>
        <p:sp>
          <p:nvSpPr>
            <p:cNvPr id="416" name="Google Shape;416;g3f5c399fe94_0_0"/>
            <p:cNvSpPr/>
            <p:nvPr/>
          </p:nvSpPr>
          <p:spPr>
            <a:xfrm>
              <a:off x="2485010" y="3945243"/>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17" name="Google Shape;417;g3f5c399fe94_0_0"/>
            <p:cNvSpPr/>
            <p:nvPr/>
          </p:nvSpPr>
          <p:spPr>
            <a:xfrm>
              <a:off x="2557275" y="3998811"/>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18" name="Google Shape;418;g3f5c399fe94_0_0"/>
          <p:cNvGrpSpPr/>
          <p:nvPr/>
        </p:nvGrpSpPr>
        <p:grpSpPr>
          <a:xfrm>
            <a:off x="3323774" y="3975130"/>
            <a:ext cx="225002" cy="225002"/>
            <a:chOff x="3033306" y="3875129"/>
            <a:chExt cx="247500" cy="247500"/>
          </a:xfrm>
        </p:grpSpPr>
        <p:sp>
          <p:nvSpPr>
            <p:cNvPr id="419" name="Google Shape;419;g3f5c399fe94_0_0"/>
            <p:cNvSpPr/>
            <p:nvPr/>
          </p:nvSpPr>
          <p:spPr>
            <a:xfrm>
              <a:off x="3033306" y="3875129"/>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0" name="Google Shape;420;g3f5c399fe94_0_0"/>
            <p:cNvSpPr/>
            <p:nvPr/>
          </p:nvSpPr>
          <p:spPr>
            <a:xfrm>
              <a:off x="3105571" y="3928697"/>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21" name="Google Shape;421;g3f5c399fe94_0_0"/>
          <p:cNvGrpSpPr/>
          <p:nvPr/>
        </p:nvGrpSpPr>
        <p:grpSpPr>
          <a:xfrm>
            <a:off x="2461808" y="5003951"/>
            <a:ext cx="225002" cy="225002"/>
            <a:chOff x="2171349" y="4903939"/>
            <a:chExt cx="247500" cy="247500"/>
          </a:xfrm>
        </p:grpSpPr>
        <p:sp>
          <p:nvSpPr>
            <p:cNvPr id="422" name="Google Shape;422;g3f5c399fe94_0_0"/>
            <p:cNvSpPr/>
            <p:nvPr/>
          </p:nvSpPr>
          <p:spPr>
            <a:xfrm>
              <a:off x="2171349" y="4903939"/>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3" name="Google Shape;423;g3f5c399fe94_0_0"/>
            <p:cNvSpPr/>
            <p:nvPr/>
          </p:nvSpPr>
          <p:spPr>
            <a:xfrm>
              <a:off x="2243614" y="4957507"/>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24" name="Google Shape;424;g3f5c399fe94_0_0"/>
          <p:cNvGrpSpPr/>
          <p:nvPr/>
        </p:nvGrpSpPr>
        <p:grpSpPr>
          <a:xfrm>
            <a:off x="2461808" y="5808457"/>
            <a:ext cx="225002" cy="225002"/>
            <a:chOff x="2171349" y="5708437"/>
            <a:chExt cx="247500" cy="247500"/>
          </a:xfrm>
        </p:grpSpPr>
        <p:sp>
          <p:nvSpPr>
            <p:cNvPr id="425" name="Google Shape;425;g3f5c399fe94_0_0"/>
            <p:cNvSpPr/>
            <p:nvPr/>
          </p:nvSpPr>
          <p:spPr>
            <a:xfrm>
              <a:off x="2171349" y="5708437"/>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6" name="Google Shape;426;g3f5c399fe94_0_0"/>
            <p:cNvSpPr/>
            <p:nvPr/>
          </p:nvSpPr>
          <p:spPr>
            <a:xfrm>
              <a:off x="2243614" y="5762005"/>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4AB9C4"/>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grpSp>
        <p:nvGrpSpPr>
          <p:cNvPr id="427" name="Google Shape;427;g3f5c399fe94_0_0"/>
          <p:cNvGrpSpPr/>
          <p:nvPr/>
        </p:nvGrpSpPr>
        <p:grpSpPr>
          <a:xfrm>
            <a:off x="2468894" y="2179059"/>
            <a:ext cx="225002" cy="225002"/>
            <a:chOff x="2412745" y="2921931"/>
            <a:chExt cx="247500" cy="247500"/>
          </a:xfrm>
        </p:grpSpPr>
        <p:sp>
          <p:nvSpPr>
            <p:cNvPr id="428" name="Google Shape;428;g3f5c399fe94_0_0"/>
            <p:cNvSpPr/>
            <p:nvPr/>
          </p:nvSpPr>
          <p:spPr>
            <a:xfrm>
              <a:off x="2412745" y="2921931"/>
              <a:ext cx="247500" cy="247500"/>
            </a:xfrm>
            <a:prstGeom prst="ellipse">
              <a:avLst/>
            </a:prstGeom>
            <a:solidFill>
              <a:schemeClr val="lt1"/>
            </a:solidFill>
            <a:ln w="9525" cap="flat" cmpd="sng">
              <a:solidFill>
                <a:srgbClr val="2D75B6">
                  <a:alpha val="80000"/>
                </a:srgb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29" name="Google Shape;429;g3f5c399fe94_0_0"/>
            <p:cNvSpPr/>
            <p:nvPr/>
          </p:nvSpPr>
          <p:spPr>
            <a:xfrm>
              <a:off x="2485010" y="2975499"/>
              <a:ext cx="102834" cy="140229"/>
            </a:xfrm>
            <a:custGeom>
              <a:avLst/>
              <a:gdLst/>
              <a:ahLst/>
              <a:cxnLst/>
              <a:rect l="l" t="t" r="r" b="b"/>
              <a:pathLst>
                <a:path w="529" h="722" extrusionOk="0">
                  <a:moveTo>
                    <a:pt x="348" y="181"/>
                  </a:moveTo>
                  <a:lnTo>
                    <a:pt x="348" y="11"/>
                  </a:lnTo>
                  <a:lnTo>
                    <a:pt x="518" y="181"/>
                  </a:lnTo>
                  <a:lnTo>
                    <a:pt x="348" y="181"/>
                  </a:lnTo>
                  <a:close/>
                  <a:moveTo>
                    <a:pt x="408" y="337"/>
                  </a:moveTo>
                  <a:lnTo>
                    <a:pt x="134" y="337"/>
                  </a:lnTo>
                  <a:lnTo>
                    <a:pt x="130" y="336"/>
                  </a:lnTo>
                  <a:lnTo>
                    <a:pt x="126" y="334"/>
                  </a:lnTo>
                  <a:lnTo>
                    <a:pt x="123" y="329"/>
                  </a:lnTo>
                  <a:lnTo>
                    <a:pt x="122" y="324"/>
                  </a:lnTo>
                  <a:lnTo>
                    <a:pt x="123" y="320"/>
                  </a:lnTo>
                  <a:lnTo>
                    <a:pt x="126" y="316"/>
                  </a:lnTo>
                  <a:lnTo>
                    <a:pt x="130" y="314"/>
                  </a:lnTo>
                  <a:lnTo>
                    <a:pt x="134" y="313"/>
                  </a:lnTo>
                  <a:lnTo>
                    <a:pt x="408" y="313"/>
                  </a:lnTo>
                  <a:lnTo>
                    <a:pt x="413" y="314"/>
                  </a:lnTo>
                  <a:lnTo>
                    <a:pt x="417" y="316"/>
                  </a:lnTo>
                  <a:lnTo>
                    <a:pt x="419" y="320"/>
                  </a:lnTo>
                  <a:lnTo>
                    <a:pt x="420" y="324"/>
                  </a:lnTo>
                  <a:lnTo>
                    <a:pt x="419" y="329"/>
                  </a:lnTo>
                  <a:lnTo>
                    <a:pt x="417" y="334"/>
                  </a:lnTo>
                  <a:lnTo>
                    <a:pt x="413" y="336"/>
                  </a:lnTo>
                  <a:lnTo>
                    <a:pt x="408" y="337"/>
                  </a:lnTo>
                  <a:close/>
                  <a:moveTo>
                    <a:pt x="408" y="434"/>
                  </a:moveTo>
                  <a:lnTo>
                    <a:pt x="134" y="434"/>
                  </a:lnTo>
                  <a:lnTo>
                    <a:pt x="130" y="432"/>
                  </a:lnTo>
                  <a:lnTo>
                    <a:pt x="126" y="429"/>
                  </a:lnTo>
                  <a:lnTo>
                    <a:pt x="123" y="426"/>
                  </a:lnTo>
                  <a:lnTo>
                    <a:pt x="122" y="421"/>
                  </a:lnTo>
                  <a:lnTo>
                    <a:pt x="123" y="417"/>
                  </a:lnTo>
                  <a:lnTo>
                    <a:pt x="126" y="413"/>
                  </a:lnTo>
                  <a:lnTo>
                    <a:pt x="130" y="410"/>
                  </a:lnTo>
                  <a:lnTo>
                    <a:pt x="134" y="409"/>
                  </a:lnTo>
                  <a:lnTo>
                    <a:pt x="408" y="409"/>
                  </a:lnTo>
                  <a:lnTo>
                    <a:pt x="413" y="410"/>
                  </a:lnTo>
                  <a:lnTo>
                    <a:pt x="417" y="413"/>
                  </a:lnTo>
                  <a:lnTo>
                    <a:pt x="419" y="417"/>
                  </a:lnTo>
                  <a:lnTo>
                    <a:pt x="420" y="421"/>
                  </a:lnTo>
                  <a:lnTo>
                    <a:pt x="419" y="426"/>
                  </a:lnTo>
                  <a:lnTo>
                    <a:pt x="417" y="429"/>
                  </a:lnTo>
                  <a:lnTo>
                    <a:pt x="413" y="432"/>
                  </a:lnTo>
                  <a:lnTo>
                    <a:pt x="408" y="434"/>
                  </a:lnTo>
                  <a:close/>
                  <a:moveTo>
                    <a:pt x="408" y="529"/>
                  </a:moveTo>
                  <a:lnTo>
                    <a:pt x="134" y="529"/>
                  </a:lnTo>
                  <a:lnTo>
                    <a:pt x="130" y="528"/>
                  </a:lnTo>
                  <a:lnTo>
                    <a:pt x="126" y="526"/>
                  </a:lnTo>
                  <a:lnTo>
                    <a:pt x="123" y="522"/>
                  </a:lnTo>
                  <a:lnTo>
                    <a:pt x="122" y="517"/>
                  </a:lnTo>
                  <a:lnTo>
                    <a:pt x="123" y="513"/>
                  </a:lnTo>
                  <a:lnTo>
                    <a:pt x="126" y="509"/>
                  </a:lnTo>
                  <a:lnTo>
                    <a:pt x="130" y="507"/>
                  </a:lnTo>
                  <a:lnTo>
                    <a:pt x="134" y="506"/>
                  </a:lnTo>
                  <a:lnTo>
                    <a:pt x="408" y="506"/>
                  </a:lnTo>
                  <a:lnTo>
                    <a:pt x="413" y="507"/>
                  </a:lnTo>
                  <a:lnTo>
                    <a:pt x="417" y="509"/>
                  </a:lnTo>
                  <a:lnTo>
                    <a:pt x="419" y="513"/>
                  </a:lnTo>
                  <a:lnTo>
                    <a:pt x="420" y="517"/>
                  </a:lnTo>
                  <a:lnTo>
                    <a:pt x="419" y="522"/>
                  </a:lnTo>
                  <a:lnTo>
                    <a:pt x="417" y="526"/>
                  </a:lnTo>
                  <a:lnTo>
                    <a:pt x="413" y="528"/>
                  </a:lnTo>
                  <a:lnTo>
                    <a:pt x="408" y="529"/>
                  </a:lnTo>
                  <a:close/>
                  <a:moveTo>
                    <a:pt x="408" y="626"/>
                  </a:moveTo>
                  <a:lnTo>
                    <a:pt x="134" y="626"/>
                  </a:lnTo>
                  <a:lnTo>
                    <a:pt x="130" y="625"/>
                  </a:lnTo>
                  <a:lnTo>
                    <a:pt x="126" y="622"/>
                  </a:lnTo>
                  <a:lnTo>
                    <a:pt x="123" y="619"/>
                  </a:lnTo>
                  <a:lnTo>
                    <a:pt x="122" y="614"/>
                  </a:lnTo>
                  <a:lnTo>
                    <a:pt x="123" y="610"/>
                  </a:lnTo>
                  <a:lnTo>
                    <a:pt x="126" y="606"/>
                  </a:lnTo>
                  <a:lnTo>
                    <a:pt x="130" y="603"/>
                  </a:lnTo>
                  <a:lnTo>
                    <a:pt x="134" y="602"/>
                  </a:lnTo>
                  <a:lnTo>
                    <a:pt x="408" y="602"/>
                  </a:lnTo>
                  <a:lnTo>
                    <a:pt x="413" y="603"/>
                  </a:lnTo>
                  <a:lnTo>
                    <a:pt x="417" y="606"/>
                  </a:lnTo>
                  <a:lnTo>
                    <a:pt x="419" y="610"/>
                  </a:lnTo>
                  <a:lnTo>
                    <a:pt x="420" y="614"/>
                  </a:lnTo>
                  <a:lnTo>
                    <a:pt x="419" y="619"/>
                  </a:lnTo>
                  <a:lnTo>
                    <a:pt x="417" y="622"/>
                  </a:lnTo>
                  <a:lnTo>
                    <a:pt x="413" y="625"/>
                  </a:lnTo>
                  <a:lnTo>
                    <a:pt x="408" y="626"/>
                  </a:lnTo>
                  <a:close/>
                  <a:moveTo>
                    <a:pt x="134" y="216"/>
                  </a:moveTo>
                  <a:lnTo>
                    <a:pt x="271" y="216"/>
                  </a:lnTo>
                  <a:lnTo>
                    <a:pt x="276" y="217"/>
                  </a:lnTo>
                  <a:lnTo>
                    <a:pt x="280" y="220"/>
                  </a:lnTo>
                  <a:lnTo>
                    <a:pt x="282" y="224"/>
                  </a:lnTo>
                  <a:lnTo>
                    <a:pt x="283" y="229"/>
                  </a:lnTo>
                  <a:lnTo>
                    <a:pt x="282" y="234"/>
                  </a:lnTo>
                  <a:lnTo>
                    <a:pt x="280" y="238"/>
                  </a:lnTo>
                  <a:lnTo>
                    <a:pt x="276" y="240"/>
                  </a:lnTo>
                  <a:lnTo>
                    <a:pt x="271" y="241"/>
                  </a:lnTo>
                  <a:lnTo>
                    <a:pt x="134" y="241"/>
                  </a:lnTo>
                  <a:lnTo>
                    <a:pt x="130" y="240"/>
                  </a:lnTo>
                  <a:lnTo>
                    <a:pt x="126" y="238"/>
                  </a:lnTo>
                  <a:lnTo>
                    <a:pt x="123" y="234"/>
                  </a:lnTo>
                  <a:lnTo>
                    <a:pt x="122" y="229"/>
                  </a:lnTo>
                  <a:lnTo>
                    <a:pt x="123" y="224"/>
                  </a:lnTo>
                  <a:lnTo>
                    <a:pt x="126" y="220"/>
                  </a:lnTo>
                  <a:lnTo>
                    <a:pt x="130" y="217"/>
                  </a:lnTo>
                  <a:lnTo>
                    <a:pt x="134" y="216"/>
                  </a:lnTo>
                  <a:close/>
                  <a:moveTo>
                    <a:pt x="526" y="171"/>
                  </a:moveTo>
                  <a:lnTo>
                    <a:pt x="358" y="3"/>
                  </a:lnTo>
                  <a:lnTo>
                    <a:pt x="353" y="0"/>
                  </a:lnTo>
                  <a:lnTo>
                    <a:pt x="348" y="0"/>
                  </a:lnTo>
                  <a:lnTo>
                    <a:pt x="12" y="0"/>
                  </a:lnTo>
                  <a:lnTo>
                    <a:pt x="7" y="1"/>
                  </a:lnTo>
                  <a:lnTo>
                    <a:pt x="3" y="3"/>
                  </a:lnTo>
                  <a:lnTo>
                    <a:pt x="1" y="7"/>
                  </a:lnTo>
                  <a:lnTo>
                    <a:pt x="0" y="11"/>
                  </a:lnTo>
                  <a:lnTo>
                    <a:pt x="0" y="710"/>
                  </a:lnTo>
                  <a:lnTo>
                    <a:pt x="1" y="715"/>
                  </a:lnTo>
                  <a:lnTo>
                    <a:pt x="3" y="719"/>
                  </a:lnTo>
                  <a:lnTo>
                    <a:pt x="7" y="721"/>
                  </a:lnTo>
                  <a:lnTo>
                    <a:pt x="12" y="722"/>
                  </a:lnTo>
                  <a:lnTo>
                    <a:pt x="518" y="722"/>
                  </a:lnTo>
                  <a:lnTo>
                    <a:pt x="522" y="721"/>
                  </a:lnTo>
                  <a:lnTo>
                    <a:pt x="526" y="719"/>
                  </a:lnTo>
                  <a:lnTo>
                    <a:pt x="528" y="715"/>
                  </a:lnTo>
                  <a:lnTo>
                    <a:pt x="529" y="710"/>
                  </a:lnTo>
                  <a:lnTo>
                    <a:pt x="529" y="181"/>
                  </a:lnTo>
                  <a:lnTo>
                    <a:pt x="529" y="177"/>
                  </a:lnTo>
                  <a:lnTo>
                    <a:pt x="526" y="171"/>
                  </a:lnTo>
                  <a:close/>
                </a:path>
              </a:pathLst>
            </a:custGeom>
            <a:solidFill>
              <a:srgbClr val="74CA2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chemeClr val="dk1"/>
                </a:solidFill>
                <a:latin typeface="Roboto Light"/>
                <a:ea typeface="Roboto Light"/>
                <a:cs typeface="Roboto Light"/>
                <a:sym typeface="Roboto Light"/>
              </a:endParaRPr>
            </a:p>
          </p:txBody>
        </p:sp>
      </p:grpSp>
      <p:sp>
        <p:nvSpPr>
          <p:cNvPr id="430" name="Google Shape;430;g3f5c399fe94_0_0"/>
          <p:cNvSpPr/>
          <p:nvPr/>
        </p:nvSpPr>
        <p:spPr>
          <a:xfrm>
            <a:off x="3138219" y="2485703"/>
            <a:ext cx="2183700" cy="2577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rgbClr val="74CA21"/>
                </a:solidFill>
                <a:latin typeface="Roboto"/>
                <a:ea typeface="Roboto"/>
                <a:cs typeface="Roboto"/>
                <a:sym typeface="Roboto"/>
              </a:rPr>
              <a:t>Logical Filename (LFN)</a:t>
            </a:r>
            <a:endParaRPr sz="1500" b="0" i="0" u="none" strike="noStrike" cap="none">
              <a:solidFill>
                <a:srgbClr val="000000"/>
              </a:solidFill>
              <a:latin typeface="Arial"/>
              <a:ea typeface="Arial"/>
              <a:cs typeface="Arial"/>
              <a:sym typeface="Arial"/>
            </a:endParaRPr>
          </a:p>
        </p:txBody>
      </p:sp>
      <p:sp>
        <p:nvSpPr>
          <p:cNvPr id="431" name="Google Shape;431;g3f5c399fe94_0_0"/>
          <p:cNvSpPr/>
          <p:nvPr/>
        </p:nvSpPr>
        <p:spPr>
          <a:xfrm>
            <a:off x="3138219" y="2717688"/>
            <a:ext cx="2183700" cy="2265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platform independent (abstraction)</a:t>
            </a:r>
            <a:endParaRPr sz="1500" b="0" i="0" u="none" strike="noStrike" cap="none">
              <a:solidFill>
                <a:srgbClr val="000000"/>
              </a:solidFill>
              <a:latin typeface="Arial"/>
              <a:ea typeface="Arial"/>
              <a:cs typeface="Arial"/>
              <a:sym typeface="Arial"/>
            </a:endParaRPr>
          </a:p>
        </p:txBody>
      </p:sp>
      <p:pic>
        <p:nvPicPr>
          <p:cNvPr id="432" name="Google Shape;432;g3f5c399fe94_0_0" descr="http://www.marketingfortravelexperts.com/wp-content/uploads/2014/05/black-right-arrow.png"/>
          <p:cNvPicPr preferRelativeResize="0"/>
          <p:nvPr/>
        </p:nvPicPr>
        <p:blipFill rotWithShape="1">
          <a:blip r:embed="rId3">
            <a:alphaModFix amt="70000"/>
          </a:blip>
          <a:srcRect/>
          <a:stretch/>
        </p:blipFill>
        <p:spPr>
          <a:xfrm rot="751763" flipH="1">
            <a:off x="2829571" y="2266798"/>
            <a:ext cx="462674" cy="142676"/>
          </a:xfrm>
          <a:prstGeom prst="rect">
            <a:avLst/>
          </a:prstGeom>
          <a:noFill/>
          <a:ln>
            <a:noFill/>
          </a:ln>
        </p:spPr>
      </p:pic>
      <p:sp>
        <p:nvSpPr>
          <p:cNvPr id="433" name="Google Shape;433;g3f5c399fe94_0_0"/>
          <p:cNvSpPr/>
          <p:nvPr/>
        </p:nvSpPr>
        <p:spPr>
          <a:xfrm>
            <a:off x="3597634" y="4226058"/>
            <a:ext cx="1705200" cy="2577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1" u="none" strike="noStrike" cap="none">
                <a:solidFill>
                  <a:srgbClr val="2D75B6"/>
                </a:solidFill>
                <a:latin typeface="Roboto"/>
                <a:ea typeface="Roboto"/>
                <a:cs typeface="Roboto"/>
                <a:sym typeface="Roboto"/>
              </a:rPr>
              <a:t>Transformation</a:t>
            </a:r>
            <a:endParaRPr sz="1500" b="0" i="0" u="none" strike="noStrike" cap="none">
              <a:solidFill>
                <a:srgbClr val="000000"/>
              </a:solidFill>
              <a:latin typeface="Arial"/>
              <a:ea typeface="Arial"/>
              <a:cs typeface="Arial"/>
              <a:sym typeface="Arial"/>
            </a:endParaRPr>
          </a:p>
        </p:txBody>
      </p:sp>
      <p:sp>
        <p:nvSpPr>
          <p:cNvPr id="434" name="Google Shape;434;g3f5c399fe94_0_0"/>
          <p:cNvSpPr/>
          <p:nvPr/>
        </p:nvSpPr>
        <p:spPr>
          <a:xfrm>
            <a:off x="3597634" y="4458043"/>
            <a:ext cx="1705200" cy="380400"/>
          </a:xfrm>
          <a:prstGeom prst="rect">
            <a:avLst/>
          </a:prstGeom>
          <a:noFill/>
          <a:ln>
            <a:noFill/>
          </a:ln>
        </p:spPr>
        <p:txBody>
          <a:bodyPr spcFirstLastPara="1" wrap="square" lIns="72000" tIns="36000" rIns="72000" bIns="360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Executables (or programs)</a:t>
            </a:r>
            <a:br>
              <a:rPr lang="en-US" sz="1100" b="0" i="0" u="none" strike="noStrike" cap="none">
                <a:solidFill>
                  <a:srgbClr val="7F7F7F"/>
                </a:solidFill>
                <a:latin typeface="Roboto"/>
                <a:ea typeface="Roboto"/>
                <a:cs typeface="Roboto"/>
                <a:sym typeface="Roboto"/>
              </a:rPr>
            </a:br>
            <a:r>
              <a:rPr lang="en-US" sz="1100" b="0" i="0" u="none" strike="noStrike" cap="none">
                <a:solidFill>
                  <a:srgbClr val="7F7F7F"/>
                </a:solidFill>
                <a:latin typeface="Roboto"/>
                <a:ea typeface="Roboto"/>
                <a:cs typeface="Roboto"/>
                <a:sym typeface="Roboto"/>
              </a:rPr>
              <a:t>platform independent</a:t>
            </a:r>
            <a:endParaRPr sz="1500" b="0" i="0" u="none" strike="noStrike" cap="none">
              <a:solidFill>
                <a:srgbClr val="000000"/>
              </a:solidFill>
              <a:latin typeface="Arial"/>
              <a:ea typeface="Arial"/>
              <a:cs typeface="Arial"/>
              <a:sym typeface="Arial"/>
            </a:endParaRPr>
          </a:p>
        </p:txBody>
      </p:sp>
      <p:pic>
        <p:nvPicPr>
          <p:cNvPr id="435" name="Google Shape;435;g3f5c399fe94_0_0" descr="http://www.marketingfortravelexperts.com/wp-content/uploads/2014/05/black-right-arrow.png"/>
          <p:cNvPicPr preferRelativeResize="0"/>
          <p:nvPr/>
        </p:nvPicPr>
        <p:blipFill rotWithShape="1">
          <a:blip r:embed="rId4">
            <a:alphaModFix amt="70000"/>
          </a:blip>
          <a:srcRect/>
          <a:stretch/>
        </p:blipFill>
        <p:spPr>
          <a:xfrm rot="1800002" flipH="1">
            <a:off x="3979880" y="3892598"/>
            <a:ext cx="484496" cy="166727"/>
          </a:xfrm>
          <a:prstGeom prst="rect">
            <a:avLst/>
          </a:prstGeom>
          <a:noFill/>
          <a:ln>
            <a:noFill/>
          </a:ln>
        </p:spPr>
      </p:pic>
      <p:sp>
        <p:nvSpPr>
          <p:cNvPr id="436" name="Google Shape;436;g3f5c399fe94_0_0"/>
          <p:cNvSpPr/>
          <p:nvPr/>
        </p:nvSpPr>
        <p:spPr>
          <a:xfrm rot="-5400000">
            <a:off x="-626435" y="3584217"/>
            <a:ext cx="2862300" cy="3189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74CA21"/>
                </a:solidFill>
                <a:latin typeface="Roboto"/>
                <a:ea typeface="Roboto"/>
                <a:cs typeface="Roboto"/>
                <a:sym typeface="Roboto"/>
              </a:rPr>
              <a:t>ABSTRACT WORKFLOW</a:t>
            </a:r>
            <a:endParaRPr sz="1500" b="0" i="0" u="none" strike="noStrike" cap="none">
              <a:solidFill>
                <a:srgbClr val="000000"/>
              </a:solidFill>
              <a:latin typeface="Arial"/>
              <a:ea typeface="Arial"/>
              <a:cs typeface="Arial"/>
              <a:sym typeface="Arial"/>
            </a:endParaRPr>
          </a:p>
        </p:txBody>
      </p:sp>
      <p:cxnSp>
        <p:nvCxnSpPr>
          <p:cNvPr id="437" name="Google Shape;437;g3f5c399fe94_0_0"/>
          <p:cNvCxnSpPr>
            <a:stCxn id="438" idx="3"/>
            <a:endCxn id="439" idx="0"/>
          </p:cNvCxnSpPr>
          <p:nvPr/>
        </p:nvCxnSpPr>
        <p:spPr>
          <a:xfrm flipH="1">
            <a:off x="8496561" y="2183824"/>
            <a:ext cx="10485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0" name="Google Shape;440;g3f5c399fe94_0_0"/>
          <p:cNvCxnSpPr>
            <a:stCxn id="438" idx="3"/>
            <a:endCxn id="441" idx="0"/>
          </p:cNvCxnSpPr>
          <p:nvPr/>
        </p:nvCxnSpPr>
        <p:spPr>
          <a:xfrm flipH="1">
            <a:off x="9280761" y="2183824"/>
            <a:ext cx="2643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2" name="Google Shape;442;g3f5c399fe94_0_0"/>
          <p:cNvCxnSpPr>
            <a:stCxn id="438" idx="5"/>
            <a:endCxn id="443" idx="0"/>
          </p:cNvCxnSpPr>
          <p:nvPr/>
        </p:nvCxnSpPr>
        <p:spPr>
          <a:xfrm>
            <a:off x="9814681" y="2183824"/>
            <a:ext cx="2502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4" name="Google Shape;444;g3f5c399fe94_0_0"/>
          <p:cNvCxnSpPr>
            <a:stCxn id="438" idx="5"/>
            <a:endCxn id="445" idx="0"/>
          </p:cNvCxnSpPr>
          <p:nvPr/>
        </p:nvCxnSpPr>
        <p:spPr>
          <a:xfrm>
            <a:off x="9814681" y="2183824"/>
            <a:ext cx="1034100" cy="5244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6" name="Google Shape;446;g3f5c399fe94_0_0"/>
          <p:cNvCxnSpPr>
            <a:stCxn id="441" idx="4"/>
            <a:endCxn id="447" idx="1"/>
          </p:cNvCxnSpPr>
          <p:nvPr/>
        </p:nvCxnSpPr>
        <p:spPr>
          <a:xfrm>
            <a:off x="9280743" y="3089570"/>
            <a:ext cx="2643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8" name="Google Shape;448;g3f5c399fe94_0_0"/>
          <p:cNvCxnSpPr>
            <a:stCxn id="439" idx="4"/>
            <a:endCxn id="447" idx="1"/>
          </p:cNvCxnSpPr>
          <p:nvPr/>
        </p:nvCxnSpPr>
        <p:spPr>
          <a:xfrm>
            <a:off x="8496656" y="3089570"/>
            <a:ext cx="10485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49" name="Google Shape;449;g3f5c399fe94_0_0"/>
          <p:cNvCxnSpPr>
            <a:stCxn id="443" idx="4"/>
            <a:endCxn id="447" idx="7"/>
          </p:cNvCxnSpPr>
          <p:nvPr/>
        </p:nvCxnSpPr>
        <p:spPr>
          <a:xfrm flipH="1">
            <a:off x="9814630" y="3089570"/>
            <a:ext cx="2502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50" name="Google Shape;450;g3f5c399fe94_0_0"/>
          <p:cNvCxnSpPr>
            <a:stCxn id="445" idx="4"/>
            <a:endCxn id="447" idx="7"/>
          </p:cNvCxnSpPr>
          <p:nvPr/>
        </p:nvCxnSpPr>
        <p:spPr>
          <a:xfrm flipH="1">
            <a:off x="9814817" y="3089570"/>
            <a:ext cx="1034100" cy="579900"/>
          </a:xfrm>
          <a:prstGeom prst="straightConnector1">
            <a:avLst/>
          </a:prstGeom>
          <a:noFill/>
          <a:ln w="19075" cap="flat" cmpd="sng">
            <a:solidFill>
              <a:srgbClr val="2D75B6">
                <a:alpha val="80000"/>
              </a:srgbClr>
            </a:solidFill>
            <a:prstDash val="solid"/>
            <a:miter lim="800000"/>
            <a:headEnd type="none" w="sm" len="sm"/>
            <a:tailEnd type="stealth" w="med" len="med"/>
          </a:ln>
        </p:spPr>
      </p:cxnSp>
      <p:cxnSp>
        <p:nvCxnSpPr>
          <p:cNvPr id="451" name="Google Shape;451;g3f5c399fe94_0_0"/>
          <p:cNvCxnSpPr>
            <a:stCxn id="447" idx="4"/>
            <a:endCxn id="452" idx="0"/>
          </p:cNvCxnSpPr>
          <p:nvPr/>
        </p:nvCxnSpPr>
        <p:spPr>
          <a:xfrm>
            <a:off x="9679871" y="3994930"/>
            <a:ext cx="0" cy="307500"/>
          </a:xfrm>
          <a:prstGeom prst="straightConnector1">
            <a:avLst/>
          </a:prstGeom>
          <a:noFill/>
          <a:ln w="19075" cap="flat" cmpd="sng">
            <a:solidFill>
              <a:srgbClr val="2D75B6">
                <a:alpha val="80000"/>
              </a:srgbClr>
            </a:solidFill>
            <a:prstDash val="solid"/>
            <a:miter lim="800000"/>
            <a:headEnd type="none" w="sm" len="sm"/>
            <a:tailEnd type="stealth" w="med" len="med"/>
          </a:ln>
        </p:spPr>
      </p:cxnSp>
      <p:sp>
        <p:nvSpPr>
          <p:cNvPr id="453" name="Google Shape;453;g3f5c399fe94_0_0"/>
          <p:cNvSpPr/>
          <p:nvPr/>
        </p:nvSpPr>
        <p:spPr>
          <a:xfrm>
            <a:off x="9525905" y="1894085"/>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4" name="Google Shape;454;g3f5c399fe94_0_0"/>
          <p:cNvSpPr/>
          <p:nvPr/>
        </p:nvSpPr>
        <p:spPr>
          <a:xfrm>
            <a:off x="8342689"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5" name="Google Shape;455;g3f5c399fe94_0_0"/>
          <p:cNvSpPr/>
          <p:nvPr/>
        </p:nvSpPr>
        <p:spPr>
          <a:xfrm>
            <a:off x="9126776"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6" name="Google Shape;456;g3f5c399fe94_0_0"/>
          <p:cNvSpPr/>
          <p:nvPr/>
        </p:nvSpPr>
        <p:spPr>
          <a:xfrm>
            <a:off x="9910863"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7" name="Google Shape;457;g3f5c399fe94_0_0"/>
          <p:cNvSpPr/>
          <p:nvPr/>
        </p:nvSpPr>
        <p:spPr>
          <a:xfrm>
            <a:off x="10694950" y="2744954"/>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8" name="Google Shape;458;g3f5c399fe94_0_0"/>
          <p:cNvSpPr/>
          <p:nvPr/>
        </p:nvSpPr>
        <p:spPr>
          <a:xfrm>
            <a:off x="9525905" y="3650313"/>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9" name="Google Shape;459;g3f5c399fe94_0_0"/>
          <p:cNvSpPr/>
          <p:nvPr/>
        </p:nvSpPr>
        <p:spPr>
          <a:xfrm>
            <a:off x="9525905" y="4989404"/>
            <a:ext cx="307500" cy="307500"/>
          </a:xfrm>
          <a:prstGeom prst="ellipse">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38" name="Google Shape;438;g3f5c399fe94_0_0"/>
          <p:cNvSpPr/>
          <p:nvPr/>
        </p:nvSpPr>
        <p:spPr>
          <a:xfrm>
            <a:off x="9489221" y="1858364"/>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39" name="Google Shape;439;g3f5c399fe94_0_0"/>
          <p:cNvSpPr/>
          <p:nvPr/>
        </p:nvSpPr>
        <p:spPr>
          <a:xfrm>
            <a:off x="8306006"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1" name="Google Shape;441;g3f5c399fe94_0_0"/>
          <p:cNvSpPr/>
          <p:nvPr/>
        </p:nvSpPr>
        <p:spPr>
          <a:xfrm>
            <a:off x="9090093"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3" name="Google Shape;443;g3f5c399fe94_0_0"/>
          <p:cNvSpPr/>
          <p:nvPr/>
        </p:nvSpPr>
        <p:spPr>
          <a:xfrm>
            <a:off x="9874180"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5" name="Google Shape;445;g3f5c399fe94_0_0"/>
          <p:cNvSpPr/>
          <p:nvPr/>
        </p:nvSpPr>
        <p:spPr>
          <a:xfrm>
            <a:off x="10658267" y="270827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47" name="Google Shape;447;g3f5c399fe94_0_0"/>
          <p:cNvSpPr/>
          <p:nvPr/>
        </p:nvSpPr>
        <p:spPr>
          <a:xfrm>
            <a:off x="9489221" y="3613630"/>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0" name="Google Shape;460;g3f5c399fe94_0_0"/>
          <p:cNvSpPr/>
          <p:nvPr/>
        </p:nvSpPr>
        <p:spPr>
          <a:xfrm>
            <a:off x="9489221" y="4952720"/>
            <a:ext cx="381300" cy="381300"/>
          </a:xfrm>
          <a:prstGeom prst="ellipse">
            <a:avLst/>
          </a:prstGeom>
          <a:noFill/>
          <a:ln w="19075" cap="flat" cmpd="sng">
            <a:solidFill>
              <a:srgbClr val="6CAF27">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1" name="Google Shape;461;g3f5c399fe94_0_0"/>
          <p:cNvSpPr/>
          <p:nvPr/>
        </p:nvSpPr>
        <p:spPr>
          <a:xfrm rot="5400000">
            <a:off x="9635024" y="3584120"/>
            <a:ext cx="3669600" cy="318900"/>
          </a:xfrm>
          <a:prstGeom prst="rect">
            <a:avLst/>
          </a:prstGeom>
          <a:noFill/>
          <a:ln>
            <a:noFill/>
          </a:ln>
        </p:spPr>
        <p:txBody>
          <a:bodyPr spcFirstLastPara="1" wrap="square" lIns="72000" tIns="36000" rIns="72000" bIns="3600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74CA21"/>
                </a:solidFill>
                <a:latin typeface="Roboto"/>
                <a:ea typeface="Roboto"/>
                <a:cs typeface="Roboto"/>
                <a:sym typeface="Roboto"/>
              </a:rPr>
              <a:t>EXECUTABLE WORKFLOW</a:t>
            </a:r>
            <a:endParaRPr sz="1500" b="0" i="0" u="none" strike="noStrike" cap="none">
              <a:solidFill>
                <a:srgbClr val="000000"/>
              </a:solidFill>
              <a:latin typeface="Arial"/>
              <a:ea typeface="Arial"/>
              <a:cs typeface="Arial"/>
              <a:sym typeface="Arial"/>
            </a:endParaRPr>
          </a:p>
        </p:txBody>
      </p:sp>
      <p:sp>
        <p:nvSpPr>
          <p:cNvPr id="462" name="Google Shape;462;g3f5c399fe94_0_0"/>
          <p:cNvSpPr/>
          <p:nvPr/>
        </p:nvSpPr>
        <p:spPr>
          <a:xfrm>
            <a:off x="6820263" y="1694558"/>
            <a:ext cx="23019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74CA21"/>
                </a:solidFill>
                <a:latin typeface="Roboto"/>
                <a:ea typeface="Roboto"/>
                <a:cs typeface="Roboto"/>
                <a:sym typeface="Roboto"/>
              </a:rPr>
              <a:t>Stage-in Job</a:t>
            </a:r>
            <a:endParaRPr sz="1500" b="0" i="0" u="none" strike="noStrike" cap="none">
              <a:solidFill>
                <a:srgbClr val="000000"/>
              </a:solidFill>
              <a:latin typeface="Arial"/>
              <a:ea typeface="Arial"/>
              <a:cs typeface="Arial"/>
              <a:sym typeface="Arial"/>
            </a:endParaRPr>
          </a:p>
        </p:txBody>
      </p:sp>
      <p:sp>
        <p:nvSpPr>
          <p:cNvPr id="463" name="Google Shape;463;g3f5c399fe94_0_0"/>
          <p:cNvSpPr/>
          <p:nvPr/>
        </p:nvSpPr>
        <p:spPr>
          <a:xfrm>
            <a:off x="6820263" y="1926543"/>
            <a:ext cx="23019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Transfers the workflow input data</a:t>
            </a:r>
            <a:endParaRPr sz="1500" b="0" i="0" u="none" strike="noStrike" cap="none">
              <a:solidFill>
                <a:srgbClr val="000000"/>
              </a:solidFill>
              <a:latin typeface="Arial"/>
              <a:ea typeface="Arial"/>
              <a:cs typeface="Arial"/>
              <a:sym typeface="Arial"/>
            </a:endParaRPr>
          </a:p>
        </p:txBody>
      </p:sp>
      <p:sp>
        <p:nvSpPr>
          <p:cNvPr id="464" name="Google Shape;464;g3f5c399fe94_0_0"/>
          <p:cNvSpPr/>
          <p:nvPr/>
        </p:nvSpPr>
        <p:spPr>
          <a:xfrm>
            <a:off x="9525905" y="1189445"/>
            <a:ext cx="307500" cy="307500"/>
          </a:xfrm>
          <a:prstGeom prst="ellipse">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5" name="Google Shape;465;g3f5c399fe94_0_0"/>
          <p:cNvSpPr/>
          <p:nvPr/>
        </p:nvSpPr>
        <p:spPr>
          <a:xfrm>
            <a:off x="9489221" y="1153724"/>
            <a:ext cx="381300" cy="381300"/>
          </a:xfrm>
          <a:prstGeom prst="ellipse">
            <a:avLst/>
          </a:prstGeom>
          <a:noFill/>
          <a:ln w="19075" cap="flat" cmpd="sng">
            <a:solidFill>
              <a:srgbClr val="74CA21">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66" name="Google Shape;466;g3f5c399fe94_0_0"/>
          <p:cNvCxnSpPr>
            <a:stCxn id="465" idx="4"/>
            <a:endCxn id="438" idx="0"/>
          </p:cNvCxnSpPr>
          <p:nvPr/>
        </p:nvCxnSpPr>
        <p:spPr>
          <a:xfrm>
            <a:off x="9679871" y="1535024"/>
            <a:ext cx="0" cy="323400"/>
          </a:xfrm>
          <a:prstGeom prst="straightConnector1">
            <a:avLst/>
          </a:prstGeom>
          <a:noFill/>
          <a:ln w="19075" cap="flat" cmpd="sng">
            <a:solidFill>
              <a:srgbClr val="2D75B6">
                <a:alpha val="80000"/>
              </a:srgbClr>
            </a:solidFill>
            <a:prstDash val="solid"/>
            <a:miter lim="800000"/>
            <a:headEnd type="none" w="sm" len="sm"/>
            <a:tailEnd type="stealth" w="med" len="med"/>
          </a:ln>
        </p:spPr>
      </p:cxnSp>
      <p:pic>
        <p:nvPicPr>
          <p:cNvPr id="467" name="Google Shape;467;g3f5c399fe94_0_0" descr="http://www.marketingfortravelexperts.com/wp-content/uploads/2014/05/black-right-arrow.png"/>
          <p:cNvPicPr preferRelativeResize="0"/>
          <p:nvPr/>
        </p:nvPicPr>
        <p:blipFill rotWithShape="1">
          <a:blip r:embed="rId3">
            <a:alphaModFix amt="70000"/>
          </a:blip>
          <a:srcRect/>
          <a:stretch/>
        </p:blipFill>
        <p:spPr>
          <a:xfrm rot="-1800000">
            <a:off x="8834453" y="1378495"/>
            <a:ext cx="559835" cy="172638"/>
          </a:xfrm>
          <a:prstGeom prst="rect">
            <a:avLst/>
          </a:prstGeom>
          <a:noFill/>
          <a:ln>
            <a:noFill/>
          </a:ln>
        </p:spPr>
      </p:pic>
      <p:sp>
        <p:nvSpPr>
          <p:cNvPr id="468" name="Google Shape;468;g3f5c399fe94_0_0"/>
          <p:cNvSpPr/>
          <p:nvPr/>
        </p:nvSpPr>
        <p:spPr>
          <a:xfrm>
            <a:off x="8342689" y="3395799"/>
            <a:ext cx="307500" cy="307500"/>
          </a:xfrm>
          <a:prstGeom prst="ellipse">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69" name="Google Shape;469;g3f5c399fe94_0_0"/>
          <p:cNvSpPr/>
          <p:nvPr/>
        </p:nvSpPr>
        <p:spPr>
          <a:xfrm>
            <a:off x="10694950" y="3395799"/>
            <a:ext cx="307500" cy="307500"/>
          </a:xfrm>
          <a:prstGeom prst="ellipse">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0" name="Google Shape;470;g3f5c399fe94_0_0"/>
          <p:cNvSpPr/>
          <p:nvPr/>
        </p:nvSpPr>
        <p:spPr>
          <a:xfrm>
            <a:off x="8306006" y="3359115"/>
            <a:ext cx="381300" cy="381300"/>
          </a:xfrm>
          <a:prstGeom prst="ellipse">
            <a:avLst/>
          </a:prstGeom>
          <a:noFill/>
          <a:ln w="19075" cap="flat" cmpd="sng">
            <a:solidFill>
              <a:srgbClr val="F16D1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1" name="Google Shape;471;g3f5c399fe94_0_0"/>
          <p:cNvSpPr/>
          <p:nvPr/>
        </p:nvSpPr>
        <p:spPr>
          <a:xfrm>
            <a:off x="10658267" y="3359115"/>
            <a:ext cx="381300" cy="381300"/>
          </a:xfrm>
          <a:prstGeom prst="ellipse">
            <a:avLst/>
          </a:prstGeom>
          <a:noFill/>
          <a:ln w="19075" cap="flat" cmpd="sng">
            <a:solidFill>
              <a:srgbClr val="F16D1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72" name="Google Shape;472;g3f5c399fe94_0_0"/>
          <p:cNvCxnSpPr>
            <a:stCxn id="439" idx="4"/>
            <a:endCxn id="470" idx="0"/>
          </p:cNvCxnSpPr>
          <p:nvPr/>
        </p:nvCxnSpPr>
        <p:spPr>
          <a:xfrm>
            <a:off x="8496656" y="3089570"/>
            <a:ext cx="0" cy="269400"/>
          </a:xfrm>
          <a:prstGeom prst="straightConnector1">
            <a:avLst/>
          </a:prstGeom>
          <a:noFill/>
          <a:ln w="19075" cap="flat" cmpd="sng">
            <a:solidFill>
              <a:srgbClr val="F16D19">
                <a:alpha val="80000"/>
              </a:srgbClr>
            </a:solidFill>
            <a:prstDash val="solid"/>
            <a:miter lim="800000"/>
            <a:headEnd type="none" w="sm" len="sm"/>
            <a:tailEnd type="stealth" w="med" len="med"/>
          </a:ln>
        </p:spPr>
      </p:cxnSp>
      <p:cxnSp>
        <p:nvCxnSpPr>
          <p:cNvPr id="473" name="Google Shape;473;g3f5c399fe94_0_0"/>
          <p:cNvCxnSpPr>
            <a:stCxn id="445" idx="4"/>
            <a:endCxn id="471" idx="0"/>
          </p:cNvCxnSpPr>
          <p:nvPr/>
        </p:nvCxnSpPr>
        <p:spPr>
          <a:xfrm>
            <a:off x="10848917" y="3089570"/>
            <a:ext cx="0" cy="269400"/>
          </a:xfrm>
          <a:prstGeom prst="straightConnector1">
            <a:avLst/>
          </a:prstGeom>
          <a:noFill/>
          <a:ln w="19075" cap="flat" cmpd="sng">
            <a:solidFill>
              <a:srgbClr val="F16D19">
                <a:alpha val="80000"/>
              </a:srgbClr>
            </a:solidFill>
            <a:prstDash val="solid"/>
            <a:miter lim="800000"/>
            <a:headEnd type="none" w="sm" len="sm"/>
            <a:tailEnd type="stealth" w="med" len="med"/>
          </a:ln>
        </p:spPr>
      </p:cxnSp>
      <p:cxnSp>
        <p:nvCxnSpPr>
          <p:cNvPr id="474" name="Google Shape;474;g3f5c399fe94_0_0"/>
          <p:cNvCxnSpPr>
            <a:stCxn id="443" idx="4"/>
            <a:endCxn id="471" idx="1"/>
          </p:cNvCxnSpPr>
          <p:nvPr/>
        </p:nvCxnSpPr>
        <p:spPr>
          <a:xfrm>
            <a:off x="10064830" y="3089570"/>
            <a:ext cx="649200" cy="325500"/>
          </a:xfrm>
          <a:prstGeom prst="straightConnector1">
            <a:avLst/>
          </a:prstGeom>
          <a:noFill/>
          <a:ln w="19075" cap="flat" cmpd="sng">
            <a:solidFill>
              <a:srgbClr val="F16D19">
                <a:alpha val="80000"/>
              </a:srgbClr>
            </a:solidFill>
            <a:prstDash val="solid"/>
            <a:miter lim="800000"/>
            <a:headEnd type="none" w="sm" len="sm"/>
            <a:tailEnd type="stealth" w="med" len="med"/>
          </a:ln>
        </p:spPr>
      </p:cxnSp>
      <p:sp>
        <p:nvSpPr>
          <p:cNvPr id="475" name="Google Shape;475;g3f5c399fe94_0_0"/>
          <p:cNvSpPr/>
          <p:nvPr/>
        </p:nvSpPr>
        <p:spPr>
          <a:xfrm>
            <a:off x="9126776" y="5606258"/>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6" name="Google Shape;476;g3f5c399fe94_0_0"/>
          <p:cNvSpPr/>
          <p:nvPr/>
        </p:nvSpPr>
        <p:spPr>
          <a:xfrm>
            <a:off x="9910863" y="5606258"/>
            <a:ext cx="307500" cy="307500"/>
          </a:xfrm>
          <a:prstGeom prst="ellipse">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7" name="Google Shape;477;g3f5c399fe94_0_0"/>
          <p:cNvSpPr/>
          <p:nvPr/>
        </p:nvSpPr>
        <p:spPr>
          <a:xfrm>
            <a:off x="9090093" y="5569574"/>
            <a:ext cx="381300" cy="381300"/>
          </a:xfrm>
          <a:prstGeom prst="ellipse">
            <a:avLst/>
          </a:prstGeom>
          <a:noFill/>
          <a:ln w="19075" cap="flat" cmpd="sng">
            <a:solidFill>
              <a:srgbClr val="7F7F7F">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78" name="Google Shape;478;g3f5c399fe94_0_0"/>
          <p:cNvSpPr/>
          <p:nvPr/>
        </p:nvSpPr>
        <p:spPr>
          <a:xfrm>
            <a:off x="9874180" y="5569574"/>
            <a:ext cx="381300" cy="381300"/>
          </a:xfrm>
          <a:prstGeom prst="ellipse">
            <a:avLst/>
          </a:prstGeom>
          <a:noFill/>
          <a:ln w="19075" cap="flat" cmpd="sng">
            <a:solidFill>
              <a:srgbClr val="F16D19">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79" name="Google Shape;479;g3f5c399fe94_0_0"/>
          <p:cNvCxnSpPr>
            <a:stCxn id="460" idx="3"/>
            <a:endCxn id="477" idx="0"/>
          </p:cNvCxnSpPr>
          <p:nvPr/>
        </p:nvCxnSpPr>
        <p:spPr>
          <a:xfrm flipH="1">
            <a:off x="9280761" y="5278180"/>
            <a:ext cx="264300" cy="291300"/>
          </a:xfrm>
          <a:prstGeom prst="straightConnector1">
            <a:avLst/>
          </a:prstGeom>
          <a:noFill/>
          <a:ln w="19075" cap="flat" cmpd="sng">
            <a:solidFill>
              <a:srgbClr val="7F7F7F">
                <a:alpha val="80000"/>
              </a:srgbClr>
            </a:solidFill>
            <a:prstDash val="solid"/>
            <a:miter lim="800000"/>
            <a:headEnd type="none" w="sm" len="sm"/>
            <a:tailEnd type="stealth" w="med" len="med"/>
          </a:ln>
        </p:spPr>
      </p:cxnSp>
      <p:cxnSp>
        <p:nvCxnSpPr>
          <p:cNvPr id="480" name="Google Shape;480;g3f5c399fe94_0_0"/>
          <p:cNvCxnSpPr>
            <a:stCxn id="460" idx="5"/>
            <a:endCxn id="478" idx="0"/>
          </p:cNvCxnSpPr>
          <p:nvPr/>
        </p:nvCxnSpPr>
        <p:spPr>
          <a:xfrm>
            <a:off x="9814681" y="5278180"/>
            <a:ext cx="250200" cy="291300"/>
          </a:xfrm>
          <a:prstGeom prst="straightConnector1">
            <a:avLst/>
          </a:prstGeom>
          <a:noFill/>
          <a:ln w="19075" cap="flat" cmpd="sng">
            <a:solidFill>
              <a:srgbClr val="F16D19">
                <a:alpha val="80000"/>
              </a:srgbClr>
            </a:solidFill>
            <a:prstDash val="solid"/>
            <a:miter lim="800000"/>
            <a:headEnd type="none" w="sm" len="sm"/>
            <a:tailEnd type="stealth" w="med" len="med"/>
          </a:ln>
        </p:spPr>
      </p:cxnSp>
      <p:sp>
        <p:nvSpPr>
          <p:cNvPr id="481" name="Google Shape;481;g3f5c399fe94_0_0"/>
          <p:cNvSpPr/>
          <p:nvPr/>
        </p:nvSpPr>
        <p:spPr>
          <a:xfrm>
            <a:off x="9525905" y="4339078"/>
            <a:ext cx="307500" cy="307500"/>
          </a:xfrm>
          <a:prstGeom prst="ellipse">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52" name="Google Shape;452;g3f5c399fe94_0_0"/>
          <p:cNvSpPr/>
          <p:nvPr/>
        </p:nvSpPr>
        <p:spPr>
          <a:xfrm>
            <a:off x="9489221" y="4302394"/>
            <a:ext cx="381300" cy="381300"/>
          </a:xfrm>
          <a:prstGeom prst="ellipse">
            <a:avLst/>
          </a:prstGeom>
          <a:noFill/>
          <a:ln w="19075" cap="flat" cmpd="sng">
            <a:solidFill>
              <a:srgbClr val="2D75B6">
                <a:alpha val="80000"/>
              </a:srgb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cxnSp>
        <p:nvCxnSpPr>
          <p:cNvPr id="482" name="Google Shape;482;g3f5c399fe94_0_0"/>
          <p:cNvCxnSpPr>
            <a:stCxn id="452" idx="4"/>
            <a:endCxn id="460" idx="0"/>
          </p:cNvCxnSpPr>
          <p:nvPr/>
        </p:nvCxnSpPr>
        <p:spPr>
          <a:xfrm>
            <a:off x="9679871" y="4683694"/>
            <a:ext cx="0" cy="269100"/>
          </a:xfrm>
          <a:prstGeom prst="straightConnector1">
            <a:avLst/>
          </a:prstGeom>
          <a:noFill/>
          <a:ln w="19075" cap="flat" cmpd="sng">
            <a:solidFill>
              <a:srgbClr val="548135">
                <a:alpha val="80000"/>
              </a:srgbClr>
            </a:solidFill>
            <a:prstDash val="solid"/>
            <a:miter lim="800000"/>
            <a:headEnd type="none" w="sm" len="sm"/>
            <a:tailEnd type="stealth" w="med" len="med"/>
          </a:ln>
        </p:spPr>
      </p:cxnSp>
      <p:sp>
        <p:nvSpPr>
          <p:cNvPr id="483" name="Google Shape;483;g3f5c399fe94_0_0"/>
          <p:cNvSpPr/>
          <p:nvPr/>
        </p:nvSpPr>
        <p:spPr>
          <a:xfrm>
            <a:off x="6990488" y="3934725"/>
            <a:ext cx="16497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F16D19"/>
                </a:solidFill>
                <a:latin typeface="Roboto"/>
                <a:ea typeface="Roboto"/>
                <a:cs typeface="Roboto"/>
                <a:sym typeface="Roboto"/>
              </a:rPr>
              <a:t>Cleanup Job</a:t>
            </a:r>
            <a:endParaRPr sz="1500" b="0" i="0" u="none" strike="noStrike" cap="none">
              <a:solidFill>
                <a:srgbClr val="000000"/>
              </a:solidFill>
              <a:latin typeface="Arial"/>
              <a:ea typeface="Arial"/>
              <a:cs typeface="Arial"/>
              <a:sym typeface="Arial"/>
            </a:endParaRPr>
          </a:p>
        </p:txBody>
      </p:sp>
      <p:sp>
        <p:nvSpPr>
          <p:cNvPr id="484" name="Google Shape;484;g3f5c399fe94_0_0"/>
          <p:cNvSpPr/>
          <p:nvPr/>
        </p:nvSpPr>
        <p:spPr>
          <a:xfrm>
            <a:off x="6990488" y="4123165"/>
            <a:ext cx="16497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Removes unused data</a:t>
            </a:r>
            <a:endParaRPr sz="1500" b="0" i="0" u="none" strike="noStrike" cap="none">
              <a:solidFill>
                <a:srgbClr val="000000"/>
              </a:solidFill>
              <a:latin typeface="Arial"/>
              <a:ea typeface="Arial"/>
              <a:cs typeface="Arial"/>
              <a:sym typeface="Arial"/>
            </a:endParaRPr>
          </a:p>
        </p:txBody>
      </p:sp>
      <p:pic>
        <p:nvPicPr>
          <p:cNvPr id="485" name="Google Shape;485;g3f5c399fe94_0_0" descr="http://www.marketingfortravelexperts.com/wp-content/uploads/2014/05/black-right-arrow.png"/>
          <p:cNvPicPr preferRelativeResize="0"/>
          <p:nvPr/>
        </p:nvPicPr>
        <p:blipFill rotWithShape="1">
          <a:blip r:embed="rId5">
            <a:alphaModFix amt="70000"/>
          </a:blip>
          <a:srcRect/>
          <a:stretch/>
        </p:blipFill>
        <p:spPr>
          <a:xfrm rot="-1563519">
            <a:off x="7773654" y="3690772"/>
            <a:ext cx="462674" cy="157674"/>
          </a:xfrm>
          <a:prstGeom prst="rect">
            <a:avLst/>
          </a:prstGeom>
          <a:noFill/>
          <a:ln>
            <a:noFill/>
          </a:ln>
        </p:spPr>
      </p:pic>
      <p:sp>
        <p:nvSpPr>
          <p:cNvPr id="486" name="Google Shape;486;g3f5c399fe94_0_0"/>
          <p:cNvSpPr/>
          <p:nvPr/>
        </p:nvSpPr>
        <p:spPr>
          <a:xfrm>
            <a:off x="7314492" y="4620103"/>
            <a:ext cx="16497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6CAF27"/>
                </a:solidFill>
                <a:latin typeface="Roboto"/>
                <a:ea typeface="Roboto"/>
                <a:cs typeface="Roboto"/>
                <a:sym typeface="Roboto"/>
              </a:rPr>
              <a:t>Stage-out Job</a:t>
            </a:r>
            <a:endParaRPr sz="1500" b="0" i="0" u="none" strike="noStrike" cap="none">
              <a:solidFill>
                <a:srgbClr val="000000"/>
              </a:solidFill>
              <a:latin typeface="Arial"/>
              <a:ea typeface="Arial"/>
              <a:cs typeface="Arial"/>
              <a:sym typeface="Arial"/>
            </a:endParaRPr>
          </a:p>
        </p:txBody>
      </p:sp>
      <p:sp>
        <p:nvSpPr>
          <p:cNvPr id="487" name="Google Shape;487;g3f5c399fe94_0_0"/>
          <p:cNvSpPr/>
          <p:nvPr/>
        </p:nvSpPr>
        <p:spPr>
          <a:xfrm>
            <a:off x="6889202" y="4817252"/>
            <a:ext cx="20748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Stage-out generated output data</a:t>
            </a:r>
            <a:endParaRPr sz="1500" b="0" i="0" u="none" strike="noStrike" cap="none">
              <a:solidFill>
                <a:srgbClr val="000000"/>
              </a:solidFill>
              <a:latin typeface="Arial"/>
              <a:ea typeface="Arial"/>
              <a:cs typeface="Arial"/>
              <a:sym typeface="Arial"/>
            </a:endParaRPr>
          </a:p>
        </p:txBody>
      </p:sp>
      <p:sp>
        <p:nvSpPr>
          <p:cNvPr id="488" name="Google Shape;488;g3f5c399fe94_0_0"/>
          <p:cNvSpPr/>
          <p:nvPr/>
        </p:nvSpPr>
        <p:spPr>
          <a:xfrm>
            <a:off x="6477664" y="5266754"/>
            <a:ext cx="2139900" cy="2577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1" u="none" strike="noStrike" cap="none">
                <a:solidFill>
                  <a:srgbClr val="7F7F7F"/>
                </a:solidFill>
                <a:latin typeface="Roboto"/>
                <a:ea typeface="Roboto"/>
                <a:cs typeface="Roboto"/>
                <a:sym typeface="Roboto"/>
              </a:rPr>
              <a:t>Registration Job</a:t>
            </a:r>
            <a:endParaRPr sz="1500" b="0" i="0" u="none" strike="noStrike" cap="none">
              <a:solidFill>
                <a:srgbClr val="000000"/>
              </a:solidFill>
              <a:latin typeface="Arial"/>
              <a:ea typeface="Arial"/>
              <a:cs typeface="Arial"/>
              <a:sym typeface="Arial"/>
            </a:endParaRPr>
          </a:p>
        </p:txBody>
      </p:sp>
      <p:sp>
        <p:nvSpPr>
          <p:cNvPr id="489" name="Google Shape;489;g3f5c399fe94_0_0"/>
          <p:cNvSpPr/>
          <p:nvPr/>
        </p:nvSpPr>
        <p:spPr>
          <a:xfrm>
            <a:off x="6477664" y="5498739"/>
            <a:ext cx="2139900" cy="226500"/>
          </a:xfrm>
          <a:prstGeom prst="rect">
            <a:avLst/>
          </a:prstGeom>
          <a:noFill/>
          <a:ln>
            <a:noFill/>
          </a:ln>
        </p:spPr>
        <p:txBody>
          <a:bodyPr spcFirstLastPara="1" wrap="square" lIns="72000" tIns="36000" rIns="72000" bIns="36000" anchor="t" anchorCtr="0">
            <a:noAutofit/>
          </a:bodyPr>
          <a:lstStyle/>
          <a:p>
            <a:pPr marL="0" marR="0" lvl="0" indent="0" algn="r" rtl="0">
              <a:lnSpc>
                <a:spcPct val="100000"/>
              </a:lnSpc>
              <a:spcBef>
                <a:spcPts val="0"/>
              </a:spcBef>
              <a:spcAft>
                <a:spcPts val="0"/>
              </a:spcAft>
              <a:buClr>
                <a:srgbClr val="000000"/>
              </a:buClr>
              <a:buSzPts val="1100"/>
              <a:buFont typeface="Arial"/>
              <a:buNone/>
            </a:pPr>
            <a:r>
              <a:rPr lang="en-US" sz="1100" b="0" i="0" u="none" strike="noStrike" cap="none">
                <a:solidFill>
                  <a:srgbClr val="7F7F7F"/>
                </a:solidFill>
                <a:latin typeface="Roboto"/>
                <a:ea typeface="Roboto"/>
                <a:cs typeface="Roboto"/>
                <a:sym typeface="Roboto"/>
              </a:rPr>
              <a:t>Registers the workflow output data</a:t>
            </a:r>
            <a:endParaRPr sz="1500" b="0" i="0" u="none" strike="noStrike" cap="none">
              <a:solidFill>
                <a:srgbClr val="000000"/>
              </a:solidFill>
              <a:latin typeface="Arial"/>
              <a:ea typeface="Arial"/>
              <a:cs typeface="Arial"/>
              <a:sym typeface="Arial"/>
            </a:endParaRPr>
          </a:p>
        </p:txBody>
      </p:sp>
      <p:pic>
        <p:nvPicPr>
          <p:cNvPr id="490" name="Google Shape;490;g3f5c399fe94_0_0" descr="http://www.marketingfortravelexperts.com/wp-content/uploads/2014/05/black-right-arrow.png"/>
          <p:cNvPicPr preferRelativeResize="0"/>
          <p:nvPr/>
        </p:nvPicPr>
        <p:blipFill rotWithShape="1">
          <a:blip r:embed="rId6">
            <a:alphaModFix amt="70000"/>
          </a:blip>
          <a:srcRect/>
          <a:stretch/>
        </p:blipFill>
        <p:spPr>
          <a:xfrm rot="1800000">
            <a:off x="8653262" y="5402438"/>
            <a:ext cx="427581" cy="125546"/>
          </a:xfrm>
          <a:prstGeom prst="rect">
            <a:avLst/>
          </a:prstGeom>
          <a:noFill/>
          <a:ln>
            <a:noFill/>
          </a:ln>
        </p:spPr>
      </p:pic>
      <p:pic>
        <p:nvPicPr>
          <p:cNvPr id="491" name="Google Shape;491;g3f5c399fe94_0_0" descr="http://www.marketingfortravelexperts.com/wp-content/uploads/2014/05/black-right-arrow.png"/>
          <p:cNvPicPr preferRelativeResize="0"/>
          <p:nvPr/>
        </p:nvPicPr>
        <p:blipFill rotWithShape="1">
          <a:blip r:embed="rId3">
            <a:alphaModFix amt="70000"/>
          </a:blip>
          <a:srcRect/>
          <a:stretch/>
        </p:blipFill>
        <p:spPr>
          <a:xfrm rot="1836425">
            <a:off x="8985771" y="4757997"/>
            <a:ext cx="462674" cy="142676"/>
          </a:xfrm>
          <a:prstGeom prst="rect">
            <a:avLst/>
          </a:prstGeom>
          <a:noFill/>
          <a:ln>
            <a:noFill/>
          </a:ln>
        </p:spPr>
      </p:pic>
      <p:sp>
        <p:nvSpPr>
          <p:cNvPr id="492" name="Google Shape;492;g3f5c399fe94_0_0"/>
          <p:cNvSpPr/>
          <p:nvPr/>
        </p:nvSpPr>
        <p:spPr>
          <a:xfrm>
            <a:off x="5520681" y="2529011"/>
            <a:ext cx="1326000" cy="1534500"/>
          </a:xfrm>
          <a:prstGeom prst="rightArrow">
            <a:avLst>
              <a:gd name="adj1" fmla="val 84765"/>
              <a:gd name="adj2" fmla="val 45421"/>
            </a:avLst>
          </a:prstGeom>
          <a:gradFill>
            <a:gsLst>
              <a:gs pos="0">
                <a:srgbClr val="4AB9C4">
                  <a:alpha val="0"/>
                </a:srgbClr>
              </a:gs>
              <a:gs pos="100000">
                <a:srgbClr val="4AB9C4">
                  <a:alpha val="47843"/>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Roboto Light"/>
              <a:ea typeface="Roboto Light"/>
              <a:cs typeface="Roboto Light"/>
              <a:sym typeface="Roboto Light"/>
            </a:endParaRPr>
          </a:p>
        </p:txBody>
      </p:sp>
      <p:sp>
        <p:nvSpPr>
          <p:cNvPr id="493" name="Google Shape;493;g3f5c399fe94_0_0"/>
          <p:cNvSpPr/>
          <p:nvPr/>
        </p:nvSpPr>
        <p:spPr>
          <a:xfrm>
            <a:off x="3933677" y="459593"/>
            <a:ext cx="1579500" cy="3075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500"/>
              <a:buFont typeface="Arial"/>
              <a:buNone/>
            </a:pPr>
            <a:r>
              <a:rPr lang="en-US" sz="1500" b="1" i="0" u="none" strike="noStrike" cap="none">
                <a:solidFill>
                  <a:srgbClr val="BA083A"/>
                </a:solidFill>
                <a:latin typeface="Roboto"/>
                <a:ea typeface="Roboto"/>
                <a:cs typeface="Roboto"/>
                <a:sym typeface="Roboto"/>
              </a:rPr>
              <a:t>YAML formatted</a:t>
            </a:r>
            <a:endParaRPr sz="15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3f95de07730_1_443"/>
          <p:cNvSpPr txBox="1"/>
          <p:nvPr/>
        </p:nvSpPr>
        <p:spPr>
          <a:xfrm>
            <a:off x="1803628" y="5208684"/>
            <a:ext cx="8584800" cy="594900"/>
          </a:xfrm>
          <a:prstGeom prst="rect">
            <a:avLst/>
          </a:prstGeom>
          <a:noFill/>
          <a:ln>
            <a:noFill/>
          </a:ln>
        </p:spPr>
        <p:txBody>
          <a:bodyPr spcFirstLastPara="1" wrap="square" lIns="0" tIns="9775" rIns="0" bIns="0" anchor="t" anchorCtr="0">
            <a:spAutoFit/>
          </a:bodyPr>
          <a:lstStyle/>
          <a:p>
            <a:pPr marL="12700" lvl="0" indent="0" algn="ctr" rtl="0">
              <a:lnSpc>
                <a:spcPct val="100000"/>
              </a:lnSpc>
              <a:spcBef>
                <a:spcPts val="0"/>
              </a:spcBef>
              <a:spcAft>
                <a:spcPts val="0"/>
              </a:spcAft>
              <a:buNone/>
            </a:pPr>
            <a:r>
              <a:rPr lang="en-US" sz="1900">
                <a:solidFill>
                  <a:srgbClr val="42494B"/>
                </a:solidFill>
                <a:latin typeface="Arial"/>
                <a:ea typeface="Arial"/>
                <a:cs typeface="Arial"/>
                <a:sym typeface="Arial"/>
              </a:rPr>
              <a:t>Requirement: Any HPC/cloud/</a:t>
            </a:r>
            <a:r>
              <a:rPr lang="en-US" sz="1900">
                <a:solidFill>
                  <a:srgbClr val="42494B"/>
                </a:solidFill>
              </a:rPr>
              <a:t>…</a:t>
            </a:r>
            <a:r>
              <a:rPr lang="en-US" sz="1900">
                <a:solidFill>
                  <a:srgbClr val="42494B"/>
                </a:solidFill>
                <a:latin typeface="Arial"/>
                <a:ea typeface="Arial"/>
                <a:cs typeface="Arial"/>
                <a:sym typeface="Arial"/>
              </a:rPr>
              <a:t> system with outbound network connectivity. Includes your own campus cluster or lab </a:t>
            </a:r>
            <a:r>
              <a:rPr lang="en-US" sz="1900">
                <a:solidFill>
                  <a:srgbClr val="42494B"/>
                </a:solidFill>
              </a:rPr>
              <a:t>machines!</a:t>
            </a:r>
            <a:endParaRPr sz="1900">
              <a:latin typeface="Arial"/>
              <a:ea typeface="Arial"/>
              <a:cs typeface="Arial"/>
              <a:sym typeface="Arial"/>
            </a:endParaRPr>
          </a:p>
        </p:txBody>
      </p:sp>
      <p:sp>
        <p:nvSpPr>
          <p:cNvPr id="504" name="Google Shape;504;g3f95de07730_1_443"/>
          <p:cNvSpPr txBox="1">
            <a:spLocks noGrp="1"/>
          </p:cNvSpPr>
          <p:nvPr>
            <p:ph type="sldNum" idx="12"/>
          </p:nvPr>
        </p:nvSpPr>
        <p:spPr>
          <a:xfrm>
            <a:off x="11601600" y="6236033"/>
            <a:ext cx="4233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
        <p:nvSpPr>
          <p:cNvPr id="505" name="Google Shape;505;g3f95de07730_1_443"/>
          <p:cNvSpPr txBox="1">
            <a:spLocks noGrp="1"/>
          </p:cNvSpPr>
          <p:nvPr>
            <p:ph type="title"/>
          </p:nvPr>
        </p:nvSpPr>
        <p:spPr>
          <a:xfrm>
            <a:off x="838200" y="365125"/>
            <a:ext cx="10515600" cy="1325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Clr>
                <a:schemeClr val="dk1"/>
              </a:buClr>
              <a:buSzPct val="34091"/>
              <a:buFont typeface="Arial"/>
              <a:buNone/>
            </a:pPr>
            <a:r>
              <a:rPr lang="en-US"/>
              <a:t>Write Once, Run Anywhere</a:t>
            </a:r>
            <a:endParaRPr/>
          </a:p>
          <a:p>
            <a:pPr marL="0" lvl="0" indent="0" algn="l" rtl="0">
              <a:spcBef>
                <a:spcPts val="0"/>
              </a:spcBef>
              <a:spcAft>
                <a:spcPts val="0"/>
              </a:spcAft>
              <a:buClr>
                <a:schemeClr val="dk1"/>
              </a:buClr>
              <a:buSzPct val="34091"/>
              <a:buFont typeface="Arial"/>
              <a:buNone/>
            </a:pPr>
            <a:endParaRPr/>
          </a:p>
          <a:p>
            <a:pPr marL="0" lvl="0" indent="0" algn="l" rtl="0">
              <a:spcBef>
                <a:spcPts val="0"/>
              </a:spcBef>
              <a:spcAft>
                <a:spcPts val="0"/>
              </a:spcAft>
              <a:buNone/>
            </a:pPr>
            <a:endParaRPr/>
          </a:p>
        </p:txBody>
      </p:sp>
      <p:pic>
        <p:nvPicPr>
          <p:cNvPr id="506" name="Google Shape;506;g3f95de07730_1_443" title="Gemini_Generated_Image_soxr7lsoxr7lsoxr.png"/>
          <p:cNvPicPr preferRelativeResize="0"/>
          <p:nvPr/>
        </p:nvPicPr>
        <p:blipFill>
          <a:blip r:embed="rId3">
            <a:alphaModFix/>
          </a:blip>
          <a:stretch>
            <a:fillRect/>
          </a:stretch>
        </p:blipFill>
        <p:spPr>
          <a:xfrm>
            <a:off x="2381967" y="1149767"/>
            <a:ext cx="7428132" cy="39788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g3f95de07730_1_649" descr="$PPTXTitle"/>
          <p:cNvSpPr txBox="1">
            <a:spLocks noGrp="1"/>
          </p:cNvSpPr>
          <p:nvPr>
            <p:ph type="title"/>
          </p:nvPr>
        </p:nvSpPr>
        <p:spPr>
          <a:xfrm>
            <a:off x="482992" y="318888"/>
            <a:ext cx="9002400" cy="852000"/>
          </a:xfrm>
          <a:prstGeom prst="rect">
            <a:avLst/>
          </a:prstGeom>
          <a:noFill/>
          <a:ln>
            <a:noFill/>
          </a:ln>
        </p:spPr>
        <p:txBody>
          <a:bodyPr spcFirstLastPara="1" wrap="square" lIns="0" tIns="310275" rIns="0" bIns="0" anchor="t" anchorCtr="0">
            <a:spAutoFit/>
          </a:bodyPr>
          <a:lstStyle/>
          <a:p>
            <a:pPr marL="12700" lvl="0" indent="0" algn="l" rtl="0">
              <a:lnSpc>
                <a:spcPct val="100000"/>
              </a:lnSpc>
              <a:spcBef>
                <a:spcPts val="0"/>
              </a:spcBef>
              <a:spcAft>
                <a:spcPts val="0"/>
              </a:spcAft>
              <a:buNone/>
            </a:pPr>
            <a:r>
              <a:rPr lang="en-US" sz="3500">
                <a:solidFill>
                  <a:srgbClr val="0A4D79"/>
                </a:solidFill>
              </a:rPr>
              <a:t>Resilience: When Things Go Wrong</a:t>
            </a:r>
            <a:endParaRPr sz="3500"/>
          </a:p>
        </p:txBody>
      </p:sp>
      <p:pic>
        <p:nvPicPr>
          <p:cNvPr id="654" name="Google Shape;654;g3f95de07730_1_649"/>
          <p:cNvPicPr preferRelativeResize="0"/>
          <p:nvPr/>
        </p:nvPicPr>
        <p:blipFill>
          <a:blip r:embed="rId3">
            <a:alphaModFix/>
          </a:blip>
          <a:stretch>
            <a:fillRect/>
          </a:stretch>
        </p:blipFill>
        <p:spPr>
          <a:xfrm>
            <a:off x="415190" y="1428767"/>
            <a:ext cx="11331160" cy="4780117"/>
          </a:xfrm>
          <a:prstGeom prst="rect">
            <a:avLst/>
          </a:prstGeom>
          <a:noFill/>
          <a:ln>
            <a:noFill/>
          </a:ln>
        </p:spPr>
      </p:pic>
      <p:sp>
        <p:nvSpPr>
          <p:cNvPr id="655" name="Google Shape;655;g3f95de07730_1_649"/>
          <p:cNvSpPr txBox="1">
            <a:spLocks noGrp="1"/>
          </p:cNvSpPr>
          <p:nvPr>
            <p:ph type="sldNum" idx="12"/>
          </p:nvPr>
        </p:nvSpPr>
        <p:spPr>
          <a:xfrm>
            <a:off x="6457950" y="4767263"/>
            <a:ext cx="20577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3f95de07730_1_655" descr="$PPTXTitle"/>
          <p:cNvSpPr txBox="1">
            <a:spLocks noGrp="1"/>
          </p:cNvSpPr>
          <p:nvPr>
            <p:ph type="title"/>
          </p:nvPr>
        </p:nvSpPr>
        <p:spPr>
          <a:xfrm>
            <a:off x="838200" y="365125"/>
            <a:ext cx="10515600" cy="895500"/>
          </a:xfrm>
          <a:prstGeom prst="rect">
            <a:avLst/>
          </a:prstGeom>
          <a:noFill/>
          <a:ln>
            <a:noFill/>
          </a:ln>
        </p:spPr>
        <p:txBody>
          <a:bodyPr spcFirstLastPara="1" wrap="square" lIns="0" tIns="292375" rIns="0" bIns="0" anchor="t" anchorCtr="0">
            <a:spAutoFit/>
          </a:bodyPr>
          <a:lstStyle/>
          <a:p>
            <a:pPr marL="12700" lvl="0" indent="0" algn="l" rtl="0">
              <a:lnSpc>
                <a:spcPct val="100000"/>
              </a:lnSpc>
              <a:spcBef>
                <a:spcPts val="0"/>
              </a:spcBef>
              <a:spcAft>
                <a:spcPts val="0"/>
              </a:spcAft>
              <a:buNone/>
            </a:pPr>
            <a:r>
              <a:rPr lang="en-US" sz="3900">
                <a:solidFill>
                  <a:srgbClr val="084D74"/>
                </a:solidFill>
              </a:rPr>
              <a:t>Provenance </a:t>
            </a:r>
            <a:r>
              <a:rPr lang="en-US" sz="3900" b="0">
                <a:solidFill>
                  <a:srgbClr val="084D74"/>
                </a:solidFill>
                <a:latin typeface="Arial"/>
                <a:ea typeface="Arial"/>
                <a:cs typeface="Arial"/>
                <a:sym typeface="Arial"/>
              </a:rPr>
              <a:t>&amp; </a:t>
            </a:r>
            <a:r>
              <a:rPr lang="en-US" sz="3900">
                <a:solidFill>
                  <a:srgbClr val="084D74"/>
                </a:solidFill>
              </a:rPr>
              <a:t>Reproducibility</a:t>
            </a:r>
            <a:endParaRPr sz="3900">
              <a:latin typeface="Arial"/>
              <a:ea typeface="Arial"/>
              <a:cs typeface="Arial"/>
              <a:sym typeface="Arial"/>
            </a:endParaRPr>
          </a:p>
        </p:txBody>
      </p:sp>
      <p:sp>
        <p:nvSpPr>
          <p:cNvPr id="661" name="Google Shape;661;g3f95de07730_1_655"/>
          <p:cNvSpPr txBox="1"/>
          <p:nvPr/>
        </p:nvSpPr>
        <p:spPr>
          <a:xfrm>
            <a:off x="498236" y="1351150"/>
            <a:ext cx="4293900" cy="842100"/>
          </a:xfrm>
          <a:prstGeom prst="rect">
            <a:avLst/>
          </a:prstGeom>
          <a:noFill/>
          <a:ln>
            <a:noFill/>
          </a:ln>
        </p:spPr>
        <p:txBody>
          <a:bodyPr spcFirstLastPara="1" wrap="square" lIns="0" tIns="10675" rIns="0" bIns="0" anchor="t" anchorCtr="0">
            <a:spAutoFit/>
          </a:bodyPr>
          <a:lstStyle/>
          <a:p>
            <a:pPr marL="12700" lvl="0" indent="0" algn="l" rtl="0">
              <a:lnSpc>
                <a:spcPct val="100000"/>
              </a:lnSpc>
              <a:spcBef>
                <a:spcPts val="0"/>
              </a:spcBef>
              <a:spcAft>
                <a:spcPts val="0"/>
              </a:spcAft>
              <a:buNone/>
            </a:pPr>
            <a:r>
              <a:rPr lang="en-US" sz="2700">
                <a:solidFill>
                  <a:srgbClr val="2B383B"/>
                </a:solidFill>
                <a:latin typeface="Arial"/>
                <a:ea typeface="Arial"/>
                <a:cs typeface="Arial"/>
                <a:sym typeface="Arial"/>
              </a:rPr>
              <a:t>Good science requires proof.</a:t>
            </a:r>
            <a:endParaRPr sz="2700">
              <a:latin typeface="Arial"/>
              <a:ea typeface="Arial"/>
              <a:cs typeface="Arial"/>
              <a:sym typeface="Arial"/>
            </a:endParaRPr>
          </a:p>
        </p:txBody>
      </p:sp>
      <p:sp>
        <p:nvSpPr>
          <p:cNvPr id="662" name="Google Shape;662;g3f95de07730_1_655"/>
          <p:cNvSpPr txBox="1"/>
          <p:nvPr/>
        </p:nvSpPr>
        <p:spPr>
          <a:xfrm>
            <a:off x="8408407" y="2926477"/>
            <a:ext cx="3434700" cy="2442300"/>
          </a:xfrm>
          <a:prstGeom prst="rect">
            <a:avLst/>
          </a:prstGeom>
          <a:noFill/>
          <a:ln>
            <a:noFill/>
          </a:ln>
        </p:spPr>
        <p:txBody>
          <a:bodyPr spcFirstLastPara="1" wrap="square" lIns="0" tIns="10225" rIns="0" bIns="0" anchor="t" anchorCtr="0">
            <a:spAutoFit/>
          </a:bodyPr>
          <a:lstStyle/>
          <a:p>
            <a:pPr marL="12700" lvl="0" indent="0" algn="l" rtl="0">
              <a:lnSpc>
                <a:spcPct val="100000"/>
              </a:lnSpc>
              <a:spcBef>
                <a:spcPts val="0"/>
              </a:spcBef>
              <a:spcAft>
                <a:spcPts val="0"/>
              </a:spcAft>
              <a:buNone/>
            </a:pPr>
            <a:r>
              <a:rPr lang="en-US" sz="2500">
                <a:solidFill>
                  <a:srgbClr val="2B383B"/>
                </a:solidFill>
                <a:latin typeface="Arial"/>
                <a:ea typeface="Arial"/>
                <a:cs typeface="Arial"/>
                <a:sym typeface="Arial"/>
              </a:rPr>
              <a:t>Pegasus tracks every bit of</a:t>
            </a:r>
            <a:r>
              <a:rPr lang="en-US" sz="2500"/>
              <a:t> </a:t>
            </a:r>
            <a:r>
              <a:rPr lang="en-US" sz="2700" b="1">
                <a:solidFill>
                  <a:srgbClr val="2B383B"/>
                </a:solidFill>
                <a:latin typeface="Arial"/>
                <a:ea typeface="Arial"/>
                <a:cs typeface="Arial"/>
                <a:sym typeface="Arial"/>
              </a:rPr>
              <a:t>data and every compute </a:t>
            </a:r>
            <a:r>
              <a:rPr lang="en-US" sz="2500">
                <a:solidFill>
                  <a:srgbClr val="2B383B"/>
                </a:solidFill>
                <a:latin typeface="Arial"/>
                <a:ea typeface="Arial"/>
                <a:cs typeface="Arial"/>
                <a:sym typeface="Arial"/>
              </a:rPr>
              <a:t>step, ensuring your results are </a:t>
            </a:r>
            <a:r>
              <a:rPr lang="en-US" sz="2700" b="1">
                <a:solidFill>
                  <a:srgbClr val="2B383B"/>
                </a:solidFill>
                <a:latin typeface="Arial"/>
                <a:ea typeface="Arial"/>
                <a:cs typeface="Arial"/>
                <a:sym typeface="Arial"/>
              </a:rPr>
              <a:t>verifiable </a:t>
            </a:r>
            <a:r>
              <a:rPr lang="en-US" sz="2500">
                <a:solidFill>
                  <a:srgbClr val="2B383B"/>
                </a:solidFill>
              </a:rPr>
              <a:t>and </a:t>
            </a:r>
            <a:r>
              <a:rPr lang="en-US" sz="2700" b="1">
                <a:solidFill>
                  <a:srgbClr val="2B383B"/>
                </a:solidFill>
              </a:rPr>
              <a:t>reproducible.</a:t>
            </a:r>
            <a:endParaRPr sz="2700">
              <a:latin typeface="Arial"/>
              <a:ea typeface="Arial"/>
              <a:cs typeface="Arial"/>
              <a:sym typeface="Arial"/>
            </a:endParaRPr>
          </a:p>
        </p:txBody>
      </p:sp>
      <p:pic>
        <p:nvPicPr>
          <p:cNvPr id="663" name="Google Shape;663;g3f95de07730_1_655"/>
          <p:cNvPicPr preferRelativeResize="0"/>
          <p:nvPr/>
        </p:nvPicPr>
        <p:blipFill>
          <a:blip r:embed="rId3">
            <a:alphaModFix/>
          </a:blip>
          <a:stretch>
            <a:fillRect/>
          </a:stretch>
        </p:blipFill>
        <p:spPr>
          <a:xfrm>
            <a:off x="404686" y="1902565"/>
            <a:ext cx="7396275" cy="4505547"/>
          </a:xfrm>
          <a:prstGeom prst="rect">
            <a:avLst/>
          </a:prstGeom>
          <a:noFill/>
          <a:ln>
            <a:noFill/>
          </a:ln>
        </p:spPr>
      </p:pic>
      <p:sp>
        <p:nvSpPr>
          <p:cNvPr id="664" name="Google Shape;664;g3f95de07730_1_655"/>
          <p:cNvSpPr/>
          <p:nvPr/>
        </p:nvSpPr>
        <p:spPr>
          <a:xfrm>
            <a:off x="7269192" y="2760908"/>
            <a:ext cx="840900" cy="1831500"/>
          </a:xfrm>
          <a:prstGeom prst="rect">
            <a:avLst/>
          </a:prstGeom>
          <a:solidFill>
            <a:schemeClr val="lt1"/>
          </a:solidFill>
          <a:ln w="6675" cap="flat" cmpd="sng">
            <a:solidFill>
              <a:schemeClr val="lt1"/>
            </a:solidFill>
            <a:prstDash val="solid"/>
            <a:round/>
            <a:headEnd type="none" w="sm" len="sm"/>
            <a:tailEnd type="none" w="sm" len="sm"/>
          </a:ln>
        </p:spPr>
        <p:txBody>
          <a:bodyPr spcFirstLastPara="1" wrap="square" lIns="63975" tIns="63975" rIns="63975" bIns="63975" anchor="ctr" anchorCtr="0">
            <a:noAutofit/>
          </a:bodyPr>
          <a:lstStyle/>
          <a:p>
            <a:pPr marL="0" lvl="0" indent="0" algn="ctr" rtl="0">
              <a:spcBef>
                <a:spcPts val="0"/>
              </a:spcBef>
              <a:spcAft>
                <a:spcPts val="0"/>
              </a:spcAft>
              <a:buNone/>
            </a:pP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26EA-44C4-DA7E-CFA0-5B28DEFC620D}"/>
              </a:ext>
            </a:extLst>
          </p:cNvPr>
          <p:cNvSpPr>
            <a:spLocks noGrp="1"/>
          </p:cNvSpPr>
          <p:nvPr>
            <p:ph type="title"/>
          </p:nvPr>
        </p:nvSpPr>
        <p:spPr/>
        <p:txBody>
          <a:bodyPr/>
          <a:lstStyle/>
          <a:p>
            <a:r>
              <a:rPr lang="en-US" dirty="0"/>
              <a:t>The NERSC Superfacility API</a:t>
            </a:r>
          </a:p>
        </p:txBody>
      </p:sp>
      <p:sp>
        <p:nvSpPr>
          <p:cNvPr id="10" name="Intro"/>
          <p:cNvSpPr txBox="1"/>
          <p:nvPr/>
        </p:nvSpPr>
        <p:spPr>
          <a:xfrm>
            <a:off x="838200" y="1422400"/>
            <a:ext cx="10515600" cy="330200"/>
          </a:xfrm>
          <a:prstGeom prst="rect">
            <a:avLst/>
          </a:prstGeom>
          <a:noFill/>
          <a:ln>
            <a:noFill/>
          </a:ln>
        </p:spPr>
        <p:txBody>
          <a:bodyPr wrap="square" lIns="0" tIns="0" rIns="0" bIns="0" anchor="t">
            <a:noAutofit/>
          </a:bodyPr>
          <a:lstStyle/>
          <a:p>
            <a:pPr marL="0" indent="0" algn="l">
              <a:spcBef>
                <a:spcPts val="0"/>
              </a:spcBef>
              <a:buNone/>
            </a:pPr>
            <a:r>
              <a:rPr lang="en-US" sz="1600" dirty="0">
                <a:solidFill>
                  <a:srgbClr val="262626"/>
                </a:solidFill>
              </a:rPr>
              <a:t>NERSC's </a:t>
            </a:r>
            <a:r>
              <a:rPr lang="en-US" sz="1600" b="1" dirty="0">
                <a:solidFill>
                  <a:srgbClr val="262626"/>
                </a:solidFill>
              </a:rPr>
              <a:t>Superfacility API (SFAPI)</a:t>
            </a:r>
            <a:r>
              <a:rPr lang="en-US" sz="1600" dirty="0">
                <a:solidFill>
                  <a:srgbClr val="262626"/>
                </a:solidFill>
              </a:rPr>
              <a:t> is a REST API for scripting jobs and workflows against NERSC systems.</a:t>
            </a:r>
          </a:p>
        </p:txBody>
      </p:sp>
      <p:sp>
        <p:nvSpPr>
          <p:cNvPr id="11" name="Left caption"/>
          <p:cNvSpPr txBox="1"/>
          <p:nvPr/>
        </p:nvSpPr>
        <p:spPr>
          <a:xfrm>
            <a:off x="838200" y="1930400"/>
            <a:ext cx="6934200" cy="254000"/>
          </a:xfrm>
          <a:prstGeom prst="rect">
            <a:avLst/>
          </a:prstGeom>
          <a:noFill/>
          <a:ln>
            <a:noFill/>
          </a:ln>
        </p:spPr>
        <p:txBody>
          <a:bodyPr wrap="square" lIns="0" tIns="0" rIns="0" bIns="0" anchor="t">
            <a:noAutofit/>
          </a:bodyPr>
          <a:lstStyle/>
          <a:p>
            <a:pPr marL="0" indent="0" algn="l">
              <a:spcBef>
                <a:spcPts val="0"/>
              </a:spcBef>
              <a:buNone/>
            </a:pPr>
            <a:r>
              <a:rPr lang="en-US" sz="1400" b="1" dirty="0">
                <a:solidFill>
                  <a:srgbClr val="1A5B6E"/>
                </a:solidFill>
              </a:rPr>
              <a:t>What you can do through the API</a:t>
            </a:r>
          </a:p>
        </p:txBody>
      </p:sp>
      <p:sp>
        <p:nvSpPr>
          <p:cNvPr id="12" name="Cap card 1"/>
          <p:cNvSpPr txBox="1"/>
          <p:nvPr/>
        </p:nvSpPr>
        <p:spPr>
          <a:xfrm>
            <a:off x="838200" y="2184400"/>
            <a:ext cx="2184400" cy="1524000"/>
          </a:xfrm>
          <a:prstGeom prst="rect">
            <a:avLst/>
          </a:prstGeom>
          <a:solidFill>
            <a:srgbClr val="EDF4F6"/>
          </a:solidFill>
          <a:ln>
            <a:noFill/>
          </a:ln>
        </p:spPr>
        <p:txBody>
          <a:bodyPr wrap="square" lIns="177800" tIns="660400" rIns="152400" bIns="101600" anchor="t">
            <a:noAutofit/>
          </a:bodyPr>
          <a:lstStyle/>
          <a:p>
            <a:pPr marL="0" indent="0" algn="l">
              <a:spcBef>
                <a:spcPts val="0"/>
              </a:spcBef>
              <a:buNone/>
            </a:pPr>
            <a:r>
              <a:rPr lang="en-US" sz="1600" b="1" dirty="0">
                <a:solidFill>
                  <a:srgbClr val="1A5B6E"/>
                </a:solidFill>
              </a:rPr>
              <a:t>System status</a:t>
            </a:r>
          </a:p>
          <a:p>
            <a:pPr marL="0" indent="0" algn="l">
              <a:spcBef>
                <a:spcPts val="300"/>
              </a:spcBef>
              <a:buNone/>
            </a:pPr>
            <a:r>
              <a:rPr lang="en-US" sz="1400" dirty="0">
                <a:solidFill>
                  <a:srgbClr val="262626"/>
                </a:solidFill>
              </a:rPr>
              <a:t>Check if systems are up; no client needed</a:t>
            </a:r>
          </a:p>
        </p:txBody>
      </p:sp>
      <p:sp>
        <p:nvSpPr>
          <p:cNvPr id="13" name="Cap card 2"/>
          <p:cNvSpPr txBox="1"/>
          <p:nvPr/>
        </p:nvSpPr>
        <p:spPr>
          <a:xfrm>
            <a:off x="3238500" y="2184400"/>
            <a:ext cx="2184400" cy="1524000"/>
          </a:xfrm>
          <a:prstGeom prst="rect">
            <a:avLst/>
          </a:prstGeom>
          <a:solidFill>
            <a:srgbClr val="EDF4F6"/>
          </a:solidFill>
          <a:ln>
            <a:noFill/>
          </a:ln>
        </p:spPr>
        <p:txBody>
          <a:bodyPr wrap="square" lIns="177800" tIns="660400" rIns="152400" bIns="101600" anchor="t">
            <a:noAutofit/>
          </a:bodyPr>
          <a:lstStyle/>
          <a:p>
            <a:pPr marL="0" indent="0" algn="l">
              <a:spcBef>
                <a:spcPts val="0"/>
              </a:spcBef>
              <a:buNone/>
            </a:pPr>
            <a:r>
              <a:rPr lang="en-US" sz="1600" b="1" dirty="0">
                <a:solidFill>
                  <a:srgbClr val="1A5B6E"/>
                </a:solidFill>
              </a:rPr>
              <a:t>Submit jobs</a:t>
            </a:r>
          </a:p>
          <a:p>
            <a:pPr marL="0" indent="0" algn="l">
              <a:spcBef>
                <a:spcPts val="300"/>
              </a:spcBef>
              <a:buNone/>
            </a:pPr>
            <a:r>
              <a:rPr lang="en-US" sz="1400" dirty="0">
                <a:solidFill>
                  <a:srgbClr val="262626"/>
                </a:solidFill>
              </a:rPr>
              <a:t>Launch batch jobs from your own scripts</a:t>
            </a:r>
          </a:p>
        </p:txBody>
      </p:sp>
      <p:sp>
        <p:nvSpPr>
          <p:cNvPr id="14" name="Cap card 3"/>
          <p:cNvSpPr txBox="1"/>
          <p:nvPr/>
        </p:nvSpPr>
        <p:spPr>
          <a:xfrm>
            <a:off x="5638800" y="2184400"/>
            <a:ext cx="2184400" cy="1524000"/>
          </a:xfrm>
          <a:prstGeom prst="rect">
            <a:avLst/>
          </a:prstGeom>
          <a:solidFill>
            <a:srgbClr val="EDF4F6"/>
          </a:solidFill>
          <a:ln>
            <a:noFill/>
          </a:ln>
        </p:spPr>
        <p:txBody>
          <a:bodyPr wrap="square" lIns="177800" tIns="660400" rIns="152400" bIns="101600" anchor="t">
            <a:noAutofit/>
          </a:bodyPr>
          <a:lstStyle/>
          <a:p>
            <a:pPr marL="0" indent="0" algn="l">
              <a:spcBef>
                <a:spcPts val="0"/>
              </a:spcBef>
              <a:buNone/>
            </a:pPr>
            <a:r>
              <a:rPr lang="en-US" sz="1600" b="1" dirty="0">
                <a:solidFill>
                  <a:srgbClr val="1A5B6E"/>
                </a:solidFill>
              </a:rPr>
              <a:t>Track jobs</a:t>
            </a:r>
          </a:p>
          <a:p>
            <a:pPr marL="0" indent="0" algn="l">
              <a:spcBef>
                <a:spcPts val="300"/>
              </a:spcBef>
              <a:buNone/>
            </a:pPr>
            <a:r>
              <a:rPr lang="en-US" sz="1400" dirty="0">
                <a:solidFill>
                  <a:srgbClr val="262626"/>
                </a:solidFill>
              </a:rPr>
              <a:t>Poll job state as a workflow runs</a:t>
            </a:r>
          </a:p>
        </p:txBody>
      </p:sp>
      <p:sp>
        <p:nvSpPr>
          <p:cNvPr id="15" name="Cap card 4"/>
          <p:cNvSpPr txBox="1"/>
          <p:nvPr/>
        </p:nvSpPr>
        <p:spPr>
          <a:xfrm>
            <a:off x="838200" y="3911600"/>
            <a:ext cx="2184400" cy="1524000"/>
          </a:xfrm>
          <a:prstGeom prst="rect">
            <a:avLst/>
          </a:prstGeom>
          <a:solidFill>
            <a:srgbClr val="EDF4F6"/>
          </a:solidFill>
          <a:ln>
            <a:noFill/>
          </a:ln>
        </p:spPr>
        <p:txBody>
          <a:bodyPr wrap="square" lIns="177800" tIns="660400" rIns="152400" bIns="101600" anchor="t">
            <a:noAutofit/>
          </a:bodyPr>
          <a:lstStyle/>
          <a:p>
            <a:pPr marL="0" indent="0" algn="l">
              <a:spcBef>
                <a:spcPts val="0"/>
              </a:spcBef>
              <a:buNone/>
            </a:pPr>
            <a:r>
              <a:rPr lang="en-US" sz="1600" b="1" dirty="0">
                <a:solidFill>
                  <a:srgbClr val="1A5B6E"/>
                </a:solidFill>
              </a:rPr>
              <a:t>Move files</a:t>
            </a:r>
          </a:p>
          <a:p>
            <a:pPr marL="0" indent="0" algn="l">
              <a:spcBef>
                <a:spcPts val="300"/>
              </a:spcBef>
              <a:buNone/>
            </a:pPr>
            <a:r>
              <a:rPr lang="en-US" sz="1400" dirty="0">
                <a:solidFill>
                  <a:srgbClr val="262626"/>
                </a:solidFill>
              </a:rPr>
              <a:t>Transfer data in and out of NERSC</a:t>
            </a:r>
          </a:p>
        </p:txBody>
      </p:sp>
      <p:sp>
        <p:nvSpPr>
          <p:cNvPr id="16" name="Cap card 5"/>
          <p:cNvSpPr txBox="1"/>
          <p:nvPr/>
        </p:nvSpPr>
        <p:spPr>
          <a:xfrm>
            <a:off x="3238500" y="3911600"/>
            <a:ext cx="2184400" cy="1524000"/>
          </a:xfrm>
          <a:prstGeom prst="rect">
            <a:avLst/>
          </a:prstGeom>
          <a:solidFill>
            <a:srgbClr val="EDF4F6"/>
          </a:solidFill>
          <a:ln>
            <a:noFill/>
          </a:ln>
        </p:spPr>
        <p:txBody>
          <a:bodyPr wrap="square" lIns="177800" tIns="660400" rIns="152400" bIns="101600" anchor="t">
            <a:noAutofit/>
          </a:bodyPr>
          <a:lstStyle/>
          <a:p>
            <a:pPr marL="0" indent="0" algn="l">
              <a:spcBef>
                <a:spcPts val="0"/>
              </a:spcBef>
              <a:buNone/>
            </a:pPr>
            <a:r>
              <a:rPr lang="en-US" sz="1600" b="1" dirty="0">
                <a:solidFill>
                  <a:srgbClr val="1A5B6E"/>
                </a:solidFill>
              </a:rPr>
              <a:t>Reservations</a:t>
            </a:r>
          </a:p>
          <a:p>
            <a:pPr marL="0" indent="0" algn="l">
              <a:spcBef>
                <a:spcPts val="300"/>
              </a:spcBef>
              <a:buNone/>
            </a:pPr>
            <a:r>
              <a:rPr lang="en-US" sz="1400" dirty="0">
                <a:solidFill>
                  <a:srgbClr val="262626"/>
                </a:solidFill>
              </a:rPr>
              <a:t>Book compute time in advance</a:t>
            </a:r>
          </a:p>
        </p:txBody>
      </p:sp>
      <p:sp>
        <p:nvSpPr>
          <p:cNvPr id="17" name="Cap card 6"/>
          <p:cNvSpPr txBox="1"/>
          <p:nvPr/>
        </p:nvSpPr>
        <p:spPr>
          <a:xfrm>
            <a:off x="5638800" y="3911600"/>
            <a:ext cx="2184400" cy="1524000"/>
          </a:xfrm>
          <a:prstGeom prst="rect">
            <a:avLst/>
          </a:prstGeom>
          <a:solidFill>
            <a:srgbClr val="EDF4F6"/>
          </a:solidFill>
          <a:ln>
            <a:noFill/>
          </a:ln>
        </p:spPr>
        <p:txBody>
          <a:bodyPr wrap="square" lIns="177800" tIns="660400" rIns="152400" bIns="101600" anchor="t">
            <a:noAutofit/>
          </a:bodyPr>
          <a:lstStyle/>
          <a:p>
            <a:pPr marL="0" indent="0" algn="l">
              <a:spcBef>
                <a:spcPts val="0"/>
              </a:spcBef>
              <a:buNone/>
            </a:pPr>
            <a:r>
              <a:rPr lang="en-US" sz="1600" b="1" dirty="0">
                <a:solidFill>
                  <a:srgbClr val="1A5B6E"/>
                </a:solidFill>
              </a:rPr>
              <a:t>Accounting</a:t>
            </a:r>
          </a:p>
          <a:p>
            <a:pPr marL="0" indent="0" algn="l">
              <a:spcBef>
                <a:spcPts val="300"/>
              </a:spcBef>
              <a:buNone/>
            </a:pPr>
            <a:r>
              <a:rPr lang="en-US" sz="1400" dirty="0">
                <a:solidFill>
                  <a:srgbClr val="262626"/>
                </a:solidFill>
              </a:rPr>
              <a:t>Query usage for your projects</a:t>
            </a:r>
          </a:p>
        </p:txBody>
      </p:sp>
      <p:cxnSp>
        <p:nvCxnSpPr>
          <p:cNvPr id="18" name="Column divider"/>
          <p:cNvCxnSpPr/>
          <p:nvPr/>
        </p:nvCxnSpPr>
        <p:spPr>
          <a:xfrm>
            <a:off x="8001000" y="1930400"/>
            <a:ext cx="0" cy="3505200"/>
          </a:xfrm>
          <a:prstGeom prst="line">
            <a:avLst/>
          </a:prstGeom>
          <a:ln w="9525">
            <a:solidFill>
              <a:srgbClr val="D9D9D9"/>
            </a:solidFill>
          </a:ln>
        </p:spPr>
      </p:cxnSp>
      <p:sp>
        <p:nvSpPr>
          <p:cNvPr id="19" name="Right caption"/>
          <p:cNvSpPr txBox="1"/>
          <p:nvPr/>
        </p:nvSpPr>
        <p:spPr>
          <a:xfrm>
            <a:off x="8229600" y="1930400"/>
            <a:ext cx="3124200" cy="254000"/>
          </a:xfrm>
          <a:prstGeom prst="rect">
            <a:avLst/>
          </a:prstGeom>
          <a:noFill/>
          <a:ln>
            <a:noFill/>
          </a:ln>
        </p:spPr>
        <p:txBody>
          <a:bodyPr wrap="square" lIns="0" tIns="0" rIns="0" bIns="0" anchor="t">
            <a:noAutofit/>
          </a:bodyPr>
          <a:lstStyle/>
          <a:p>
            <a:pPr marL="0" indent="0" algn="l">
              <a:spcBef>
                <a:spcPts val="0"/>
              </a:spcBef>
              <a:buNone/>
            </a:pPr>
            <a:r>
              <a:rPr lang="en-US" sz="1400" b="1" dirty="0">
                <a:solidFill>
                  <a:srgbClr val="1A5B6E"/>
                </a:solidFill>
              </a:rPr>
              <a:t>How access works</a:t>
            </a:r>
          </a:p>
        </p:txBody>
      </p:sp>
      <p:sp>
        <p:nvSpPr>
          <p:cNvPr id="20" name="Access num 1"/>
          <p:cNvSpPr/>
          <p:nvPr/>
        </p:nvSpPr>
        <p:spPr>
          <a:xfrm>
            <a:off x="8229600" y="2311400"/>
            <a:ext cx="304800" cy="304800"/>
          </a:xfrm>
          <a:prstGeom prst="ellipse">
            <a:avLst/>
          </a:prstGeom>
          <a:solidFill>
            <a:srgbClr val="1A5B6E"/>
          </a:solidFill>
          <a:ln>
            <a:noFill/>
          </a:ln>
        </p:spPr>
        <p:txBody>
          <a:bodyPr wrap="square" lIns="0" tIns="0" rIns="0" bIns="0" anchor="ctr">
            <a:noAutofit/>
          </a:bodyPr>
          <a:lstStyle/>
          <a:p>
            <a:pPr marL="0" indent="0" algn="ctr">
              <a:spcBef>
                <a:spcPts val="0"/>
              </a:spcBef>
              <a:buNone/>
            </a:pPr>
            <a:r>
              <a:rPr lang="en-US" sz="1400" b="1" dirty="0">
                <a:solidFill>
                  <a:srgbClr val="FFFFFF"/>
                </a:solidFill>
              </a:rPr>
              <a:t>1</a:t>
            </a:r>
          </a:p>
        </p:txBody>
      </p:sp>
      <p:sp>
        <p:nvSpPr>
          <p:cNvPr id="21" name="Access text 1"/>
          <p:cNvSpPr txBox="1"/>
          <p:nvPr/>
        </p:nvSpPr>
        <p:spPr>
          <a:xfrm>
            <a:off x="8661400" y="2324100"/>
            <a:ext cx="2692400" cy="914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Create a client in Iris</a:t>
            </a:r>
          </a:p>
          <a:p>
            <a:pPr marL="0" indent="0" algn="l">
              <a:spcBef>
                <a:spcPts val="300"/>
              </a:spcBef>
              <a:buNone/>
            </a:pPr>
            <a:r>
              <a:rPr lang="en-US" sz="1400" dirty="0">
                <a:solidFill>
                  <a:srgbClr val="404040"/>
                </a:solidFill>
              </a:rPr>
              <a:t>Its security level sets lifetime and allowed source IPs</a:t>
            </a:r>
          </a:p>
        </p:txBody>
      </p:sp>
      <p:sp>
        <p:nvSpPr>
          <p:cNvPr id="22" name="Access num 2"/>
          <p:cNvSpPr/>
          <p:nvPr/>
        </p:nvSpPr>
        <p:spPr>
          <a:xfrm>
            <a:off x="8229600" y="3302000"/>
            <a:ext cx="304800" cy="304800"/>
          </a:xfrm>
          <a:prstGeom prst="ellipse">
            <a:avLst/>
          </a:prstGeom>
          <a:solidFill>
            <a:srgbClr val="1A5B6E"/>
          </a:solidFill>
          <a:ln>
            <a:noFill/>
          </a:ln>
        </p:spPr>
        <p:txBody>
          <a:bodyPr wrap="square" lIns="0" tIns="0" rIns="0" bIns="0" anchor="ctr">
            <a:noAutofit/>
          </a:bodyPr>
          <a:lstStyle/>
          <a:p>
            <a:pPr marL="0" indent="0" algn="ctr">
              <a:spcBef>
                <a:spcPts val="0"/>
              </a:spcBef>
              <a:buNone/>
            </a:pPr>
            <a:r>
              <a:rPr lang="en-US" sz="1400" b="1" dirty="0">
                <a:solidFill>
                  <a:srgbClr val="FFFFFF"/>
                </a:solidFill>
              </a:rPr>
              <a:t>2</a:t>
            </a:r>
          </a:p>
        </p:txBody>
      </p:sp>
      <p:sp>
        <p:nvSpPr>
          <p:cNvPr id="23" name="Access text 2"/>
          <p:cNvSpPr txBox="1"/>
          <p:nvPr/>
        </p:nvSpPr>
        <p:spPr>
          <a:xfrm>
            <a:off x="8661400" y="3314700"/>
            <a:ext cx="2692400" cy="914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Get an access token</a:t>
            </a:r>
          </a:p>
          <a:p>
            <a:pPr marL="0" indent="0" algn="l">
              <a:spcBef>
                <a:spcPts val="300"/>
              </a:spcBef>
              <a:buNone/>
            </a:pPr>
            <a:r>
              <a:rPr lang="en-US" sz="1400" dirty="0">
                <a:solidFill>
                  <a:srgbClr val="404040"/>
                </a:solidFill>
              </a:rPr>
              <a:t>Sign with the client key; tokens last about 10 minutes</a:t>
            </a:r>
          </a:p>
        </p:txBody>
      </p:sp>
      <p:sp>
        <p:nvSpPr>
          <p:cNvPr id="24" name="Access num 3"/>
          <p:cNvSpPr/>
          <p:nvPr/>
        </p:nvSpPr>
        <p:spPr>
          <a:xfrm>
            <a:off x="8229600" y="4292600"/>
            <a:ext cx="304800" cy="304800"/>
          </a:xfrm>
          <a:prstGeom prst="ellipse">
            <a:avLst/>
          </a:prstGeom>
          <a:solidFill>
            <a:srgbClr val="1A5B6E"/>
          </a:solidFill>
          <a:ln>
            <a:noFill/>
          </a:ln>
        </p:spPr>
        <p:txBody>
          <a:bodyPr wrap="square" lIns="0" tIns="0" rIns="0" bIns="0" anchor="ctr">
            <a:noAutofit/>
          </a:bodyPr>
          <a:lstStyle/>
          <a:p>
            <a:pPr marL="0" indent="0" algn="ctr">
              <a:spcBef>
                <a:spcPts val="0"/>
              </a:spcBef>
              <a:buNone/>
            </a:pPr>
            <a:r>
              <a:rPr lang="en-US" sz="1400" b="1" dirty="0">
                <a:solidFill>
                  <a:srgbClr val="FFFFFF"/>
                </a:solidFill>
              </a:rPr>
              <a:t>3</a:t>
            </a:r>
          </a:p>
        </p:txBody>
      </p:sp>
      <p:sp>
        <p:nvSpPr>
          <p:cNvPr id="25" name="Access text 3"/>
          <p:cNvSpPr txBox="1"/>
          <p:nvPr/>
        </p:nvSpPr>
        <p:spPr>
          <a:xfrm>
            <a:off x="8661400" y="4305300"/>
            <a:ext cx="2692400" cy="914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Call the API</a:t>
            </a:r>
          </a:p>
          <a:p>
            <a:pPr marL="0" indent="0" algn="l">
              <a:spcBef>
                <a:spcPts val="300"/>
              </a:spcBef>
              <a:buNone/>
            </a:pPr>
            <a:r>
              <a:rPr lang="en-US" sz="1400" dirty="0">
                <a:solidFill>
                  <a:srgbClr val="404040"/>
                </a:solidFill>
              </a:rPr>
              <a:t>At api.nersc.gov/api/v1.2 or with the sfapi_client Python library</a:t>
            </a:r>
          </a:p>
        </p:txBody>
      </p:sp>
      <p:sp>
        <p:nvSpPr>
          <p:cNvPr id="26" name="Source"/>
          <p:cNvSpPr txBox="1"/>
          <p:nvPr/>
        </p:nvSpPr>
        <p:spPr>
          <a:xfrm>
            <a:off x="838200" y="5715000"/>
            <a:ext cx="10515600" cy="228600"/>
          </a:xfrm>
          <a:prstGeom prst="rect">
            <a:avLst/>
          </a:prstGeom>
          <a:noFill/>
          <a:ln>
            <a:noFill/>
          </a:ln>
        </p:spPr>
        <p:txBody>
          <a:bodyPr wrap="square" lIns="0" tIns="0" rIns="0" bIns="0" anchor="t">
            <a:noAutofit/>
          </a:bodyPr>
          <a:lstStyle/>
          <a:p>
            <a:pPr marL="0" indent="0" algn="l">
              <a:spcBef>
                <a:spcPts val="0"/>
              </a:spcBef>
              <a:buNone/>
            </a:pPr>
            <a:r>
              <a:rPr lang="en-US" sz="1000" dirty="0">
                <a:solidFill>
                  <a:srgbClr val="595959"/>
                </a:solidFill>
              </a:rPr>
              <a:t>Source: NERSC Documentation, “The Superfacility API” docs.nersc.gov/services/sfapi</a:t>
            </a:r>
          </a:p>
        </p:txBody>
      </p:sp>
      <p:pic>
        <p:nvPicPr>
          <p:cNvPr id="27" name="Graphic 27" descr="System status"/>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16000" y="2336800"/>
            <a:ext cx="406400" cy="406400"/>
          </a:xfrm>
          <a:prstGeom prst="rect">
            <a:avLst/>
          </a:prstGeom>
        </p:spPr>
      </p:pic>
      <p:pic>
        <p:nvPicPr>
          <p:cNvPr id="28" name="Graphic 28" descr="Submit job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6300" y="2336800"/>
            <a:ext cx="406400" cy="406400"/>
          </a:xfrm>
          <a:prstGeom prst="rect">
            <a:avLst/>
          </a:prstGeom>
        </p:spPr>
      </p:pic>
      <p:pic>
        <p:nvPicPr>
          <p:cNvPr id="29" name="Graphic 29" descr="Track job progres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16600" y="2336800"/>
            <a:ext cx="406400" cy="406400"/>
          </a:xfrm>
          <a:prstGeom prst="rect">
            <a:avLst/>
          </a:prstGeom>
        </p:spPr>
      </p:pic>
      <p:pic>
        <p:nvPicPr>
          <p:cNvPr id="30" name="Graphic 30" descr="Move file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6000" y="4064000"/>
            <a:ext cx="406400" cy="406400"/>
          </a:xfrm>
          <a:prstGeom prst="rect">
            <a:avLst/>
          </a:prstGeom>
        </p:spPr>
      </p:pic>
      <p:pic>
        <p:nvPicPr>
          <p:cNvPr id="31" name="Graphic 31" descr="Reserve compute time"/>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16300" y="4064000"/>
            <a:ext cx="406400" cy="406400"/>
          </a:xfrm>
          <a:prstGeom prst="rect">
            <a:avLst/>
          </a:prstGeom>
        </p:spPr>
      </p:pic>
      <p:pic>
        <p:nvPicPr>
          <p:cNvPr id="32" name="Graphic 32" descr="Accounting info"/>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16600" y="4064000"/>
            <a:ext cx="406400" cy="406400"/>
          </a:xfrm>
          <a:prstGeom prst="rect">
            <a:avLst/>
          </a:prstGeom>
        </p:spPr>
      </p:pic>
    </p:spTree>
    <p:extLst>
      <p:ext uri="{BB962C8B-B14F-4D97-AF65-F5344CB8AC3E}">
        <p14:creationId xmlns:p14="http://schemas.microsoft.com/office/powerpoint/2010/main" val="601226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01BF4-0048-D850-B9F7-8185E681C7CF}"/>
              </a:ext>
            </a:extLst>
          </p:cNvPr>
          <p:cNvSpPr>
            <a:spLocks noGrp="1"/>
          </p:cNvSpPr>
          <p:nvPr>
            <p:ph type="title"/>
          </p:nvPr>
        </p:nvSpPr>
        <p:spPr/>
        <p:txBody>
          <a:bodyPr/>
          <a:lstStyle/>
          <a:p>
            <a:r>
              <a:rPr lang="en-US" dirty="0"/>
              <a:t>How Pegasus Uses the Superfacility API</a:t>
            </a:r>
          </a:p>
        </p:txBody>
      </p:sp>
      <p:sp>
        <p:nvSpPr>
          <p:cNvPr id="10" name="Intro"/>
          <p:cNvSpPr txBox="1"/>
          <p:nvPr/>
        </p:nvSpPr>
        <p:spPr>
          <a:xfrm>
            <a:off x="838200" y="1079500"/>
            <a:ext cx="10515600" cy="901700"/>
          </a:xfrm>
          <a:prstGeom prst="rect">
            <a:avLst/>
          </a:prstGeom>
          <a:noFill/>
          <a:ln>
            <a:noFill/>
          </a:ln>
        </p:spPr>
        <p:txBody>
          <a:bodyPr wrap="square" lIns="0" tIns="0" rIns="0" bIns="0" anchor="t">
            <a:noAutofit/>
          </a:bodyPr>
          <a:lstStyle/>
          <a:p>
            <a:r>
              <a:rPr lang="en-US" sz="1800" dirty="0">
                <a:solidFill>
                  <a:srgbClr val="262626"/>
                </a:solidFill>
              </a:rPr>
              <a:t>Pegasus uses SFAPI now to submit and monitor workflow jobs on Perlmutter from a remote submit host. The integration has been done in the </a:t>
            </a:r>
            <a:r>
              <a:rPr lang="en-US" sz="1800" dirty="0" err="1">
                <a:solidFill>
                  <a:srgbClr val="262626"/>
                </a:solidFill>
              </a:rPr>
              <a:t>HTCondor</a:t>
            </a:r>
            <a:r>
              <a:rPr lang="en-US" sz="1800" dirty="0">
                <a:solidFill>
                  <a:srgbClr val="262626"/>
                </a:solidFill>
              </a:rPr>
              <a:t> BLAHP layer to submit jobs using the </a:t>
            </a:r>
            <a:r>
              <a:rPr lang="en-US" sz="1800" i="1" dirty="0">
                <a:solidFill>
                  <a:srgbClr val="1A5B6E"/>
                </a:solidFill>
              </a:rPr>
              <a:t>“</a:t>
            </a:r>
            <a:r>
              <a:rPr lang="en-US" sz="1800" i="1" dirty="0" err="1">
                <a:solidFill>
                  <a:srgbClr val="1A5B6E"/>
                </a:solidFill>
              </a:rPr>
              <a:t>sfapi_client</a:t>
            </a:r>
            <a:r>
              <a:rPr lang="en-US" sz="1800" i="1" dirty="0">
                <a:solidFill>
                  <a:srgbClr val="1A5B6E"/>
                </a:solidFill>
              </a:rPr>
              <a:t>” </a:t>
            </a:r>
            <a:r>
              <a:rPr lang="en-US" sz="1800" dirty="0">
                <a:solidFill>
                  <a:schemeClr val="tx1"/>
                </a:solidFill>
              </a:rPr>
              <a:t>python library.</a:t>
            </a:r>
            <a:r>
              <a:rPr lang="en-US" sz="1800" b="1" dirty="0">
                <a:solidFill>
                  <a:srgbClr val="1A5B6E"/>
                </a:solidFill>
              </a:rPr>
              <a:t> </a:t>
            </a:r>
            <a:endParaRPr lang="en-US" sz="1800" dirty="0">
              <a:solidFill>
                <a:srgbClr val="262626"/>
              </a:solidFill>
            </a:endParaRPr>
          </a:p>
        </p:txBody>
      </p:sp>
      <p:sp>
        <p:nvSpPr>
          <p:cNvPr id="11" name="Row caption"/>
          <p:cNvSpPr txBox="1"/>
          <p:nvPr/>
        </p:nvSpPr>
        <p:spPr>
          <a:xfrm>
            <a:off x="838200" y="2057400"/>
            <a:ext cx="10515600" cy="279400"/>
          </a:xfrm>
          <a:prstGeom prst="rect">
            <a:avLst/>
          </a:prstGeom>
          <a:noFill/>
          <a:ln>
            <a:noFill/>
          </a:ln>
        </p:spPr>
        <p:txBody>
          <a:bodyPr wrap="square" lIns="0" tIns="0" rIns="0" bIns="0" anchor="t">
            <a:noAutofit/>
          </a:bodyPr>
          <a:lstStyle/>
          <a:p>
            <a:pPr marL="0" indent="0" algn="l">
              <a:spcBef>
                <a:spcPts val="0"/>
              </a:spcBef>
              <a:buNone/>
            </a:pPr>
            <a:r>
              <a:rPr lang="en-US" sz="1400" b="1" dirty="0">
                <a:solidFill>
                  <a:srgbClr val="1A5B6E"/>
                </a:solidFill>
              </a:rPr>
              <a:t>For every job, HTCondor's SFAPI plugin calls the API over HTTPS to:</a:t>
            </a:r>
          </a:p>
        </p:txBody>
      </p:sp>
      <p:sp>
        <p:nvSpPr>
          <p:cNvPr id="12" name="Step card 1"/>
          <p:cNvSpPr txBox="1"/>
          <p:nvPr/>
        </p:nvSpPr>
        <p:spPr>
          <a:xfrm>
            <a:off x="838200" y="2514600"/>
            <a:ext cx="2286000" cy="1854200"/>
          </a:xfrm>
          <a:prstGeom prst="rect">
            <a:avLst/>
          </a:prstGeom>
          <a:solidFill>
            <a:srgbClr val="EDF4F6"/>
          </a:solidFill>
          <a:ln>
            <a:noFill/>
          </a:ln>
        </p:spPr>
        <p:txBody>
          <a:bodyPr wrap="square" lIns="177800" tIns="711200" rIns="177800" bIns="127000" anchor="t">
            <a:noAutofit/>
          </a:bodyPr>
          <a:lstStyle/>
          <a:p>
            <a:pPr marL="0" indent="0" algn="l">
              <a:spcBef>
                <a:spcPts val="0"/>
              </a:spcBef>
              <a:buNone/>
            </a:pPr>
            <a:r>
              <a:rPr lang="en-US" sz="1600" b="1" dirty="0">
                <a:solidFill>
                  <a:srgbClr val="1A5B6E"/>
                </a:solidFill>
              </a:rPr>
              <a:t>1  Upload inputs</a:t>
            </a:r>
          </a:p>
          <a:p>
            <a:pPr marL="0" indent="0" algn="l">
              <a:spcBef>
                <a:spcPts val="300"/>
              </a:spcBef>
              <a:buNone/>
            </a:pPr>
            <a:r>
              <a:rPr lang="en-US" sz="1400" dirty="0">
                <a:solidFill>
                  <a:srgbClr val="262626"/>
                </a:solidFill>
              </a:rPr>
              <a:t>Sends the job’s stdin and small input files to Perlmutter</a:t>
            </a:r>
          </a:p>
        </p:txBody>
      </p:sp>
      <p:sp>
        <p:nvSpPr>
          <p:cNvPr id="13" name="Arrow 1"/>
          <p:cNvSpPr/>
          <p:nvPr/>
        </p:nvSpPr>
        <p:spPr>
          <a:xfrm>
            <a:off x="3225800" y="3314700"/>
            <a:ext cx="254000" cy="254000"/>
          </a:xfrm>
          <a:prstGeom prst="rightArrow">
            <a:avLst/>
          </a:prstGeom>
          <a:solidFill>
            <a:srgbClr val="1A5B6E"/>
          </a:solidFill>
          <a:ln>
            <a:noFill/>
          </a:ln>
        </p:spPr>
        <p:txBody>
          <a:bodyPr wrap="square" lIns="0" tIns="0" rIns="0" bIns="0" anchor="t">
            <a:noAutofit/>
          </a:bodyPr>
          <a:lstStyle/>
          <a:p>
            <a:endParaRPr lang="en-US"/>
          </a:p>
        </p:txBody>
      </p:sp>
      <p:sp>
        <p:nvSpPr>
          <p:cNvPr id="14" name="Step card 2"/>
          <p:cNvSpPr txBox="1"/>
          <p:nvPr/>
        </p:nvSpPr>
        <p:spPr>
          <a:xfrm>
            <a:off x="3581400" y="2514600"/>
            <a:ext cx="2286000" cy="1854200"/>
          </a:xfrm>
          <a:prstGeom prst="rect">
            <a:avLst/>
          </a:prstGeom>
          <a:solidFill>
            <a:srgbClr val="EDF4F6"/>
          </a:solidFill>
          <a:ln>
            <a:noFill/>
          </a:ln>
        </p:spPr>
        <p:txBody>
          <a:bodyPr wrap="square" lIns="177800" tIns="711200" rIns="177800" bIns="127000" anchor="t">
            <a:noAutofit/>
          </a:bodyPr>
          <a:lstStyle/>
          <a:p>
            <a:pPr marL="0" indent="0" algn="l">
              <a:spcBef>
                <a:spcPts val="0"/>
              </a:spcBef>
              <a:buNone/>
            </a:pPr>
            <a:r>
              <a:rPr lang="en-US" sz="1600" b="1" dirty="0">
                <a:solidFill>
                  <a:srgbClr val="1A5B6E"/>
                </a:solidFill>
              </a:rPr>
              <a:t>2  Submit to Slurm</a:t>
            </a:r>
          </a:p>
          <a:p>
            <a:pPr marL="0" indent="0" algn="l">
              <a:spcBef>
                <a:spcPts val="300"/>
              </a:spcBef>
              <a:buNone/>
            </a:pPr>
            <a:r>
              <a:rPr lang="en-US" sz="1400" dirty="0">
                <a:solidFill>
                  <a:srgbClr val="262626"/>
                </a:solidFill>
              </a:rPr>
              <a:t>Creates the Slurm job on Perlmutter</a:t>
            </a:r>
          </a:p>
        </p:txBody>
      </p:sp>
      <p:sp>
        <p:nvSpPr>
          <p:cNvPr id="15" name="Arrow 2"/>
          <p:cNvSpPr/>
          <p:nvPr/>
        </p:nvSpPr>
        <p:spPr>
          <a:xfrm>
            <a:off x="5969000" y="3314700"/>
            <a:ext cx="254000" cy="254000"/>
          </a:xfrm>
          <a:prstGeom prst="rightArrow">
            <a:avLst/>
          </a:prstGeom>
          <a:solidFill>
            <a:srgbClr val="1A5B6E"/>
          </a:solidFill>
          <a:ln>
            <a:noFill/>
          </a:ln>
        </p:spPr>
        <p:txBody>
          <a:bodyPr wrap="square" lIns="0" tIns="0" rIns="0" bIns="0" anchor="t">
            <a:noAutofit/>
          </a:bodyPr>
          <a:lstStyle/>
          <a:p>
            <a:endParaRPr lang="en-US"/>
          </a:p>
        </p:txBody>
      </p:sp>
      <p:sp>
        <p:nvSpPr>
          <p:cNvPr id="16" name="Step card 3"/>
          <p:cNvSpPr txBox="1"/>
          <p:nvPr/>
        </p:nvSpPr>
        <p:spPr>
          <a:xfrm>
            <a:off x="6324600" y="2514600"/>
            <a:ext cx="2286000" cy="1854200"/>
          </a:xfrm>
          <a:prstGeom prst="rect">
            <a:avLst/>
          </a:prstGeom>
          <a:solidFill>
            <a:srgbClr val="EDF4F6"/>
          </a:solidFill>
          <a:ln>
            <a:noFill/>
          </a:ln>
        </p:spPr>
        <p:txBody>
          <a:bodyPr wrap="square" lIns="177800" tIns="711200" rIns="177800" bIns="127000" anchor="t">
            <a:noAutofit/>
          </a:bodyPr>
          <a:lstStyle/>
          <a:p>
            <a:pPr marL="0" indent="0" algn="l">
              <a:spcBef>
                <a:spcPts val="0"/>
              </a:spcBef>
              <a:buNone/>
            </a:pPr>
            <a:r>
              <a:rPr lang="en-US" sz="1600" b="1" dirty="0">
                <a:solidFill>
                  <a:srgbClr val="1A5B6E"/>
                </a:solidFill>
              </a:rPr>
              <a:t>3  Poll status</a:t>
            </a:r>
          </a:p>
          <a:p>
            <a:pPr marL="0" indent="0" algn="l">
              <a:spcBef>
                <a:spcPts val="300"/>
              </a:spcBef>
              <a:buNone/>
            </a:pPr>
            <a:r>
              <a:rPr lang="en-US" sz="1400" dirty="0">
                <a:solidFill>
                  <a:srgbClr val="262626"/>
                </a:solidFill>
              </a:rPr>
              <a:t>Reports job state to HTCondor; cancels jobs on request</a:t>
            </a:r>
          </a:p>
        </p:txBody>
      </p:sp>
      <p:sp>
        <p:nvSpPr>
          <p:cNvPr id="17" name="Arrow 3"/>
          <p:cNvSpPr/>
          <p:nvPr/>
        </p:nvSpPr>
        <p:spPr>
          <a:xfrm>
            <a:off x="8712200" y="3314700"/>
            <a:ext cx="254000" cy="254000"/>
          </a:xfrm>
          <a:prstGeom prst="rightArrow">
            <a:avLst/>
          </a:prstGeom>
          <a:solidFill>
            <a:srgbClr val="1A5B6E"/>
          </a:solidFill>
          <a:ln>
            <a:noFill/>
          </a:ln>
        </p:spPr>
        <p:txBody>
          <a:bodyPr wrap="square" lIns="0" tIns="0" rIns="0" bIns="0" anchor="t">
            <a:noAutofit/>
          </a:bodyPr>
          <a:lstStyle/>
          <a:p>
            <a:endParaRPr lang="en-US"/>
          </a:p>
        </p:txBody>
      </p:sp>
      <p:sp>
        <p:nvSpPr>
          <p:cNvPr id="18" name="Step card 4"/>
          <p:cNvSpPr txBox="1"/>
          <p:nvPr/>
        </p:nvSpPr>
        <p:spPr>
          <a:xfrm>
            <a:off x="9067800" y="2514600"/>
            <a:ext cx="2286000" cy="1854200"/>
          </a:xfrm>
          <a:prstGeom prst="rect">
            <a:avLst/>
          </a:prstGeom>
          <a:solidFill>
            <a:srgbClr val="EDF4F6"/>
          </a:solidFill>
          <a:ln>
            <a:noFill/>
          </a:ln>
        </p:spPr>
        <p:txBody>
          <a:bodyPr wrap="square" lIns="177800" tIns="711200" rIns="177800" bIns="127000" anchor="t">
            <a:noAutofit/>
          </a:bodyPr>
          <a:lstStyle/>
          <a:p>
            <a:pPr marL="0" indent="0" algn="l">
              <a:spcBef>
                <a:spcPts val="0"/>
              </a:spcBef>
              <a:buNone/>
            </a:pPr>
            <a:r>
              <a:rPr lang="en-US" sz="1600" b="1" dirty="0">
                <a:solidFill>
                  <a:srgbClr val="1A5B6E"/>
                </a:solidFill>
              </a:rPr>
              <a:t>4  Get outputs</a:t>
            </a:r>
          </a:p>
          <a:p>
            <a:pPr marL="0" indent="0" algn="l">
              <a:spcBef>
                <a:spcPts val="300"/>
              </a:spcBef>
              <a:buNone/>
            </a:pPr>
            <a:r>
              <a:rPr lang="en-US" sz="1400" dirty="0">
                <a:solidFill>
                  <a:srgbClr val="262626"/>
                </a:solidFill>
              </a:rPr>
              <a:t>Brings back output files and job stdout/stderr</a:t>
            </a:r>
          </a:p>
        </p:txBody>
      </p:sp>
      <p:cxnSp>
        <p:nvCxnSpPr>
          <p:cNvPr id="19" name="Divider"/>
          <p:cNvCxnSpPr/>
          <p:nvPr/>
        </p:nvCxnSpPr>
        <p:spPr>
          <a:xfrm>
            <a:off x="838200" y="4724400"/>
            <a:ext cx="10515600" cy="0"/>
          </a:xfrm>
          <a:prstGeom prst="line">
            <a:avLst/>
          </a:prstGeom>
          <a:ln w="12700">
            <a:solidFill>
              <a:srgbClr val="D0D7DA"/>
            </a:solidFill>
          </a:ln>
        </p:spPr>
      </p:cxnSp>
      <p:sp>
        <p:nvSpPr>
          <p:cNvPr id="20" name="Benefit 1"/>
          <p:cNvSpPr txBox="1"/>
          <p:nvPr/>
        </p:nvSpPr>
        <p:spPr>
          <a:xfrm>
            <a:off x="838200" y="4851400"/>
            <a:ext cx="3302000" cy="914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No SSH tunnel or MFA prompt</a:t>
            </a:r>
          </a:p>
          <a:p>
            <a:pPr marL="0" indent="0" algn="l">
              <a:spcBef>
                <a:spcPts val="300"/>
              </a:spcBef>
              <a:buNone/>
            </a:pPr>
            <a:r>
              <a:rPr lang="en-US" sz="1400" dirty="0">
                <a:solidFill>
                  <a:srgbClr val="404040"/>
                </a:solidFill>
              </a:rPr>
              <a:t>Calls are authenticated with a client key registered in Iris</a:t>
            </a:r>
          </a:p>
        </p:txBody>
      </p:sp>
      <p:sp>
        <p:nvSpPr>
          <p:cNvPr id="21" name="Benefit 2"/>
          <p:cNvSpPr txBox="1"/>
          <p:nvPr/>
        </p:nvSpPr>
        <p:spPr>
          <a:xfrm>
            <a:off x="4445000" y="4851400"/>
            <a:ext cx="3302000" cy="914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No shared filesystem</a:t>
            </a:r>
          </a:p>
          <a:p>
            <a:pPr marL="0" indent="0" algn="l">
              <a:spcBef>
                <a:spcPts val="300"/>
              </a:spcBef>
              <a:buNone/>
            </a:pPr>
            <a:r>
              <a:rPr lang="en-US" sz="1400" dirty="0">
                <a:solidFill>
                  <a:srgbClr val="404040"/>
                </a:solidFill>
              </a:rPr>
              <a:t>Submit host and Perlmutter need no common storage</a:t>
            </a:r>
          </a:p>
        </p:txBody>
      </p:sp>
      <p:sp>
        <p:nvSpPr>
          <p:cNvPr id="22" name="Benefit 3"/>
          <p:cNvSpPr txBox="1"/>
          <p:nvPr/>
        </p:nvSpPr>
        <p:spPr>
          <a:xfrm>
            <a:off x="8051800" y="4851400"/>
            <a:ext cx="3302000" cy="914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Same workflow code</a:t>
            </a:r>
          </a:p>
          <a:p>
            <a:pPr marL="0" indent="0" algn="l">
              <a:spcBef>
                <a:spcPts val="300"/>
              </a:spcBef>
              <a:buNone/>
            </a:pPr>
            <a:r>
              <a:rPr lang="en-US" sz="1400" dirty="0">
                <a:solidFill>
                  <a:srgbClr val="404040"/>
                </a:solidFill>
              </a:rPr>
              <a:t>Only the site catalog entry for Perlmutter changes</a:t>
            </a:r>
          </a:p>
        </p:txBody>
      </p:sp>
      <p:sp>
        <p:nvSpPr>
          <p:cNvPr id="23" name="Source"/>
          <p:cNvSpPr txBox="1"/>
          <p:nvPr/>
        </p:nvSpPr>
        <p:spPr>
          <a:xfrm>
            <a:off x="838200" y="5715000"/>
            <a:ext cx="10515600" cy="228600"/>
          </a:xfrm>
          <a:prstGeom prst="rect">
            <a:avLst/>
          </a:prstGeom>
          <a:noFill/>
          <a:ln>
            <a:noFill/>
          </a:ln>
        </p:spPr>
        <p:txBody>
          <a:bodyPr wrap="square" lIns="0" tIns="0" rIns="0" bIns="0" anchor="t">
            <a:noAutofit/>
          </a:bodyPr>
          <a:lstStyle/>
          <a:p>
            <a:pPr marL="0" indent="0" algn="l">
              <a:spcBef>
                <a:spcPts val="0"/>
              </a:spcBef>
              <a:buNone/>
            </a:pPr>
            <a:r>
              <a:rPr lang="en-US" sz="1000" dirty="0">
                <a:solidFill>
                  <a:srgbClr val="595959"/>
                </a:solidFill>
              </a:rPr>
              <a:t>Source: Pegasus User Guide </a:t>
            </a:r>
            <a:r>
              <a:rPr lang="en-US" sz="1000" dirty="0">
                <a:solidFill>
                  <a:srgbClr val="595959"/>
                </a:solidFill>
                <a:hlinkClick r:id="rId2"/>
              </a:rPr>
              <a:t>https://pegasus.isi.edu/documentation/user-guide/deployment-scenarios.html#nersc-perlmutter-via-sfapi</a:t>
            </a:r>
            <a:r>
              <a:rPr lang="en-US" sz="1000" dirty="0">
                <a:solidFill>
                  <a:srgbClr val="595959"/>
                </a:solidFill>
              </a:rPr>
              <a:t> </a:t>
            </a:r>
          </a:p>
        </p:txBody>
      </p:sp>
      <p:pic>
        <p:nvPicPr>
          <p:cNvPr id="24" name="Graphic 24" descr="Upload"/>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6000" y="2667000"/>
            <a:ext cx="457200" cy="457200"/>
          </a:xfrm>
          <a:prstGeom prst="rect">
            <a:avLst/>
          </a:prstGeom>
        </p:spPr>
      </p:pic>
      <p:pic>
        <p:nvPicPr>
          <p:cNvPr id="25" name="Graphic 25" descr="Serv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9200" y="2667000"/>
            <a:ext cx="457200" cy="457200"/>
          </a:xfrm>
          <a:prstGeom prst="rect">
            <a:avLst/>
          </a:prstGeom>
        </p:spPr>
      </p:pic>
      <p:pic>
        <p:nvPicPr>
          <p:cNvPr id="26" name="Graphic 26" descr="Poll statu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02400" y="2667000"/>
            <a:ext cx="457200" cy="457200"/>
          </a:xfrm>
          <a:prstGeom prst="rect">
            <a:avLst/>
          </a:prstGeom>
        </p:spPr>
      </p:pic>
      <p:pic>
        <p:nvPicPr>
          <p:cNvPr id="27" name="Graphic 27" descr="Download"/>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45600" y="2667000"/>
            <a:ext cx="457200" cy="457200"/>
          </a:xfrm>
          <a:prstGeom prst="rect">
            <a:avLst/>
          </a:prstGeom>
        </p:spPr>
      </p:pic>
    </p:spTree>
    <p:extLst>
      <p:ext uri="{BB962C8B-B14F-4D97-AF65-F5344CB8AC3E}">
        <p14:creationId xmlns:p14="http://schemas.microsoft.com/office/powerpoint/2010/main" val="261703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2CBA7-D408-A340-575B-BA4D0675B3C0}"/>
              </a:ext>
            </a:extLst>
          </p:cNvPr>
          <p:cNvSpPr>
            <a:spLocks noGrp="1"/>
          </p:cNvSpPr>
          <p:nvPr>
            <p:ph type="title"/>
          </p:nvPr>
        </p:nvSpPr>
        <p:spPr>
          <a:xfrm>
            <a:off x="838200" y="365125"/>
            <a:ext cx="10572482" cy="1325700"/>
          </a:xfrm>
        </p:spPr>
        <p:txBody>
          <a:bodyPr>
            <a:normAutofit/>
          </a:bodyPr>
          <a:lstStyle/>
          <a:p>
            <a:r>
              <a:rPr lang="en-US" sz="4000" dirty="0"/>
              <a:t>Pegasus WMS Job Submission to NERSC via SFAPI</a:t>
            </a:r>
          </a:p>
        </p:txBody>
      </p:sp>
      <p:pic>
        <p:nvPicPr>
          <p:cNvPr id="5" name="Picture 4" descr="Pegasus WMS job submission to NERSC via SFAPI">
            <a:extLst>
              <a:ext uri="{FF2B5EF4-FFF2-40B4-BE49-F238E27FC236}">
                <a16:creationId xmlns:a16="http://schemas.microsoft.com/office/drawing/2014/main" id="{5281B52F-5CB0-03C7-A5E6-59F38AA08110}"/>
              </a:ext>
            </a:extLst>
          </p:cNvPr>
          <p:cNvPicPr>
            <a:picLocks noChangeAspect="1"/>
          </p:cNvPicPr>
          <p:nvPr/>
        </p:nvPicPr>
        <p:blipFill>
          <a:blip r:embed="rId2"/>
          <a:stretch>
            <a:fillRect/>
          </a:stretch>
        </p:blipFill>
        <p:spPr>
          <a:xfrm>
            <a:off x="2209800" y="1690825"/>
            <a:ext cx="7772400" cy="3526511"/>
          </a:xfrm>
          <a:prstGeom prst="rect">
            <a:avLst/>
          </a:prstGeom>
        </p:spPr>
      </p:pic>
    </p:spTree>
    <p:extLst>
      <p:ext uri="{BB962C8B-B14F-4D97-AF65-F5344CB8AC3E}">
        <p14:creationId xmlns:p14="http://schemas.microsoft.com/office/powerpoint/2010/main" val="941175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9B196-969F-B8F2-5E0E-63FA1432DA0C}"/>
              </a:ext>
            </a:extLst>
          </p:cNvPr>
          <p:cNvSpPr>
            <a:spLocks noGrp="1"/>
          </p:cNvSpPr>
          <p:nvPr>
            <p:ph type="title"/>
          </p:nvPr>
        </p:nvSpPr>
        <p:spPr/>
        <p:txBody>
          <a:bodyPr/>
          <a:lstStyle/>
          <a:p>
            <a:r>
              <a:rPr lang="en-US" dirty="0"/>
              <a:t>Setting Up Pegasus for NERSC SFAPI</a:t>
            </a:r>
          </a:p>
        </p:txBody>
      </p:sp>
      <p:sp>
        <p:nvSpPr>
          <p:cNvPr id="10" name="Left caption"/>
          <p:cNvSpPr/>
          <p:nvPr/>
        </p:nvSpPr>
        <p:spPr>
          <a:xfrm>
            <a:off x="838200" y="1447800"/>
            <a:ext cx="5080000" cy="279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1A5B6E"/>
                </a:solidFill>
              </a:rPr>
              <a:t>Setup on the submit host</a:t>
            </a:r>
          </a:p>
        </p:txBody>
      </p:sp>
      <p:sp>
        <p:nvSpPr>
          <p:cNvPr id="11" name="Step num 1"/>
          <p:cNvSpPr/>
          <p:nvPr/>
        </p:nvSpPr>
        <p:spPr>
          <a:xfrm>
            <a:off x="838200" y="1854200"/>
            <a:ext cx="381000" cy="381000"/>
          </a:xfrm>
          <a:prstGeom prst="ellipse">
            <a:avLst/>
          </a:prstGeom>
          <a:solidFill>
            <a:srgbClr val="1A5B6E"/>
          </a:solidFill>
          <a:ln>
            <a:noFill/>
          </a:ln>
        </p:spPr>
        <p:txBody>
          <a:bodyPr wrap="square" lIns="0" tIns="0" rIns="0" bIns="0" anchor="ctr">
            <a:noAutofit/>
          </a:bodyPr>
          <a:lstStyle/>
          <a:p>
            <a:pPr marL="0" indent="0" algn="ctr">
              <a:spcBef>
                <a:spcPts val="0"/>
              </a:spcBef>
              <a:buNone/>
            </a:pPr>
            <a:r>
              <a:rPr lang="en-US" sz="1400" b="1" dirty="0">
                <a:solidFill>
                  <a:srgbClr val="FFFFFF"/>
                </a:solidFill>
              </a:rPr>
              <a:t>1</a:t>
            </a:r>
          </a:p>
        </p:txBody>
      </p:sp>
      <p:sp>
        <p:nvSpPr>
          <p:cNvPr id="12" name="Step text 1"/>
          <p:cNvSpPr/>
          <p:nvPr/>
        </p:nvSpPr>
        <p:spPr>
          <a:xfrm>
            <a:off x="1371600" y="1892300"/>
            <a:ext cx="4597400" cy="10668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Register an SFAPI client in Iris</a:t>
            </a:r>
          </a:p>
          <a:p>
            <a:pPr marL="0" indent="0" algn="l">
              <a:spcBef>
                <a:spcPts val="300"/>
              </a:spcBef>
              <a:buNone/>
            </a:pPr>
            <a:r>
              <a:rPr lang="en-US" sz="1400" dirty="0">
                <a:solidFill>
                  <a:srgbClr val="262626"/>
                </a:solidFill>
              </a:rPr>
              <a:t>Choose the </a:t>
            </a:r>
            <a:r>
              <a:rPr lang="en-US" sz="1400" b="1" dirty="0">
                <a:solidFill>
                  <a:srgbClr val="262626"/>
                </a:solidFill>
              </a:rPr>
              <a:t>Red</a:t>
            </a:r>
            <a:r>
              <a:rPr lang="en-US" sz="1400" dirty="0">
                <a:solidFill>
                  <a:srgbClr val="262626"/>
                </a:solidFill>
              </a:rPr>
              <a:t> security level (job submission, 2-day lifetime) and include the submit host's IP. Save the client ID and keys to </a:t>
            </a:r>
            <a:r>
              <a:rPr lang="en-US" sz="1300" dirty="0">
                <a:solidFill>
                  <a:srgbClr val="262626"/>
                </a:solidFill>
                <a:latin typeface="Courier New"/>
                <a:cs typeface="Courier New"/>
              </a:rPr>
              <a:t>~/.superfacility/</a:t>
            </a:r>
          </a:p>
        </p:txBody>
      </p:sp>
      <p:sp>
        <p:nvSpPr>
          <p:cNvPr id="13" name="Step num 2"/>
          <p:cNvSpPr/>
          <p:nvPr/>
        </p:nvSpPr>
        <p:spPr>
          <a:xfrm>
            <a:off x="838200" y="2946400"/>
            <a:ext cx="381000" cy="381000"/>
          </a:xfrm>
          <a:prstGeom prst="ellipse">
            <a:avLst/>
          </a:prstGeom>
          <a:solidFill>
            <a:srgbClr val="1A5B6E"/>
          </a:solidFill>
          <a:ln>
            <a:noFill/>
          </a:ln>
        </p:spPr>
        <p:txBody>
          <a:bodyPr wrap="square" lIns="0" tIns="0" rIns="0" bIns="0" anchor="ctr">
            <a:noAutofit/>
          </a:bodyPr>
          <a:lstStyle/>
          <a:p>
            <a:pPr marL="0" indent="0" algn="ctr">
              <a:spcBef>
                <a:spcPts val="0"/>
              </a:spcBef>
              <a:buNone/>
            </a:pPr>
            <a:r>
              <a:rPr lang="en-US" sz="1400" b="1" dirty="0">
                <a:solidFill>
                  <a:srgbClr val="FFFFFF"/>
                </a:solidFill>
              </a:rPr>
              <a:t>2</a:t>
            </a:r>
          </a:p>
        </p:txBody>
      </p:sp>
      <p:sp>
        <p:nvSpPr>
          <p:cNvPr id="14" name="Step text 2"/>
          <p:cNvSpPr/>
          <p:nvPr/>
        </p:nvSpPr>
        <p:spPr>
          <a:xfrm>
            <a:off x="1371600" y="2984500"/>
            <a:ext cx="4597400" cy="10668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Create the Python environment</a:t>
            </a:r>
          </a:p>
          <a:p>
            <a:pPr marL="0" indent="0" algn="l">
              <a:spcBef>
                <a:spcPts val="300"/>
              </a:spcBef>
              <a:buNone/>
            </a:pPr>
            <a:r>
              <a:rPr lang="en-US" sz="1400" dirty="0">
                <a:solidFill>
                  <a:srgbClr val="262626"/>
                </a:solidFill>
              </a:rPr>
              <a:t>Python 3.11+ virtualenv at </a:t>
            </a:r>
            <a:r>
              <a:rPr lang="en-US" sz="1300" dirty="0">
                <a:solidFill>
                  <a:srgbClr val="262626"/>
                </a:solidFill>
                <a:latin typeface="Courier New"/>
                <a:cs typeface="Courier New"/>
              </a:rPr>
              <a:t>~/superfacility-env</a:t>
            </a:r>
            <a:r>
              <a:rPr lang="en-US" sz="1400" dirty="0">
                <a:solidFill>
                  <a:srgbClr val="262626"/>
                </a:solidFill>
              </a:rPr>
              <a:t> with </a:t>
            </a:r>
            <a:r>
              <a:rPr lang="en-US" sz="1300" dirty="0">
                <a:solidFill>
                  <a:srgbClr val="262626"/>
                </a:solidFill>
                <a:latin typeface="Courier New"/>
                <a:cs typeface="Courier New"/>
              </a:rPr>
              <a:t>pip install sfapi_client</a:t>
            </a:r>
            <a:r>
              <a:rPr lang="en-US" sz="1400" dirty="0">
                <a:solidFill>
                  <a:srgbClr val="262626"/>
                </a:solidFill>
              </a:rPr>
              <a:t>. Python 3.9 environments fail to submit.</a:t>
            </a:r>
          </a:p>
        </p:txBody>
      </p:sp>
      <p:sp>
        <p:nvSpPr>
          <p:cNvPr id="15" name="Step num 3"/>
          <p:cNvSpPr/>
          <p:nvPr/>
        </p:nvSpPr>
        <p:spPr>
          <a:xfrm>
            <a:off x="838200" y="4038600"/>
            <a:ext cx="381000" cy="381000"/>
          </a:xfrm>
          <a:prstGeom prst="ellipse">
            <a:avLst/>
          </a:prstGeom>
          <a:solidFill>
            <a:srgbClr val="1A5B6E"/>
          </a:solidFill>
          <a:ln>
            <a:noFill/>
          </a:ln>
        </p:spPr>
        <p:txBody>
          <a:bodyPr wrap="square" lIns="0" tIns="0" rIns="0" bIns="0" anchor="ctr">
            <a:noAutofit/>
          </a:bodyPr>
          <a:lstStyle/>
          <a:p>
            <a:pPr marL="0" indent="0" algn="ctr">
              <a:spcBef>
                <a:spcPts val="0"/>
              </a:spcBef>
              <a:buNone/>
            </a:pPr>
            <a:r>
              <a:rPr lang="en-US" sz="1400" b="1" dirty="0">
                <a:solidFill>
                  <a:srgbClr val="FFFFFF"/>
                </a:solidFill>
              </a:rPr>
              <a:t>3</a:t>
            </a:r>
          </a:p>
        </p:txBody>
      </p:sp>
      <p:sp>
        <p:nvSpPr>
          <p:cNvPr id="16" name="Step text 3"/>
          <p:cNvSpPr/>
          <p:nvPr/>
        </p:nvSpPr>
        <p:spPr>
          <a:xfrm>
            <a:off x="1371600" y="4076700"/>
            <a:ext cx="4597400" cy="10668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262626"/>
                </a:solidFill>
              </a:rPr>
              <a:t>Get an SSH key for data transfers</a:t>
            </a:r>
          </a:p>
          <a:p>
            <a:pPr marL="0" indent="0" algn="l">
              <a:spcBef>
                <a:spcPts val="300"/>
              </a:spcBef>
              <a:buNone/>
            </a:pPr>
            <a:r>
              <a:rPr lang="en-US" sz="1400" dirty="0">
                <a:solidFill>
                  <a:srgbClr val="262626"/>
                </a:solidFill>
              </a:rPr>
              <a:t>Run </a:t>
            </a:r>
            <a:r>
              <a:rPr lang="en-US" sz="1300" dirty="0">
                <a:solidFill>
                  <a:srgbClr val="262626"/>
                </a:solidFill>
                <a:latin typeface="Courier New"/>
                <a:cs typeface="Courier New"/>
              </a:rPr>
              <a:t>sshproxy</a:t>
            </a:r>
            <a:r>
              <a:rPr lang="en-US" sz="1400" dirty="0">
                <a:solidFill>
                  <a:srgbClr val="262626"/>
                </a:solidFill>
              </a:rPr>
              <a:t> on the submit host to get </a:t>
            </a:r>
            <a:r>
              <a:rPr lang="en-US" sz="1300" dirty="0">
                <a:solidFill>
                  <a:srgbClr val="262626"/>
                </a:solidFill>
                <a:latin typeface="Courier New"/>
                <a:cs typeface="Courier New"/>
              </a:rPr>
              <a:t>~/.ssh/nersc</a:t>
            </a:r>
            <a:r>
              <a:rPr lang="en-US" sz="1400" dirty="0">
                <a:solidFill>
                  <a:srgbClr val="262626"/>
                </a:solidFill>
              </a:rPr>
              <a:t>, valid 24 hours without MFA; set it as the local site's </a:t>
            </a:r>
            <a:r>
              <a:rPr lang="en-US" sz="1300" dirty="0">
                <a:solidFill>
                  <a:srgbClr val="262626"/>
                </a:solidFill>
                <a:latin typeface="Courier New"/>
                <a:cs typeface="Courier New"/>
              </a:rPr>
              <a:t>SSH_PRIVATE_KEY</a:t>
            </a:r>
            <a:r>
              <a:rPr lang="en-US" sz="1400" dirty="0">
                <a:solidFill>
                  <a:srgbClr val="262626"/>
                </a:solidFill>
              </a:rPr>
              <a:t> profile.</a:t>
            </a:r>
          </a:p>
        </p:txBody>
      </p:sp>
      <p:sp>
        <p:nvSpPr>
          <p:cNvPr id="17" name="Tip"/>
          <p:cNvSpPr/>
          <p:nvPr/>
        </p:nvSpPr>
        <p:spPr>
          <a:xfrm>
            <a:off x="838200" y="5181600"/>
            <a:ext cx="5334000" cy="254000"/>
          </a:xfrm>
          <a:prstGeom prst="rect">
            <a:avLst/>
          </a:prstGeom>
          <a:noFill/>
          <a:ln>
            <a:noFill/>
          </a:ln>
        </p:spPr>
        <p:txBody>
          <a:bodyPr wrap="square" lIns="0" tIns="0" rIns="0" bIns="0" anchor="t">
            <a:noAutofit/>
          </a:bodyPr>
          <a:lstStyle/>
          <a:p>
            <a:pPr marL="0" indent="0" algn="l">
              <a:spcBef>
                <a:spcPts val="0"/>
              </a:spcBef>
              <a:buNone/>
            </a:pPr>
            <a:r>
              <a:rPr lang="en-US" sz="1400" b="1" dirty="0">
                <a:solidFill>
                  <a:srgbClr val="1A5B6E"/>
                </a:solidFill>
              </a:rPr>
              <a:t>Credential errors? </a:t>
            </a:r>
            <a:r>
              <a:rPr lang="en-US" sz="1400" dirty="0">
                <a:solidFill>
                  <a:srgbClr val="404040"/>
                </a:solidFill>
              </a:rPr>
              <a:t>chmod 600 the keys; check client scopes.</a:t>
            </a:r>
          </a:p>
        </p:txBody>
      </p:sp>
      <p:sp>
        <p:nvSpPr>
          <p:cNvPr id="18" name="Right caption"/>
          <p:cNvSpPr/>
          <p:nvPr/>
        </p:nvSpPr>
        <p:spPr>
          <a:xfrm>
            <a:off x="6350000" y="1447800"/>
            <a:ext cx="5003800" cy="279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1A5B6E"/>
                </a:solidFill>
              </a:rPr>
              <a:t>Site catalog entry for Perlmutter (key lines)</a:t>
            </a:r>
          </a:p>
        </p:txBody>
      </p:sp>
      <p:sp>
        <p:nvSpPr>
          <p:cNvPr id="19" name="Code panel"/>
          <p:cNvSpPr/>
          <p:nvPr/>
        </p:nvSpPr>
        <p:spPr>
          <a:xfrm>
            <a:off x="6350000" y="1828800"/>
            <a:ext cx="5003800" cy="2921000"/>
          </a:xfrm>
          <a:prstGeom prst="rect">
            <a:avLst/>
          </a:prstGeom>
          <a:solidFill>
            <a:srgbClr val="EDF4F6"/>
          </a:solidFill>
          <a:ln>
            <a:noFill/>
          </a:ln>
        </p:spPr>
        <p:txBody>
          <a:bodyPr wrap="square" lIns="203200" tIns="152400" rIns="152400" bIns="152400" anchor="t">
            <a:noAutofit/>
          </a:bodyPr>
          <a:lstStyle/>
          <a:p>
            <a:pPr marL="0" indent="0" algn="l">
              <a:lnSpc>
                <a:spcPct val="100000"/>
              </a:lnSpc>
              <a:spcBef>
                <a:spcPts val="0"/>
              </a:spcBef>
              <a:buNone/>
            </a:pPr>
            <a:r>
              <a:rPr lang="en-US" sz="1400" dirty="0">
                <a:solidFill>
                  <a:srgbClr val="262626"/>
                </a:solidFill>
                <a:latin typeface="Courier New"/>
                <a:cs typeface="Courier New"/>
              </a:rPr>
              <a:t>- name: perlmutter</a:t>
            </a:r>
          </a:p>
          <a:p>
            <a:pPr marL="0" indent="0" algn="l">
              <a:lnSpc>
                <a:spcPct val="100000"/>
              </a:lnSpc>
              <a:spcBef>
                <a:spcPts val="0"/>
              </a:spcBef>
              <a:buNone/>
            </a:pPr>
            <a:r>
              <a:rPr lang="en-US" sz="1400" dirty="0">
                <a:solidFill>
                  <a:srgbClr val="262626"/>
                </a:solidFill>
                <a:latin typeface="Courier New"/>
                <a:cs typeface="Courier New"/>
              </a:rPr>
              <a:t>  grids:</a:t>
            </a:r>
          </a:p>
          <a:p>
            <a:pPr marL="0" indent="0" algn="l">
              <a:lnSpc>
                <a:spcPct val="100000"/>
              </a:lnSpc>
              <a:spcBef>
                <a:spcPts val="0"/>
              </a:spcBef>
              <a:buNone/>
            </a:pPr>
            <a:r>
              <a:rPr lang="en-US" sz="1400" b="1" dirty="0">
                <a:solidFill>
                  <a:srgbClr val="1A5B6E"/>
                </a:solidFill>
                <a:latin typeface="Courier New"/>
                <a:cs typeface="Courier New"/>
              </a:rPr>
              <a:t>  - type: sfapi</a:t>
            </a:r>
          </a:p>
          <a:p>
            <a:pPr marL="0" indent="0" algn="l">
              <a:lnSpc>
                <a:spcPct val="100000"/>
              </a:lnSpc>
              <a:spcBef>
                <a:spcPts val="0"/>
              </a:spcBef>
              <a:buNone/>
            </a:pPr>
            <a:r>
              <a:rPr lang="en-US" sz="1400" b="1" dirty="0">
                <a:solidFill>
                  <a:srgbClr val="1A5B6E"/>
                </a:solidFill>
                <a:latin typeface="Courier New"/>
                <a:cs typeface="Courier New"/>
              </a:rPr>
              <a:t>    contact: perlmutter</a:t>
            </a:r>
          </a:p>
          <a:p>
            <a:pPr marL="0" indent="0" algn="l">
              <a:lnSpc>
                <a:spcPct val="100000"/>
              </a:lnSpc>
              <a:spcBef>
                <a:spcPts val="0"/>
              </a:spcBef>
              <a:buNone/>
            </a:pPr>
            <a:r>
              <a:rPr lang="en-US" sz="1400" dirty="0">
                <a:solidFill>
                  <a:srgbClr val="262626"/>
                </a:solidFill>
                <a:latin typeface="Courier New"/>
                <a:cs typeface="Courier New"/>
              </a:rPr>
              <a:t>    scheduler: slurm</a:t>
            </a:r>
          </a:p>
          <a:p>
            <a:pPr marL="0" indent="0" algn="l">
              <a:lnSpc>
                <a:spcPct val="100000"/>
              </a:lnSpc>
              <a:spcBef>
                <a:spcPts val="0"/>
              </a:spcBef>
              <a:buNone/>
            </a:pPr>
            <a:r>
              <a:rPr lang="en-US" sz="1400" dirty="0">
                <a:solidFill>
                  <a:srgbClr val="262626"/>
                </a:solidFill>
                <a:latin typeface="Courier New"/>
                <a:cs typeface="Courier New"/>
              </a:rPr>
              <a:t>    jobtype: compute</a:t>
            </a:r>
          </a:p>
          <a:p>
            <a:pPr marL="0" indent="0" algn="l">
              <a:lnSpc>
                <a:spcPct val="100000"/>
              </a:lnSpc>
              <a:spcBef>
                <a:spcPts val="0"/>
              </a:spcBef>
              <a:buNone/>
            </a:pPr>
            <a:r>
              <a:rPr lang="en-US" sz="1400" dirty="0">
                <a:solidFill>
                  <a:srgbClr val="262626"/>
                </a:solidFill>
                <a:latin typeface="Courier New"/>
                <a:cs typeface="Courier New"/>
              </a:rPr>
              <a:t>  pegasus:</a:t>
            </a:r>
          </a:p>
          <a:p>
            <a:pPr marL="0" indent="0" algn="l">
              <a:lnSpc>
                <a:spcPct val="100000"/>
              </a:lnSpc>
              <a:spcBef>
                <a:spcPts val="0"/>
              </a:spcBef>
              <a:buNone/>
            </a:pPr>
            <a:r>
              <a:rPr lang="en-US" sz="1400" b="1" dirty="0">
                <a:solidFill>
                  <a:srgbClr val="1A5B6E"/>
                </a:solidFill>
                <a:latin typeface="Courier New"/>
                <a:cs typeface="Courier New"/>
              </a:rPr>
              <a:t>    style: glite</a:t>
            </a:r>
          </a:p>
          <a:p>
            <a:pPr marL="0" indent="0" algn="l">
              <a:lnSpc>
                <a:spcPct val="100000"/>
              </a:lnSpc>
              <a:spcBef>
                <a:spcPts val="0"/>
              </a:spcBef>
              <a:buNone/>
            </a:pPr>
            <a:r>
              <a:rPr lang="en-US" sz="1400" dirty="0">
                <a:solidFill>
                  <a:srgbClr val="262626"/>
                </a:solidFill>
                <a:latin typeface="Courier New"/>
                <a:cs typeface="Courier New"/>
              </a:rPr>
              <a:t>    queue: shared</a:t>
            </a:r>
          </a:p>
          <a:p>
            <a:pPr marL="0" indent="0" algn="l">
              <a:lnSpc>
                <a:spcPct val="100000"/>
              </a:lnSpc>
              <a:spcBef>
                <a:spcPts val="0"/>
              </a:spcBef>
              <a:buNone/>
            </a:pPr>
            <a:r>
              <a:rPr lang="en-US" sz="1400" dirty="0">
                <a:solidFill>
                  <a:srgbClr val="262626"/>
                </a:solidFill>
                <a:latin typeface="Courier New"/>
                <a:cs typeface="Courier New"/>
              </a:rPr>
              <a:t>    project: ${RESOURCE_PROJECT}</a:t>
            </a:r>
          </a:p>
          <a:p>
            <a:pPr marL="0" indent="0" algn="l">
              <a:lnSpc>
                <a:spcPct val="100000"/>
              </a:lnSpc>
              <a:spcBef>
                <a:spcPts val="0"/>
              </a:spcBef>
              <a:buNone/>
            </a:pPr>
            <a:r>
              <a:rPr lang="en-US" sz="1400" b="1" dirty="0">
                <a:solidFill>
                  <a:srgbClr val="1A5B6E"/>
                </a:solidFill>
                <a:latin typeface="Courier New"/>
                <a:cs typeface="Courier New"/>
              </a:rPr>
              <a:t>    data.configuration: nonsharedfs</a:t>
            </a:r>
          </a:p>
          <a:p>
            <a:pPr marL="0" indent="0" algn="l">
              <a:lnSpc>
                <a:spcPct val="100000"/>
              </a:lnSpc>
              <a:spcBef>
                <a:spcPts val="0"/>
              </a:spcBef>
              <a:buNone/>
            </a:pPr>
            <a:r>
              <a:rPr lang="en-US" sz="1400" dirty="0">
                <a:solidFill>
                  <a:srgbClr val="262626"/>
                </a:solidFill>
                <a:latin typeface="Courier New"/>
                <a:cs typeface="Courier New"/>
              </a:rPr>
              <a:t>    glite.arguments: -C cpu</a:t>
            </a:r>
          </a:p>
        </p:txBody>
      </p:sp>
      <p:sp>
        <p:nvSpPr>
          <p:cNvPr id="20" name="Code note"/>
          <p:cNvSpPr/>
          <p:nvPr/>
        </p:nvSpPr>
        <p:spPr>
          <a:xfrm>
            <a:off x="6350000" y="4851400"/>
            <a:ext cx="5003800" cy="685800"/>
          </a:xfrm>
          <a:prstGeom prst="rect">
            <a:avLst/>
          </a:prstGeom>
          <a:noFill/>
          <a:ln>
            <a:noFill/>
          </a:ln>
        </p:spPr>
        <p:txBody>
          <a:bodyPr wrap="square" lIns="0" tIns="0" rIns="0" bIns="0" anchor="t">
            <a:noAutofit/>
          </a:bodyPr>
          <a:lstStyle/>
          <a:p>
            <a:pPr marL="0" indent="0" algn="l">
              <a:spcBef>
                <a:spcPts val="0"/>
              </a:spcBef>
              <a:buNone/>
            </a:pPr>
            <a:r>
              <a:rPr lang="en-US" sz="1400" dirty="0">
                <a:solidFill>
                  <a:srgbClr val="404040"/>
                </a:solidFill>
              </a:rPr>
              <a:t>Scratch and outputs live on CFS: </a:t>
            </a:r>
            <a:r>
              <a:rPr lang="en-US" sz="1300" dirty="0">
                <a:solidFill>
                  <a:srgbClr val="404040"/>
                </a:solidFill>
                <a:latin typeface="Courier New"/>
                <a:cs typeface="Courier New"/>
              </a:rPr>
              <a:t>/global/cfs/cdirs/&lt;project&gt;/&lt;user&gt;/</a:t>
            </a:r>
          </a:p>
          <a:p>
            <a:pPr marL="0" indent="0" algn="l">
              <a:spcBef>
                <a:spcPts val="200"/>
              </a:spcBef>
              <a:buNone/>
            </a:pPr>
            <a:r>
              <a:rPr lang="en-US" sz="1400" dirty="0">
                <a:solidFill>
                  <a:srgbClr val="404040"/>
                </a:solidFill>
              </a:rPr>
              <a:t>Latest entry: github.com/pegasushub/pegasus-site-catalogs</a:t>
            </a:r>
          </a:p>
        </p:txBody>
      </p:sp>
      <p:sp>
        <p:nvSpPr>
          <p:cNvPr id="21" name="Source"/>
          <p:cNvSpPr/>
          <p:nvPr/>
        </p:nvSpPr>
        <p:spPr>
          <a:xfrm>
            <a:off x="838200" y="5715000"/>
            <a:ext cx="10515600" cy="228600"/>
          </a:xfrm>
          <a:prstGeom prst="rect">
            <a:avLst/>
          </a:prstGeom>
          <a:noFill/>
          <a:ln>
            <a:noFill/>
          </a:ln>
        </p:spPr>
        <p:txBody>
          <a:bodyPr wrap="square" lIns="0" tIns="0" rIns="0" bIns="0" anchor="t">
            <a:noAutofit/>
          </a:bodyPr>
          <a:lstStyle/>
          <a:p>
            <a:pPr marL="0" indent="0" algn="l">
              <a:spcBef>
                <a:spcPts val="0"/>
              </a:spcBef>
              <a:buNone/>
            </a:pPr>
            <a:r>
              <a:rPr lang="en-US" sz="1000" dirty="0">
                <a:solidFill>
                  <a:srgbClr val="595959"/>
                </a:solidFill>
              </a:rPr>
              <a:t>Source: Pegasus 5.1 User Guide, “NERSC Perlmutter via SFAPI” (Prerequisites, Site Catalog, Troubleshooting, Data Transfers)</a:t>
            </a:r>
          </a:p>
        </p:txBody>
      </p:sp>
    </p:spTree>
    <p:extLst>
      <p:ext uri="{BB962C8B-B14F-4D97-AF65-F5344CB8AC3E}">
        <p14:creationId xmlns:p14="http://schemas.microsoft.com/office/powerpoint/2010/main" val="1676297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38200" y="406400"/>
            <a:ext cx="10515600" cy="228600"/>
          </a:xfrm>
          <a:prstGeom prst="rect">
            <a:avLst/>
          </a:prstGeom>
          <a:noFill/>
          <a:ln/>
        </p:spPr>
        <p:txBody>
          <a:bodyPr wrap="square" lIns="0" tIns="0" rIns="0" bIns="0" rtlCol="0" anchor="ctr"/>
          <a:lstStyle/>
          <a:p>
            <a:pPr marL="0" indent="0">
              <a:buNone/>
            </a:pPr>
            <a:endParaRPr lang="en-US" sz="1200" b="1" dirty="0">
              <a:solidFill>
                <a:srgbClr val="1A5B6E"/>
              </a:solidFill>
            </a:endParaRPr>
          </a:p>
        </p:txBody>
      </p:sp>
      <p:sp>
        <p:nvSpPr>
          <p:cNvPr id="3" name="Text 1"/>
          <p:cNvSpPr txBox="1"/>
          <p:nvPr/>
        </p:nvSpPr>
        <p:spPr>
          <a:xfrm>
            <a:off x="838200" y="660400"/>
            <a:ext cx="10515600" cy="1270000"/>
          </a:xfrm>
          <a:prstGeom prst="rect">
            <a:avLst/>
          </a:prstGeom>
          <a:noFill/>
          <a:ln/>
        </p:spPr>
        <p:txBody>
          <a:bodyPr wrap="square" lIns="0" tIns="0" rIns="0" bIns="0" rtlCol="0" anchor="t"/>
          <a:lstStyle/>
          <a:p>
            <a:pPr marL="0" indent="0">
              <a:lnSpc>
                <a:spcPct val="90000"/>
              </a:lnSpc>
              <a:buNone/>
            </a:pPr>
            <a:r>
              <a:rPr lang="en-US" sz="4400" b="1" dirty="0">
                <a:solidFill>
                  <a:srgbClr val="1A5B6E"/>
                </a:solidFill>
              </a:rPr>
              <a:t>Science Highlight: </a:t>
            </a:r>
            <a:r>
              <a:rPr lang="en-US" sz="4400" b="1" dirty="0">
                <a:solidFill>
                  <a:schemeClr val="tx1"/>
                </a:solidFill>
              </a:rPr>
              <a:t>Hot Springs - </a:t>
            </a:r>
            <a:r>
              <a:rPr lang="en-US" sz="4400" dirty="0">
                <a:solidFill>
                  <a:schemeClr val="tx1"/>
                </a:solidFill>
              </a:rPr>
              <a:t>What lives in the deep, and what is it doing?</a:t>
            </a:r>
          </a:p>
        </p:txBody>
      </p:sp>
      <p:sp>
        <p:nvSpPr>
          <p:cNvPr id="4" name="Text 2"/>
          <p:cNvSpPr txBox="1"/>
          <p:nvPr/>
        </p:nvSpPr>
        <p:spPr>
          <a:xfrm>
            <a:off x="838200" y="2184400"/>
            <a:ext cx="10515600" cy="736600"/>
          </a:xfrm>
          <a:prstGeom prst="rect">
            <a:avLst/>
          </a:prstGeom>
          <a:noFill/>
          <a:ln/>
        </p:spPr>
        <p:txBody>
          <a:bodyPr wrap="square" lIns="0" tIns="0" rIns="0" bIns="0" rtlCol="0" anchor="t"/>
          <a:lstStyle/>
          <a:p>
            <a:pPr marL="0" indent="0">
              <a:buNone/>
            </a:pPr>
            <a:r>
              <a:rPr lang="en-US" sz="1400" b="0" dirty="0">
                <a:solidFill>
                  <a:srgbClr val="262626"/>
                </a:solidFill>
              </a:rPr>
              <a:t>Along the Costa Rican subduction zone, deep hot springs bring fluids up from where one tectonic plate slides beneath another. Microbes live in that heat and chemistry and what they do there helps govern how carbon moves between the Earth's interior and its surface.</a:t>
            </a:r>
          </a:p>
        </p:txBody>
      </p:sp>
      <p:sp>
        <p:nvSpPr>
          <p:cNvPr id="5" name="Text 3"/>
          <p:cNvSpPr txBox="1"/>
          <p:nvPr/>
        </p:nvSpPr>
        <p:spPr>
          <a:xfrm>
            <a:off x="838200" y="3124200"/>
            <a:ext cx="10515600" cy="279400"/>
          </a:xfrm>
          <a:prstGeom prst="rect">
            <a:avLst/>
          </a:prstGeom>
          <a:noFill/>
          <a:ln/>
        </p:spPr>
        <p:txBody>
          <a:bodyPr wrap="square" lIns="0" tIns="0" rIns="0" bIns="0" rtlCol="0" anchor="t"/>
          <a:lstStyle/>
          <a:p>
            <a:pPr marL="0" indent="0">
              <a:buNone/>
            </a:pPr>
            <a:r>
              <a:rPr lang="en-US" sz="1600" b="1" dirty="0">
                <a:solidFill>
                  <a:srgbClr val="1A5B6E"/>
                </a:solidFill>
              </a:rPr>
              <a:t>The study asks three things</a:t>
            </a:r>
          </a:p>
        </p:txBody>
      </p:sp>
      <p:sp>
        <p:nvSpPr>
          <p:cNvPr id="6" name="Shape 4"/>
          <p:cNvSpPr/>
          <p:nvPr/>
        </p:nvSpPr>
        <p:spPr>
          <a:xfrm>
            <a:off x="838200" y="3530600"/>
            <a:ext cx="63500" cy="1219200"/>
          </a:xfrm>
          <a:prstGeom prst="rect">
            <a:avLst/>
          </a:prstGeom>
          <a:solidFill>
            <a:srgbClr val="1A5B6E"/>
          </a:solidFill>
          <a:ln/>
        </p:spPr>
        <p:txBody>
          <a:bodyPr/>
          <a:lstStyle/>
          <a:p>
            <a:endParaRPr lang="fr-US"/>
          </a:p>
        </p:txBody>
      </p:sp>
      <p:sp>
        <p:nvSpPr>
          <p:cNvPr id="7" name="Text 5"/>
          <p:cNvSpPr txBox="1"/>
          <p:nvPr/>
        </p:nvSpPr>
        <p:spPr>
          <a:xfrm>
            <a:off x="1066800" y="3530600"/>
            <a:ext cx="3175000" cy="304800"/>
          </a:xfrm>
          <a:prstGeom prst="rect">
            <a:avLst/>
          </a:prstGeom>
          <a:noFill/>
          <a:ln/>
        </p:spPr>
        <p:txBody>
          <a:bodyPr wrap="square" lIns="0" tIns="0" rIns="0" bIns="0" rtlCol="0" anchor="t"/>
          <a:lstStyle/>
          <a:p>
            <a:pPr marL="0" indent="0">
              <a:buNone/>
            </a:pPr>
            <a:r>
              <a:rPr lang="en-US" sz="1600" b="1" dirty="0">
                <a:solidFill>
                  <a:srgbClr val="262626"/>
                </a:solidFill>
              </a:rPr>
              <a:t>Who is there?</a:t>
            </a:r>
          </a:p>
        </p:txBody>
      </p:sp>
      <p:sp>
        <p:nvSpPr>
          <p:cNvPr id="8" name="Text 6"/>
          <p:cNvSpPr txBox="1"/>
          <p:nvPr/>
        </p:nvSpPr>
        <p:spPr>
          <a:xfrm>
            <a:off x="1066800" y="3911600"/>
            <a:ext cx="3175000" cy="838200"/>
          </a:xfrm>
          <a:prstGeom prst="rect">
            <a:avLst/>
          </a:prstGeom>
          <a:noFill/>
          <a:ln/>
        </p:spPr>
        <p:txBody>
          <a:bodyPr wrap="square" lIns="0" tIns="0" rIns="0" bIns="0" rtlCol="0" anchor="t"/>
          <a:lstStyle/>
          <a:p>
            <a:pPr marL="0" indent="0">
              <a:buNone/>
            </a:pPr>
            <a:r>
              <a:rPr lang="en-US" sz="1400" b="0" dirty="0">
                <a:solidFill>
                  <a:srgbClr val="262626"/>
                </a:solidFill>
              </a:rPr>
              <a:t>Which microbial communities live in each spring, across the range of temperatures and chemistries.</a:t>
            </a:r>
          </a:p>
        </p:txBody>
      </p:sp>
      <p:sp>
        <p:nvSpPr>
          <p:cNvPr id="9" name="Shape 7"/>
          <p:cNvSpPr/>
          <p:nvPr/>
        </p:nvSpPr>
        <p:spPr>
          <a:xfrm>
            <a:off x="4394200" y="3530600"/>
            <a:ext cx="63500" cy="1219200"/>
          </a:xfrm>
          <a:prstGeom prst="rect">
            <a:avLst/>
          </a:prstGeom>
          <a:solidFill>
            <a:srgbClr val="1A5B6E"/>
          </a:solidFill>
          <a:ln/>
        </p:spPr>
        <p:txBody>
          <a:bodyPr/>
          <a:lstStyle/>
          <a:p>
            <a:endParaRPr lang="fr-US"/>
          </a:p>
        </p:txBody>
      </p:sp>
      <p:sp>
        <p:nvSpPr>
          <p:cNvPr id="10" name="Text 8"/>
          <p:cNvSpPr txBox="1"/>
          <p:nvPr/>
        </p:nvSpPr>
        <p:spPr>
          <a:xfrm>
            <a:off x="4622800" y="3530600"/>
            <a:ext cx="3175000" cy="304800"/>
          </a:xfrm>
          <a:prstGeom prst="rect">
            <a:avLst/>
          </a:prstGeom>
          <a:noFill/>
          <a:ln/>
        </p:spPr>
        <p:txBody>
          <a:bodyPr wrap="square" lIns="0" tIns="0" rIns="0" bIns="0" rtlCol="0" anchor="t"/>
          <a:lstStyle/>
          <a:p>
            <a:pPr marL="0" indent="0">
              <a:buNone/>
            </a:pPr>
            <a:r>
              <a:rPr lang="en-US" sz="1600" b="1" dirty="0">
                <a:solidFill>
                  <a:srgbClr val="262626"/>
                </a:solidFill>
              </a:rPr>
              <a:t>What can they do?</a:t>
            </a:r>
          </a:p>
        </p:txBody>
      </p:sp>
      <p:sp>
        <p:nvSpPr>
          <p:cNvPr id="11" name="Text 9"/>
          <p:cNvSpPr txBox="1"/>
          <p:nvPr/>
        </p:nvSpPr>
        <p:spPr>
          <a:xfrm>
            <a:off x="4622800" y="3911600"/>
            <a:ext cx="3175000" cy="838200"/>
          </a:xfrm>
          <a:prstGeom prst="rect">
            <a:avLst/>
          </a:prstGeom>
          <a:noFill/>
          <a:ln/>
        </p:spPr>
        <p:txBody>
          <a:bodyPr wrap="square" lIns="0" tIns="0" rIns="0" bIns="0" rtlCol="0" anchor="t"/>
          <a:lstStyle/>
          <a:p>
            <a:pPr marL="0" indent="0">
              <a:buNone/>
            </a:pPr>
            <a:r>
              <a:rPr lang="en-US" sz="1400" b="0" dirty="0">
                <a:solidFill>
                  <a:srgbClr val="262626"/>
                </a:solidFill>
              </a:rPr>
              <a:t>Which metabolic genes they </a:t>
            </a:r>
            <a:r>
              <a:rPr lang="en-US" sz="1400" b="0">
                <a:solidFill>
                  <a:srgbClr val="262626"/>
                </a:solidFill>
              </a:rPr>
              <a:t>carry especially </a:t>
            </a:r>
            <a:r>
              <a:rPr lang="en-US" sz="1400" b="0" dirty="0">
                <a:solidFill>
                  <a:srgbClr val="262626"/>
                </a:solidFill>
              </a:rPr>
              <a:t>the machinery for fixing carbon in the subsurface.</a:t>
            </a:r>
          </a:p>
        </p:txBody>
      </p:sp>
      <p:sp>
        <p:nvSpPr>
          <p:cNvPr id="12" name="Shape 10"/>
          <p:cNvSpPr/>
          <p:nvPr/>
        </p:nvSpPr>
        <p:spPr>
          <a:xfrm>
            <a:off x="7950200" y="3530600"/>
            <a:ext cx="63500" cy="1219200"/>
          </a:xfrm>
          <a:prstGeom prst="rect">
            <a:avLst/>
          </a:prstGeom>
          <a:solidFill>
            <a:srgbClr val="1A5B6E"/>
          </a:solidFill>
          <a:ln/>
        </p:spPr>
        <p:txBody>
          <a:bodyPr/>
          <a:lstStyle/>
          <a:p>
            <a:endParaRPr lang="fr-US"/>
          </a:p>
        </p:txBody>
      </p:sp>
      <p:sp>
        <p:nvSpPr>
          <p:cNvPr id="13" name="Text 11"/>
          <p:cNvSpPr txBox="1"/>
          <p:nvPr/>
        </p:nvSpPr>
        <p:spPr>
          <a:xfrm>
            <a:off x="8178800" y="3530600"/>
            <a:ext cx="3175000" cy="304800"/>
          </a:xfrm>
          <a:prstGeom prst="rect">
            <a:avLst/>
          </a:prstGeom>
          <a:noFill/>
          <a:ln/>
        </p:spPr>
        <p:txBody>
          <a:bodyPr wrap="square" lIns="0" tIns="0" rIns="0" bIns="0" rtlCol="0" anchor="t"/>
          <a:lstStyle/>
          <a:p>
            <a:pPr marL="0" indent="0">
              <a:buNone/>
            </a:pPr>
            <a:r>
              <a:rPr lang="en-US" sz="1600" b="1" dirty="0">
                <a:solidFill>
                  <a:srgbClr val="262626"/>
                </a:solidFill>
              </a:rPr>
              <a:t>What shapes them?</a:t>
            </a:r>
          </a:p>
        </p:txBody>
      </p:sp>
      <p:sp>
        <p:nvSpPr>
          <p:cNvPr id="14" name="Text 12"/>
          <p:cNvSpPr txBox="1"/>
          <p:nvPr/>
        </p:nvSpPr>
        <p:spPr>
          <a:xfrm>
            <a:off x="8178800" y="3911600"/>
            <a:ext cx="3175000" cy="838200"/>
          </a:xfrm>
          <a:prstGeom prst="rect">
            <a:avLst/>
          </a:prstGeom>
          <a:noFill/>
          <a:ln/>
        </p:spPr>
        <p:txBody>
          <a:bodyPr wrap="square" lIns="0" tIns="0" rIns="0" bIns="0" rtlCol="0" anchor="t"/>
          <a:lstStyle/>
          <a:p>
            <a:pPr marL="0" indent="0">
              <a:buNone/>
            </a:pPr>
            <a:r>
              <a:rPr lang="en-US" sz="1400" b="0" dirty="0">
                <a:solidFill>
                  <a:srgbClr val="262626"/>
                </a:solidFill>
              </a:rPr>
              <a:t>How the geochemistry of each site drives both the communities and their carbon-cycling potential.</a:t>
            </a:r>
          </a:p>
        </p:txBody>
      </p:sp>
      <p:sp>
        <p:nvSpPr>
          <p:cNvPr id="15" name="Text 13"/>
          <p:cNvSpPr txBox="1"/>
          <p:nvPr/>
        </p:nvSpPr>
        <p:spPr>
          <a:xfrm>
            <a:off x="838200" y="5054600"/>
            <a:ext cx="10515600" cy="558800"/>
          </a:xfrm>
          <a:prstGeom prst="rect">
            <a:avLst/>
          </a:prstGeom>
          <a:noFill/>
          <a:ln/>
        </p:spPr>
        <p:txBody>
          <a:bodyPr wrap="square" lIns="0" tIns="0" rIns="0" bIns="0" rtlCol="0" anchor="t"/>
          <a:lstStyle/>
          <a:p>
            <a:pPr marL="0" indent="0">
              <a:buNone/>
            </a:pPr>
            <a:r>
              <a:rPr lang="en-US" sz="1400" i="1" dirty="0">
                <a:solidFill>
                  <a:srgbClr val="404040"/>
                </a:solidFill>
              </a:rPr>
              <a:t>Understanding this deep microbial carbon cycle helps explain how much carbon stays locked in the Earth versus returns to the atmosphere — a piece of the planet's long-term climate balance.</a:t>
            </a:r>
            <a:endParaRPr lang="en-US" sz="1400" dirty="0">
              <a:solidFill>
                <a:srgbClr val="404040"/>
              </a:solidFill>
            </a:endParaRPr>
          </a:p>
        </p:txBody>
      </p:sp>
      <p:pic>
        <p:nvPicPr>
          <p:cNvPr id="20" name="Picture 19">
            <a:extLst>
              <a:ext uri="{FF2B5EF4-FFF2-40B4-BE49-F238E27FC236}">
                <a16:creationId xmlns:a16="http://schemas.microsoft.com/office/drawing/2014/main" id="{3C831547-0279-D4E6-BD8E-6F432DC131F3}"/>
              </a:ext>
            </a:extLst>
          </p:cNvPr>
          <p:cNvPicPr>
            <a:picLocks noChangeAspect="1"/>
          </p:cNvPicPr>
          <p:nvPr/>
        </p:nvPicPr>
        <p:blipFill>
          <a:blip r:embed="rId3"/>
          <a:stretch>
            <a:fillRect/>
          </a:stretch>
        </p:blipFill>
        <p:spPr>
          <a:xfrm>
            <a:off x="10494235" y="5339975"/>
            <a:ext cx="1317685" cy="1156450"/>
          </a:xfrm>
          <a:prstGeom prst="rect">
            <a:avLst/>
          </a:prstGeom>
        </p:spPr>
      </p:pic>
      <p:sp>
        <p:nvSpPr>
          <p:cNvPr id="21" name="Left caption">
            <a:extLst>
              <a:ext uri="{FF2B5EF4-FFF2-40B4-BE49-F238E27FC236}">
                <a16:creationId xmlns:a16="http://schemas.microsoft.com/office/drawing/2014/main" id="{28D3157B-0C66-6A1A-5EB8-41FCF7635658}"/>
              </a:ext>
            </a:extLst>
          </p:cNvPr>
          <p:cNvSpPr/>
          <p:nvPr/>
        </p:nvSpPr>
        <p:spPr>
          <a:xfrm>
            <a:off x="10359483" y="6541303"/>
            <a:ext cx="1799697" cy="279400"/>
          </a:xfrm>
          <a:prstGeom prst="rect">
            <a:avLst/>
          </a:prstGeom>
          <a:noFill/>
          <a:ln>
            <a:noFill/>
          </a:ln>
        </p:spPr>
        <p:txBody>
          <a:bodyPr wrap="square" lIns="0" tIns="0" rIns="0" bIns="0" anchor="t">
            <a:noAutofit/>
          </a:bodyPr>
          <a:lstStyle/>
          <a:p>
            <a:pPr marL="0" indent="0" algn="l">
              <a:spcBef>
                <a:spcPts val="0"/>
              </a:spcBef>
              <a:buNone/>
            </a:pPr>
            <a:r>
              <a:rPr lang="en-US" sz="1200" i="1" dirty="0">
                <a:solidFill>
                  <a:srgbClr val="1A5B6E"/>
                </a:solidFill>
              </a:rPr>
              <a:t>Hamza </a:t>
            </a:r>
            <a:r>
              <a:rPr lang="en-US" sz="1200" i="1" dirty="0" err="1">
                <a:solidFill>
                  <a:srgbClr val="1A5B6E"/>
                </a:solidFill>
              </a:rPr>
              <a:t>Safri</a:t>
            </a:r>
            <a:r>
              <a:rPr lang="en-US" sz="1200" i="1" dirty="0">
                <a:solidFill>
                  <a:srgbClr val="1A5B6E"/>
                </a:solidFill>
              </a:rPr>
              <a:t> – USC/ISI </a:t>
            </a:r>
          </a:p>
        </p:txBody>
      </p:sp>
      <p:pic>
        <p:nvPicPr>
          <p:cNvPr id="24" name="Picture 23">
            <a:extLst>
              <a:ext uri="{FF2B5EF4-FFF2-40B4-BE49-F238E27FC236}">
                <a16:creationId xmlns:a16="http://schemas.microsoft.com/office/drawing/2014/main" id="{3441CD38-100A-79D6-EA61-E2237BC90807}"/>
              </a:ext>
            </a:extLst>
          </p:cNvPr>
          <p:cNvPicPr>
            <a:picLocks noChangeAspect="1"/>
          </p:cNvPicPr>
          <p:nvPr/>
        </p:nvPicPr>
        <p:blipFill>
          <a:blip r:embed="rId4"/>
          <a:stretch>
            <a:fillRect/>
          </a:stretch>
        </p:blipFill>
        <p:spPr>
          <a:xfrm>
            <a:off x="8801020" y="5390774"/>
            <a:ext cx="1317685" cy="1088697"/>
          </a:xfrm>
          <a:prstGeom prst="rect">
            <a:avLst/>
          </a:prstGeom>
        </p:spPr>
      </p:pic>
      <p:sp>
        <p:nvSpPr>
          <p:cNvPr id="25" name="Left caption">
            <a:extLst>
              <a:ext uri="{FF2B5EF4-FFF2-40B4-BE49-F238E27FC236}">
                <a16:creationId xmlns:a16="http://schemas.microsoft.com/office/drawing/2014/main" id="{3C28D30C-4336-B988-87B3-5D0633359D17}"/>
              </a:ext>
            </a:extLst>
          </p:cNvPr>
          <p:cNvSpPr/>
          <p:nvPr/>
        </p:nvSpPr>
        <p:spPr>
          <a:xfrm>
            <a:off x="8352264" y="6605422"/>
            <a:ext cx="2066692" cy="279400"/>
          </a:xfrm>
          <a:prstGeom prst="rect">
            <a:avLst/>
          </a:prstGeom>
          <a:noFill/>
          <a:ln>
            <a:noFill/>
          </a:ln>
        </p:spPr>
        <p:txBody>
          <a:bodyPr wrap="square" lIns="0" tIns="0" rIns="0" bIns="0" anchor="t">
            <a:noAutofit/>
          </a:bodyPr>
          <a:lstStyle/>
          <a:p>
            <a:pPr marL="0" indent="0" algn="l">
              <a:spcBef>
                <a:spcPts val="0"/>
              </a:spcBef>
              <a:buNone/>
            </a:pPr>
            <a:r>
              <a:rPr lang="en-US" sz="1200" i="1" dirty="0">
                <a:solidFill>
                  <a:srgbClr val="1A5B6E"/>
                </a:solidFill>
              </a:rPr>
              <a:t>Karen Lloyd – USC Dornsife</a:t>
            </a:r>
          </a:p>
        </p:txBody>
      </p:sp>
      <p:sp>
        <p:nvSpPr>
          <p:cNvPr id="27" name="TextBox 26">
            <a:extLst>
              <a:ext uri="{FF2B5EF4-FFF2-40B4-BE49-F238E27FC236}">
                <a16:creationId xmlns:a16="http://schemas.microsoft.com/office/drawing/2014/main" id="{E986FA69-D0E3-567B-FE0B-44CCD1E48E3A}"/>
              </a:ext>
            </a:extLst>
          </p:cNvPr>
          <p:cNvSpPr txBox="1"/>
          <p:nvPr/>
        </p:nvSpPr>
        <p:spPr>
          <a:xfrm>
            <a:off x="1089521" y="5618647"/>
            <a:ext cx="6099716" cy="307777"/>
          </a:xfrm>
          <a:prstGeom prst="rect">
            <a:avLst/>
          </a:prstGeom>
          <a:noFill/>
        </p:spPr>
        <p:txBody>
          <a:bodyPr wrap="square">
            <a:spAutoFit/>
          </a:bodyPr>
          <a:lstStyle/>
          <a:p>
            <a:r>
              <a:rPr lang="en-US" b="1" dirty="0">
                <a:hlinkClick r:id="rId5"/>
              </a:rPr>
              <a:t>https://dornsife.usc.edu/lloyd/projects/</a:t>
            </a:r>
            <a:r>
              <a:rPr lang="en-US" b="1" dirty="0"/>
              <a:t> </a:t>
            </a:r>
          </a:p>
        </p:txBody>
      </p:sp>
    </p:spTree>
    <p:extLst>
      <p:ext uri="{BB962C8B-B14F-4D97-AF65-F5344CB8AC3E}">
        <p14:creationId xmlns:p14="http://schemas.microsoft.com/office/powerpoint/2010/main" val="20284286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txBox="1"/>
          <p:nvPr/>
        </p:nvSpPr>
        <p:spPr>
          <a:xfrm>
            <a:off x="838200" y="584200"/>
            <a:ext cx="10515600" cy="762000"/>
          </a:xfrm>
          <a:prstGeom prst="rect">
            <a:avLst/>
          </a:prstGeom>
          <a:noFill/>
          <a:ln/>
        </p:spPr>
        <p:txBody>
          <a:bodyPr wrap="square" lIns="0" tIns="0" rIns="0" bIns="0" rtlCol="0" anchor="t"/>
          <a:lstStyle/>
          <a:p>
            <a:pPr marL="0" indent="0">
              <a:buNone/>
            </a:pPr>
            <a:r>
              <a:rPr lang="en-US" sz="4400" b="1" dirty="0">
                <a:solidFill>
                  <a:srgbClr val="1A5B6E"/>
                </a:solidFill>
              </a:rPr>
              <a:t>A two-track pipeline, end to end</a:t>
            </a:r>
          </a:p>
        </p:txBody>
      </p:sp>
      <p:pic>
        <p:nvPicPr>
          <p:cNvPr id="4" name="Image 0" descr="dag.png"/>
          <p:cNvPicPr>
            <a:picLocks noChangeAspect="1"/>
          </p:cNvPicPr>
          <p:nvPr/>
        </p:nvPicPr>
        <p:blipFill>
          <a:blip r:embed="rId3"/>
          <a:stretch>
            <a:fillRect/>
          </a:stretch>
        </p:blipFill>
        <p:spPr>
          <a:xfrm>
            <a:off x="838200" y="1574800"/>
            <a:ext cx="4635500" cy="4064000"/>
          </a:xfrm>
          <a:prstGeom prst="rect">
            <a:avLst/>
          </a:prstGeom>
        </p:spPr>
      </p:pic>
      <p:sp>
        <p:nvSpPr>
          <p:cNvPr id="5" name="Text 2"/>
          <p:cNvSpPr txBox="1"/>
          <p:nvPr/>
        </p:nvSpPr>
        <p:spPr>
          <a:xfrm>
            <a:off x="5588000" y="1600200"/>
            <a:ext cx="5765800" cy="279400"/>
          </a:xfrm>
          <a:prstGeom prst="rect">
            <a:avLst/>
          </a:prstGeom>
          <a:noFill/>
          <a:ln/>
        </p:spPr>
        <p:txBody>
          <a:bodyPr wrap="square" lIns="0" tIns="0" rIns="0" bIns="0" rtlCol="0" anchor="t"/>
          <a:lstStyle/>
          <a:p>
            <a:pPr marL="0" indent="0">
              <a:buNone/>
            </a:pPr>
            <a:r>
              <a:rPr lang="en-US" sz="1600" b="1" dirty="0">
                <a:solidFill>
                  <a:srgbClr val="1A5B6E"/>
                </a:solidFill>
              </a:rPr>
              <a:t>The 16S track — the microbes</a:t>
            </a:r>
          </a:p>
        </p:txBody>
      </p:sp>
      <p:sp>
        <p:nvSpPr>
          <p:cNvPr id="6" name="Text 3"/>
          <p:cNvSpPr txBox="1"/>
          <p:nvPr/>
        </p:nvSpPr>
        <p:spPr>
          <a:xfrm>
            <a:off x="5588000" y="1930400"/>
            <a:ext cx="5765800" cy="1117600"/>
          </a:xfrm>
          <a:prstGeom prst="rect">
            <a:avLst/>
          </a:prstGeom>
          <a:noFill/>
          <a:ln/>
        </p:spPr>
        <p:txBody>
          <a:bodyPr wrap="square" lIns="0" tIns="0" rIns="0" bIns="0" rtlCol="0" anchor="t"/>
          <a:lstStyle/>
          <a:p>
            <a:pPr marL="0" indent="0">
              <a:buNone/>
            </a:pPr>
            <a:r>
              <a:rPr lang="en-US" sz="1400" b="0" dirty="0">
                <a:solidFill>
                  <a:srgbClr val="262626"/>
                </a:solidFill>
              </a:rPr>
              <a:t>Processed 16S sequences are grouped by sample, classified against the SILVA reference to name the microbes, cleaned and normalized, then reduced to co-occurrence networks and an ordination — and linked to the site chemistry.</a:t>
            </a:r>
          </a:p>
        </p:txBody>
      </p:sp>
      <p:sp>
        <p:nvSpPr>
          <p:cNvPr id="7" name="Text 4"/>
          <p:cNvSpPr txBox="1"/>
          <p:nvPr/>
        </p:nvSpPr>
        <p:spPr>
          <a:xfrm>
            <a:off x="5588000" y="3175000"/>
            <a:ext cx="5765800" cy="279400"/>
          </a:xfrm>
          <a:prstGeom prst="rect">
            <a:avLst/>
          </a:prstGeom>
          <a:noFill/>
          <a:ln/>
        </p:spPr>
        <p:txBody>
          <a:bodyPr wrap="square" lIns="0" tIns="0" rIns="0" bIns="0" rtlCol="0" anchor="t"/>
          <a:lstStyle/>
          <a:p>
            <a:pPr marL="0" indent="0">
              <a:buNone/>
            </a:pPr>
            <a:r>
              <a:rPr lang="en-US" sz="1600" b="1" dirty="0">
                <a:solidFill>
                  <a:srgbClr val="1A5B6E"/>
                </a:solidFill>
              </a:rPr>
              <a:t>The metagenome track — the chemistry</a:t>
            </a:r>
          </a:p>
        </p:txBody>
      </p:sp>
      <p:sp>
        <p:nvSpPr>
          <p:cNvPr id="8" name="Text 5"/>
          <p:cNvSpPr txBox="1"/>
          <p:nvPr/>
        </p:nvSpPr>
        <p:spPr>
          <a:xfrm>
            <a:off x="5588000" y="3505200"/>
            <a:ext cx="5765800" cy="1117600"/>
          </a:xfrm>
          <a:prstGeom prst="rect">
            <a:avLst/>
          </a:prstGeom>
          <a:noFill/>
          <a:ln/>
        </p:spPr>
        <p:txBody>
          <a:bodyPr wrap="square" lIns="0" tIns="0" rIns="0" bIns="0" rtlCol="0" anchor="t"/>
          <a:lstStyle/>
          <a:p>
            <a:pPr marL="0" indent="0">
              <a:buNone/>
            </a:pPr>
            <a:r>
              <a:rPr lang="en-US" sz="1400" b="0" dirty="0">
                <a:solidFill>
                  <a:srgbClr val="262626"/>
                </a:solidFill>
              </a:rPr>
              <a:t>Raw reads from 34 libraries are quality-trimmed, then annotated with mi-faser to detect metabolic enzymes. Carbon-fixation genes are merged, built into networks, and linked to chemistry — and a carbon-flux estimate is computed per site.</a:t>
            </a:r>
          </a:p>
        </p:txBody>
      </p:sp>
      <p:sp>
        <p:nvSpPr>
          <p:cNvPr id="9" name="Text 6"/>
          <p:cNvSpPr txBox="1"/>
          <p:nvPr/>
        </p:nvSpPr>
        <p:spPr>
          <a:xfrm>
            <a:off x="5588000" y="4749800"/>
            <a:ext cx="5765800" cy="279400"/>
          </a:xfrm>
          <a:prstGeom prst="rect">
            <a:avLst/>
          </a:prstGeom>
          <a:noFill/>
          <a:ln/>
        </p:spPr>
        <p:txBody>
          <a:bodyPr wrap="square" lIns="0" tIns="0" rIns="0" bIns="0" rtlCol="0" anchor="t"/>
          <a:lstStyle/>
          <a:p>
            <a:pPr marL="0" indent="0">
              <a:buNone/>
            </a:pPr>
            <a:r>
              <a:rPr lang="en-US" sz="1600" b="1" dirty="0">
                <a:solidFill>
                  <a:srgbClr val="1A5B6E"/>
                </a:solidFill>
              </a:rPr>
              <a:t>Both tracks converge</a:t>
            </a:r>
          </a:p>
        </p:txBody>
      </p:sp>
      <p:sp>
        <p:nvSpPr>
          <p:cNvPr id="10" name="Text 7"/>
          <p:cNvSpPr txBox="1"/>
          <p:nvPr/>
        </p:nvSpPr>
        <p:spPr>
          <a:xfrm>
            <a:off x="5588000" y="5080000"/>
            <a:ext cx="5765800" cy="711200"/>
          </a:xfrm>
          <a:prstGeom prst="rect">
            <a:avLst/>
          </a:prstGeom>
          <a:noFill/>
          <a:ln/>
        </p:spPr>
        <p:txBody>
          <a:bodyPr wrap="square" lIns="0" tIns="0" rIns="0" bIns="0" rtlCol="0" anchor="t"/>
          <a:lstStyle/>
          <a:p>
            <a:pPr marL="0" indent="0">
              <a:buNone/>
            </a:pPr>
            <a:r>
              <a:rPr lang="en-US" sz="1400" b="0" dirty="0">
                <a:solidFill>
                  <a:srgbClr val="262626"/>
                </a:solidFill>
              </a:rPr>
              <a:t>The two paths meet in a single report that ties the microbial communities to the chemistry around them — the picture the original study drew, rebuilt from public data.</a:t>
            </a:r>
          </a:p>
        </p:txBody>
      </p:sp>
      <p:sp>
        <p:nvSpPr>
          <p:cNvPr id="12" name="Text 0">
            <a:extLst>
              <a:ext uri="{FF2B5EF4-FFF2-40B4-BE49-F238E27FC236}">
                <a16:creationId xmlns:a16="http://schemas.microsoft.com/office/drawing/2014/main" id="{FB0E0DE5-C475-A5B1-7B0A-B7B4CF7F6B1E}"/>
              </a:ext>
            </a:extLst>
          </p:cNvPr>
          <p:cNvSpPr txBox="1"/>
          <p:nvPr/>
        </p:nvSpPr>
        <p:spPr>
          <a:xfrm>
            <a:off x="987669" y="5727700"/>
            <a:ext cx="10515600" cy="228600"/>
          </a:xfrm>
          <a:prstGeom prst="rect">
            <a:avLst/>
          </a:prstGeom>
          <a:noFill/>
          <a:ln/>
        </p:spPr>
        <p:txBody>
          <a:bodyPr wrap="square" lIns="0" tIns="0" rIns="0" bIns="0" rtlCol="0" anchor="ctr"/>
          <a:lstStyle/>
          <a:p>
            <a:pPr marL="0" indent="0">
              <a:buNone/>
            </a:pPr>
            <a:r>
              <a:rPr lang="en-US" sz="1800" b="1" i="1" dirty="0">
                <a:solidFill>
                  <a:srgbClr val="7A7264"/>
                </a:solidFill>
                <a:latin typeface="Calibri" pitchFamily="34" charset="0"/>
                <a:ea typeface="Calibri" pitchFamily="34" charset="-122"/>
                <a:cs typeface="Calibri" pitchFamily="34" charset="-120"/>
              </a:rPr>
              <a:t>The full pipeline completed on Perlmutter  — all 34 metagenome samples and the 16S community, end to end.</a:t>
            </a:r>
            <a:endParaRPr lang="en-US" sz="1800" b="1" dirty="0"/>
          </a:p>
        </p:txBody>
      </p:sp>
    </p:spTree>
    <p:extLst>
      <p:ext uri="{BB962C8B-B14F-4D97-AF65-F5344CB8AC3E}">
        <p14:creationId xmlns:p14="http://schemas.microsoft.com/office/powerpoint/2010/main" val="3652419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9B196-969F-B8F2-5E0E-63FA1432DA0C}"/>
              </a:ext>
            </a:extLst>
          </p:cNvPr>
          <p:cNvSpPr>
            <a:spLocks noGrp="1"/>
          </p:cNvSpPr>
          <p:nvPr>
            <p:ph type="title"/>
          </p:nvPr>
        </p:nvSpPr>
        <p:spPr/>
        <p:txBody>
          <a:bodyPr/>
          <a:lstStyle/>
          <a:p>
            <a:r>
              <a:rPr lang="en-US" dirty="0"/>
              <a:t>Try Pegasus? </a:t>
            </a:r>
          </a:p>
        </p:txBody>
      </p:sp>
      <p:sp>
        <p:nvSpPr>
          <p:cNvPr id="10" name="Left caption"/>
          <p:cNvSpPr/>
          <p:nvPr/>
        </p:nvSpPr>
        <p:spPr>
          <a:xfrm>
            <a:off x="838199" y="1447799"/>
            <a:ext cx="10417935" cy="344625"/>
          </a:xfrm>
          <a:prstGeom prst="rect">
            <a:avLst/>
          </a:prstGeom>
          <a:noFill/>
          <a:ln>
            <a:noFill/>
          </a:ln>
        </p:spPr>
        <p:txBody>
          <a:bodyPr wrap="square" lIns="0" tIns="0" rIns="0" bIns="0" anchor="t">
            <a:noAutofit/>
          </a:bodyPr>
          <a:lstStyle/>
          <a:p>
            <a:r>
              <a:rPr lang="en-US" sz="1600" dirty="0">
                <a:solidFill>
                  <a:schemeClr val="tx1"/>
                </a:solidFill>
              </a:rPr>
              <a:t>An </a:t>
            </a:r>
            <a:r>
              <a:rPr lang="en-US" sz="1600" b="1" dirty="0">
                <a:solidFill>
                  <a:srgbClr val="1A5B6E"/>
                </a:solidFill>
              </a:rPr>
              <a:t>easy and convenient </a:t>
            </a:r>
            <a:r>
              <a:rPr lang="en-US" sz="1600" dirty="0">
                <a:solidFill>
                  <a:schemeClr val="tx1"/>
                </a:solidFill>
              </a:rPr>
              <a:t>way to try out Pegasus and submit workflows to NERSC is to use</a:t>
            </a:r>
            <a:r>
              <a:rPr lang="en-US" sz="1600" b="1" dirty="0">
                <a:solidFill>
                  <a:schemeClr val="tx1"/>
                </a:solidFill>
              </a:rPr>
              <a:t> </a:t>
            </a:r>
            <a:r>
              <a:rPr lang="en-US" sz="1600" b="1" dirty="0">
                <a:solidFill>
                  <a:srgbClr val="1A5B6E"/>
                </a:solidFill>
              </a:rPr>
              <a:t>ACCESS Pegasus.</a:t>
            </a:r>
          </a:p>
        </p:txBody>
      </p:sp>
      <p:sp>
        <p:nvSpPr>
          <p:cNvPr id="18" name="Right caption"/>
          <p:cNvSpPr/>
          <p:nvPr/>
        </p:nvSpPr>
        <p:spPr>
          <a:xfrm>
            <a:off x="838199" y="1962955"/>
            <a:ext cx="10515599" cy="279400"/>
          </a:xfrm>
          <a:prstGeom prst="rect">
            <a:avLst/>
          </a:prstGeom>
          <a:noFill/>
          <a:ln>
            <a:noFill/>
          </a:ln>
        </p:spPr>
        <p:txBody>
          <a:bodyPr wrap="square" lIns="0" tIns="0" rIns="0" bIns="0" anchor="t">
            <a:noAutofit/>
          </a:bodyPr>
          <a:lstStyle/>
          <a:p>
            <a:pPr marL="0" indent="0" algn="l">
              <a:spcBef>
                <a:spcPts val="0"/>
              </a:spcBef>
              <a:buNone/>
            </a:pPr>
            <a:r>
              <a:rPr lang="en-US" sz="1600" b="1" dirty="0">
                <a:solidFill>
                  <a:srgbClr val="1A5B6E"/>
                </a:solidFill>
              </a:rPr>
              <a:t>What ACCESS Pegasus provides</a:t>
            </a:r>
          </a:p>
        </p:txBody>
      </p:sp>
      <p:sp>
        <p:nvSpPr>
          <p:cNvPr id="19" name="Code panel"/>
          <p:cNvSpPr/>
          <p:nvPr/>
        </p:nvSpPr>
        <p:spPr>
          <a:xfrm>
            <a:off x="838199" y="2343955"/>
            <a:ext cx="5652753" cy="2870200"/>
          </a:xfrm>
          <a:prstGeom prst="rect">
            <a:avLst/>
          </a:prstGeom>
          <a:solidFill>
            <a:srgbClr val="EDF4F6"/>
          </a:solidFill>
          <a:ln>
            <a:noFill/>
          </a:ln>
        </p:spPr>
        <p:txBody>
          <a:bodyPr wrap="square" lIns="203200" tIns="114300" rIns="152400" bIns="114300" anchor="ctr">
            <a:noAutofit/>
          </a:bodyPr>
          <a:lstStyle/>
          <a:p>
            <a:pPr marL="0" indent="0" algn="l">
              <a:spcBef>
                <a:spcPts val="0"/>
              </a:spcBef>
              <a:buNone/>
            </a:pPr>
            <a:r>
              <a:rPr lang="en-US" sz="1400" b="1" dirty="0">
                <a:solidFill>
                  <a:srgbClr val="1A5B6E"/>
                </a:solidFill>
              </a:rPr>
              <a:t>Hosted, web-based</a:t>
            </a:r>
          </a:p>
          <a:p>
            <a:pPr marL="0" indent="0" algn="l">
              <a:spcBef>
                <a:spcPts val="100"/>
              </a:spcBef>
              <a:buNone/>
            </a:pPr>
            <a:r>
              <a:rPr lang="en-US" sz="1400" dirty="0">
                <a:solidFill>
                  <a:srgbClr val="262626"/>
                </a:solidFill>
              </a:rPr>
              <a:t>Open OnDemand and Jupyter, with no local install.</a:t>
            </a:r>
          </a:p>
          <a:p>
            <a:pPr marL="0" indent="0" algn="l">
              <a:spcBef>
                <a:spcPts val="1100"/>
              </a:spcBef>
              <a:buNone/>
            </a:pPr>
            <a:r>
              <a:rPr lang="en-US" sz="1400" b="1" dirty="0">
                <a:solidFill>
                  <a:srgbClr val="1A5B6E"/>
                </a:solidFill>
              </a:rPr>
              <a:t>Single sign-on with your ACCESS ID</a:t>
            </a:r>
          </a:p>
          <a:p>
            <a:pPr marL="0" indent="0" algn="l">
              <a:spcBef>
                <a:spcPts val="100"/>
              </a:spcBef>
              <a:buNone/>
            </a:pPr>
            <a:r>
              <a:rPr lang="en-US" sz="1400" dirty="0">
                <a:solidFill>
                  <a:srgbClr val="262626"/>
                </a:solidFill>
              </a:rPr>
              <a:t>Any user with an ACCESS id can login. You don’t need an ACCESS Allocation.</a:t>
            </a:r>
          </a:p>
          <a:p>
            <a:pPr marL="0" indent="0" algn="l">
              <a:spcBef>
                <a:spcPts val="1100"/>
              </a:spcBef>
              <a:buNone/>
            </a:pPr>
            <a:r>
              <a:rPr lang="en-US" sz="1400" b="1" dirty="0">
                <a:solidFill>
                  <a:srgbClr val="1A5B6E"/>
                </a:solidFill>
              </a:rPr>
              <a:t>Training Notebooks</a:t>
            </a:r>
          </a:p>
          <a:p>
            <a:pPr>
              <a:spcBef>
                <a:spcPts val="100"/>
              </a:spcBef>
            </a:pPr>
            <a:r>
              <a:rPr lang="en-US" dirty="0">
                <a:solidFill>
                  <a:srgbClr val="262626"/>
                </a:solidFill>
              </a:rPr>
              <a:t>Try out Pegasus training examples</a:t>
            </a:r>
          </a:p>
          <a:p>
            <a:pPr>
              <a:spcBef>
                <a:spcPts val="100"/>
              </a:spcBef>
            </a:pPr>
            <a:r>
              <a:rPr lang="en-US" dirty="0">
                <a:solidFill>
                  <a:srgbClr val="262626"/>
                </a:solidFill>
                <a:hlinkClick r:id="rId3"/>
              </a:rPr>
              <a:t>https://github.com/pegasus-isi/ACCESS-Pegasus-Examples</a:t>
            </a:r>
            <a:r>
              <a:rPr lang="en-US" dirty="0">
                <a:solidFill>
                  <a:srgbClr val="262626"/>
                </a:solidFill>
              </a:rPr>
              <a:t> </a:t>
            </a:r>
            <a:endParaRPr lang="en-US" sz="1400" dirty="0">
              <a:solidFill>
                <a:srgbClr val="262626"/>
              </a:solidFill>
            </a:endParaRPr>
          </a:p>
        </p:txBody>
      </p:sp>
      <p:sp>
        <p:nvSpPr>
          <p:cNvPr id="20" name="Code note"/>
          <p:cNvSpPr/>
          <p:nvPr/>
        </p:nvSpPr>
        <p:spPr>
          <a:xfrm>
            <a:off x="838199" y="5493555"/>
            <a:ext cx="10515599" cy="685800"/>
          </a:xfrm>
          <a:prstGeom prst="rect">
            <a:avLst/>
          </a:prstGeom>
          <a:noFill/>
          <a:ln>
            <a:noFill/>
          </a:ln>
        </p:spPr>
        <p:txBody>
          <a:bodyPr wrap="square" lIns="0" tIns="0" rIns="0" bIns="0" anchor="t">
            <a:noAutofit/>
          </a:bodyPr>
          <a:lstStyle/>
          <a:p>
            <a:pPr marL="0" indent="0" algn="l">
              <a:spcBef>
                <a:spcPts val="0"/>
              </a:spcBef>
              <a:buNone/>
            </a:pPr>
            <a:r>
              <a:rPr lang="en-US" sz="1400" dirty="0">
                <a:solidFill>
                  <a:srgbClr val="404040"/>
                </a:solidFill>
              </a:rPr>
              <a:t>Log in: </a:t>
            </a:r>
            <a:r>
              <a:rPr lang="en-US" sz="1400" b="1" dirty="0">
                <a:solidFill>
                  <a:srgbClr val="1A5B6E"/>
                </a:solidFill>
              </a:rPr>
              <a:t>pegasus.access-ci.org</a:t>
            </a:r>
          </a:p>
          <a:p>
            <a:pPr marL="0" indent="0" algn="l">
              <a:spcBef>
                <a:spcPts val="200"/>
              </a:spcBef>
              <a:buNone/>
            </a:pPr>
            <a:r>
              <a:rPr lang="en-US" sz="1400" dirty="0">
                <a:solidFill>
                  <a:srgbClr val="404040"/>
                </a:solidFill>
              </a:rPr>
              <a:t>Help: support.access-ci.org/tools/pegasus</a:t>
            </a:r>
          </a:p>
        </p:txBody>
      </p:sp>
      <p:pic>
        <p:nvPicPr>
          <p:cNvPr id="3" name="Google Shape;506;g3f95de07730_1_443" title="Gemini_Generated_Image_soxr7lsoxr7lsoxr.png">
            <a:extLst>
              <a:ext uri="{FF2B5EF4-FFF2-40B4-BE49-F238E27FC236}">
                <a16:creationId xmlns:a16="http://schemas.microsoft.com/office/drawing/2014/main" id="{2719042F-E0C9-577B-71DF-C0D2BA4A27CD}"/>
              </a:ext>
            </a:extLst>
          </p:cNvPr>
          <p:cNvPicPr preferRelativeResize="0"/>
          <p:nvPr/>
        </p:nvPicPr>
        <p:blipFill>
          <a:blip r:embed="rId4">
            <a:alphaModFix/>
          </a:blip>
          <a:stretch>
            <a:fillRect/>
          </a:stretch>
        </p:blipFill>
        <p:spPr>
          <a:xfrm>
            <a:off x="6394539" y="2191167"/>
            <a:ext cx="5643606" cy="3022988"/>
          </a:xfrm>
          <a:prstGeom prst="rect">
            <a:avLst/>
          </a:prstGeom>
          <a:noFill/>
          <a:ln>
            <a:noFill/>
          </a:ln>
        </p:spPr>
      </p:pic>
    </p:spTree>
    <p:extLst>
      <p:ext uri="{BB962C8B-B14F-4D97-AF65-F5344CB8AC3E}">
        <p14:creationId xmlns:p14="http://schemas.microsoft.com/office/powerpoint/2010/main" val="1500236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9"/>
        <p:cNvGrpSpPr/>
        <p:nvPr/>
      </p:nvGrpSpPr>
      <p:grpSpPr>
        <a:xfrm>
          <a:off x="0" y="0"/>
          <a:ext cx="0" cy="0"/>
          <a:chOff x="0" y="0"/>
          <a:chExt cx="0" cy="0"/>
        </a:xfrm>
      </p:grpSpPr>
      <p:sp>
        <p:nvSpPr>
          <p:cNvPr id="2350" name="Google Shape;2350;g3f95de07730_1_872"/>
          <p:cNvSpPr txBox="1">
            <a:spLocks noGrp="1"/>
          </p:cNvSpPr>
          <p:nvPr>
            <p:ph type="title" idx="4294967295"/>
          </p:nvPr>
        </p:nvSpPr>
        <p:spPr>
          <a:xfrm>
            <a:off x="223682" y="1161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Roboto"/>
              <a:buNone/>
            </a:pPr>
            <a:r>
              <a:rPr lang="en-US"/>
              <a:t>We are here to help!</a:t>
            </a:r>
            <a:endParaRPr/>
          </a:p>
        </p:txBody>
      </p:sp>
      <p:sp>
        <p:nvSpPr>
          <p:cNvPr id="2351" name="Google Shape;2351;g3f95de07730_1_872"/>
          <p:cNvSpPr txBox="1">
            <a:spLocks noGrp="1"/>
          </p:cNvSpPr>
          <p:nvPr>
            <p:ph type="body" idx="4294967295"/>
          </p:nvPr>
        </p:nvSpPr>
        <p:spPr>
          <a:xfrm>
            <a:off x="318331" y="1358935"/>
            <a:ext cx="5949900" cy="4827900"/>
          </a:xfrm>
          <a:prstGeom prst="rect">
            <a:avLst/>
          </a:prstGeom>
          <a:noFill/>
          <a:ln>
            <a:noFill/>
          </a:ln>
        </p:spPr>
        <p:txBody>
          <a:bodyPr spcFirstLastPara="1" wrap="square" lIns="91425" tIns="45700" rIns="91425" bIns="45700" anchor="t" anchorCtr="0">
            <a:normAutofit fontScale="77500" lnSpcReduction="20000"/>
          </a:bodyPr>
          <a:lstStyle/>
          <a:p>
            <a:pPr marL="241300" lvl="0" indent="-226695" algn="l" rtl="0">
              <a:lnSpc>
                <a:spcPct val="100000"/>
              </a:lnSpc>
              <a:spcBef>
                <a:spcPts val="1300"/>
              </a:spcBef>
              <a:spcAft>
                <a:spcPts val="0"/>
              </a:spcAft>
              <a:buClr>
                <a:schemeClr val="dk1"/>
              </a:buClr>
              <a:buSzPct val="100000"/>
              <a:buChar char="•"/>
            </a:pPr>
            <a:r>
              <a:rPr lang="en-US"/>
              <a:t>Slack channel</a:t>
            </a:r>
            <a:endParaRPr/>
          </a:p>
          <a:p>
            <a:pPr marL="241300" lvl="0" indent="-226695" algn="l" rtl="0">
              <a:lnSpc>
                <a:spcPct val="100000"/>
              </a:lnSpc>
              <a:spcBef>
                <a:spcPts val="1300"/>
              </a:spcBef>
              <a:spcAft>
                <a:spcPts val="0"/>
              </a:spcAft>
              <a:buClr>
                <a:schemeClr val="dk1"/>
              </a:buClr>
              <a:buSzPct val="100000"/>
              <a:buChar char="•"/>
            </a:pPr>
            <a:r>
              <a:rPr lang="en-US"/>
              <a:t>Email: </a:t>
            </a:r>
            <a:r>
              <a:rPr lang="en-US" u="sng">
                <a:solidFill>
                  <a:schemeClr val="hlink"/>
                </a:solidFill>
                <a:hlinkClick r:id="rId3"/>
              </a:rPr>
              <a:t>pegasus-support@isi.edu</a:t>
            </a:r>
            <a:endParaRPr/>
          </a:p>
          <a:p>
            <a:pPr marL="241300" lvl="0" indent="-226695" algn="l" rtl="0">
              <a:lnSpc>
                <a:spcPct val="100000"/>
              </a:lnSpc>
              <a:spcBef>
                <a:spcPts val="1300"/>
              </a:spcBef>
              <a:spcAft>
                <a:spcPts val="0"/>
              </a:spcAft>
              <a:buClr>
                <a:schemeClr val="dk1"/>
              </a:buClr>
              <a:buSzPct val="100000"/>
              <a:buChar char="•"/>
            </a:pPr>
            <a:r>
              <a:rPr lang="en-US"/>
              <a:t>Office hours every Friday, 11am PT</a:t>
            </a:r>
            <a:endParaRPr/>
          </a:p>
          <a:p>
            <a:pPr marL="241300" lvl="0" indent="-88900" algn="l" rtl="0">
              <a:lnSpc>
                <a:spcPct val="100000"/>
              </a:lnSpc>
              <a:spcBef>
                <a:spcPts val="1300"/>
              </a:spcBef>
              <a:spcAft>
                <a:spcPts val="0"/>
              </a:spcAft>
              <a:buClr>
                <a:schemeClr val="dk1"/>
              </a:buClr>
              <a:buSzPct val="100000"/>
              <a:buNone/>
            </a:pPr>
            <a:endParaRPr/>
          </a:p>
          <a:p>
            <a:pPr marL="241300" lvl="0" indent="-88900" algn="l" rtl="0">
              <a:lnSpc>
                <a:spcPct val="100000"/>
              </a:lnSpc>
              <a:spcBef>
                <a:spcPts val="1300"/>
              </a:spcBef>
              <a:spcAft>
                <a:spcPts val="0"/>
              </a:spcAft>
              <a:buClr>
                <a:schemeClr val="dk1"/>
              </a:buClr>
              <a:buSzPct val="100000"/>
              <a:buNone/>
            </a:pPr>
            <a:endParaRPr/>
          </a:p>
          <a:p>
            <a:pPr marL="241300" lvl="0" indent="-88900" algn="l" rtl="0">
              <a:lnSpc>
                <a:spcPct val="100000"/>
              </a:lnSpc>
              <a:spcBef>
                <a:spcPts val="1300"/>
              </a:spcBef>
              <a:spcAft>
                <a:spcPts val="0"/>
              </a:spcAft>
              <a:buClr>
                <a:schemeClr val="dk1"/>
              </a:buClr>
              <a:buSzPct val="100000"/>
              <a:buNone/>
            </a:pPr>
            <a:endParaRPr/>
          </a:p>
          <a:p>
            <a:pPr marL="241300" lvl="0" indent="-88900" algn="l" rtl="0">
              <a:lnSpc>
                <a:spcPct val="100000"/>
              </a:lnSpc>
              <a:spcBef>
                <a:spcPts val="1300"/>
              </a:spcBef>
              <a:spcAft>
                <a:spcPts val="0"/>
              </a:spcAft>
              <a:buClr>
                <a:schemeClr val="dk1"/>
              </a:buClr>
              <a:buSzPct val="100000"/>
              <a:buNone/>
            </a:pPr>
            <a:endParaRPr/>
          </a:p>
          <a:p>
            <a:pPr marL="0" lvl="0" indent="0" algn="l" rtl="0">
              <a:lnSpc>
                <a:spcPct val="100000"/>
              </a:lnSpc>
              <a:spcBef>
                <a:spcPts val="1300"/>
              </a:spcBef>
              <a:spcAft>
                <a:spcPts val="0"/>
              </a:spcAft>
              <a:buNone/>
            </a:pPr>
            <a:endParaRPr/>
          </a:p>
          <a:p>
            <a:pPr marL="241300" lvl="0" indent="-226695" algn="l" rtl="0">
              <a:lnSpc>
                <a:spcPct val="100000"/>
              </a:lnSpc>
              <a:spcBef>
                <a:spcPts val="1300"/>
              </a:spcBef>
              <a:spcAft>
                <a:spcPts val="0"/>
              </a:spcAft>
              <a:buClr>
                <a:schemeClr val="dk1"/>
              </a:buClr>
              <a:buSzPct val="100000"/>
              <a:buChar char="•"/>
            </a:pPr>
            <a:r>
              <a:rPr lang="en-US"/>
              <a:t>Tutorial walkthrough First Friday of the month</a:t>
            </a:r>
            <a:endParaRPr/>
          </a:p>
          <a:p>
            <a:pPr marL="241300" lvl="0" indent="-226695" algn="l" rtl="0">
              <a:lnSpc>
                <a:spcPct val="100000"/>
              </a:lnSpc>
              <a:spcBef>
                <a:spcPts val="1300"/>
              </a:spcBef>
              <a:spcAft>
                <a:spcPts val="0"/>
              </a:spcAft>
              <a:buClr>
                <a:schemeClr val="dk1"/>
              </a:buClr>
              <a:buSzPct val="100000"/>
              <a:buChar char="•"/>
            </a:pPr>
            <a:r>
              <a:rPr lang="en-US" u="sng">
                <a:solidFill>
                  <a:schemeClr val="hlink"/>
                </a:solidFill>
                <a:hlinkClick r:id="rId4"/>
              </a:rPr>
              <a:t>https://pegasus.isi.edu</a:t>
            </a:r>
            <a:r>
              <a:rPr lang="en-US"/>
              <a:t>      </a:t>
            </a:r>
            <a:endParaRPr/>
          </a:p>
          <a:p>
            <a:pPr marL="241300" lvl="0" indent="-88900" algn="l" rtl="0">
              <a:lnSpc>
                <a:spcPct val="100000"/>
              </a:lnSpc>
              <a:spcBef>
                <a:spcPts val="1300"/>
              </a:spcBef>
              <a:spcAft>
                <a:spcPts val="0"/>
              </a:spcAft>
              <a:buClr>
                <a:schemeClr val="dk1"/>
              </a:buClr>
              <a:buSzPct val="100000"/>
              <a:buNone/>
            </a:pPr>
            <a:endParaRPr/>
          </a:p>
        </p:txBody>
      </p:sp>
      <p:pic>
        <p:nvPicPr>
          <p:cNvPr id="2352" name="Google Shape;2352;g3f95de07730_1_872" descr="A screenshot of a computer&#10;&#10;Description automatically generated"/>
          <p:cNvPicPr preferRelativeResize="0"/>
          <p:nvPr/>
        </p:nvPicPr>
        <p:blipFill rotWithShape="1">
          <a:blip r:embed="rId5">
            <a:alphaModFix/>
          </a:blip>
          <a:srcRect/>
          <a:stretch/>
        </p:blipFill>
        <p:spPr>
          <a:xfrm>
            <a:off x="7340333" y="0"/>
            <a:ext cx="4136366" cy="5685703"/>
          </a:xfrm>
          <a:prstGeom prst="rect">
            <a:avLst/>
          </a:prstGeom>
          <a:noFill/>
          <a:ln>
            <a:noFill/>
          </a:ln>
        </p:spPr>
      </p:pic>
      <p:pic>
        <p:nvPicPr>
          <p:cNvPr id="2353" name="Google Shape;2353;g3f95de07730_1_872"/>
          <p:cNvPicPr preferRelativeResize="0"/>
          <p:nvPr/>
        </p:nvPicPr>
        <p:blipFill rotWithShape="1">
          <a:blip r:embed="rId6">
            <a:alphaModFix/>
          </a:blip>
          <a:srcRect/>
          <a:stretch/>
        </p:blipFill>
        <p:spPr>
          <a:xfrm>
            <a:off x="725492" y="2649555"/>
            <a:ext cx="5095736" cy="2021248"/>
          </a:xfrm>
          <a:prstGeom prst="rect">
            <a:avLst/>
          </a:prstGeom>
          <a:noFill/>
          <a:ln>
            <a:noFill/>
          </a:ln>
        </p:spPr>
      </p:pic>
      <p:sp>
        <p:nvSpPr>
          <p:cNvPr id="2354" name="Google Shape;2354;g3f95de07730_1_872"/>
          <p:cNvSpPr txBox="1">
            <a:spLocks noGrp="1"/>
          </p:cNvSpPr>
          <p:nvPr>
            <p:ph type="sldNum" idx="12"/>
          </p:nvPr>
        </p:nvSpPr>
        <p:spPr>
          <a:xfrm>
            <a:off x="11594128" y="6284133"/>
            <a:ext cx="351600" cy="169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58"/>
        <p:cNvGrpSpPr/>
        <p:nvPr/>
      </p:nvGrpSpPr>
      <p:grpSpPr>
        <a:xfrm>
          <a:off x="0" y="0"/>
          <a:ext cx="0" cy="0"/>
          <a:chOff x="0" y="0"/>
          <a:chExt cx="0" cy="0"/>
        </a:xfrm>
      </p:grpSpPr>
      <p:sp>
        <p:nvSpPr>
          <p:cNvPr id="2359" name="Google Shape;2359;g3709db5a662_1_0"/>
          <p:cNvSpPr txBox="1">
            <a:spLocks noGrp="1"/>
          </p:cNvSpPr>
          <p:nvPr>
            <p:ph type="title"/>
          </p:nvPr>
        </p:nvSpPr>
        <p:spPr>
          <a:xfrm>
            <a:off x="1367366" y="2032000"/>
            <a:ext cx="9457200" cy="1926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ct val="90566"/>
              <a:buNone/>
            </a:pPr>
            <a:r>
              <a:rPr lang="en-US" sz="5300" dirty="0"/>
              <a:t>Thank you!</a:t>
            </a:r>
            <a:endParaRPr sz="5300" dirty="0"/>
          </a:p>
          <a:p>
            <a:pPr marL="0" lvl="0" indent="0" algn="ctr" rtl="0">
              <a:lnSpc>
                <a:spcPct val="90000"/>
              </a:lnSpc>
              <a:spcBef>
                <a:spcPts val="0"/>
              </a:spcBef>
              <a:spcAft>
                <a:spcPts val="0"/>
              </a:spcAft>
              <a:buSzPct val="154839"/>
              <a:buNone/>
            </a:pPr>
            <a:r>
              <a:rPr lang="en-US" sz="3100" dirty="0"/>
              <a:t>Questions?</a:t>
            </a:r>
            <a:endParaRPr sz="3100" dirty="0"/>
          </a:p>
          <a:p>
            <a:pPr marL="2743200" lvl="0" indent="457200" algn="l" rtl="0">
              <a:lnSpc>
                <a:spcPct val="115000"/>
              </a:lnSpc>
              <a:spcBef>
                <a:spcPts val="0"/>
              </a:spcBef>
              <a:spcAft>
                <a:spcPts val="0"/>
              </a:spcAft>
              <a:buClr>
                <a:schemeClr val="dk1"/>
              </a:buClr>
              <a:buSzPct val="46262"/>
              <a:buFont typeface="Arial"/>
              <a:buNone/>
            </a:pPr>
            <a:r>
              <a:rPr lang="en-US" sz="2378" dirty="0"/>
              <a:t>Karan Vahi   |  </a:t>
            </a:r>
            <a:r>
              <a:rPr lang="en-US" sz="2378" u="sng" dirty="0">
                <a:solidFill>
                  <a:schemeClr val="hlink"/>
                </a:solidFill>
                <a:hlinkClick r:id="rId3"/>
              </a:rPr>
              <a:t>vahi@isi.edu</a:t>
            </a:r>
            <a:endParaRPr dirty="0"/>
          </a:p>
          <a:p>
            <a:pPr marL="0" lvl="0" indent="0" algn="ctr" rtl="0">
              <a:lnSpc>
                <a:spcPct val="90000"/>
              </a:lnSpc>
              <a:spcBef>
                <a:spcPts val="0"/>
              </a:spcBef>
              <a:spcAft>
                <a:spcPts val="0"/>
              </a:spcAft>
              <a:buSzPct val="109091"/>
              <a:buNone/>
            </a:pPr>
            <a:endParaRPr dirty="0"/>
          </a:p>
        </p:txBody>
      </p:sp>
      <p:sp>
        <p:nvSpPr>
          <p:cNvPr id="3001" name="Ack heading"/>
          <p:cNvSpPr txBox="1"/>
          <p:nvPr/>
        </p:nvSpPr>
        <p:spPr>
          <a:xfrm>
            <a:off x="7112000" y="4038600"/>
            <a:ext cx="4572000" cy="330200"/>
          </a:xfrm>
          <a:prstGeom prst="rect">
            <a:avLst/>
          </a:prstGeom>
          <a:noFill/>
        </p:spPr>
        <p:txBody>
          <a:bodyPr wrap="square" lIns="0" tIns="0" rIns="0" bIns="0" anchor="ctr">
            <a:noAutofit/>
          </a:bodyPr>
          <a:lstStyle/>
          <a:p>
            <a:pPr algn="l">
              <a:buNone/>
            </a:pPr>
            <a:r>
              <a:rPr lang="en-US" sz="2000" b="1" dirty="0">
                <a:solidFill>
                  <a:srgbClr val="1A5B6E"/>
                </a:solidFill>
              </a:rPr>
              <a:t>Acknowledgments</a:t>
            </a:r>
          </a:p>
        </p:txBody>
      </p:sp>
      <p:cxnSp>
        <p:nvCxnSpPr>
          <p:cNvPr id="3002" name="Ack rule"/>
          <p:cNvCxnSpPr/>
          <p:nvPr/>
        </p:nvCxnSpPr>
        <p:spPr>
          <a:xfrm>
            <a:off x="7112000" y="4419600"/>
            <a:ext cx="4572000" cy="0"/>
          </a:xfrm>
          <a:prstGeom prst="line">
            <a:avLst/>
          </a:prstGeom>
          <a:ln w="9525">
            <a:solidFill>
              <a:srgbClr val="1A5B6E"/>
            </a:solidFill>
          </a:ln>
        </p:spPr>
      </p:cxnSp>
      <p:sp>
        <p:nvSpPr>
          <p:cNvPr id="3003" name="Ack subline"/>
          <p:cNvSpPr txBox="1"/>
          <p:nvPr/>
        </p:nvSpPr>
        <p:spPr>
          <a:xfrm>
            <a:off x="7112000" y="4521200"/>
            <a:ext cx="4572000" cy="254000"/>
          </a:xfrm>
          <a:prstGeom prst="rect">
            <a:avLst/>
          </a:prstGeom>
          <a:noFill/>
        </p:spPr>
        <p:txBody>
          <a:bodyPr wrap="square" lIns="0" tIns="0" rIns="0" bIns="0" anchor="ctr">
            <a:noAutofit/>
          </a:bodyPr>
          <a:lstStyle/>
          <a:p>
            <a:pPr algn="l">
              <a:buNone/>
            </a:pPr>
            <a:r>
              <a:rPr lang="en-US" sz="1400" b="0" dirty="0">
                <a:solidFill>
                  <a:srgbClr val="404040"/>
                </a:solidFill>
              </a:rPr>
              <a:t>For support on the Pegasus SFAPI integration</a:t>
            </a:r>
          </a:p>
        </p:txBody>
      </p:sp>
      <p:sp>
        <p:nvSpPr>
          <p:cNvPr id="3004" name="Ack photo Jaime Frey" descr="Placeholder for photo"/>
          <p:cNvSpPr/>
          <p:nvPr/>
        </p:nvSpPr>
        <p:spPr>
          <a:xfrm>
            <a:off x="7112000" y="4927600"/>
            <a:ext cx="660400" cy="660400"/>
          </a:xfrm>
          <a:prstGeom prst="ellipse">
            <a:avLst/>
          </a:prstGeom>
          <a:solidFill>
            <a:srgbClr val="1A5B6E"/>
          </a:solidFill>
          <a:ln>
            <a:noFill/>
          </a:ln>
        </p:spPr>
        <p:txBody>
          <a:bodyPr wrap="none" lIns="0" tIns="0" rIns="0" bIns="0" anchor="ctr">
            <a:noAutofit/>
          </a:bodyPr>
          <a:lstStyle/>
          <a:p>
            <a:pPr algn="ctr">
              <a:buNone/>
            </a:pPr>
            <a:r>
              <a:rPr lang="en-US" sz="1800" b="1" dirty="0">
                <a:solidFill>
                  <a:srgbClr val="FFFFFF"/>
                </a:solidFill>
              </a:rPr>
              <a:t>JF</a:t>
            </a:r>
          </a:p>
        </p:txBody>
      </p:sp>
      <p:sp>
        <p:nvSpPr>
          <p:cNvPr id="3005" name="Ack Jaime Frey"/>
          <p:cNvSpPr txBox="1"/>
          <p:nvPr/>
        </p:nvSpPr>
        <p:spPr>
          <a:xfrm>
            <a:off x="7950200" y="4927600"/>
            <a:ext cx="3733800" cy="660400"/>
          </a:xfrm>
          <a:prstGeom prst="rect">
            <a:avLst/>
          </a:prstGeom>
          <a:noFill/>
        </p:spPr>
        <p:txBody>
          <a:bodyPr wrap="square" lIns="0" tIns="0" rIns="0" bIns="0" anchor="ctr">
            <a:noAutofit/>
          </a:bodyPr>
          <a:lstStyle/>
          <a:p>
            <a:pPr algn="l">
              <a:buNone/>
            </a:pPr>
            <a:r>
              <a:rPr lang="en-US" sz="1600" b="1" dirty="0">
                <a:solidFill>
                  <a:srgbClr val="262626"/>
                </a:solidFill>
              </a:rPr>
              <a:t>Jaime Frey</a:t>
            </a:r>
          </a:p>
          <a:p>
            <a:pPr algn="l">
              <a:buNone/>
            </a:pPr>
            <a:r>
              <a:rPr lang="en-US" sz="1400" b="0" dirty="0">
                <a:solidFill>
                  <a:srgbClr val="404040"/>
                </a:solidFill>
              </a:rPr>
              <a:t>HTCondor team, CHTC, UW–Madison</a:t>
            </a:r>
          </a:p>
        </p:txBody>
      </p:sp>
      <p:sp>
        <p:nvSpPr>
          <p:cNvPr id="3006" name="Ack photo Nick Tyler" descr="Placeholder for photo"/>
          <p:cNvSpPr/>
          <p:nvPr/>
        </p:nvSpPr>
        <p:spPr>
          <a:xfrm>
            <a:off x="7112000" y="5740400"/>
            <a:ext cx="660400" cy="660400"/>
          </a:xfrm>
          <a:prstGeom prst="ellipse">
            <a:avLst/>
          </a:prstGeom>
          <a:solidFill>
            <a:srgbClr val="1A5B6E"/>
          </a:solidFill>
          <a:ln>
            <a:noFill/>
          </a:ln>
        </p:spPr>
        <p:txBody>
          <a:bodyPr wrap="none" lIns="0" tIns="0" rIns="0" bIns="0" anchor="ctr">
            <a:noAutofit/>
          </a:bodyPr>
          <a:lstStyle/>
          <a:p>
            <a:pPr algn="ctr">
              <a:buNone/>
            </a:pPr>
            <a:r>
              <a:rPr lang="en-US" sz="1800" b="1" dirty="0">
                <a:solidFill>
                  <a:srgbClr val="FFFFFF"/>
                </a:solidFill>
              </a:rPr>
              <a:t>NT</a:t>
            </a:r>
          </a:p>
        </p:txBody>
      </p:sp>
      <p:sp>
        <p:nvSpPr>
          <p:cNvPr id="3007" name="Ack Nick Tyler"/>
          <p:cNvSpPr txBox="1"/>
          <p:nvPr/>
        </p:nvSpPr>
        <p:spPr>
          <a:xfrm>
            <a:off x="7950200" y="5740400"/>
            <a:ext cx="3733800" cy="660400"/>
          </a:xfrm>
          <a:prstGeom prst="rect">
            <a:avLst/>
          </a:prstGeom>
          <a:noFill/>
        </p:spPr>
        <p:txBody>
          <a:bodyPr wrap="square" lIns="0" tIns="0" rIns="0" bIns="0" anchor="ctr">
            <a:noAutofit/>
          </a:bodyPr>
          <a:lstStyle/>
          <a:p>
            <a:pPr algn="l">
              <a:buNone/>
            </a:pPr>
            <a:r>
              <a:rPr lang="en-US" sz="1600" b="1" dirty="0">
                <a:solidFill>
                  <a:srgbClr val="262626"/>
                </a:solidFill>
              </a:rPr>
              <a:t>Nick Tyler</a:t>
            </a:r>
          </a:p>
          <a:p>
            <a:pPr algn="l">
              <a:buNone/>
            </a:pPr>
            <a:r>
              <a:rPr lang="en-US" sz="1400" b="0" dirty="0">
                <a:solidFill>
                  <a:srgbClr val="404040"/>
                </a:solidFill>
              </a:rPr>
              <a:t>NERSC, Berkeley Lab</a:t>
            </a:r>
          </a:p>
        </p:txBody>
      </p:sp>
    </p:spTree>
    <p:extLst>
      <p:ext uri="{BB962C8B-B14F-4D97-AF65-F5344CB8AC3E}">
        <p14:creationId xmlns:p14="http://schemas.microsoft.com/office/powerpoint/2010/main" val="475946220"/>
      </p:ext>
    </p:extLst>
  </p:cSld>
  <p:clrMapOvr>
    <a:masterClrMapping/>
  </p:clrMapOvr>
</p:sld>
</file>

<file path=ppt/theme/theme1.xml><?xml version="1.0" encoding="utf-8"?>
<a:theme xmlns:a="http://schemas.openxmlformats.org/drawingml/2006/main" name="ACCESS - Support">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FF137A2-9010-1043-94B0-EA015E109347}">
  <we:reference id="11d7cf85-ae5a-43b8-bc58-1e1a151cce24" version="1.0.0.1" store="EXCatalog" storeType="EXCatalog"/>
  <we:alternateReferences>
    <we:reference id="WA200010725" version="1.0.0.1" store="en-US" storeType="OMEX"/>
  </we:alternateReferences>
  <we:properties>
    <we:property name="claude.fileId" value="&quot;0a8535dd-25ba-4353-8e59-07c5dfb4b77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198</TotalTime>
  <Words>1874</Words>
  <Application>Microsoft Macintosh PowerPoint</Application>
  <PresentationFormat>Widescreen</PresentationFormat>
  <Paragraphs>261</Paragraphs>
  <Slides>18</Slides>
  <Notes>15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Roboto Black</vt:lpstr>
      <vt:lpstr>Roboto Light</vt:lpstr>
      <vt:lpstr>Courier New</vt:lpstr>
      <vt:lpstr>Noto Sans Symbols</vt:lpstr>
      <vt:lpstr>Helvetica Neue</vt:lpstr>
      <vt:lpstr>Arial</vt:lpstr>
      <vt:lpstr>Roboto</vt:lpstr>
      <vt:lpstr>Montserrat</vt:lpstr>
      <vt:lpstr>Helvetica Neue Light</vt:lpstr>
      <vt:lpstr>Calibri</vt:lpstr>
      <vt:lpstr>ACCESS - Support</vt:lpstr>
      <vt:lpstr>Scientific Workflows with Pegasus on NERSC Resources using SFAPI </vt:lpstr>
      <vt:lpstr>The Challenge: Moving Beyond the Laptop  </vt:lpstr>
      <vt:lpstr>PowerPoint Presentation</vt:lpstr>
      <vt:lpstr>Key Pegasus Concepts</vt:lpstr>
      <vt:lpstr>Defining Workflows in Python</vt:lpstr>
      <vt:lpstr>PowerPoint Presentation</vt:lpstr>
      <vt:lpstr>Write Once, Run Anywhere  </vt:lpstr>
      <vt:lpstr>Resilience: When Things Go Wrong</vt:lpstr>
      <vt:lpstr>Provenance &amp; Reproducibility</vt:lpstr>
      <vt:lpstr>The NERSC Superfacility API</vt:lpstr>
      <vt:lpstr>How Pegasus Uses the Superfacility API</vt:lpstr>
      <vt:lpstr>Pegasus WMS Job Submission to NERSC via SFAPI</vt:lpstr>
      <vt:lpstr>Setting Up Pegasus for NERSC SFAPI</vt:lpstr>
      <vt:lpstr>PowerPoint Presentation</vt:lpstr>
      <vt:lpstr>PowerPoint Presentation</vt:lpstr>
      <vt:lpstr>Try Pegasus? </vt:lpstr>
      <vt:lpstr>We are here to help!</vt:lpstr>
      <vt:lpstr>Thank you! Questions? Karan Vahi   |  vahi@isi.edu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Karan Vahi</cp:lastModifiedBy>
  <cp:revision>43</cp:revision>
  <dcterms:modified xsi:type="dcterms:W3CDTF">2026-10-06T17:32:07Z</dcterms:modified>
</cp:coreProperties>
</file>