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8" r:id="rId1"/>
  </p:sldMasterIdLst>
  <p:notesMasterIdLst>
    <p:notesMasterId r:id="rId27"/>
  </p:notesMasterIdLst>
  <p:sldIdLst>
    <p:sldId id="367" r:id="rId2"/>
    <p:sldId id="368" r:id="rId3"/>
    <p:sldId id="369" r:id="rId4"/>
    <p:sldId id="372" r:id="rId5"/>
    <p:sldId id="370" r:id="rId6"/>
    <p:sldId id="373" r:id="rId7"/>
    <p:sldId id="362" r:id="rId8"/>
    <p:sldId id="371" r:id="rId9"/>
    <p:sldId id="366" r:id="rId10"/>
    <p:sldId id="374" r:id="rId11"/>
    <p:sldId id="267" r:id="rId12"/>
    <p:sldId id="268" r:id="rId13"/>
    <p:sldId id="270" r:id="rId14"/>
    <p:sldId id="344" r:id="rId15"/>
    <p:sldId id="345" r:id="rId16"/>
    <p:sldId id="294" r:id="rId17"/>
    <p:sldId id="352" r:id="rId18"/>
    <p:sldId id="298" r:id="rId19"/>
    <p:sldId id="296" r:id="rId20"/>
    <p:sldId id="297" r:id="rId21"/>
    <p:sldId id="299" r:id="rId22"/>
    <p:sldId id="343" r:id="rId23"/>
    <p:sldId id="375" r:id="rId24"/>
    <p:sldId id="311" r:id="rId25"/>
    <p:sldId id="35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57"/>
    <p:restoredTop sz="94675"/>
  </p:normalViewPr>
  <p:slideViewPr>
    <p:cSldViewPr snapToGrid="0">
      <p:cViewPr varScale="1">
        <p:scale>
          <a:sx n="114" d="100"/>
          <a:sy n="114" d="100"/>
        </p:scale>
        <p:origin x="112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087E32-79D2-0344-9C54-90868A4F9A70}" type="datetimeFigureOut">
              <a:rPr lang="en-US" smtClean="0"/>
              <a:t>10/14/26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1C26E2-D0BF-A642-9D8A-51B13827BBEF}" type="slidenum">
              <a:rPr lang="en-US" smtClean="0"/>
              <a:t>‹#›</a:t>
            </a:fld>
            <a:endParaRPr lang="en-US"/>
          </a:p>
        </p:txBody>
      </p:sp>
    </p:spTree>
    <p:extLst>
      <p:ext uri="{BB962C8B-B14F-4D97-AF65-F5344CB8AC3E}">
        <p14:creationId xmlns:p14="http://schemas.microsoft.com/office/powerpoint/2010/main" val="4126215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2" name="Google Shape;12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f95de07730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f95de07730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f95de07730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f95de07730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dirty="0"/>
          </a:p>
        </p:txBody>
      </p:sp>
      <p:sp>
        <p:nvSpPr>
          <p:cNvPr id="153" name="Google Shape;15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f95de07730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g3f95de07730_1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dirty="0"/>
          </a:p>
        </p:txBody>
      </p:sp>
      <p:sp>
        <p:nvSpPr>
          <p:cNvPr id="168" name="Google Shape;16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f95de07730_1_1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g3f95de07730_1_1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f95de07730_1_231:notes"/>
          <p:cNvSpPr txBox="1">
            <a:spLocks noGrp="1"/>
          </p:cNvSpPr>
          <p:nvPr>
            <p:ph type="body" idx="1"/>
          </p:nvPr>
        </p:nvSpPr>
        <p:spPr>
          <a:xfrm>
            <a:off x="685792" y="4343391"/>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2" name="Google Shape;342;g3f95de07730_1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f95de07730_1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f95de07730_1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f95de07730_1_2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dirty="0"/>
          </a:p>
        </p:txBody>
      </p:sp>
      <p:sp>
        <p:nvSpPr>
          <p:cNvPr id="360" name="Google Shape;360;g3f95de07730_1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f5c399fe9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g3f5c399fe94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3f95de07730_1_4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3f95de07730_1_443:notes"/>
          <p:cNvSpPr txBox="1">
            <a:spLocks noGrp="1"/>
          </p:cNvSpPr>
          <p:nvPr>
            <p:ph type="body" idx="1"/>
          </p:nvPr>
        </p:nvSpPr>
        <p:spPr>
          <a:xfrm>
            <a:off x="685792" y="4343391"/>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3f95de07730_1_649:notes"/>
          <p:cNvSpPr txBox="1">
            <a:spLocks noGrp="1"/>
          </p:cNvSpPr>
          <p:nvPr>
            <p:ph type="body" idx="1"/>
          </p:nvPr>
        </p:nvSpPr>
        <p:spPr>
          <a:xfrm>
            <a:off x="685792" y="4343391"/>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1" name="Google Shape;651;g3f95de07730_1_6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3f95de07730_1_655:notes"/>
          <p:cNvSpPr txBox="1">
            <a:spLocks noGrp="1"/>
          </p:cNvSpPr>
          <p:nvPr>
            <p:ph type="body" idx="1"/>
          </p:nvPr>
        </p:nvSpPr>
        <p:spPr>
          <a:xfrm>
            <a:off x="685792" y="4343391"/>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8" name="Google Shape;658;g3f95de07730_1_6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g3f95de07730_1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7" name="Google Shape;1277;g3f95de07730_1_9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0" name="Google Shape;50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114300" algn="l" rtl="0">
              <a:spcBef>
                <a:spcPts val="0"/>
              </a:spcBef>
              <a:spcAft>
                <a:spcPts val="0"/>
              </a:spcAft>
              <a:buClr>
                <a:srgbClr val="000000"/>
              </a:buClr>
              <a:buSzPts val="1800"/>
              <a:buFont typeface="Arial"/>
              <a:buChar char="•"/>
            </a:pPr>
            <a:r>
              <a:rPr lang="en-US" sz="1800" b="0" i="0" u="none" strike="noStrike" dirty="0">
                <a:solidFill>
                  <a:srgbClr val="000000"/>
                </a:solidFill>
                <a:latin typeface="Calibri"/>
                <a:ea typeface="Calibri"/>
                <a:cs typeface="Calibri"/>
                <a:sym typeface="Calibri"/>
              </a:rPr>
              <a:t>We ran for 45 days, around the clock.</a:t>
            </a:r>
            <a:endParaRPr dirty="0"/>
          </a:p>
          <a:p>
            <a:pPr marL="0" lvl="0" indent="-114300" algn="l" rtl="0">
              <a:spcBef>
                <a:spcPts val="0"/>
              </a:spcBef>
              <a:spcAft>
                <a:spcPts val="0"/>
              </a:spcAft>
              <a:buClr>
                <a:srgbClr val="000000"/>
              </a:buClr>
              <a:buSzPts val="1800"/>
              <a:buFont typeface="Arial"/>
              <a:buChar char="•"/>
            </a:pPr>
            <a:r>
              <a:rPr lang="en-US" sz="1800" b="0" i="0" u="none" strike="noStrike" dirty="0">
                <a:solidFill>
                  <a:srgbClr val="000000"/>
                </a:solidFill>
                <a:latin typeface="Calibri"/>
                <a:ea typeface="Calibri"/>
                <a:cs typeface="Calibri"/>
                <a:sym typeface="Calibri"/>
              </a:rPr>
              <a:t>The study used about 55k node-hours on Frontier and 125k node-hours on Frontera.</a:t>
            </a:r>
            <a:endParaRPr dirty="0"/>
          </a:p>
          <a:p>
            <a:pPr marL="0" lvl="0" indent="-114300" algn="l" rtl="0">
              <a:spcBef>
                <a:spcPts val="0"/>
              </a:spcBef>
              <a:spcAft>
                <a:spcPts val="0"/>
              </a:spcAft>
              <a:buClr>
                <a:srgbClr val="000000"/>
              </a:buClr>
              <a:buSzPts val="1800"/>
              <a:buFont typeface="Arial"/>
              <a:buChar char="•"/>
            </a:pPr>
            <a:r>
              <a:rPr lang="en-US" sz="1800" b="0" i="0" u="none" strike="noStrike" dirty="0">
                <a:solidFill>
                  <a:srgbClr val="000000"/>
                </a:solidFill>
                <a:latin typeface="Calibri"/>
                <a:ea typeface="Calibri"/>
                <a:cs typeface="Calibri"/>
                <a:sym typeface="Calibri"/>
              </a:rPr>
              <a:t>Our high-water marks were 4130 nodes on Frontier (44%) and 1029 nodes on Frontera (12%).  Neither used a reservation or priority bump.</a:t>
            </a:r>
            <a:endParaRPr dirty="0"/>
          </a:p>
          <a:p>
            <a:pPr marL="0" lvl="0" indent="-114300" algn="l" rtl="0">
              <a:spcBef>
                <a:spcPts val="0"/>
              </a:spcBef>
              <a:spcAft>
                <a:spcPts val="0"/>
              </a:spcAft>
              <a:buClr>
                <a:srgbClr val="000000"/>
              </a:buClr>
              <a:buSzPts val="1800"/>
              <a:buFont typeface="Arial"/>
              <a:buChar char="•"/>
            </a:pPr>
            <a:r>
              <a:rPr lang="en-US" sz="1800" b="0" i="0" u="none" strike="noStrike" dirty="0">
                <a:solidFill>
                  <a:srgbClr val="000000"/>
                </a:solidFill>
                <a:latin typeface="Calibri"/>
                <a:ea typeface="Calibri"/>
                <a:cs typeface="Calibri"/>
                <a:sym typeface="Calibri"/>
              </a:rPr>
              <a:t>Pegasus managed about 1 PB of data.</a:t>
            </a:r>
            <a:endParaRPr dirty="0"/>
          </a:p>
          <a:p>
            <a:pPr marL="0" lvl="0" indent="-114300" algn="l" rtl="0">
              <a:spcBef>
                <a:spcPts val="0"/>
              </a:spcBef>
              <a:spcAft>
                <a:spcPts val="0"/>
              </a:spcAft>
              <a:buClr>
                <a:srgbClr val="000000"/>
              </a:buClr>
              <a:buSzPts val="1800"/>
              <a:buFont typeface="Arial"/>
              <a:buChar char="•"/>
            </a:pPr>
            <a:r>
              <a:rPr lang="en-US" sz="1800" b="0" i="0" u="none" strike="noStrike" dirty="0">
                <a:solidFill>
                  <a:srgbClr val="000000"/>
                </a:solidFill>
                <a:latin typeface="Calibri"/>
                <a:ea typeface="Calibri"/>
                <a:cs typeface="Calibri"/>
                <a:sym typeface="Calibri"/>
              </a:rPr>
              <a:t>We staged about 9 million output files totaling 36 TB back to long-term storage at USC CARC.</a:t>
            </a:r>
            <a:endParaRPr dirty="0"/>
          </a:p>
          <a:p>
            <a:pPr marL="0" lvl="0" indent="-114300" algn="l" rtl="0">
              <a:spcBef>
                <a:spcPts val="0"/>
              </a:spcBef>
              <a:spcAft>
                <a:spcPts val="0"/>
              </a:spcAft>
              <a:buClr>
                <a:srgbClr val="000000"/>
              </a:buClr>
              <a:buSzPts val="1800"/>
              <a:buFont typeface="Arial"/>
              <a:buChar char="•"/>
            </a:pPr>
            <a:r>
              <a:rPr lang="en-US" sz="1800" b="0" i="0" u="none" strike="noStrike" dirty="0">
                <a:solidFill>
                  <a:srgbClr val="000000"/>
                </a:solidFill>
                <a:latin typeface="Calibri"/>
                <a:ea typeface="Calibri"/>
                <a:cs typeface="Calibri"/>
                <a:sym typeface="Calibri"/>
              </a:rPr>
              <a:t>We ran 945 top-level workflows, with an average of 15 running at a time.</a:t>
            </a:r>
            <a:endParaRPr dirty="0"/>
          </a:p>
          <a:p>
            <a:pPr marL="0" lvl="0" indent="-114300" algn="l" rtl="0">
              <a:spcBef>
                <a:spcPts val="0"/>
              </a:spcBef>
              <a:spcAft>
                <a:spcPts val="0"/>
              </a:spcAft>
              <a:buClr>
                <a:srgbClr val="000000"/>
              </a:buClr>
              <a:buSzPts val="1800"/>
              <a:buFont typeface="Arial"/>
              <a:buChar char="•"/>
            </a:pPr>
            <a:r>
              <a:rPr lang="en-US" sz="1800" b="0" i="0" u="none" strike="noStrike" dirty="0">
                <a:solidFill>
                  <a:srgbClr val="000000"/>
                </a:solidFill>
                <a:latin typeface="Calibri"/>
                <a:ea typeface="Calibri"/>
                <a:cs typeface="Calibri"/>
                <a:sym typeface="Calibri"/>
              </a:rPr>
              <a:t>We ran approximately 27,720 jobs.  Of these, 7245 were remote, 8190 were local, 5985 were directory creation, 5355 were staging, and 945 were registration.</a:t>
            </a:r>
            <a:endParaRPr dirty="0"/>
          </a:p>
          <a:p>
            <a:pPr marL="0" lvl="0" indent="-114300" algn="l" rtl="0">
              <a:spcBef>
                <a:spcPts val="0"/>
              </a:spcBef>
              <a:spcAft>
                <a:spcPts val="0"/>
              </a:spcAft>
              <a:buClr>
                <a:srgbClr val="000000"/>
              </a:buClr>
              <a:buSzPts val="1800"/>
              <a:buFont typeface="Arial"/>
              <a:buChar char="•"/>
            </a:pPr>
            <a:r>
              <a:rPr lang="en-US" sz="1800" b="0" i="0" u="none" strike="noStrike" dirty="0">
                <a:solidFill>
                  <a:srgbClr val="000000"/>
                </a:solidFill>
                <a:latin typeface="Calibri"/>
                <a:ea typeface="Calibri"/>
                <a:cs typeface="Calibri"/>
                <a:sym typeface="Calibri"/>
              </a:rPr>
              <a:t>We produced two new hazard models for Northern California.</a:t>
            </a:r>
            <a:endParaRPr dirty="0"/>
          </a:p>
          <a:p>
            <a:pPr marL="0" lvl="0" indent="0" algn="l" rtl="0">
              <a:spcBef>
                <a:spcPts val="0"/>
              </a:spcBef>
              <a:spcAft>
                <a:spcPts val="0"/>
              </a:spcAft>
              <a:buClr>
                <a:schemeClr val="dk1"/>
              </a:buClr>
              <a:buSzPts val="1800"/>
              <a:buFont typeface="Arial"/>
              <a:buNone/>
            </a:pPr>
            <a:endParaRPr sz="1800" b="0" i="0" u="none" strike="noStrike" dirty="0">
              <a:solidFill>
                <a:srgbClr val="000000"/>
              </a:solidFill>
              <a:latin typeface="Calibri"/>
              <a:ea typeface="Calibri"/>
              <a:cs typeface="Calibri"/>
              <a:sym typeface="Calibri"/>
            </a:endParaRPr>
          </a:p>
          <a:p>
            <a:pPr marL="0" lvl="0" indent="0" algn="l" rtl="0">
              <a:spcBef>
                <a:spcPts val="0"/>
              </a:spcBef>
              <a:spcAft>
                <a:spcPts val="0"/>
              </a:spcAft>
              <a:buNone/>
            </a:pPr>
            <a:r>
              <a:rPr lang="en-US" sz="1800" b="0" i="0" u="none" strike="noStrike" dirty="0">
                <a:solidFill>
                  <a:srgbClr val="000000"/>
                </a:solidFill>
                <a:latin typeface="Calibri"/>
                <a:ea typeface="Calibri"/>
                <a:cs typeface="Calibri"/>
                <a:sym typeface="Calibri"/>
              </a:rPr>
              <a:t>For each of 315 sites, we are executing 3 workflows.  The first calculates the Strain Green Tensors, the wave propagation output.  Since the wave propagation code, AWP-ODC, is a GPU code (with CUDA and HIP implementations), we run these workflows on Frontier, and Pegasus stages the SGTs from Frontier to Frontera, approximately 330 TB in total staged data.  Next we run a low-frequency seismogram synthesis workflow on Frontera; this uses a manager-worker tightly coupled MPI CPU code.  Lastly we run a broadband seismogram synthesis workflow, also on Frontera.  This uses PMC to run a wide but shallow set of tasks with some dependencies.  These codes are all CPU.</a:t>
            </a:r>
            <a:endParaRPr dirty="0"/>
          </a:p>
          <a:p>
            <a:pPr marL="0" lvl="0" indent="0" algn="l" rtl="0">
              <a:spcBef>
                <a:spcPts val="0"/>
              </a:spcBef>
              <a:spcAft>
                <a:spcPts val="0"/>
              </a:spcAft>
              <a:buNone/>
            </a:pPr>
            <a:br>
              <a:rPr lang="en-US" sz="1800" b="0" i="0" u="none" strike="noStrike" dirty="0">
                <a:solidFill>
                  <a:srgbClr val="000000"/>
                </a:solidFill>
                <a:latin typeface="Calibri"/>
                <a:ea typeface="Calibri"/>
                <a:cs typeface="Calibri"/>
                <a:sym typeface="Calibri"/>
              </a:rPr>
            </a:br>
            <a:endParaRPr sz="1800" b="0" i="0" u="none" strike="noStrike" dirty="0">
              <a:solidFill>
                <a:srgbClr val="000000"/>
              </a:solidFill>
              <a:latin typeface="Calibri"/>
              <a:ea typeface="Calibri"/>
              <a:cs typeface="Calibri"/>
              <a:sym typeface="Calibri"/>
            </a:endParaRPr>
          </a:p>
          <a:p>
            <a:pPr marL="0" lvl="0" indent="0" algn="l" rtl="0">
              <a:spcBef>
                <a:spcPts val="0"/>
              </a:spcBef>
              <a:spcAft>
                <a:spcPts val="0"/>
              </a:spcAft>
              <a:buNone/>
            </a:pPr>
            <a:r>
              <a:rPr lang="en-US" sz="1800" b="0" i="0" u="none" strike="noStrike" dirty="0">
                <a:solidFill>
                  <a:srgbClr val="000000"/>
                </a:solidFill>
                <a:latin typeface="Calibri"/>
                <a:ea typeface="Calibri"/>
                <a:cs typeface="Calibri"/>
                <a:sym typeface="Calibri"/>
              </a:rPr>
              <a:t>We ran the SGT workflows first.  As they finished, we used the SGTs to generate the low-frequency seismogram synthesis, and prioritized finishing up all the low-frequency calculations first.  Then, we ran the broadband workflows for all the sites.</a:t>
            </a:r>
            <a:endParaRPr dirty="0"/>
          </a:p>
          <a:p>
            <a:pPr marL="0" lvl="0" indent="0" algn="l" rtl="0">
              <a:spcBef>
                <a:spcPts val="0"/>
              </a:spcBef>
              <a:spcAft>
                <a:spcPts val="0"/>
              </a:spcAft>
              <a:buNone/>
            </a:pPr>
            <a:br>
              <a:rPr lang="en-US" sz="3200" dirty="0"/>
            </a:br>
            <a:endParaRPr sz="1800" b="0" i="0" u="none" strike="noStrike" dirty="0">
              <a:solidFill>
                <a:srgbClr val="000000"/>
              </a:solidFill>
              <a:latin typeface="Calibri"/>
              <a:ea typeface="Calibri"/>
              <a:cs typeface="Calibri"/>
              <a:sym typeface="Calibri"/>
            </a:endParaRPr>
          </a:p>
          <a:p>
            <a:pPr marL="0" lvl="0" indent="0" algn="l" rtl="0">
              <a:spcBef>
                <a:spcPts val="0"/>
              </a:spcBef>
              <a:spcAft>
                <a:spcPts val="0"/>
              </a:spcAft>
              <a:buClr>
                <a:schemeClr val="dk1"/>
              </a:buClr>
              <a:buSzPts val="1800"/>
              <a:buFont typeface="Arial"/>
              <a:buNone/>
            </a:pPr>
            <a:endParaRPr sz="1800" b="0" i="0" u="none" strike="noStrike" dirty="0">
              <a:solidFill>
                <a:srgbClr val="000000"/>
              </a:solidFill>
              <a:latin typeface="Calibri"/>
              <a:ea typeface="Calibri"/>
              <a:cs typeface="Calibri"/>
              <a:sym typeface="Calibri"/>
            </a:endParaRPr>
          </a:p>
          <a:p>
            <a:pPr marL="0" lvl="0" indent="0" algn="l" rtl="0">
              <a:spcBef>
                <a:spcPts val="0"/>
              </a:spcBef>
              <a:spcAft>
                <a:spcPts val="0"/>
              </a:spcAft>
              <a:buNone/>
            </a:pPr>
            <a:r>
              <a:rPr lang="en-US" b="0" i="0" u="none" strike="noStrike" dirty="0">
                <a:solidFill>
                  <a:srgbClr val="000000"/>
                </a:solidFill>
                <a:latin typeface="Calibri"/>
                <a:ea typeface="Calibri"/>
                <a:cs typeface="Calibri"/>
                <a:sym typeface="Calibri"/>
              </a:rPr>
              <a:t>Most of the remote jobs were MPI jobs, either GPU (wave propagation) or CPU (seismogram synthesis).  There are a handful of serial jobs run as part of the pre- and post-processing before the large MPI jobs.</a:t>
            </a:r>
            <a:endParaRPr dirty="0"/>
          </a:p>
          <a:p>
            <a:pPr marL="0" lvl="0" indent="0" algn="l" rtl="0">
              <a:spcBef>
                <a:spcPts val="0"/>
              </a:spcBef>
              <a:spcAft>
                <a:spcPts val="0"/>
              </a:spcAft>
              <a:buNone/>
            </a:pPr>
            <a:endParaRPr dirty="0"/>
          </a:p>
        </p:txBody>
      </p:sp>
      <p:sp>
        <p:nvSpPr>
          <p:cNvPr id="501" name="Google Shape;50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17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5"/>
        <p:cNvGrpSpPr/>
        <p:nvPr/>
      </p:nvGrpSpPr>
      <p:grpSpPr>
        <a:xfrm>
          <a:off x="0" y="0"/>
          <a:ext cx="0" cy="0"/>
          <a:chOff x="0" y="0"/>
          <a:chExt cx="0" cy="0"/>
        </a:xfrm>
      </p:grpSpPr>
      <p:sp>
        <p:nvSpPr>
          <p:cNvPr id="1586" name="Google Shape;1586;g3f95de07730_1_12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7" name="Google Shape;1587;g3f95de07730_1_12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8" name="Google Shape;1588;g3f95de07730_1_12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400" b="0" i="0" u="none" strike="noStrike" cap="none">
                <a:solidFill>
                  <a:srgbClr val="000000"/>
                </a:solidFill>
                <a:latin typeface="Arial"/>
                <a:ea typeface="Arial"/>
                <a:cs typeface="Arial"/>
                <a:sym typeface="Arial"/>
              </a:rPr>
              <a:t>18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8"/>
        <p:cNvGrpSpPr/>
        <p:nvPr/>
      </p:nvGrpSpPr>
      <p:grpSpPr>
        <a:xfrm>
          <a:off x="0" y="0"/>
          <a:ext cx="0" cy="0"/>
          <a:chOff x="0" y="0"/>
          <a:chExt cx="0" cy="0"/>
        </a:xfrm>
      </p:grpSpPr>
      <p:sp>
        <p:nvSpPr>
          <p:cNvPr id="1429" name="Google Shape;1429;g3f95de07730_1_11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0" name="Google Shape;1430;g3f95de07730_1_1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4"/>
        <p:cNvGrpSpPr/>
        <p:nvPr/>
      </p:nvGrpSpPr>
      <p:grpSpPr>
        <a:xfrm>
          <a:off x="0" y="0"/>
          <a:ext cx="0" cy="0"/>
          <a:chOff x="0" y="0"/>
          <a:chExt cx="0" cy="0"/>
        </a:xfrm>
      </p:grpSpPr>
      <p:sp>
        <p:nvSpPr>
          <p:cNvPr id="1445" name="Google Shape;1445;g3f95de07730_1_11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6" name="Google Shape;1446;g3f95de07730_1_1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Numbers current as of Dec 2020. Bag of task workflow. Inputs are downloaded from the CyVerse datastore via WebDAV, and after processing results are uploaded back to the datastore.</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Usually we have ~1000 jobs active jobs running in parallel on the OSG. This is also limited by I/O limitations from CyVerse. The total number of jobs in a single workflow is relatively arbitrary. At the moment we usually run with 50-100k. So far we had no problems scaling this with Pegasus.</a:t>
            </a:r>
            <a:endParaRPr/>
          </a:p>
        </p:txBody>
      </p:sp>
      <p:sp>
        <p:nvSpPr>
          <p:cNvPr id="1447" name="Google Shape;1447;g3f95de07730_1_1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20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4"/>
        <p:cNvGrpSpPr/>
        <p:nvPr/>
      </p:nvGrpSpPr>
      <p:grpSpPr>
        <a:xfrm>
          <a:off x="0" y="0"/>
          <a:ext cx="0" cy="0"/>
          <a:chOff x="0" y="0"/>
          <a:chExt cx="0" cy="0"/>
        </a:xfrm>
      </p:grpSpPr>
      <p:sp>
        <p:nvSpPr>
          <p:cNvPr id="1595" name="Google Shape;1595;g3f95de07730_1_12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6" name="Google Shape;1596;g3f95de07730_1_12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681603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6"/>
        <p:cNvGrpSpPr/>
        <p:nvPr/>
      </p:nvGrpSpPr>
      <p:grpSpPr>
        <a:xfrm>
          <a:off x="0" y="0"/>
          <a:ext cx="0" cy="0"/>
          <a:chOff x="0" y="0"/>
          <a:chExt cx="0" cy="0"/>
        </a:xfrm>
      </p:grpSpPr>
      <p:sp>
        <p:nvSpPr>
          <p:cNvPr id="2347" name="Google Shape;2347;g3f95de07730_1_8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8" name="Google Shape;2348;g3f95de07730_1_8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5"/>
        <p:cNvGrpSpPr/>
        <p:nvPr/>
      </p:nvGrpSpPr>
      <p:grpSpPr>
        <a:xfrm>
          <a:off x="0" y="0"/>
          <a:ext cx="0" cy="0"/>
          <a:chOff x="0" y="0"/>
          <a:chExt cx="0" cy="0"/>
        </a:xfrm>
      </p:grpSpPr>
      <p:sp>
        <p:nvSpPr>
          <p:cNvPr id="2356" name="Google Shape;2356;g3709db5a66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7" name="Google Shape;2357;g3709db5a662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Soft glow"/>
          <p:cNvSpPr/>
          <p:nvPr userDrawn="1"/>
        </p:nvSpPr>
        <p:spPr>
          <a:xfrm>
            <a:off x="-1016000" y="3810000"/>
            <a:ext cx="4826000" cy="4826000"/>
          </a:xfrm>
          <a:prstGeom prst="ellipse">
            <a:avLst/>
          </a:prstGeom>
          <a:gradFill rotWithShape="1">
            <a:gsLst>
              <a:gs pos="0">
                <a:srgbClr val="0EA5E9">
                  <a:alpha val="14000"/>
                </a:srgbClr>
              </a:gs>
              <a:gs pos="100000">
                <a:srgbClr val="0EA5E9">
                  <a:alpha val="0"/>
                </a:srgbClr>
              </a:gs>
            </a:gsLst>
            <a:path path="circle">
              <a:fillToRect l="50000" t="50000" r="50000" b="50000"/>
            </a:path>
          </a:gradFill>
          <a:ln>
            <a:noFill/>
          </a:ln>
        </p:spPr>
        <p:txBody>
          <a:bodyPr wrap="square" lIns="16925" tIns="16925" rIns="16925" bIns="16925" anchor="t">
            <a:noAutofit/>
          </a:bodyPr>
          <a:lstStyle/>
          <a:p>
            <a:endParaRPr lang="en-US"/>
          </a:p>
        </p:txBody>
      </p:sp>
      <p:pic>
        <p:nvPicPr>
          <p:cNvPr id="3" name="Pegasus AI logo" descr="Pegasus AI logo"/>
          <p:cNvPicPr>
            <a:picLocks noChangeAspect="1"/>
          </p:cNvPicPr>
          <p:nvPr userDrawn="1"/>
        </p:nvPicPr>
        <p:blipFill>
          <a:blip r:embed="rId2"/>
          <a:stretch>
            <a:fillRect/>
          </a:stretch>
        </p:blipFill>
        <p:spPr>
          <a:xfrm>
            <a:off x="161290" y="285750"/>
            <a:ext cx="547370" cy="547370"/>
          </a:xfrm>
          <a:prstGeom prst="rect">
            <a:avLst/>
          </a:prstGeom>
        </p:spPr>
      </p:pic>
      <p:pic>
        <p:nvPicPr>
          <p:cNvPr id="4" name="NSF logo" descr="NSF logo"/>
          <p:cNvPicPr>
            <a:picLocks noChangeAspect="1"/>
          </p:cNvPicPr>
          <p:nvPr userDrawn="1"/>
        </p:nvPicPr>
        <p:blipFill>
          <a:blip r:embed="rId3"/>
          <a:stretch>
            <a:fillRect/>
          </a:stretch>
        </p:blipFill>
        <p:spPr>
          <a:xfrm>
            <a:off x="11442700" y="254000"/>
            <a:ext cx="610870" cy="610870"/>
          </a:xfrm>
          <a:prstGeom prst="rect">
            <a:avLst/>
          </a:prstGeom>
        </p:spPr>
      </p:pic>
      <p:sp>
        <p:nvSpPr>
          <p:cNvPr id="5" name="Footer rule"/>
          <p:cNvSpPr/>
          <p:nvPr userDrawn="1"/>
        </p:nvSpPr>
        <p:spPr>
          <a:xfrm>
            <a:off x="698500" y="6419850"/>
            <a:ext cx="10795000" cy="6350"/>
          </a:xfrm>
          <a:prstGeom prst="rect">
            <a:avLst/>
          </a:prstGeom>
          <a:solidFill>
            <a:srgbClr val="E2E8F0"/>
          </a:solidFill>
          <a:ln>
            <a:noFill/>
          </a:ln>
        </p:spPr>
        <p:txBody>
          <a:bodyPr wrap="square" lIns="16925" tIns="16925" rIns="16925" bIns="16925" anchor="t">
            <a:noAutofit/>
          </a:bodyPr>
          <a:lstStyle/>
          <a:p>
            <a:endParaRPr lang="en-US"/>
          </a:p>
        </p:txBody>
      </p:sp>
      <p:sp>
        <p:nvSpPr>
          <p:cNvPr id="6" name="Footer text"/>
          <p:cNvSpPr/>
          <p:nvPr userDrawn="1"/>
        </p:nvSpPr>
        <p:spPr>
          <a:xfrm>
            <a:off x="161290" y="6551930"/>
            <a:ext cx="10223500" cy="193040"/>
          </a:xfrm>
          <a:prstGeom prst="rect">
            <a:avLst/>
          </a:prstGeom>
          <a:noFill/>
          <a:ln>
            <a:noFill/>
          </a:ln>
        </p:spPr>
        <p:txBody>
          <a:bodyPr wrap="square" lIns="16925" tIns="16925" rIns="16925" bIns="16925" anchor="t">
            <a:noAutofit/>
          </a:bodyPr>
          <a:lstStyle/>
          <a:p>
            <a:pPr>
              <a:buNone/>
            </a:pPr>
            <a:r>
              <a:rPr lang="en-US" sz="1200" b="1" dirty="0">
                <a:solidFill>
                  <a:srgbClr val="94A3B8"/>
                </a:solidFill>
                <a:latin typeface="JetBrains Mono"/>
                <a:cs typeface="JetBrains Mono"/>
              </a:rPr>
              <a:t>studio.pegasus-ai.org</a:t>
            </a:r>
            <a:r>
              <a:rPr lang="en-US" sz="1200" b="0" dirty="0">
                <a:solidFill>
                  <a:srgbClr val="94A3B8"/>
                </a:solidFill>
                <a:latin typeface="JetBrains Mono"/>
                <a:cs typeface="JetBrains Mono"/>
              </a:rPr>
              <a:t> · </a:t>
            </a:r>
            <a:r>
              <a:rPr lang="en-US" sz="1200" b="1" dirty="0">
                <a:solidFill>
                  <a:srgbClr val="94A3B8"/>
                </a:solidFill>
                <a:latin typeface="JetBrains Mono"/>
                <a:cs typeface="JetBrains Mono"/>
              </a:rPr>
              <a:t>pegasus.isi.edu</a:t>
            </a:r>
            <a:r>
              <a:rPr lang="en-US" sz="1200" b="0" dirty="0">
                <a:solidFill>
                  <a:srgbClr val="94A3B8"/>
                </a:solidFill>
                <a:latin typeface="JetBrains Mono"/>
                <a:cs typeface="JetBrains Mono"/>
              </a:rPr>
              <a:t> · Funded by the U.S. National Science Foundation under grant #2513101</a:t>
            </a:r>
          </a:p>
        </p:txBody>
      </p:sp>
      <p:pic>
        <p:nvPicPr>
          <p:cNvPr id="7" name="RENCI logo" descr="RENCI logo"/>
          <p:cNvPicPr>
            <a:picLocks noChangeAspect="1"/>
          </p:cNvPicPr>
          <p:nvPr userDrawn="1"/>
        </p:nvPicPr>
        <p:blipFill>
          <a:blip r:embed="rId4"/>
          <a:stretch>
            <a:fillRect/>
          </a:stretch>
        </p:blipFill>
        <p:spPr>
          <a:xfrm>
            <a:off x="8936856" y="6426758"/>
            <a:ext cx="629920" cy="307151"/>
          </a:xfrm>
          <a:prstGeom prst="rect">
            <a:avLst/>
          </a:prstGeom>
        </p:spPr>
      </p:pic>
      <p:pic>
        <p:nvPicPr>
          <p:cNvPr id="8" name="USC Viterbi logo" descr="USC Viterbi logo"/>
          <p:cNvPicPr>
            <a:picLocks noChangeAspect="1"/>
          </p:cNvPicPr>
          <p:nvPr userDrawn="1"/>
        </p:nvPicPr>
        <p:blipFill>
          <a:blip r:embed="rId5"/>
          <a:stretch>
            <a:fillRect/>
          </a:stretch>
        </p:blipFill>
        <p:spPr>
          <a:xfrm>
            <a:off x="7618160" y="6502501"/>
            <a:ext cx="1130602" cy="340360"/>
          </a:xfrm>
          <a:prstGeom prst="rect">
            <a:avLst/>
          </a:prstGeom>
        </p:spPr>
      </p:pic>
      <p:sp>
        <p:nvSpPr>
          <p:cNvPr id="9" name="Accent bar"/>
          <p:cNvSpPr/>
          <p:nvPr userDrawn="1"/>
        </p:nvSpPr>
        <p:spPr>
          <a:xfrm>
            <a:off x="698500" y="2413000"/>
            <a:ext cx="609600" cy="50800"/>
          </a:xfrm>
          <a:prstGeom prst="rect">
            <a:avLst/>
          </a:prstGeom>
          <a:solidFill>
            <a:srgbClr val="0EA5E9"/>
          </a:solidFill>
          <a:ln>
            <a:noFill/>
          </a:ln>
        </p:spPr>
        <p:txBody>
          <a:bodyPr wrap="square" lIns="16925" tIns="16925" rIns="16925" bIns="16925" anchor="t">
            <a:noAutofit/>
          </a:bodyPr>
          <a:lstStyle/>
          <a:p>
            <a:endParaRPr lang="en-US"/>
          </a:p>
        </p:txBody>
      </p:sp>
      <p:sp>
        <p:nvSpPr>
          <p:cNvPr id="10" name="Eyebrow"/>
          <p:cNvSpPr>
            <a:spLocks noGrp="1"/>
          </p:cNvSpPr>
          <p:nvPr>
            <p:ph type="body" idx="13"/>
          </p:nvPr>
        </p:nvSpPr>
        <p:spPr>
          <a:xfrm>
            <a:off x="698500" y="2603500"/>
            <a:ext cx="10795000" cy="254000"/>
          </a:xfrm>
          <a:prstGeom prst="rect">
            <a:avLst/>
          </a:prstGeom>
        </p:spPr>
        <p:txBody>
          <a:bodyPr lIns="16925" tIns="16925" rIns="16925" bIns="16925" anchor="t">
            <a:normAutofit/>
          </a:bodyPr>
          <a:lstStyle>
            <a:lvl1pPr marL="0" indent="0">
              <a:spcBef>
                <a:spcPts val="0"/>
              </a:spcBef>
              <a:buNone/>
              <a:defRPr sz="1400" b="0" cap="all">
                <a:solidFill>
                  <a:srgbClr val="0284C7"/>
                </a:solidFill>
                <a:latin typeface="JetBrains Mono"/>
                <a:cs typeface="JetBrains Mono"/>
              </a:defRPr>
            </a:lvl1pPr>
          </a:lstStyle>
          <a:p>
            <a:r>
              <a:rPr lang="en-US"/>
              <a:t>SECTION LABEL</a:t>
            </a:r>
          </a:p>
        </p:txBody>
      </p:sp>
      <p:sp>
        <p:nvSpPr>
          <p:cNvPr id="11" name="Title"/>
          <p:cNvSpPr>
            <a:spLocks noGrp="1"/>
          </p:cNvSpPr>
          <p:nvPr>
            <p:ph type="title"/>
          </p:nvPr>
        </p:nvSpPr>
        <p:spPr>
          <a:xfrm>
            <a:off x="698500" y="2895600"/>
            <a:ext cx="10795000" cy="1270000"/>
          </a:xfrm>
          <a:prstGeom prst="rect">
            <a:avLst/>
          </a:prstGeom>
        </p:spPr>
        <p:txBody>
          <a:bodyPr lIns="16925" tIns="16925" rIns="16925" bIns="16925" anchor="t">
            <a:normAutofit/>
          </a:bodyPr>
          <a:lstStyle>
            <a:lvl1pPr marL="0" indent="0">
              <a:lnSpc>
                <a:spcPct val="90000"/>
              </a:lnSpc>
              <a:spcBef>
                <a:spcPts val="0"/>
              </a:spcBef>
              <a:buNone/>
              <a:defRPr sz="4400" b="1">
                <a:solidFill>
                  <a:srgbClr val="0F172A"/>
                </a:solidFill>
              </a:defRPr>
            </a:lvl1pPr>
          </a:lstStyle>
          <a:p>
            <a:r>
              <a:rPr lang="en-US"/>
              <a:t>Section title</a:t>
            </a:r>
          </a:p>
        </p:txBody>
      </p:sp>
      <p:sp>
        <p:nvSpPr>
          <p:cNvPr id="12" name="Text"/>
          <p:cNvSpPr>
            <a:spLocks noGrp="1"/>
          </p:cNvSpPr>
          <p:nvPr>
            <p:ph type="body" idx="1"/>
          </p:nvPr>
        </p:nvSpPr>
        <p:spPr>
          <a:xfrm>
            <a:off x="698500" y="4254500"/>
            <a:ext cx="9652000" cy="762000"/>
          </a:xfrm>
          <a:prstGeom prst="rect">
            <a:avLst/>
          </a:prstGeom>
        </p:spPr>
        <p:txBody>
          <a:bodyPr lIns="16925" tIns="16925" rIns="16925" bIns="16925" anchor="t">
            <a:normAutofit/>
          </a:bodyPr>
          <a:lstStyle>
            <a:lvl1pPr marL="0" indent="0">
              <a:lnSpc>
                <a:spcPct val="110000"/>
              </a:lnSpc>
              <a:spcBef>
                <a:spcPts val="0"/>
              </a:spcBef>
              <a:buNone/>
              <a:defRPr sz="2000" b="0">
                <a:solidFill>
                  <a:srgbClr val="475569"/>
                </a:solidFill>
              </a:defRPr>
            </a:lvl1pPr>
          </a:lstStyle>
          <a:p>
            <a:r>
              <a:rPr lang="en-US"/>
              <a:t>What this section covers</a:t>
            </a:r>
          </a:p>
        </p:txBody>
      </p:sp>
      <p:pic>
        <p:nvPicPr>
          <p:cNvPr id="13" name="Google Shape;89;p1" title="image-removebg-preview.png">
            <a:extLst>
              <a:ext uri="{FF2B5EF4-FFF2-40B4-BE49-F238E27FC236}">
                <a16:creationId xmlns:a16="http://schemas.microsoft.com/office/drawing/2014/main" id="{87B72F3C-68CE-647C-E539-8904E44C062A}"/>
              </a:ext>
            </a:extLst>
          </p:cNvPr>
          <p:cNvPicPr preferRelativeResize="0">
            <a:picLocks noChangeAspect="1"/>
          </p:cNvPicPr>
          <p:nvPr userDrawn="1"/>
        </p:nvPicPr>
        <p:blipFill rotWithShape="1">
          <a:blip r:embed="rId6">
            <a:alphaModFix/>
          </a:blip>
          <a:srcRect/>
          <a:stretch/>
        </p:blipFill>
        <p:spPr>
          <a:xfrm>
            <a:off x="9752778" y="6476395"/>
            <a:ext cx="1169926" cy="337883"/>
          </a:xfrm>
          <a:prstGeom prst="rect">
            <a:avLst/>
          </a:prstGeom>
          <a:noFill/>
          <a:ln>
            <a:noFill/>
          </a:ln>
        </p:spPr>
      </p:pic>
      <p:pic>
        <p:nvPicPr>
          <p:cNvPr id="14" name="Google Shape;77;p1" descr="University of Tennessee Logo, symbol, meaning, history, PNG, brand">
            <a:extLst>
              <a:ext uri="{FF2B5EF4-FFF2-40B4-BE49-F238E27FC236}">
                <a16:creationId xmlns:a16="http://schemas.microsoft.com/office/drawing/2014/main" id="{083E68D0-5B7B-7ED9-DAD5-BE6D04B54E13}"/>
              </a:ext>
            </a:extLst>
          </p:cNvPr>
          <p:cNvPicPr preferRelativeResize="0">
            <a:picLocks noChangeAspect="1"/>
          </p:cNvPicPr>
          <p:nvPr userDrawn="1"/>
        </p:nvPicPr>
        <p:blipFill rotWithShape="1">
          <a:blip r:embed="rId7">
            <a:alphaModFix/>
          </a:blip>
          <a:srcRect t="26032" b="26343"/>
          <a:stretch/>
        </p:blipFill>
        <p:spPr>
          <a:xfrm>
            <a:off x="10980979" y="6499839"/>
            <a:ext cx="1169926" cy="302978"/>
          </a:xfrm>
          <a:prstGeom prst="rect">
            <a:avLst/>
          </a:prstGeom>
          <a:noFill/>
          <a:ln>
            <a:noFill/>
          </a:ln>
        </p:spPr>
      </p:pic>
    </p:spTree>
    <p:extLst>
      <p:ext uri="{BB962C8B-B14F-4D97-AF65-F5344CB8AC3E}">
        <p14:creationId xmlns:p14="http://schemas.microsoft.com/office/powerpoint/2010/main" val="921925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pic>
        <p:nvPicPr>
          <p:cNvPr id="2" name="Pegasus AI logo" descr="Pegasus AI logo"/>
          <p:cNvPicPr>
            <a:picLocks noChangeAspect="1"/>
          </p:cNvPicPr>
          <p:nvPr userDrawn="1"/>
        </p:nvPicPr>
        <p:blipFill>
          <a:blip r:embed="rId2"/>
          <a:stretch>
            <a:fillRect/>
          </a:stretch>
        </p:blipFill>
        <p:spPr>
          <a:xfrm>
            <a:off x="161290" y="285750"/>
            <a:ext cx="547370" cy="547370"/>
          </a:xfrm>
          <a:prstGeom prst="rect">
            <a:avLst/>
          </a:prstGeom>
        </p:spPr>
      </p:pic>
      <p:pic>
        <p:nvPicPr>
          <p:cNvPr id="3" name="NSF logo" descr="NSF logo"/>
          <p:cNvPicPr>
            <a:picLocks noChangeAspect="1"/>
          </p:cNvPicPr>
          <p:nvPr userDrawn="1"/>
        </p:nvPicPr>
        <p:blipFill>
          <a:blip r:embed="rId3"/>
          <a:stretch>
            <a:fillRect/>
          </a:stretch>
        </p:blipFill>
        <p:spPr>
          <a:xfrm>
            <a:off x="11442700" y="254000"/>
            <a:ext cx="610870" cy="610870"/>
          </a:xfrm>
          <a:prstGeom prst="rect">
            <a:avLst/>
          </a:prstGeom>
        </p:spPr>
      </p:pic>
      <p:sp>
        <p:nvSpPr>
          <p:cNvPr id="4" name="Footer rule"/>
          <p:cNvSpPr/>
          <p:nvPr userDrawn="1"/>
        </p:nvSpPr>
        <p:spPr>
          <a:xfrm>
            <a:off x="698500" y="6419850"/>
            <a:ext cx="10795000" cy="6350"/>
          </a:xfrm>
          <a:prstGeom prst="rect">
            <a:avLst/>
          </a:prstGeom>
          <a:solidFill>
            <a:srgbClr val="E2E8F0"/>
          </a:solidFill>
          <a:ln>
            <a:noFill/>
          </a:ln>
        </p:spPr>
        <p:txBody>
          <a:bodyPr wrap="square" lIns="16925" tIns="16925" rIns="16925" bIns="16925" anchor="t">
            <a:noAutofit/>
          </a:bodyPr>
          <a:lstStyle/>
          <a:p>
            <a:endParaRPr lang="en-US"/>
          </a:p>
        </p:txBody>
      </p:sp>
      <p:sp>
        <p:nvSpPr>
          <p:cNvPr id="5" name="Footer text"/>
          <p:cNvSpPr/>
          <p:nvPr userDrawn="1"/>
        </p:nvSpPr>
        <p:spPr>
          <a:xfrm>
            <a:off x="161290" y="6551930"/>
            <a:ext cx="10223500" cy="193040"/>
          </a:xfrm>
          <a:prstGeom prst="rect">
            <a:avLst/>
          </a:prstGeom>
          <a:noFill/>
          <a:ln>
            <a:noFill/>
          </a:ln>
        </p:spPr>
        <p:txBody>
          <a:bodyPr wrap="square" lIns="16925" tIns="16925" rIns="16925" bIns="16925" anchor="t">
            <a:noAutofit/>
          </a:bodyPr>
          <a:lstStyle/>
          <a:p>
            <a:pPr>
              <a:buNone/>
            </a:pPr>
            <a:r>
              <a:rPr lang="en-US" sz="1200" b="1" dirty="0">
                <a:solidFill>
                  <a:srgbClr val="94A3B8"/>
                </a:solidFill>
                <a:latin typeface="JetBrains Mono"/>
                <a:cs typeface="JetBrains Mono"/>
              </a:rPr>
              <a:t>studio.pegasus-ai.org</a:t>
            </a:r>
            <a:r>
              <a:rPr lang="en-US" sz="1200" b="0" dirty="0">
                <a:solidFill>
                  <a:srgbClr val="94A3B8"/>
                </a:solidFill>
                <a:latin typeface="JetBrains Mono"/>
                <a:cs typeface="JetBrains Mono"/>
              </a:rPr>
              <a:t> · </a:t>
            </a:r>
            <a:r>
              <a:rPr lang="en-US" sz="1200" b="1" dirty="0">
                <a:solidFill>
                  <a:srgbClr val="94A3B8"/>
                </a:solidFill>
                <a:latin typeface="JetBrains Mono"/>
                <a:cs typeface="JetBrains Mono"/>
              </a:rPr>
              <a:t>pegasus.isi.edu</a:t>
            </a:r>
            <a:r>
              <a:rPr lang="en-US" sz="1200" b="0" dirty="0">
                <a:solidFill>
                  <a:srgbClr val="94A3B8"/>
                </a:solidFill>
                <a:latin typeface="JetBrains Mono"/>
                <a:cs typeface="JetBrains Mono"/>
              </a:rPr>
              <a:t> · Funded by the U.S. National Science Foundation under grant #2513101</a:t>
            </a:r>
          </a:p>
        </p:txBody>
      </p:sp>
      <p:sp>
        <p:nvSpPr>
          <p:cNvPr id="8" name="Eyebrow"/>
          <p:cNvSpPr>
            <a:spLocks noGrp="1"/>
          </p:cNvSpPr>
          <p:nvPr>
            <p:ph type="body" idx="13"/>
          </p:nvPr>
        </p:nvSpPr>
        <p:spPr>
          <a:xfrm>
            <a:off x="895350" y="488950"/>
            <a:ext cx="10541000" cy="254000"/>
          </a:xfrm>
          <a:prstGeom prst="rect">
            <a:avLst/>
          </a:prstGeom>
        </p:spPr>
        <p:txBody>
          <a:bodyPr lIns="16925" tIns="16925" rIns="16925" bIns="16925" anchor="t">
            <a:normAutofit/>
          </a:bodyPr>
          <a:lstStyle>
            <a:lvl1pPr marL="0" indent="0">
              <a:spcBef>
                <a:spcPts val="0"/>
              </a:spcBef>
              <a:buNone/>
              <a:defRPr sz="1200" b="0" cap="all">
                <a:solidFill>
                  <a:srgbClr val="0284C7"/>
                </a:solidFill>
                <a:latin typeface="JetBrains Mono"/>
                <a:cs typeface="JetBrains Mono"/>
              </a:defRPr>
            </a:lvl1pPr>
          </a:lstStyle>
          <a:p>
            <a:r>
              <a:rPr lang="en-US"/>
              <a:t>SECTION LABEL</a:t>
            </a:r>
          </a:p>
        </p:txBody>
      </p:sp>
      <p:sp>
        <p:nvSpPr>
          <p:cNvPr id="9" name="Title"/>
          <p:cNvSpPr>
            <a:spLocks noGrp="1"/>
          </p:cNvSpPr>
          <p:nvPr>
            <p:ph type="title"/>
          </p:nvPr>
        </p:nvSpPr>
        <p:spPr>
          <a:xfrm>
            <a:off x="698500" y="711200"/>
            <a:ext cx="10795000" cy="571500"/>
          </a:xfrm>
          <a:prstGeom prst="rect">
            <a:avLst/>
          </a:prstGeom>
        </p:spPr>
        <p:txBody>
          <a:bodyPr lIns="16925" tIns="16925" rIns="16925" bIns="16925" anchor="b">
            <a:normAutofit/>
          </a:bodyPr>
          <a:lstStyle/>
          <a:p>
            <a:r>
              <a:rPr lang="en-US"/>
              <a:t>Click to add a story title</a:t>
            </a:r>
          </a:p>
        </p:txBody>
      </p:sp>
      <p:sp>
        <p:nvSpPr>
          <p:cNvPr id="10" name="Subtitle"/>
          <p:cNvSpPr>
            <a:spLocks noGrp="1"/>
          </p:cNvSpPr>
          <p:nvPr>
            <p:ph type="body" idx="14"/>
          </p:nvPr>
        </p:nvSpPr>
        <p:spPr>
          <a:xfrm>
            <a:off x="698500" y="1289050"/>
            <a:ext cx="10795000" cy="558800"/>
          </a:xfrm>
          <a:prstGeom prst="rect">
            <a:avLst/>
          </a:prstGeom>
        </p:spPr>
        <p:txBody>
          <a:bodyPr lIns="16925" tIns="16925" rIns="16925" bIns="16925" anchor="t">
            <a:normAutofit/>
          </a:bodyPr>
          <a:lstStyle>
            <a:lvl1pPr marL="0" indent="0">
              <a:lnSpc>
                <a:spcPct val="110000"/>
              </a:lnSpc>
              <a:spcBef>
                <a:spcPts val="0"/>
              </a:spcBef>
              <a:buNone/>
              <a:defRPr sz="1800" b="0">
                <a:solidFill>
                  <a:srgbClr val="475569"/>
                </a:solidFill>
              </a:defRPr>
            </a:lvl1pPr>
          </a:lstStyle>
          <a:p>
            <a:r>
              <a:rPr lang="en-US"/>
              <a:t>One-line supporting statement</a:t>
            </a:r>
          </a:p>
        </p:txBody>
      </p:sp>
      <p:pic>
        <p:nvPicPr>
          <p:cNvPr id="11" name="RENCI logo" descr="RENCI logo">
            <a:extLst>
              <a:ext uri="{FF2B5EF4-FFF2-40B4-BE49-F238E27FC236}">
                <a16:creationId xmlns:a16="http://schemas.microsoft.com/office/drawing/2014/main" id="{0B56BAC1-1534-9D64-69DB-EAB26CDC6D36}"/>
              </a:ext>
            </a:extLst>
          </p:cNvPr>
          <p:cNvPicPr>
            <a:picLocks noChangeAspect="1"/>
          </p:cNvPicPr>
          <p:nvPr userDrawn="1"/>
        </p:nvPicPr>
        <p:blipFill>
          <a:blip r:embed="rId4"/>
          <a:stretch>
            <a:fillRect/>
          </a:stretch>
        </p:blipFill>
        <p:spPr>
          <a:xfrm>
            <a:off x="8936856" y="6426758"/>
            <a:ext cx="629920" cy="307151"/>
          </a:xfrm>
          <a:prstGeom prst="rect">
            <a:avLst/>
          </a:prstGeom>
        </p:spPr>
      </p:pic>
      <p:pic>
        <p:nvPicPr>
          <p:cNvPr id="12" name="USC Viterbi logo" descr="USC Viterbi logo">
            <a:extLst>
              <a:ext uri="{FF2B5EF4-FFF2-40B4-BE49-F238E27FC236}">
                <a16:creationId xmlns:a16="http://schemas.microsoft.com/office/drawing/2014/main" id="{6E70CA4E-5E30-E393-B17A-C5362DD5A142}"/>
              </a:ext>
            </a:extLst>
          </p:cNvPr>
          <p:cNvPicPr>
            <a:picLocks noChangeAspect="1"/>
          </p:cNvPicPr>
          <p:nvPr userDrawn="1"/>
        </p:nvPicPr>
        <p:blipFill>
          <a:blip r:embed="rId5"/>
          <a:stretch>
            <a:fillRect/>
          </a:stretch>
        </p:blipFill>
        <p:spPr>
          <a:xfrm>
            <a:off x="7618160" y="6502501"/>
            <a:ext cx="1130602" cy="340360"/>
          </a:xfrm>
          <a:prstGeom prst="rect">
            <a:avLst/>
          </a:prstGeom>
        </p:spPr>
      </p:pic>
      <p:pic>
        <p:nvPicPr>
          <p:cNvPr id="13" name="Google Shape;89;p1" title="image-removebg-preview.png">
            <a:extLst>
              <a:ext uri="{FF2B5EF4-FFF2-40B4-BE49-F238E27FC236}">
                <a16:creationId xmlns:a16="http://schemas.microsoft.com/office/drawing/2014/main" id="{961EF9B7-E3F4-0204-0032-A305CE9D8CF0}"/>
              </a:ext>
            </a:extLst>
          </p:cNvPr>
          <p:cNvPicPr preferRelativeResize="0">
            <a:picLocks noChangeAspect="1"/>
          </p:cNvPicPr>
          <p:nvPr userDrawn="1"/>
        </p:nvPicPr>
        <p:blipFill rotWithShape="1">
          <a:blip r:embed="rId6">
            <a:alphaModFix/>
          </a:blip>
          <a:srcRect/>
          <a:stretch/>
        </p:blipFill>
        <p:spPr>
          <a:xfrm>
            <a:off x="9752778" y="6476395"/>
            <a:ext cx="1169926" cy="337883"/>
          </a:xfrm>
          <a:prstGeom prst="rect">
            <a:avLst/>
          </a:prstGeom>
          <a:noFill/>
          <a:ln>
            <a:noFill/>
          </a:ln>
        </p:spPr>
      </p:pic>
      <p:pic>
        <p:nvPicPr>
          <p:cNvPr id="14" name="Google Shape;77;p1" descr="University of Tennessee Logo, symbol, meaning, history, PNG, brand">
            <a:extLst>
              <a:ext uri="{FF2B5EF4-FFF2-40B4-BE49-F238E27FC236}">
                <a16:creationId xmlns:a16="http://schemas.microsoft.com/office/drawing/2014/main" id="{2734CFA1-A1AE-3A9D-ED3C-5B06B77A77CE}"/>
              </a:ext>
            </a:extLst>
          </p:cNvPr>
          <p:cNvPicPr preferRelativeResize="0">
            <a:picLocks noChangeAspect="1"/>
          </p:cNvPicPr>
          <p:nvPr userDrawn="1"/>
        </p:nvPicPr>
        <p:blipFill rotWithShape="1">
          <a:blip r:embed="rId7">
            <a:alphaModFix/>
          </a:blip>
          <a:srcRect t="26032" b="26343"/>
          <a:stretch/>
        </p:blipFill>
        <p:spPr>
          <a:xfrm>
            <a:off x="10980979" y="6499839"/>
            <a:ext cx="1169926" cy="302978"/>
          </a:xfrm>
          <a:prstGeom prst="rect">
            <a:avLst/>
          </a:prstGeom>
          <a:noFill/>
          <a:ln>
            <a:noFill/>
          </a:ln>
        </p:spPr>
      </p:pic>
    </p:spTree>
    <p:extLst>
      <p:ext uri="{BB962C8B-B14F-4D97-AF65-F5344CB8AC3E}">
        <p14:creationId xmlns:p14="http://schemas.microsoft.com/office/powerpoint/2010/main" val="476538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pic>
        <p:nvPicPr>
          <p:cNvPr id="2" name="Pegasus AI logo" descr="Pegasus AI logo"/>
          <p:cNvPicPr>
            <a:picLocks noChangeAspect="1"/>
          </p:cNvPicPr>
          <p:nvPr userDrawn="1"/>
        </p:nvPicPr>
        <p:blipFill>
          <a:blip r:embed="rId2"/>
          <a:stretch>
            <a:fillRect/>
          </a:stretch>
        </p:blipFill>
        <p:spPr>
          <a:xfrm>
            <a:off x="161290" y="285750"/>
            <a:ext cx="547370" cy="547370"/>
          </a:xfrm>
          <a:prstGeom prst="rect">
            <a:avLst/>
          </a:prstGeom>
        </p:spPr>
      </p:pic>
      <p:pic>
        <p:nvPicPr>
          <p:cNvPr id="3" name="NSF logo" descr="NSF logo"/>
          <p:cNvPicPr>
            <a:picLocks noChangeAspect="1"/>
          </p:cNvPicPr>
          <p:nvPr userDrawn="1"/>
        </p:nvPicPr>
        <p:blipFill>
          <a:blip r:embed="rId3"/>
          <a:stretch>
            <a:fillRect/>
          </a:stretch>
        </p:blipFill>
        <p:spPr>
          <a:xfrm>
            <a:off x="11442700" y="254000"/>
            <a:ext cx="610870" cy="610870"/>
          </a:xfrm>
          <a:prstGeom prst="rect">
            <a:avLst/>
          </a:prstGeom>
        </p:spPr>
      </p:pic>
      <p:sp>
        <p:nvSpPr>
          <p:cNvPr id="4" name="Footer rule"/>
          <p:cNvSpPr/>
          <p:nvPr userDrawn="1"/>
        </p:nvSpPr>
        <p:spPr>
          <a:xfrm>
            <a:off x="698500" y="6419850"/>
            <a:ext cx="10795000" cy="6350"/>
          </a:xfrm>
          <a:prstGeom prst="rect">
            <a:avLst/>
          </a:prstGeom>
          <a:solidFill>
            <a:srgbClr val="E2E8F0"/>
          </a:solidFill>
          <a:ln>
            <a:noFill/>
          </a:ln>
        </p:spPr>
        <p:txBody>
          <a:bodyPr wrap="square" lIns="16925" tIns="16925" rIns="16925" bIns="16925" anchor="t">
            <a:noAutofit/>
          </a:bodyPr>
          <a:lstStyle/>
          <a:p>
            <a:endParaRPr lang="en-US"/>
          </a:p>
        </p:txBody>
      </p:sp>
      <p:sp>
        <p:nvSpPr>
          <p:cNvPr id="5" name="Footer text"/>
          <p:cNvSpPr/>
          <p:nvPr userDrawn="1"/>
        </p:nvSpPr>
        <p:spPr>
          <a:xfrm>
            <a:off x="161290" y="6551930"/>
            <a:ext cx="10223500" cy="193040"/>
          </a:xfrm>
          <a:prstGeom prst="rect">
            <a:avLst/>
          </a:prstGeom>
          <a:noFill/>
          <a:ln>
            <a:noFill/>
          </a:ln>
        </p:spPr>
        <p:txBody>
          <a:bodyPr wrap="square" lIns="16925" tIns="16925" rIns="16925" bIns="16925" anchor="t">
            <a:noAutofit/>
          </a:bodyPr>
          <a:lstStyle/>
          <a:p>
            <a:pPr>
              <a:buNone/>
            </a:pPr>
            <a:r>
              <a:rPr lang="en-US" sz="1200" b="1" dirty="0">
                <a:solidFill>
                  <a:srgbClr val="94A3B8"/>
                </a:solidFill>
                <a:latin typeface="JetBrains Mono"/>
                <a:cs typeface="JetBrains Mono"/>
              </a:rPr>
              <a:t>studio.pegasus-ai.org</a:t>
            </a:r>
            <a:r>
              <a:rPr lang="en-US" sz="1200" b="0" dirty="0">
                <a:solidFill>
                  <a:srgbClr val="94A3B8"/>
                </a:solidFill>
                <a:latin typeface="JetBrains Mono"/>
                <a:cs typeface="JetBrains Mono"/>
              </a:rPr>
              <a:t> · </a:t>
            </a:r>
            <a:r>
              <a:rPr lang="en-US" sz="1200" b="1" dirty="0">
                <a:solidFill>
                  <a:srgbClr val="94A3B8"/>
                </a:solidFill>
                <a:latin typeface="JetBrains Mono"/>
                <a:cs typeface="JetBrains Mono"/>
              </a:rPr>
              <a:t>pegasus.isi.edu</a:t>
            </a:r>
            <a:r>
              <a:rPr lang="en-US" sz="1200" b="0" dirty="0">
                <a:solidFill>
                  <a:srgbClr val="94A3B8"/>
                </a:solidFill>
                <a:latin typeface="JetBrains Mono"/>
                <a:cs typeface="JetBrains Mono"/>
              </a:rPr>
              <a:t> · Funded by the U.S. National Science Foundation under grant #2513101</a:t>
            </a:r>
          </a:p>
        </p:txBody>
      </p:sp>
      <p:pic>
        <p:nvPicPr>
          <p:cNvPr id="8" name="RENCI logo" descr="RENCI logo">
            <a:extLst>
              <a:ext uri="{FF2B5EF4-FFF2-40B4-BE49-F238E27FC236}">
                <a16:creationId xmlns:a16="http://schemas.microsoft.com/office/drawing/2014/main" id="{6CDBBB03-02E2-C775-643F-B3BA926B4EAB}"/>
              </a:ext>
            </a:extLst>
          </p:cNvPr>
          <p:cNvPicPr>
            <a:picLocks noChangeAspect="1"/>
          </p:cNvPicPr>
          <p:nvPr userDrawn="1"/>
        </p:nvPicPr>
        <p:blipFill>
          <a:blip r:embed="rId4"/>
          <a:stretch>
            <a:fillRect/>
          </a:stretch>
        </p:blipFill>
        <p:spPr>
          <a:xfrm>
            <a:off x="8936856" y="6426758"/>
            <a:ext cx="629920" cy="307151"/>
          </a:xfrm>
          <a:prstGeom prst="rect">
            <a:avLst/>
          </a:prstGeom>
        </p:spPr>
      </p:pic>
      <p:pic>
        <p:nvPicPr>
          <p:cNvPr id="9" name="USC Viterbi logo" descr="USC Viterbi logo">
            <a:extLst>
              <a:ext uri="{FF2B5EF4-FFF2-40B4-BE49-F238E27FC236}">
                <a16:creationId xmlns:a16="http://schemas.microsoft.com/office/drawing/2014/main" id="{29D28CFE-74EA-6ED3-74A7-B3B2D1B73326}"/>
              </a:ext>
            </a:extLst>
          </p:cNvPr>
          <p:cNvPicPr>
            <a:picLocks noChangeAspect="1"/>
          </p:cNvPicPr>
          <p:nvPr userDrawn="1"/>
        </p:nvPicPr>
        <p:blipFill>
          <a:blip r:embed="rId5"/>
          <a:stretch>
            <a:fillRect/>
          </a:stretch>
        </p:blipFill>
        <p:spPr>
          <a:xfrm>
            <a:off x="7618160" y="6502501"/>
            <a:ext cx="1130602" cy="340360"/>
          </a:xfrm>
          <a:prstGeom prst="rect">
            <a:avLst/>
          </a:prstGeom>
        </p:spPr>
      </p:pic>
      <p:pic>
        <p:nvPicPr>
          <p:cNvPr id="10" name="Google Shape;89;p1" title="image-removebg-preview.png">
            <a:extLst>
              <a:ext uri="{FF2B5EF4-FFF2-40B4-BE49-F238E27FC236}">
                <a16:creationId xmlns:a16="http://schemas.microsoft.com/office/drawing/2014/main" id="{DFC02342-780D-AAAD-A427-761AD12F3C27}"/>
              </a:ext>
            </a:extLst>
          </p:cNvPr>
          <p:cNvPicPr preferRelativeResize="0">
            <a:picLocks noChangeAspect="1"/>
          </p:cNvPicPr>
          <p:nvPr userDrawn="1"/>
        </p:nvPicPr>
        <p:blipFill rotWithShape="1">
          <a:blip r:embed="rId6">
            <a:alphaModFix/>
          </a:blip>
          <a:srcRect/>
          <a:stretch/>
        </p:blipFill>
        <p:spPr>
          <a:xfrm>
            <a:off x="9752778" y="6476395"/>
            <a:ext cx="1169926" cy="337883"/>
          </a:xfrm>
          <a:prstGeom prst="rect">
            <a:avLst/>
          </a:prstGeom>
          <a:noFill/>
          <a:ln>
            <a:noFill/>
          </a:ln>
        </p:spPr>
      </p:pic>
      <p:pic>
        <p:nvPicPr>
          <p:cNvPr id="11" name="Google Shape;77;p1" descr="University of Tennessee Logo, symbol, meaning, history, PNG, brand">
            <a:extLst>
              <a:ext uri="{FF2B5EF4-FFF2-40B4-BE49-F238E27FC236}">
                <a16:creationId xmlns:a16="http://schemas.microsoft.com/office/drawing/2014/main" id="{FBB91F70-3FA8-01A7-6F11-D1E1A4E7EA29}"/>
              </a:ext>
            </a:extLst>
          </p:cNvPr>
          <p:cNvPicPr preferRelativeResize="0">
            <a:picLocks noChangeAspect="1"/>
          </p:cNvPicPr>
          <p:nvPr userDrawn="1"/>
        </p:nvPicPr>
        <p:blipFill rotWithShape="1">
          <a:blip r:embed="rId7">
            <a:alphaModFix/>
          </a:blip>
          <a:srcRect t="26032" b="26343"/>
          <a:stretch/>
        </p:blipFill>
        <p:spPr>
          <a:xfrm>
            <a:off x="10980979" y="6499839"/>
            <a:ext cx="1169926" cy="302978"/>
          </a:xfrm>
          <a:prstGeom prst="rect">
            <a:avLst/>
          </a:prstGeom>
          <a:noFill/>
          <a:ln>
            <a:noFill/>
          </a:ln>
        </p:spPr>
      </p:pic>
    </p:spTree>
    <p:extLst>
      <p:ext uri="{BB962C8B-B14F-4D97-AF65-F5344CB8AC3E}">
        <p14:creationId xmlns:p14="http://schemas.microsoft.com/office/powerpoint/2010/main" val="2636372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cSld name="Closing">
    <p:spTree>
      <p:nvGrpSpPr>
        <p:cNvPr id="1" name=""/>
        <p:cNvGrpSpPr/>
        <p:nvPr/>
      </p:nvGrpSpPr>
      <p:grpSpPr>
        <a:xfrm>
          <a:off x="0" y="0"/>
          <a:ext cx="0" cy="0"/>
          <a:chOff x="0" y="0"/>
          <a:chExt cx="0" cy="0"/>
        </a:xfrm>
      </p:grpSpPr>
      <p:sp>
        <p:nvSpPr>
          <p:cNvPr id="2" name="Soft glow"/>
          <p:cNvSpPr/>
          <p:nvPr userDrawn="1"/>
        </p:nvSpPr>
        <p:spPr>
          <a:xfrm>
            <a:off x="-1016000" y="3810000"/>
            <a:ext cx="4826000" cy="4826000"/>
          </a:xfrm>
          <a:prstGeom prst="ellipse">
            <a:avLst/>
          </a:prstGeom>
          <a:gradFill rotWithShape="1">
            <a:gsLst>
              <a:gs pos="0">
                <a:srgbClr val="0EA5E9">
                  <a:alpha val="14000"/>
                </a:srgbClr>
              </a:gs>
              <a:gs pos="100000">
                <a:srgbClr val="0EA5E9">
                  <a:alpha val="0"/>
                </a:srgbClr>
              </a:gs>
            </a:gsLst>
            <a:path path="circle">
              <a:fillToRect l="50000" t="50000" r="50000" b="50000"/>
            </a:path>
          </a:gradFill>
          <a:ln>
            <a:noFill/>
          </a:ln>
        </p:spPr>
        <p:txBody>
          <a:bodyPr wrap="square" lIns="16925" tIns="16925" rIns="16925" bIns="16925" anchor="t">
            <a:noAutofit/>
          </a:bodyPr>
          <a:lstStyle/>
          <a:p>
            <a:endParaRPr lang="en-US"/>
          </a:p>
        </p:txBody>
      </p:sp>
      <p:pic>
        <p:nvPicPr>
          <p:cNvPr id="3" name="Pegasus AI logo" descr="Pegasus AI logo"/>
          <p:cNvPicPr>
            <a:picLocks noChangeAspect="1"/>
          </p:cNvPicPr>
          <p:nvPr userDrawn="1"/>
        </p:nvPicPr>
        <p:blipFill>
          <a:blip r:embed="rId2"/>
          <a:stretch>
            <a:fillRect/>
          </a:stretch>
        </p:blipFill>
        <p:spPr>
          <a:xfrm>
            <a:off x="161290" y="285750"/>
            <a:ext cx="547370" cy="547370"/>
          </a:xfrm>
          <a:prstGeom prst="rect">
            <a:avLst/>
          </a:prstGeom>
        </p:spPr>
      </p:pic>
      <p:pic>
        <p:nvPicPr>
          <p:cNvPr id="4" name="NSF logo" descr="NSF logo"/>
          <p:cNvPicPr>
            <a:picLocks noChangeAspect="1"/>
          </p:cNvPicPr>
          <p:nvPr userDrawn="1"/>
        </p:nvPicPr>
        <p:blipFill>
          <a:blip r:embed="rId3"/>
          <a:stretch>
            <a:fillRect/>
          </a:stretch>
        </p:blipFill>
        <p:spPr>
          <a:xfrm>
            <a:off x="11442700" y="254000"/>
            <a:ext cx="610870" cy="610870"/>
          </a:xfrm>
          <a:prstGeom prst="rect">
            <a:avLst/>
          </a:prstGeom>
        </p:spPr>
      </p:pic>
      <p:sp>
        <p:nvSpPr>
          <p:cNvPr id="5" name="Footer rule"/>
          <p:cNvSpPr/>
          <p:nvPr userDrawn="1"/>
        </p:nvSpPr>
        <p:spPr>
          <a:xfrm>
            <a:off x="698500" y="6419850"/>
            <a:ext cx="10795000" cy="6350"/>
          </a:xfrm>
          <a:prstGeom prst="rect">
            <a:avLst/>
          </a:prstGeom>
          <a:solidFill>
            <a:srgbClr val="E2E8F0"/>
          </a:solidFill>
          <a:ln>
            <a:noFill/>
          </a:ln>
        </p:spPr>
        <p:txBody>
          <a:bodyPr wrap="square" lIns="16925" tIns="16925" rIns="16925" bIns="16925" anchor="t">
            <a:noAutofit/>
          </a:bodyPr>
          <a:lstStyle/>
          <a:p>
            <a:endParaRPr lang="en-US"/>
          </a:p>
        </p:txBody>
      </p:sp>
      <p:sp>
        <p:nvSpPr>
          <p:cNvPr id="6" name="Footer text"/>
          <p:cNvSpPr/>
          <p:nvPr userDrawn="1"/>
        </p:nvSpPr>
        <p:spPr>
          <a:xfrm>
            <a:off x="161290" y="6551930"/>
            <a:ext cx="10223500" cy="193040"/>
          </a:xfrm>
          <a:prstGeom prst="rect">
            <a:avLst/>
          </a:prstGeom>
          <a:noFill/>
          <a:ln>
            <a:noFill/>
          </a:ln>
        </p:spPr>
        <p:txBody>
          <a:bodyPr wrap="square" lIns="16925" tIns="16925" rIns="16925" bIns="16925" anchor="t">
            <a:noAutofit/>
          </a:bodyPr>
          <a:lstStyle/>
          <a:p>
            <a:pPr>
              <a:buNone/>
            </a:pPr>
            <a:r>
              <a:rPr lang="en-US" sz="1200" b="1" dirty="0">
                <a:solidFill>
                  <a:srgbClr val="94A3B8"/>
                </a:solidFill>
                <a:latin typeface="JetBrains Mono"/>
                <a:cs typeface="JetBrains Mono"/>
              </a:rPr>
              <a:t>studio.pegasus-ai.org</a:t>
            </a:r>
            <a:r>
              <a:rPr lang="en-US" sz="1200" b="0" dirty="0">
                <a:solidFill>
                  <a:srgbClr val="94A3B8"/>
                </a:solidFill>
                <a:latin typeface="JetBrains Mono"/>
                <a:cs typeface="JetBrains Mono"/>
              </a:rPr>
              <a:t> · </a:t>
            </a:r>
            <a:r>
              <a:rPr lang="en-US" sz="1200" b="1" dirty="0">
                <a:solidFill>
                  <a:srgbClr val="94A3B8"/>
                </a:solidFill>
                <a:latin typeface="JetBrains Mono"/>
                <a:cs typeface="JetBrains Mono"/>
              </a:rPr>
              <a:t>pegasus.isi.edu</a:t>
            </a:r>
            <a:r>
              <a:rPr lang="en-US" sz="1200" b="0" dirty="0">
                <a:solidFill>
                  <a:srgbClr val="94A3B8"/>
                </a:solidFill>
                <a:latin typeface="JetBrains Mono"/>
                <a:cs typeface="JetBrains Mono"/>
              </a:rPr>
              <a:t> · Funded by the U.S. National Science Foundation under grant #2513101</a:t>
            </a:r>
          </a:p>
        </p:txBody>
      </p:sp>
      <p:sp>
        <p:nvSpPr>
          <p:cNvPr id="9" name="Eyebrow"/>
          <p:cNvSpPr>
            <a:spLocks noGrp="1"/>
          </p:cNvSpPr>
          <p:nvPr>
            <p:ph type="body" idx="13"/>
          </p:nvPr>
        </p:nvSpPr>
        <p:spPr>
          <a:xfrm>
            <a:off x="895350" y="488950"/>
            <a:ext cx="10541000" cy="254000"/>
          </a:xfrm>
          <a:prstGeom prst="rect">
            <a:avLst/>
          </a:prstGeom>
        </p:spPr>
        <p:txBody>
          <a:bodyPr lIns="16925" tIns="16925" rIns="16925" bIns="16925" anchor="t">
            <a:normAutofit/>
          </a:bodyPr>
          <a:lstStyle>
            <a:lvl1pPr marL="0" indent="0">
              <a:spcBef>
                <a:spcPts val="0"/>
              </a:spcBef>
              <a:buNone/>
              <a:defRPr sz="1200" b="0" cap="all">
                <a:solidFill>
                  <a:srgbClr val="0284C7"/>
                </a:solidFill>
                <a:latin typeface="JetBrains Mono"/>
                <a:cs typeface="JetBrains Mono"/>
              </a:defRPr>
            </a:lvl1pPr>
          </a:lstStyle>
          <a:p>
            <a:r>
              <a:rPr lang="en-US"/>
              <a:t>SECTION LABEL</a:t>
            </a:r>
          </a:p>
        </p:txBody>
      </p:sp>
      <p:sp>
        <p:nvSpPr>
          <p:cNvPr id="10" name="Title"/>
          <p:cNvSpPr>
            <a:spLocks noGrp="1"/>
          </p:cNvSpPr>
          <p:nvPr>
            <p:ph type="title"/>
          </p:nvPr>
        </p:nvSpPr>
        <p:spPr>
          <a:xfrm>
            <a:off x="698500" y="711200"/>
            <a:ext cx="10795000" cy="571500"/>
          </a:xfrm>
          <a:prstGeom prst="rect">
            <a:avLst/>
          </a:prstGeom>
        </p:spPr>
        <p:txBody>
          <a:bodyPr lIns="16925" tIns="16925" rIns="16925" bIns="16925" anchor="b">
            <a:normAutofit/>
          </a:bodyPr>
          <a:lstStyle/>
          <a:p>
            <a:r>
              <a:rPr lang="en-US"/>
              <a:t>Click to add a story title</a:t>
            </a:r>
          </a:p>
        </p:txBody>
      </p:sp>
      <p:sp>
        <p:nvSpPr>
          <p:cNvPr id="11" name="Subtitle"/>
          <p:cNvSpPr>
            <a:spLocks noGrp="1"/>
          </p:cNvSpPr>
          <p:nvPr>
            <p:ph type="body" idx="14"/>
          </p:nvPr>
        </p:nvSpPr>
        <p:spPr>
          <a:xfrm>
            <a:off x="698500" y="1289050"/>
            <a:ext cx="10795000" cy="558800"/>
          </a:xfrm>
          <a:prstGeom prst="rect">
            <a:avLst/>
          </a:prstGeom>
        </p:spPr>
        <p:txBody>
          <a:bodyPr lIns="16925" tIns="16925" rIns="16925" bIns="16925" anchor="t">
            <a:normAutofit/>
          </a:bodyPr>
          <a:lstStyle>
            <a:lvl1pPr marL="0" indent="0">
              <a:lnSpc>
                <a:spcPct val="110000"/>
              </a:lnSpc>
              <a:spcBef>
                <a:spcPts val="0"/>
              </a:spcBef>
              <a:buNone/>
              <a:defRPr sz="1800" b="0">
                <a:solidFill>
                  <a:srgbClr val="475569"/>
                </a:solidFill>
              </a:defRPr>
            </a:lvl1pPr>
          </a:lstStyle>
          <a:p>
            <a:r>
              <a:rPr lang="en-US"/>
              <a:t>One-line supporting statement</a:t>
            </a:r>
          </a:p>
        </p:txBody>
      </p:sp>
      <p:sp>
        <p:nvSpPr>
          <p:cNvPr id="12" name="Content"/>
          <p:cNvSpPr>
            <a:spLocks noGrp="1"/>
          </p:cNvSpPr>
          <p:nvPr>
            <p:ph idx="1"/>
          </p:nvPr>
        </p:nvSpPr>
        <p:spPr>
          <a:xfrm>
            <a:off x="698500" y="2095500"/>
            <a:ext cx="10795000" cy="2794000"/>
          </a:xfrm>
          <a:prstGeom prst="rect">
            <a:avLst/>
          </a:prstGeom>
        </p:spPr>
        <p:txBody>
          <a:bodyPr lIns="16925" tIns="16925" rIns="16925" bIns="16925" anchor="t">
            <a:normAutofit/>
          </a:bodyPr>
          <a:lstStyle/>
          <a:p>
            <a:r>
              <a:rPr lang="en-US"/>
              <a:t>Add content</a:t>
            </a:r>
          </a:p>
        </p:txBody>
      </p:sp>
      <p:sp>
        <p:nvSpPr>
          <p:cNvPr id="13" name="CTA bar"/>
          <p:cNvSpPr/>
          <p:nvPr userDrawn="1"/>
        </p:nvSpPr>
        <p:spPr>
          <a:xfrm>
            <a:off x="698500" y="5143500"/>
            <a:ext cx="10795000" cy="762000"/>
          </a:xfrm>
          <a:prstGeom prst="roundRect">
            <a:avLst>
              <a:gd name="adj" fmla="val 12000"/>
            </a:avLst>
          </a:prstGeom>
          <a:solidFill>
            <a:srgbClr val="0284C7"/>
          </a:solidFill>
          <a:ln>
            <a:noFill/>
          </a:ln>
        </p:spPr>
        <p:txBody>
          <a:bodyPr wrap="square" lIns="16925" tIns="16925" rIns="16925" bIns="16925" anchor="t">
            <a:noAutofit/>
          </a:bodyPr>
          <a:lstStyle/>
          <a:p>
            <a:endParaRPr lang="en-US"/>
          </a:p>
        </p:txBody>
      </p:sp>
      <p:sp>
        <p:nvSpPr>
          <p:cNvPr id="14" name="Call to action"/>
          <p:cNvSpPr>
            <a:spLocks noGrp="1"/>
          </p:cNvSpPr>
          <p:nvPr>
            <p:ph type="body" idx="15"/>
          </p:nvPr>
        </p:nvSpPr>
        <p:spPr>
          <a:xfrm>
            <a:off x="914400" y="5143500"/>
            <a:ext cx="10363200" cy="762000"/>
          </a:xfrm>
          <a:prstGeom prst="rect">
            <a:avLst/>
          </a:prstGeom>
        </p:spPr>
        <p:txBody>
          <a:bodyPr lIns="16925" tIns="16925" rIns="16925" bIns="16925" anchor="ctr">
            <a:normAutofit/>
          </a:bodyPr>
          <a:lstStyle>
            <a:lvl1pPr marL="0" indent="0">
              <a:spcBef>
                <a:spcPts val="0"/>
              </a:spcBef>
              <a:buNone/>
              <a:defRPr sz="1800" b="1">
                <a:solidFill>
                  <a:srgbClr val="FFFFFF"/>
                </a:solidFill>
              </a:defRPr>
            </a:lvl1pPr>
          </a:lstStyle>
          <a:p>
            <a:r>
              <a:rPr lang="en-US"/>
              <a:t>Try it now → studio.pegasus-ai.org</a:t>
            </a:r>
          </a:p>
        </p:txBody>
      </p:sp>
      <p:pic>
        <p:nvPicPr>
          <p:cNvPr id="15" name="RENCI logo" descr="RENCI logo">
            <a:extLst>
              <a:ext uri="{FF2B5EF4-FFF2-40B4-BE49-F238E27FC236}">
                <a16:creationId xmlns:a16="http://schemas.microsoft.com/office/drawing/2014/main" id="{C15875D3-E60C-2301-E951-956D904C1F07}"/>
              </a:ext>
            </a:extLst>
          </p:cNvPr>
          <p:cNvPicPr>
            <a:picLocks noChangeAspect="1"/>
          </p:cNvPicPr>
          <p:nvPr userDrawn="1"/>
        </p:nvPicPr>
        <p:blipFill>
          <a:blip r:embed="rId4"/>
          <a:stretch>
            <a:fillRect/>
          </a:stretch>
        </p:blipFill>
        <p:spPr>
          <a:xfrm>
            <a:off x="8936856" y="6426758"/>
            <a:ext cx="629920" cy="307151"/>
          </a:xfrm>
          <a:prstGeom prst="rect">
            <a:avLst/>
          </a:prstGeom>
        </p:spPr>
      </p:pic>
      <p:pic>
        <p:nvPicPr>
          <p:cNvPr id="16" name="USC Viterbi logo" descr="USC Viterbi logo">
            <a:extLst>
              <a:ext uri="{FF2B5EF4-FFF2-40B4-BE49-F238E27FC236}">
                <a16:creationId xmlns:a16="http://schemas.microsoft.com/office/drawing/2014/main" id="{BC698E3B-F317-0AEE-4DEC-865EEBB3B572}"/>
              </a:ext>
            </a:extLst>
          </p:cNvPr>
          <p:cNvPicPr>
            <a:picLocks noChangeAspect="1"/>
          </p:cNvPicPr>
          <p:nvPr userDrawn="1"/>
        </p:nvPicPr>
        <p:blipFill>
          <a:blip r:embed="rId5"/>
          <a:stretch>
            <a:fillRect/>
          </a:stretch>
        </p:blipFill>
        <p:spPr>
          <a:xfrm>
            <a:off x="7618160" y="6502501"/>
            <a:ext cx="1130602" cy="340360"/>
          </a:xfrm>
          <a:prstGeom prst="rect">
            <a:avLst/>
          </a:prstGeom>
        </p:spPr>
      </p:pic>
      <p:pic>
        <p:nvPicPr>
          <p:cNvPr id="17" name="Google Shape;89;p1" title="image-removebg-preview.png">
            <a:extLst>
              <a:ext uri="{FF2B5EF4-FFF2-40B4-BE49-F238E27FC236}">
                <a16:creationId xmlns:a16="http://schemas.microsoft.com/office/drawing/2014/main" id="{664A600C-9F85-7417-BC8B-B868DF5A840D}"/>
              </a:ext>
            </a:extLst>
          </p:cNvPr>
          <p:cNvPicPr preferRelativeResize="0">
            <a:picLocks noChangeAspect="1"/>
          </p:cNvPicPr>
          <p:nvPr userDrawn="1"/>
        </p:nvPicPr>
        <p:blipFill rotWithShape="1">
          <a:blip r:embed="rId6">
            <a:alphaModFix/>
          </a:blip>
          <a:srcRect/>
          <a:stretch/>
        </p:blipFill>
        <p:spPr>
          <a:xfrm>
            <a:off x="9752778" y="6476395"/>
            <a:ext cx="1169926" cy="337883"/>
          </a:xfrm>
          <a:prstGeom prst="rect">
            <a:avLst/>
          </a:prstGeom>
          <a:noFill/>
          <a:ln>
            <a:noFill/>
          </a:ln>
        </p:spPr>
      </p:pic>
      <p:pic>
        <p:nvPicPr>
          <p:cNvPr id="18" name="Google Shape;77;p1" descr="University of Tennessee Logo, symbol, meaning, history, PNG, brand">
            <a:extLst>
              <a:ext uri="{FF2B5EF4-FFF2-40B4-BE49-F238E27FC236}">
                <a16:creationId xmlns:a16="http://schemas.microsoft.com/office/drawing/2014/main" id="{BA9EADEA-8232-53C1-6D5B-A1739D991212}"/>
              </a:ext>
            </a:extLst>
          </p:cNvPr>
          <p:cNvPicPr preferRelativeResize="0">
            <a:picLocks noChangeAspect="1"/>
          </p:cNvPicPr>
          <p:nvPr userDrawn="1"/>
        </p:nvPicPr>
        <p:blipFill rotWithShape="1">
          <a:blip r:embed="rId7">
            <a:alphaModFix/>
          </a:blip>
          <a:srcRect t="26032" b="26343"/>
          <a:stretch/>
        </p:blipFill>
        <p:spPr>
          <a:xfrm>
            <a:off x="10980979" y="6499839"/>
            <a:ext cx="1169926" cy="302978"/>
          </a:xfrm>
          <a:prstGeom prst="rect">
            <a:avLst/>
          </a:prstGeom>
          <a:noFill/>
          <a:ln>
            <a:noFill/>
          </a:ln>
        </p:spPr>
      </p:pic>
    </p:spTree>
    <p:extLst>
      <p:ext uri="{BB962C8B-B14F-4D97-AF65-F5344CB8AC3E}">
        <p14:creationId xmlns:p14="http://schemas.microsoft.com/office/powerpoint/2010/main" val="616238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A624D-D744-5D39-B9BE-2A5FA2979F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276A5D-A5E4-7709-0F9C-9CAF54B6C3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7B4125-4D3F-7065-5A11-51D2EC62A70D}"/>
              </a:ext>
            </a:extLst>
          </p:cNvPr>
          <p:cNvSpPr>
            <a:spLocks noGrp="1"/>
          </p:cNvSpPr>
          <p:nvPr>
            <p:ph type="dt" sz="half" idx="10"/>
          </p:nvPr>
        </p:nvSpPr>
        <p:spPr/>
        <p:txBody>
          <a:bodyPr/>
          <a:lstStyle/>
          <a:p>
            <a:fld id="{6F1672AC-7194-2F48-93A4-724001A81A9E}" type="datetimeFigureOut">
              <a:rPr lang="en-US" smtClean="0"/>
              <a:t>10/14/26</a:t>
            </a:fld>
            <a:endParaRPr lang="en-US"/>
          </a:p>
        </p:txBody>
      </p:sp>
      <p:sp>
        <p:nvSpPr>
          <p:cNvPr id="5" name="Footer Placeholder 4">
            <a:extLst>
              <a:ext uri="{FF2B5EF4-FFF2-40B4-BE49-F238E27FC236}">
                <a16:creationId xmlns:a16="http://schemas.microsoft.com/office/drawing/2014/main" id="{6E77AA41-1804-9F12-CA3D-32FDC68152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646078-A2C0-A2E8-965A-8EEEDFBF649B}"/>
              </a:ext>
            </a:extLst>
          </p:cNvPr>
          <p:cNvSpPr>
            <a:spLocks noGrp="1"/>
          </p:cNvSpPr>
          <p:nvPr>
            <p:ph type="sldNum" sz="quarter" idx="12"/>
          </p:nvPr>
        </p:nvSpPr>
        <p:spPr/>
        <p:txBody>
          <a:bodyPr/>
          <a:lstStyle/>
          <a:p>
            <a:fld id="{A199FA9D-3F0B-FD4C-8581-495F8D7811C4}" type="slidenum">
              <a:rPr lang="en-US" smtClean="0"/>
              <a:t>‹#›</a:t>
            </a:fld>
            <a:endParaRPr lang="en-US"/>
          </a:p>
        </p:txBody>
      </p:sp>
    </p:spTree>
    <p:extLst>
      <p:ext uri="{BB962C8B-B14F-4D97-AF65-F5344CB8AC3E}">
        <p14:creationId xmlns:p14="http://schemas.microsoft.com/office/powerpoint/2010/main" val="3543448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4066E2-B33C-BAF9-1993-337DC5B5CD6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86439C2-3BC5-70FC-4727-414A12DFCC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7A8FBE-AC83-ADD7-5947-BC44136CC4E3}"/>
              </a:ext>
            </a:extLst>
          </p:cNvPr>
          <p:cNvSpPr>
            <a:spLocks noGrp="1"/>
          </p:cNvSpPr>
          <p:nvPr>
            <p:ph type="dt" sz="half" idx="10"/>
          </p:nvPr>
        </p:nvSpPr>
        <p:spPr/>
        <p:txBody>
          <a:bodyPr/>
          <a:lstStyle/>
          <a:p>
            <a:fld id="{6F1672AC-7194-2F48-93A4-724001A81A9E}" type="datetimeFigureOut">
              <a:rPr lang="en-US" smtClean="0"/>
              <a:t>10/14/26</a:t>
            </a:fld>
            <a:endParaRPr lang="en-US"/>
          </a:p>
        </p:txBody>
      </p:sp>
      <p:sp>
        <p:nvSpPr>
          <p:cNvPr id="5" name="Footer Placeholder 4">
            <a:extLst>
              <a:ext uri="{FF2B5EF4-FFF2-40B4-BE49-F238E27FC236}">
                <a16:creationId xmlns:a16="http://schemas.microsoft.com/office/drawing/2014/main" id="{9C13F913-25A9-B805-D8DB-617D32E33C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A4F35C-426C-0360-73EA-B5C4BCA3DDD7}"/>
              </a:ext>
            </a:extLst>
          </p:cNvPr>
          <p:cNvSpPr>
            <a:spLocks noGrp="1"/>
          </p:cNvSpPr>
          <p:nvPr>
            <p:ph type="sldNum" sz="quarter" idx="12"/>
          </p:nvPr>
        </p:nvSpPr>
        <p:spPr/>
        <p:txBody>
          <a:bodyPr/>
          <a:lstStyle/>
          <a:p>
            <a:fld id="{A199FA9D-3F0B-FD4C-8581-495F8D7811C4}" type="slidenum">
              <a:rPr lang="en-US" smtClean="0"/>
              <a:t>‹#›</a:t>
            </a:fld>
            <a:endParaRPr lang="en-US"/>
          </a:p>
        </p:txBody>
      </p:sp>
    </p:spTree>
    <p:extLst>
      <p:ext uri="{BB962C8B-B14F-4D97-AF65-F5344CB8AC3E}">
        <p14:creationId xmlns:p14="http://schemas.microsoft.com/office/powerpoint/2010/main" val="1596386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Section Slide">
  <p:cSld name="Main Section Slide">
    <p:spTree>
      <p:nvGrpSpPr>
        <p:cNvPr id="1" name="Shape 9"/>
        <p:cNvGrpSpPr/>
        <p:nvPr/>
      </p:nvGrpSpPr>
      <p:grpSpPr>
        <a:xfrm>
          <a:off x="0" y="0"/>
          <a:ext cx="0" cy="0"/>
          <a:chOff x="0" y="0"/>
          <a:chExt cx="0" cy="0"/>
        </a:xfrm>
      </p:grpSpPr>
      <p:sp>
        <p:nvSpPr>
          <p:cNvPr id="10" name="Google Shape;10;p34"/>
          <p:cNvSpPr txBox="1">
            <a:spLocks noGrp="1"/>
          </p:cNvSpPr>
          <p:nvPr>
            <p:ph type="title"/>
          </p:nvPr>
        </p:nvSpPr>
        <p:spPr>
          <a:xfrm>
            <a:off x="1367366" y="2465740"/>
            <a:ext cx="9457200" cy="19266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1A5B6E"/>
              </a:buClr>
              <a:buSzPts val="4800"/>
              <a:buFont typeface="Helvetica Neu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623364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A5B6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9"/>
          <p:cNvSpPr txBox="1">
            <a:spLocks noGrp="1"/>
          </p:cNvSpPr>
          <p:nvPr>
            <p:ph type="body" idx="1"/>
          </p:nvPr>
        </p:nvSpPr>
        <p:spPr>
          <a:xfrm>
            <a:off x="838200" y="1825625"/>
            <a:ext cx="5181600" cy="362560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595959"/>
              </a:buClr>
              <a:buSzPts val="1800"/>
              <a:buChar char="•"/>
              <a:defRPr/>
            </a:lvl1pPr>
            <a:lvl2pPr marL="914400" lvl="1" indent="-342900" algn="l">
              <a:lnSpc>
                <a:spcPct val="90000"/>
              </a:lnSpc>
              <a:spcBef>
                <a:spcPts val="1000"/>
              </a:spcBef>
              <a:spcAft>
                <a:spcPts val="0"/>
              </a:spcAft>
              <a:buClr>
                <a:srgbClr val="595959"/>
              </a:buClr>
              <a:buSzPts val="1800"/>
              <a:buChar char="•"/>
              <a:defRPr/>
            </a:lvl2pPr>
            <a:lvl3pPr marL="1371600" lvl="2" indent="-342900" algn="l">
              <a:lnSpc>
                <a:spcPct val="90000"/>
              </a:lnSpc>
              <a:spcBef>
                <a:spcPts val="1000"/>
              </a:spcBef>
              <a:spcAft>
                <a:spcPts val="0"/>
              </a:spcAft>
              <a:buClr>
                <a:srgbClr val="595959"/>
              </a:buClr>
              <a:buSzPts val="1800"/>
              <a:buChar char="•"/>
              <a:defRPr/>
            </a:lvl3pPr>
            <a:lvl4pPr marL="1828800" lvl="3" indent="-342900" algn="l">
              <a:lnSpc>
                <a:spcPct val="90000"/>
              </a:lnSpc>
              <a:spcBef>
                <a:spcPts val="1000"/>
              </a:spcBef>
              <a:spcAft>
                <a:spcPts val="0"/>
              </a:spcAft>
              <a:buClr>
                <a:srgbClr val="595959"/>
              </a:buClr>
              <a:buSzPts val="1800"/>
              <a:buChar char="•"/>
              <a:defRPr/>
            </a:lvl4pPr>
            <a:lvl5pPr marL="2286000" lvl="4" indent="-342900" algn="l">
              <a:lnSpc>
                <a:spcPct val="90000"/>
              </a:lnSpc>
              <a:spcBef>
                <a:spcPts val="1000"/>
              </a:spcBef>
              <a:spcAft>
                <a:spcPts val="0"/>
              </a:spcAft>
              <a:buClr>
                <a:srgbClr val="595959"/>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1000"/>
              </a:spcAft>
              <a:buClr>
                <a:schemeClr val="dk1"/>
              </a:buClr>
              <a:buSzPts val="1800"/>
              <a:buChar char="•"/>
              <a:defRPr/>
            </a:lvl9pPr>
          </a:lstStyle>
          <a:p>
            <a:endParaRPr/>
          </a:p>
        </p:txBody>
      </p:sp>
      <p:sp>
        <p:nvSpPr>
          <p:cNvPr id="42" name="Google Shape;42;p39"/>
          <p:cNvSpPr txBox="1">
            <a:spLocks noGrp="1"/>
          </p:cNvSpPr>
          <p:nvPr>
            <p:ph type="body" idx="2"/>
          </p:nvPr>
        </p:nvSpPr>
        <p:spPr>
          <a:xfrm>
            <a:off x="6172200" y="1825625"/>
            <a:ext cx="5181600" cy="362560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595959"/>
              </a:buClr>
              <a:buSzPts val="1800"/>
              <a:buChar char="•"/>
              <a:defRPr/>
            </a:lvl1pPr>
            <a:lvl2pPr marL="914400" lvl="1" indent="-342900" algn="l">
              <a:lnSpc>
                <a:spcPct val="90000"/>
              </a:lnSpc>
              <a:spcBef>
                <a:spcPts val="1000"/>
              </a:spcBef>
              <a:spcAft>
                <a:spcPts val="0"/>
              </a:spcAft>
              <a:buClr>
                <a:srgbClr val="595959"/>
              </a:buClr>
              <a:buSzPts val="1800"/>
              <a:buChar char="•"/>
              <a:defRPr/>
            </a:lvl2pPr>
            <a:lvl3pPr marL="1371600" lvl="2" indent="-342900" algn="l">
              <a:lnSpc>
                <a:spcPct val="90000"/>
              </a:lnSpc>
              <a:spcBef>
                <a:spcPts val="1000"/>
              </a:spcBef>
              <a:spcAft>
                <a:spcPts val="0"/>
              </a:spcAft>
              <a:buClr>
                <a:srgbClr val="595959"/>
              </a:buClr>
              <a:buSzPts val="1800"/>
              <a:buChar char="•"/>
              <a:defRPr/>
            </a:lvl3pPr>
            <a:lvl4pPr marL="1828800" lvl="3" indent="-342900" algn="l">
              <a:lnSpc>
                <a:spcPct val="90000"/>
              </a:lnSpc>
              <a:spcBef>
                <a:spcPts val="1000"/>
              </a:spcBef>
              <a:spcAft>
                <a:spcPts val="0"/>
              </a:spcAft>
              <a:buClr>
                <a:srgbClr val="595959"/>
              </a:buClr>
              <a:buSzPts val="1800"/>
              <a:buChar char="•"/>
              <a:defRPr/>
            </a:lvl4pPr>
            <a:lvl5pPr marL="2286000" lvl="4" indent="-342900" algn="l">
              <a:lnSpc>
                <a:spcPct val="90000"/>
              </a:lnSpc>
              <a:spcBef>
                <a:spcPts val="1000"/>
              </a:spcBef>
              <a:spcAft>
                <a:spcPts val="0"/>
              </a:spcAft>
              <a:buClr>
                <a:srgbClr val="595959"/>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1000"/>
              </a:spcAft>
              <a:buClr>
                <a:schemeClr val="dk1"/>
              </a:buClr>
              <a:buSzPts val="1800"/>
              <a:buChar char="•"/>
              <a:defRPr/>
            </a:lvl9pPr>
          </a:lstStyle>
          <a:p>
            <a:endParaRPr/>
          </a:p>
        </p:txBody>
      </p:sp>
      <p:sp>
        <p:nvSpPr>
          <p:cNvPr id="43" name="Google Shape;43;p39"/>
          <p:cNvSpPr txBox="1">
            <a:spLocks noGrp="1"/>
          </p:cNvSpPr>
          <p:nvPr>
            <p:ph type="sldNum" idx="12"/>
          </p:nvPr>
        </p:nvSpPr>
        <p:spPr>
          <a:xfrm>
            <a:off x="9049266" y="624514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61465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lumn">
  <p:cSld name="CUSTOM_3">
    <p:spTree>
      <p:nvGrpSpPr>
        <p:cNvPr id="1" name="Shape 51"/>
        <p:cNvGrpSpPr/>
        <p:nvPr/>
      </p:nvGrpSpPr>
      <p:grpSpPr>
        <a:xfrm>
          <a:off x="0" y="0"/>
          <a:ext cx="0" cy="0"/>
          <a:chOff x="0" y="0"/>
          <a:chExt cx="0" cy="0"/>
        </a:xfrm>
      </p:grpSpPr>
      <p:sp>
        <p:nvSpPr>
          <p:cNvPr id="52" name="Google Shape;52;g3f95de07730_1_434"/>
          <p:cNvSpPr txBox="1">
            <a:spLocks noGrp="1"/>
          </p:cNvSpPr>
          <p:nvPr>
            <p:ph type="title"/>
          </p:nvPr>
        </p:nvSpPr>
        <p:spPr>
          <a:xfrm>
            <a:off x="838200" y="365131"/>
            <a:ext cx="10515600" cy="995700"/>
          </a:xfrm>
          <a:prstGeom prst="rect">
            <a:avLst/>
          </a:prstGeom>
        </p:spPr>
        <p:txBody>
          <a:bodyPr spcFirstLastPara="1" wrap="square" lIns="91425" tIns="45700" rIns="91425" bIns="45700" anchor="t" anchorCtr="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g3f95de07730_1_434"/>
          <p:cNvSpPr txBox="1">
            <a:spLocks noGrp="1"/>
          </p:cNvSpPr>
          <p:nvPr>
            <p:ph type="sldNum" idx="12"/>
          </p:nvPr>
        </p:nvSpPr>
        <p:spPr>
          <a:xfrm>
            <a:off x="11601600" y="6236033"/>
            <a:ext cx="4233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54" name="Google Shape;54;g3f95de07730_1_434"/>
          <p:cNvSpPr txBox="1">
            <a:spLocks noGrp="1"/>
          </p:cNvSpPr>
          <p:nvPr>
            <p:ph type="body" idx="1"/>
          </p:nvPr>
        </p:nvSpPr>
        <p:spPr>
          <a:xfrm>
            <a:off x="838200" y="1253400"/>
            <a:ext cx="50697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115000"/>
              </a:lnSpc>
              <a:spcBef>
                <a:spcPts val="1300"/>
              </a:spcBef>
              <a:spcAft>
                <a:spcPts val="0"/>
              </a:spcAft>
              <a:buClr>
                <a:schemeClr val="dk1"/>
              </a:buClr>
              <a:buSzPts val="2800"/>
              <a:buChar char="•"/>
              <a:defRPr sz="2800" i="0" u="none" strike="noStrike" cap="none">
                <a:solidFill>
                  <a:schemeClr val="dk1"/>
                </a:solidFill>
              </a:defRPr>
            </a:lvl1pPr>
            <a:lvl2pPr marL="914400" marR="0" lvl="1" indent="-381000" algn="l">
              <a:lnSpc>
                <a:spcPct val="115000"/>
              </a:lnSpc>
              <a:spcBef>
                <a:spcPts val="1300"/>
              </a:spcBef>
              <a:spcAft>
                <a:spcPts val="0"/>
              </a:spcAft>
              <a:buClr>
                <a:schemeClr val="dk1"/>
              </a:buClr>
              <a:buSzPts val="2400"/>
              <a:buChar char="•"/>
              <a:defRPr sz="2400" i="0" u="none" strike="noStrike" cap="none">
                <a:solidFill>
                  <a:schemeClr val="dk1"/>
                </a:solidFill>
              </a:defRPr>
            </a:lvl2pPr>
            <a:lvl3pPr marL="1371600" marR="0" lvl="2" indent="-355600" algn="l">
              <a:lnSpc>
                <a:spcPct val="115000"/>
              </a:lnSpc>
              <a:spcBef>
                <a:spcPts val="1300"/>
              </a:spcBef>
              <a:spcAft>
                <a:spcPts val="0"/>
              </a:spcAft>
              <a:buClr>
                <a:schemeClr val="dk1"/>
              </a:buClr>
              <a:buSzPts val="2000"/>
              <a:buChar char="•"/>
              <a:defRPr sz="2000" i="0" u="none" strike="noStrike" cap="none">
                <a:solidFill>
                  <a:schemeClr val="dk1"/>
                </a:solidFill>
              </a:defRPr>
            </a:lvl3pPr>
            <a:lvl4pPr marL="1828800" marR="0" lvl="3" indent="-349250" algn="l">
              <a:lnSpc>
                <a:spcPct val="115000"/>
              </a:lnSpc>
              <a:spcBef>
                <a:spcPts val="1300"/>
              </a:spcBef>
              <a:spcAft>
                <a:spcPts val="0"/>
              </a:spcAft>
              <a:buClr>
                <a:schemeClr val="dk1"/>
              </a:buClr>
              <a:buSzPts val="1900"/>
              <a:buChar char="•"/>
              <a:defRPr sz="1900" i="0" u="none" strike="noStrike" cap="none">
                <a:solidFill>
                  <a:schemeClr val="dk1"/>
                </a:solidFill>
              </a:defRPr>
            </a:lvl4pPr>
            <a:lvl5pPr marL="2286000" marR="0" lvl="4" indent="-349250" algn="l">
              <a:lnSpc>
                <a:spcPct val="115000"/>
              </a:lnSpc>
              <a:spcBef>
                <a:spcPts val="1300"/>
              </a:spcBef>
              <a:spcAft>
                <a:spcPts val="0"/>
              </a:spcAft>
              <a:buClr>
                <a:schemeClr val="dk1"/>
              </a:buClr>
              <a:buSzPts val="1900"/>
              <a:buChar char="•"/>
              <a:defRPr sz="1900" i="0" u="none" strike="noStrike" cap="none">
                <a:solidFill>
                  <a:schemeClr val="dk1"/>
                </a:solidFill>
              </a:defRPr>
            </a:lvl5pPr>
            <a:lvl6pPr marL="2743200" marR="0" lvl="5" indent="-349250" algn="l">
              <a:lnSpc>
                <a:spcPct val="115000"/>
              </a:lnSpc>
              <a:spcBef>
                <a:spcPts val="1300"/>
              </a:spcBef>
              <a:spcAft>
                <a:spcPts val="0"/>
              </a:spcAft>
              <a:buClr>
                <a:schemeClr val="dk1"/>
              </a:buClr>
              <a:buSzPts val="1900"/>
              <a:buChar char="•"/>
              <a:defRPr sz="1900" i="0" u="none" strike="noStrike" cap="none">
                <a:solidFill>
                  <a:schemeClr val="dk1"/>
                </a:solidFill>
              </a:defRPr>
            </a:lvl6pPr>
            <a:lvl7pPr marL="3200400" marR="0" lvl="6" indent="-349250" algn="l">
              <a:lnSpc>
                <a:spcPct val="115000"/>
              </a:lnSpc>
              <a:spcBef>
                <a:spcPts val="1300"/>
              </a:spcBef>
              <a:spcAft>
                <a:spcPts val="0"/>
              </a:spcAft>
              <a:buClr>
                <a:schemeClr val="dk1"/>
              </a:buClr>
              <a:buSzPts val="1900"/>
              <a:buChar char="•"/>
              <a:defRPr sz="1900" i="0" u="none" strike="noStrike" cap="none">
                <a:solidFill>
                  <a:schemeClr val="dk1"/>
                </a:solidFill>
              </a:defRPr>
            </a:lvl7pPr>
            <a:lvl8pPr marL="3657600" marR="0" lvl="7" indent="-349250" algn="l">
              <a:lnSpc>
                <a:spcPct val="115000"/>
              </a:lnSpc>
              <a:spcBef>
                <a:spcPts val="1300"/>
              </a:spcBef>
              <a:spcAft>
                <a:spcPts val="0"/>
              </a:spcAft>
              <a:buClr>
                <a:schemeClr val="dk1"/>
              </a:buClr>
              <a:buSzPts val="1900"/>
              <a:buChar char="•"/>
              <a:defRPr sz="1900" i="0" u="none" strike="noStrike" cap="none">
                <a:solidFill>
                  <a:schemeClr val="dk1"/>
                </a:solidFill>
              </a:defRPr>
            </a:lvl8pPr>
            <a:lvl9pPr marL="4114800" marR="0" lvl="8" indent="-349250" algn="l">
              <a:lnSpc>
                <a:spcPct val="115000"/>
              </a:lnSpc>
              <a:spcBef>
                <a:spcPts val="1300"/>
              </a:spcBef>
              <a:spcAft>
                <a:spcPts val="0"/>
              </a:spcAft>
              <a:buClr>
                <a:schemeClr val="dk1"/>
              </a:buClr>
              <a:buSzPts val="1900"/>
              <a:buChar char="•"/>
              <a:defRPr sz="1900" i="0" u="none" strike="noStrike" cap="none">
                <a:solidFill>
                  <a:schemeClr val="dk1"/>
                </a:solidFill>
              </a:defRPr>
            </a:lvl9pPr>
          </a:lstStyle>
          <a:p>
            <a:endParaRPr/>
          </a:p>
        </p:txBody>
      </p:sp>
      <p:sp>
        <p:nvSpPr>
          <p:cNvPr id="55" name="Google Shape;55;g3f95de07730_1_434"/>
          <p:cNvSpPr txBox="1">
            <a:spLocks noGrp="1"/>
          </p:cNvSpPr>
          <p:nvPr>
            <p:ph type="body" idx="2"/>
          </p:nvPr>
        </p:nvSpPr>
        <p:spPr>
          <a:xfrm>
            <a:off x="6280174" y="1360733"/>
            <a:ext cx="50697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115000"/>
              </a:lnSpc>
              <a:spcBef>
                <a:spcPts val="1300"/>
              </a:spcBef>
              <a:spcAft>
                <a:spcPts val="0"/>
              </a:spcAft>
              <a:buClr>
                <a:schemeClr val="dk1"/>
              </a:buClr>
              <a:buSzPts val="2800"/>
              <a:buChar char="•"/>
              <a:defRPr sz="2800" i="0" u="none" strike="noStrike" cap="none">
                <a:solidFill>
                  <a:schemeClr val="dk1"/>
                </a:solidFill>
              </a:defRPr>
            </a:lvl1pPr>
            <a:lvl2pPr marL="914400" marR="0" lvl="1" indent="-381000" algn="l">
              <a:lnSpc>
                <a:spcPct val="115000"/>
              </a:lnSpc>
              <a:spcBef>
                <a:spcPts val="1300"/>
              </a:spcBef>
              <a:spcAft>
                <a:spcPts val="0"/>
              </a:spcAft>
              <a:buClr>
                <a:schemeClr val="dk1"/>
              </a:buClr>
              <a:buSzPts val="2400"/>
              <a:buChar char="•"/>
              <a:defRPr sz="2400" i="0" u="none" strike="noStrike" cap="none">
                <a:solidFill>
                  <a:schemeClr val="dk1"/>
                </a:solidFill>
              </a:defRPr>
            </a:lvl2pPr>
            <a:lvl3pPr marL="1371600" marR="0" lvl="2" indent="-355600" algn="l">
              <a:lnSpc>
                <a:spcPct val="115000"/>
              </a:lnSpc>
              <a:spcBef>
                <a:spcPts val="1300"/>
              </a:spcBef>
              <a:spcAft>
                <a:spcPts val="0"/>
              </a:spcAft>
              <a:buClr>
                <a:schemeClr val="dk1"/>
              </a:buClr>
              <a:buSzPts val="2000"/>
              <a:buChar char="•"/>
              <a:defRPr sz="2000" i="0" u="none" strike="noStrike" cap="none">
                <a:solidFill>
                  <a:schemeClr val="dk1"/>
                </a:solidFill>
              </a:defRPr>
            </a:lvl3pPr>
            <a:lvl4pPr marL="1828800" marR="0" lvl="3" indent="-349250" algn="l">
              <a:lnSpc>
                <a:spcPct val="115000"/>
              </a:lnSpc>
              <a:spcBef>
                <a:spcPts val="1300"/>
              </a:spcBef>
              <a:spcAft>
                <a:spcPts val="0"/>
              </a:spcAft>
              <a:buClr>
                <a:schemeClr val="dk1"/>
              </a:buClr>
              <a:buSzPts val="1900"/>
              <a:buChar char="•"/>
              <a:defRPr sz="1900" i="0" u="none" strike="noStrike" cap="none">
                <a:solidFill>
                  <a:schemeClr val="dk1"/>
                </a:solidFill>
              </a:defRPr>
            </a:lvl4pPr>
            <a:lvl5pPr marL="2286000" marR="0" lvl="4" indent="-349250" algn="l">
              <a:lnSpc>
                <a:spcPct val="115000"/>
              </a:lnSpc>
              <a:spcBef>
                <a:spcPts val="1300"/>
              </a:spcBef>
              <a:spcAft>
                <a:spcPts val="0"/>
              </a:spcAft>
              <a:buClr>
                <a:schemeClr val="dk1"/>
              </a:buClr>
              <a:buSzPts val="1900"/>
              <a:buChar char="•"/>
              <a:defRPr sz="1900" i="0" u="none" strike="noStrike" cap="none">
                <a:solidFill>
                  <a:schemeClr val="dk1"/>
                </a:solidFill>
              </a:defRPr>
            </a:lvl5pPr>
            <a:lvl6pPr marL="2743200" marR="0" lvl="5" indent="-349250" algn="l">
              <a:lnSpc>
                <a:spcPct val="115000"/>
              </a:lnSpc>
              <a:spcBef>
                <a:spcPts val="1300"/>
              </a:spcBef>
              <a:spcAft>
                <a:spcPts val="0"/>
              </a:spcAft>
              <a:buClr>
                <a:schemeClr val="dk1"/>
              </a:buClr>
              <a:buSzPts val="1900"/>
              <a:buChar char="•"/>
              <a:defRPr sz="1900" i="0" u="none" strike="noStrike" cap="none">
                <a:solidFill>
                  <a:schemeClr val="dk1"/>
                </a:solidFill>
              </a:defRPr>
            </a:lvl6pPr>
            <a:lvl7pPr marL="3200400" marR="0" lvl="6" indent="-349250" algn="l">
              <a:lnSpc>
                <a:spcPct val="115000"/>
              </a:lnSpc>
              <a:spcBef>
                <a:spcPts val="1300"/>
              </a:spcBef>
              <a:spcAft>
                <a:spcPts val="0"/>
              </a:spcAft>
              <a:buClr>
                <a:schemeClr val="dk1"/>
              </a:buClr>
              <a:buSzPts val="1900"/>
              <a:buChar char="•"/>
              <a:defRPr sz="1900" i="0" u="none" strike="noStrike" cap="none">
                <a:solidFill>
                  <a:schemeClr val="dk1"/>
                </a:solidFill>
              </a:defRPr>
            </a:lvl7pPr>
            <a:lvl8pPr marL="3657600" marR="0" lvl="7" indent="-349250" algn="l">
              <a:lnSpc>
                <a:spcPct val="115000"/>
              </a:lnSpc>
              <a:spcBef>
                <a:spcPts val="1300"/>
              </a:spcBef>
              <a:spcAft>
                <a:spcPts val="0"/>
              </a:spcAft>
              <a:buClr>
                <a:schemeClr val="dk1"/>
              </a:buClr>
              <a:buSzPts val="1900"/>
              <a:buChar char="•"/>
              <a:defRPr sz="1900" i="0" u="none" strike="noStrike" cap="none">
                <a:solidFill>
                  <a:schemeClr val="dk1"/>
                </a:solidFill>
              </a:defRPr>
            </a:lvl8pPr>
            <a:lvl9pPr marL="4114800" marR="0" lvl="8" indent="-349250" algn="l">
              <a:lnSpc>
                <a:spcPct val="115000"/>
              </a:lnSpc>
              <a:spcBef>
                <a:spcPts val="1300"/>
              </a:spcBef>
              <a:spcAft>
                <a:spcPts val="0"/>
              </a:spcAft>
              <a:buClr>
                <a:schemeClr val="dk1"/>
              </a:buClr>
              <a:buSzPts val="1900"/>
              <a:buChar char="•"/>
              <a:defRPr sz="1900" i="0" u="none" strike="noStrike" cap="none">
                <a:solidFill>
                  <a:schemeClr val="dk1"/>
                </a:solidFill>
              </a:defRPr>
            </a:lvl9pPr>
          </a:lstStyle>
          <a:p>
            <a:endParaRPr/>
          </a:p>
        </p:txBody>
      </p:sp>
    </p:spTree>
    <p:extLst>
      <p:ext uri="{BB962C8B-B14F-4D97-AF65-F5344CB8AC3E}">
        <p14:creationId xmlns:p14="http://schemas.microsoft.com/office/powerpoint/2010/main" val="660121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fully white">
  <p:cSld name="CUSTOM_2">
    <p:spTree>
      <p:nvGrpSpPr>
        <p:cNvPr id="1" name="Shape 48"/>
        <p:cNvGrpSpPr/>
        <p:nvPr/>
      </p:nvGrpSpPr>
      <p:grpSpPr>
        <a:xfrm>
          <a:off x="0" y="0"/>
          <a:ext cx="0" cy="0"/>
          <a:chOff x="0" y="0"/>
          <a:chExt cx="0" cy="0"/>
        </a:xfrm>
      </p:grpSpPr>
      <p:sp>
        <p:nvSpPr>
          <p:cNvPr id="49" name="Google Shape;49;g3f95de07730_1_431"/>
          <p:cNvSpPr txBox="1">
            <a:spLocks noGrp="1"/>
          </p:cNvSpPr>
          <p:nvPr>
            <p:ph type="title"/>
          </p:nvPr>
        </p:nvSpPr>
        <p:spPr>
          <a:xfrm>
            <a:off x="838200" y="365125"/>
            <a:ext cx="10515600" cy="1325700"/>
          </a:xfrm>
          <a:prstGeom prst="rect">
            <a:avLst/>
          </a:prstGeom>
        </p:spPr>
        <p:txBody>
          <a:bodyPr spcFirstLastPara="1" wrap="square" lIns="91425" tIns="45700" rIns="91425" bIns="45700" anchor="t" anchorCtr="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g3f95de07730_1_431"/>
          <p:cNvSpPr/>
          <p:nvPr/>
        </p:nvSpPr>
        <p:spPr>
          <a:xfrm>
            <a:off x="-68033" y="5907767"/>
            <a:ext cx="12325500" cy="1111200"/>
          </a:xfrm>
          <a:prstGeom prst="rect">
            <a:avLst/>
          </a:prstGeom>
          <a:solidFill>
            <a:schemeClr val="lt1"/>
          </a:solidFill>
          <a:ln w="12700"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900"/>
          </a:p>
        </p:txBody>
      </p:sp>
    </p:spTree>
    <p:extLst>
      <p:ext uri="{BB962C8B-B14F-4D97-AF65-F5344CB8AC3E}">
        <p14:creationId xmlns:p14="http://schemas.microsoft.com/office/powerpoint/2010/main" val="707659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A5B6E"/>
              </a:buClr>
              <a:buSzPts val="1800"/>
              <a:buFont typeface="Calibri"/>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5"/>
          <p:cNvSpPr txBox="1">
            <a:spLocks noGrp="1"/>
          </p:cNvSpPr>
          <p:nvPr>
            <p:ph type="body" idx="1"/>
          </p:nvPr>
        </p:nvSpPr>
        <p:spPr>
          <a:xfrm>
            <a:off x="838200" y="1825625"/>
            <a:ext cx="10515600" cy="3707667"/>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rgbClr val="595959"/>
              </a:buClr>
              <a:buSzPts val="1800"/>
              <a:buFont typeface="Calibri"/>
              <a:buChar char="•"/>
              <a:defRPr>
                <a:latin typeface="Calibri"/>
                <a:ea typeface="Calibri"/>
                <a:cs typeface="Calibri"/>
                <a:sym typeface="Calibri"/>
              </a:defRPr>
            </a:lvl1pPr>
            <a:lvl2pPr marL="914400" lvl="1" indent="-342900" algn="l">
              <a:lnSpc>
                <a:spcPct val="100000"/>
              </a:lnSpc>
              <a:spcBef>
                <a:spcPts val="1000"/>
              </a:spcBef>
              <a:spcAft>
                <a:spcPts val="0"/>
              </a:spcAft>
              <a:buClr>
                <a:srgbClr val="595959"/>
              </a:buClr>
              <a:buSzPts val="1800"/>
              <a:buFont typeface="Calibri"/>
              <a:buChar char="•"/>
              <a:defRPr>
                <a:latin typeface="Calibri"/>
                <a:ea typeface="Calibri"/>
                <a:cs typeface="Calibri"/>
                <a:sym typeface="Calibri"/>
              </a:defRPr>
            </a:lvl2pPr>
            <a:lvl3pPr marL="1371600" lvl="2" indent="-342900" algn="l">
              <a:lnSpc>
                <a:spcPct val="100000"/>
              </a:lnSpc>
              <a:spcBef>
                <a:spcPts val="1000"/>
              </a:spcBef>
              <a:spcAft>
                <a:spcPts val="0"/>
              </a:spcAft>
              <a:buClr>
                <a:srgbClr val="595959"/>
              </a:buClr>
              <a:buSzPts val="1800"/>
              <a:buFont typeface="Calibri"/>
              <a:buChar char="•"/>
              <a:defRPr>
                <a:latin typeface="Calibri"/>
                <a:ea typeface="Calibri"/>
                <a:cs typeface="Calibri"/>
                <a:sym typeface="Calibri"/>
              </a:defRPr>
            </a:lvl3pPr>
            <a:lvl4pPr marL="1828800" lvl="3" indent="-342900" algn="l">
              <a:lnSpc>
                <a:spcPct val="100000"/>
              </a:lnSpc>
              <a:spcBef>
                <a:spcPts val="1000"/>
              </a:spcBef>
              <a:spcAft>
                <a:spcPts val="0"/>
              </a:spcAft>
              <a:buClr>
                <a:srgbClr val="595959"/>
              </a:buClr>
              <a:buSzPts val="1800"/>
              <a:buFont typeface="Calibri"/>
              <a:buChar char="•"/>
              <a:defRPr>
                <a:latin typeface="Calibri"/>
                <a:ea typeface="Calibri"/>
                <a:cs typeface="Calibri"/>
                <a:sym typeface="Calibri"/>
              </a:defRPr>
            </a:lvl4pPr>
            <a:lvl5pPr marL="2286000" lvl="4" indent="-342900" algn="l">
              <a:lnSpc>
                <a:spcPct val="100000"/>
              </a:lnSpc>
              <a:spcBef>
                <a:spcPts val="1000"/>
              </a:spcBef>
              <a:spcAft>
                <a:spcPts val="0"/>
              </a:spcAft>
              <a:buClr>
                <a:srgbClr val="595959"/>
              </a:buClr>
              <a:buSzPts val="1800"/>
              <a:buFont typeface="Calibri"/>
              <a:buChar char="•"/>
              <a:defRPr>
                <a:latin typeface="Calibri"/>
                <a:ea typeface="Calibri"/>
                <a:cs typeface="Calibri"/>
                <a:sym typeface="Calibri"/>
              </a:defRPr>
            </a:lvl5pPr>
            <a:lvl6pPr marL="2743200" lvl="5" indent="-342900" algn="l">
              <a:lnSpc>
                <a:spcPct val="100000"/>
              </a:lnSpc>
              <a:spcBef>
                <a:spcPts val="1000"/>
              </a:spcBef>
              <a:spcAft>
                <a:spcPts val="0"/>
              </a:spcAft>
              <a:buClr>
                <a:schemeClr val="dk1"/>
              </a:buClr>
              <a:buSzPts val="1800"/>
              <a:buFont typeface="Calibri"/>
              <a:buChar char="•"/>
              <a:defRPr/>
            </a:lvl6pPr>
            <a:lvl7pPr marL="3200400" lvl="6" indent="-342900" algn="l">
              <a:lnSpc>
                <a:spcPct val="100000"/>
              </a:lnSpc>
              <a:spcBef>
                <a:spcPts val="1000"/>
              </a:spcBef>
              <a:spcAft>
                <a:spcPts val="0"/>
              </a:spcAft>
              <a:buClr>
                <a:schemeClr val="dk1"/>
              </a:buClr>
              <a:buSzPts val="1800"/>
              <a:buFont typeface="Calibri"/>
              <a:buChar char="•"/>
              <a:defRPr/>
            </a:lvl7pPr>
            <a:lvl8pPr marL="3657600" lvl="7" indent="-342900" algn="l">
              <a:lnSpc>
                <a:spcPct val="100000"/>
              </a:lnSpc>
              <a:spcBef>
                <a:spcPts val="1000"/>
              </a:spcBef>
              <a:spcAft>
                <a:spcPts val="0"/>
              </a:spcAft>
              <a:buClr>
                <a:schemeClr val="dk1"/>
              </a:buClr>
              <a:buSzPts val="1800"/>
              <a:buFont typeface="Calibri"/>
              <a:buChar char="•"/>
              <a:defRPr/>
            </a:lvl8pPr>
            <a:lvl9pPr marL="4114800" lvl="8" indent="-342900" algn="l">
              <a:lnSpc>
                <a:spcPct val="100000"/>
              </a:lnSpc>
              <a:spcBef>
                <a:spcPts val="1000"/>
              </a:spcBef>
              <a:spcAft>
                <a:spcPts val="1000"/>
              </a:spcAft>
              <a:buClr>
                <a:schemeClr val="dk1"/>
              </a:buClr>
              <a:buSzPts val="1800"/>
              <a:buFont typeface="Calibri"/>
              <a:buChar char="•"/>
              <a:defRPr/>
            </a:lvl9pPr>
          </a:lstStyle>
          <a:p>
            <a:endParaRPr/>
          </a:p>
        </p:txBody>
      </p:sp>
      <p:sp>
        <p:nvSpPr>
          <p:cNvPr id="14" name="Google Shape;14;p35"/>
          <p:cNvSpPr txBox="1">
            <a:spLocks noGrp="1"/>
          </p:cNvSpPr>
          <p:nvPr>
            <p:ph type="sldNum" idx="12"/>
          </p:nvPr>
        </p:nvSpPr>
        <p:spPr>
          <a:xfrm>
            <a:off x="9049266" y="624514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297055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p:cSld name="One Column">
    <p:spTree>
      <p:nvGrpSpPr>
        <p:cNvPr id="1" name="Shape 56"/>
        <p:cNvGrpSpPr/>
        <p:nvPr/>
      </p:nvGrpSpPr>
      <p:grpSpPr>
        <a:xfrm>
          <a:off x="0" y="0"/>
          <a:ext cx="0" cy="0"/>
          <a:chOff x="0" y="0"/>
          <a:chExt cx="0" cy="0"/>
        </a:xfrm>
      </p:grpSpPr>
      <p:sp>
        <p:nvSpPr>
          <p:cNvPr id="57" name="Google Shape;57;g3f95de07730_1_439"/>
          <p:cNvSpPr txBox="1">
            <a:spLocks noGrp="1"/>
          </p:cNvSpPr>
          <p:nvPr>
            <p:ph type="title"/>
          </p:nvPr>
        </p:nvSpPr>
        <p:spPr>
          <a:xfrm>
            <a:off x="838200" y="365131"/>
            <a:ext cx="10515600" cy="995700"/>
          </a:xfrm>
          <a:prstGeom prst="rect">
            <a:avLst/>
          </a:prstGeom>
        </p:spPr>
        <p:txBody>
          <a:bodyPr spcFirstLastPara="1" wrap="square" lIns="91425" tIns="45700" rIns="91425" bIns="45700" anchor="t" anchorCtr="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g3f95de07730_1_439"/>
          <p:cNvSpPr txBox="1">
            <a:spLocks noGrp="1"/>
          </p:cNvSpPr>
          <p:nvPr>
            <p:ph type="sldNum" idx="12"/>
          </p:nvPr>
        </p:nvSpPr>
        <p:spPr>
          <a:xfrm>
            <a:off x="11601600" y="6236033"/>
            <a:ext cx="4233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59" name="Google Shape;59;g3f95de07730_1_439"/>
          <p:cNvSpPr txBox="1">
            <a:spLocks noGrp="1"/>
          </p:cNvSpPr>
          <p:nvPr>
            <p:ph type="body" idx="1"/>
          </p:nvPr>
        </p:nvSpPr>
        <p:spPr>
          <a:xfrm>
            <a:off x="838200" y="1253392"/>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115000"/>
              </a:lnSpc>
              <a:spcBef>
                <a:spcPts val="1300"/>
              </a:spcBef>
              <a:spcAft>
                <a:spcPts val="0"/>
              </a:spcAft>
              <a:buClr>
                <a:schemeClr val="dk1"/>
              </a:buClr>
              <a:buSzPts val="2800"/>
              <a:buChar char="•"/>
              <a:defRPr sz="2800" i="0" u="none" strike="noStrike" cap="none">
                <a:solidFill>
                  <a:schemeClr val="dk1"/>
                </a:solidFill>
              </a:defRPr>
            </a:lvl1pPr>
            <a:lvl2pPr marL="914400" marR="0" lvl="1" indent="-381000" algn="l">
              <a:lnSpc>
                <a:spcPct val="115000"/>
              </a:lnSpc>
              <a:spcBef>
                <a:spcPts val="1300"/>
              </a:spcBef>
              <a:spcAft>
                <a:spcPts val="0"/>
              </a:spcAft>
              <a:buClr>
                <a:schemeClr val="dk1"/>
              </a:buClr>
              <a:buSzPts val="2400"/>
              <a:buChar char="•"/>
              <a:defRPr sz="2400" i="0" u="none" strike="noStrike" cap="none">
                <a:solidFill>
                  <a:schemeClr val="dk1"/>
                </a:solidFill>
              </a:defRPr>
            </a:lvl2pPr>
            <a:lvl3pPr marL="1371600" marR="0" lvl="2" indent="-355600" algn="l">
              <a:lnSpc>
                <a:spcPct val="115000"/>
              </a:lnSpc>
              <a:spcBef>
                <a:spcPts val="1300"/>
              </a:spcBef>
              <a:spcAft>
                <a:spcPts val="0"/>
              </a:spcAft>
              <a:buClr>
                <a:schemeClr val="dk1"/>
              </a:buClr>
              <a:buSzPts val="2000"/>
              <a:buChar char="•"/>
              <a:defRPr sz="2000" i="0" u="none" strike="noStrike" cap="none">
                <a:solidFill>
                  <a:schemeClr val="dk1"/>
                </a:solidFill>
              </a:defRPr>
            </a:lvl3pPr>
            <a:lvl4pPr marL="1828800" marR="0" lvl="3" indent="-349250" algn="l">
              <a:lnSpc>
                <a:spcPct val="115000"/>
              </a:lnSpc>
              <a:spcBef>
                <a:spcPts val="1300"/>
              </a:spcBef>
              <a:spcAft>
                <a:spcPts val="0"/>
              </a:spcAft>
              <a:buClr>
                <a:schemeClr val="dk1"/>
              </a:buClr>
              <a:buSzPts val="1900"/>
              <a:buChar char="•"/>
              <a:defRPr sz="1900" i="0" u="none" strike="noStrike" cap="none">
                <a:solidFill>
                  <a:schemeClr val="dk1"/>
                </a:solidFill>
              </a:defRPr>
            </a:lvl4pPr>
            <a:lvl5pPr marL="2286000" marR="0" lvl="4" indent="-349250" algn="l">
              <a:lnSpc>
                <a:spcPct val="115000"/>
              </a:lnSpc>
              <a:spcBef>
                <a:spcPts val="1300"/>
              </a:spcBef>
              <a:spcAft>
                <a:spcPts val="0"/>
              </a:spcAft>
              <a:buClr>
                <a:schemeClr val="dk1"/>
              </a:buClr>
              <a:buSzPts val="1900"/>
              <a:buChar char="•"/>
              <a:defRPr sz="1900" i="0" u="none" strike="noStrike" cap="none">
                <a:solidFill>
                  <a:schemeClr val="dk1"/>
                </a:solidFill>
              </a:defRPr>
            </a:lvl5pPr>
            <a:lvl6pPr marL="2743200" marR="0" lvl="5" indent="-349250" algn="l">
              <a:lnSpc>
                <a:spcPct val="115000"/>
              </a:lnSpc>
              <a:spcBef>
                <a:spcPts val="1300"/>
              </a:spcBef>
              <a:spcAft>
                <a:spcPts val="0"/>
              </a:spcAft>
              <a:buClr>
                <a:schemeClr val="dk1"/>
              </a:buClr>
              <a:buSzPts val="1900"/>
              <a:buChar char="•"/>
              <a:defRPr sz="1900" i="0" u="none" strike="noStrike" cap="none">
                <a:solidFill>
                  <a:schemeClr val="dk1"/>
                </a:solidFill>
              </a:defRPr>
            </a:lvl6pPr>
            <a:lvl7pPr marL="3200400" marR="0" lvl="6" indent="-349250" algn="l">
              <a:lnSpc>
                <a:spcPct val="115000"/>
              </a:lnSpc>
              <a:spcBef>
                <a:spcPts val="1300"/>
              </a:spcBef>
              <a:spcAft>
                <a:spcPts val="0"/>
              </a:spcAft>
              <a:buClr>
                <a:schemeClr val="dk1"/>
              </a:buClr>
              <a:buSzPts val="1900"/>
              <a:buChar char="•"/>
              <a:defRPr sz="1900" i="0" u="none" strike="noStrike" cap="none">
                <a:solidFill>
                  <a:schemeClr val="dk1"/>
                </a:solidFill>
              </a:defRPr>
            </a:lvl7pPr>
            <a:lvl8pPr marL="3657600" marR="0" lvl="7" indent="-349250" algn="l">
              <a:lnSpc>
                <a:spcPct val="115000"/>
              </a:lnSpc>
              <a:spcBef>
                <a:spcPts val="1300"/>
              </a:spcBef>
              <a:spcAft>
                <a:spcPts val="0"/>
              </a:spcAft>
              <a:buClr>
                <a:schemeClr val="dk1"/>
              </a:buClr>
              <a:buSzPts val="1900"/>
              <a:buChar char="•"/>
              <a:defRPr sz="1900" i="0" u="none" strike="noStrike" cap="none">
                <a:solidFill>
                  <a:schemeClr val="dk1"/>
                </a:solidFill>
              </a:defRPr>
            </a:lvl8pPr>
            <a:lvl9pPr marL="4114800" marR="0" lvl="8" indent="-349250" algn="l">
              <a:lnSpc>
                <a:spcPct val="115000"/>
              </a:lnSpc>
              <a:spcBef>
                <a:spcPts val="1300"/>
              </a:spcBef>
              <a:spcAft>
                <a:spcPts val="0"/>
              </a:spcAft>
              <a:buClr>
                <a:schemeClr val="dk1"/>
              </a:buClr>
              <a:buSzPts val="1900"/>
              <a:buChar char="•"/>
              <a:defRPr sz="1900" i="0" u="none" strike="noStrike" cap="none">
                <a:solidFill>
                  <a:schemeClr val="dk1"/>
                </a:solidFill>
              </a:defRPr>
            </a:lvl9pPr>
          </a:lstStyle>
          <a:p>
            <a:endParaRPr/>
          </a:p>
        </p:txBody>
      </p:sp>
    </p:spTree>
    <p:extLst>
      <p:ext uri="{BB962C8B-B14F-4D97-AF65-F5344CB8AC3E}">
        <p14:creationId xmlns:p14="http://schemas.microsoft.com/office/powerpoint/2010/main" val="972592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1">
  <p:cSld name="CUSTOM_1">
    <p:spTree>
      <p:nvGrpSpPr>
        <p:cNvPr id="1" name="Shape 60"/>
        <p:cNvGrpSpPr/>
        <p:nvPr/>
      </p:nvGrpSpPr>
      <p:grpSpPr>
        <a:xfrm>
          <a:off x="0" y="0"/>
          <a:ext cx="0" cy="0"/>
          <a:chOff x="0" y="0"/>
          <a:chExt cx="0" cy="0"/>
        </a:xfrm>
      </p:grpSpPr>
      <p:sp>
        <p:nvSpPr>
          <p:cNvPr id="61" name="Google Shape;61;g3f95de07730_1_646"/>
          <p:cNvSpPr txBox="1">
            <a:spLocks noGrp="1"/>
          </p:cNvSpPr>
          <p:nvPr>
            <p:ph type="title"/>
          </p:nvPr>
        </p:nvSpPr>
        <p:spPr>
          <a:xfrm>
            <a:off x="838200" y="365125"/>
            <a:ext cx="10515600" cy="1325700"/>
          </a:xfrm>
          <a:prstGeom prst="rect">
            <a:avLst/>
          </a:prstGeom>
        </p:spPr>
        <p:txBody>
          <a:bodyPr spcFirstLastPara="1" wrap="square" lIns="91425" tIns="45700" rIns="91425" bIns="45700" anchor="t" anchorCtr="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g3f95de07730_1_646"/>
          <p:cNvSpPr txBox="1">
            <a:spLocks noGrp="1"/>
          </p:cNvSpPr>
          <p:nvPr>
            <p:ph type="sldNum" idx="12"/>
          </p:nvPr>
        </p:nvSpPr>
        <p:spPr>
          <a:xfrm>
            <a:off x="11601600" y="6236033"/>
            <a:ext cx="4233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1357584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1 1">
  <p:cSld name="Blank">
    <p:spTree>
      <p:nvGrpSpPr>
        <p:cNvPr id="1" name="Shape 77"/>
        <p:cNvGrpSpPr/>
        <p:nvPr/>
      </p:nvGrpSpPr>
      <p:grpSpPr>
        <a:xfrm>
          <a:off x="0" y="0"/>
          <a:ext cx="0" cy="0"/>
          <a:chOff x="0" y="0"/>
          <a:chExt cx="0" cy="0"/>
        </a:xfrm>
      </p:grpSpPr>
      <p:sp>
        <p:nvSpPr>
          <p:cNvPr id="78" name="Google Shape;78;g3f95de07730_1_950"/>
          <p:cNvSpPr txBox="1">
            <a:spLocks noGrp="1"/>
          </p:cNvSpPr>
          <p:nvPr>
            <p:ph type="sldNum" idx="12"/>
          </p:nvPr>
        </p:nvSpPr>
        <p:spPr>
          <a:xfrm>
            <a:off x="8778240" y="6377940"/>
            <a:ext cx="2804100" cy="1692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0040022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57"/>
        <p:cNvGrpSpPr/>
        <p:nvPr/>
      </p:nvGrpSpPr>
      <p:grpSpPr>
        <a:xfrm>
          <a:off x="0" y="0"/>
          <a:ext cx="0" cy="0"/>
          <a:chOff x="0" y="0"/>
          <a:chExt cx="0" cy="0"/>
        </a:xfrm>
      </p:grpSpPr>
      <p:sp>
        <p:nvSpPr>
          <p:cNvPr id="58" name="Google Shape;58;p38"/>
          <p:cNvSpPr/>
          <p:nvPr/>
        </p:nvSpPr>
        <p:spPr>
          <a:xfrm>
            <a:off x="7774283" y="0"/>
            <a:ext cx="5787437" cy="111383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a:solidFill>
                <a:schemeClr val="lt1"/>
              </a:solidFill>
              <a:latin typeface="Roboto"/>
              <a:ea typeface="Roboto"/>
              <a:cs typeface="Roboto"/>
              <a:sym typeface="Roboto"/>
            </a:endParaRPr>
          </a:p>
        </p:txBody>
      </p:sp>
      <p:sp>
        <p:nvSpPr>
          <p:cNvPr id="59" name="Google Shape;59;p38"/>
          <p:cNvSpPr/>
          <p:nvPr/>
        </p:nvSpPr>
        <p:spPr>
          <a:xfrm>
            <a:off x="0" y="6065896"/>
            <a:ext cx="6803923" cy="79210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a:solidFill>
                <a:schemeClr val="lt1"/>
              </a:solidFill>
              <a:latin typeface="Roboto"/>
              <a:ea typeface="Roboto"/>
              <a:cs typeface="Roboto"/>
              <a:sym typeface="Roboto"/>
            </a:endParaRPr>
          </a:p>
        </p:txBody>
      </p:sp>
      <p:sp>
        <p:nvSpPr>
          <p:cNvPr id="60" name="Google Shape;60;p38"/>
          <p:cNvSpPr txBox="1">
            <a:spLocks noGrp="1"/>
          </p:cNvSpPr>
          <p:nvPr>
            <p:ph type="title"/>
          </p:nvPr>
        </p:nvSpPr>
        <p:spPr>
          <a:xfrm>
            <a:off x="1674055" y="365125"/>
            <a:ext cx="8712820" cy="646331"/>
          </a:xfrm>
          <a:prstGeom prst="rect">
            <a:avLst/>
          </a:prstGeom>
          <a:noFill/>
          <a:ln>
            <a:noFill/>
          </a:ln>
        </p:spPr>
        <p:txBody>
          <a:bodyPr spcFirstLastPara="1" wrap="square" lIns="91425" tIns="45700" rIns="91425" bIns="45700" anchor="t" anchorCtr="0">
            <a:spAutoFit/>
          </a:bodyPr>
          <a:lstStyle>
            <a:lvl1pPr lvl="0" algn="l">
              <a:lnSpc>
                <a:spcPct val="100000"/>
              </a:lnSpc>
              <a:spcBef>
                <a:spcPts val="0"/>
              </a:spcBef>
              <a:spcAft>
                <a:spcPts val="0"/>
              </a:spcAft>
              <a:buClr>
                <a:srgbClr val="11F3D8"/>
              </a:buClr>
              <a:buSzPts val="3600"/>
              <a:buFont typeface="Roboto Black"/>
              <a:buNone/>
              <a:defRPr sz="3600">
                <a:solidFill>
                  <a:srgbClr val="11F3D8"/>
                </a:solidFill>
                <a:latin typeface="Roboto Black"/>
                <a:ea typeface="Roboto Black"/>
                <a:cs typeface="Roboto Black"/>
                <a:sym typeface="Robo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38"/>
          <p:cNvSpPr txBox="1">
            <a:spLocks noGrp="1"/>
          </p:cNvSpPr>
          <p:nvPr>
            <p:ph type="dt" idx="10"/>
          </p:nvPr>
        </p:nvSpPr>
        <p:spPr>
          <a:xfrm>
            <a:off x="1117600" y="8475134"/>
            <a:ext cx="3657600" cy="48683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600" b="0" i="0">
                <a:solidFill>
                  <a:srgbClr val="88C5B8"/>
                </a:solidFill>
                <a:latin typeface="Roboto"/>
                <a:ea typeface="Roboto"/>
                <a:cs typeface="Roboto"/>
                <a:sym typeface="Roboto"/>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62" name="Google Shape;62;p38"/>
          <p:cNvSpPr txBox="1">
            <a:spLocks noGrp="1"/>
          </p:cNvSpPr>
          <p:nvPr>
            <p:ph type="sldNum" idx="12"/>
          </p:nvPr>
        </p:nvSpPr>
        <p:spPr>
          <a:xfrm>
            <a:off x="11410949" y="6356351"/>
            <a:ext cx="408163"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b="0" i="0">
                <a:solidFill>
                  <a:srgbClr val="365CAA"/>
                </a:solidFill>
                <a:latin typeface="Roboto"/>
                <a:ea typeface="Roboto"/>
                <a:cs typeface="Roboto"/>
                <a:sym typeface="Roboto"/>
              </a:defRPr>
            </a:lvl1pPr>
            <a:lvl2pPr marL="0" lvl="1" indent="0" algn="ctr">
              <a:spcBef>
                <a:spcPts val="0"/>
              </a:spcBef>
              <a:buNone/>
              <a:defRPr sz="1200" b="0" i="0">
                <a:solidFill>
                  <a:srgbClr val="365CAA"/>
                </a:solidFill>
                <a:latin typeface="Roboto"/>
                <a:ea typeface="Roboto"/>
                <a:cs typeface="Roboto"/>
                <a:sym typeface="Roboto"/>
              </a:defRPr>
            </a:lvl2pPr>
            <a:lvl3pPr marL="0" lvl="2" indent="0" algn="ctr">
              <a:spcBef>
                <a:spcPts val="0"/>
              </a:spcBef>
              <a:buNone/>
              <a:defRPr sz="1200" b="0" i="0">
                <a:solidFill>
                  <a:srgbClr val="365CAA"/>
                </a:solidFill>
                <a:latin typeface="Roboto"/>
                <a:ea typeface="Roboto"/>
                <a:cs typeface="Roboto"/>
                <a:sym typeface="Roboto"/>
              </a:defRPr>
            </a:lvl3pPr>
            <a:lvl4pPr marL="0" lvl="3" indent="0" algn="ctr">
              <a:spcBef>
                <a:spcPts val="0"/>
              </a:spcBef>
              <a:buNone/>
              <a:defRPr sz="1200" b="0" i="0">
                <a:solidFill>
                  <a:srgbClr val="365CAA"/>
                </a:solidFill>
                <a:latin typeface="Roboto"/>
                <a:ea typeface="Roboto"/>
                <a:cs typeface="Roboto"/>
                <a:sym typeface="Roboto"/>
              </a:defRPr>
            </a:lvl4pPr>
            <a:lvl5pPr marL="0" lvl="4" indent="0" algn="ctr">
              <a:spcBef>
                <a:spcPts val="0"/>
              </a:spcBef>
              <a:buNone/>
              <a:defRPr sz="1200" b="0" i="0">
                <a:solidFill>
                  <a:srgbClr val="365CAA"/>
                </a:solidFill>
                <a:latin typeface="Roboto"/>
                <a:ea typeface="Roboto"/>
                <a:cs typeface="Roboto"/>
                <a:sym typeface="Roboto"/>
              </a:defRPr>
            </a:lvl5pPr>
            <a:lvl6pPr marL="0" lvl="5" indent="0" algn="ctr">
              <a:spcBef>
                <a:spcPts val="0"/>
              </a:spcBef>
              <a:buNone/>
              <a:defRPr sz="1200" b="0" i="0">
                <a:solidFill>
                  <a:srgbClr val="365CAA"/>
                </a:solidFill>
                <a:latin typeface="Roboto"/>
                <a:ea typeface="Roboto"/>
                <a:cs typeface="Roboto"/>
                <a:sym typeface="Roboto"/>
              </a:defRPr>
            </a:lvl6pPr>
            <a:lvl7pPr marL="0" lvl="6" indent="0" algn="ctr">
              <a:spcBef>
                <a:spcPts val="0"/>
              </a:spcBef>
              <a:buNone/>
              <a:defRPr sz="1200" b="0" i="0">
                <a:solidFill>
                  <a:srgbClr val="365CAA"/>
                </a:solidFill>
                <a:latin typeface="Roboto"/>
                <a:ea typeface="Roboto"/>
                <a:cs typeface="Roboto"/>
                <a:sym typeface="Roboto"/>
              </a:defRPr>
            </a:lvl7pPr>
            <a:lvl8pPr marL="0" lvl="7" indent="0" algn="ctr">
              <a:spcBef>
                <a:spcPts val="0"/>
              </a:spcBef>
              <a:buNone/>
              <a:defRPr sz="1200" b="0" i="0">
                <a:solidFill>
                  <a:srgbClr val="365CAA"/>
                </a:solidFill>
                <a:latin typeface="Roboto"/>
                <a:ea typeface="Roboto"/>
                <a:cs typeface="Roboto"/>
                <a:sym typeface="Roboto"/>
              </a:defRPr>
            </a:lvl8pPr>
            <a:lvl9pPr marL="0" lvl="8" indent="0" algn="ctr">
              <a:spcBef>
                <a:spcPts val="0"/>
              </a:spcBef>
              <a:buNone/>
              <a:defRPr sz="1200" b="0" i="0">
                <a:solidFill>
                  <a:srgbClr val="365CAA"/>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US"/>
              <a:t>‹#›</a:t>
            </a:fld>
            <a:endParaRPr/>
          </a:p>
        </p:txBody>
      </p:sp>
      <p:pic>
        <p:nvPicPr>
          <p:cNvPr id="63" name="Google Shape;63;p38"/>
          <p:cNvPicPr preferRelativeResize="0"/>
          <p:nvPr/>
        </p:nvPicPr>
        <p:blipFill rotWithShape="1">
          <a:blip r:embed="rId2">
            <a:alphaModFix/>
          </a:blip>
          <a:srcRect/>
          <a:stretch/>
        </p:blipFill>
        <p:spPr>
          <a:xfrm>
            <a:off x="120417" y="5768518"/>
            <a:ext cx="1094977" cy="1014223"/>
          </a:xfrm>
          <a:prstGeom prst="rect">
            <a:avLst/>
          </a:prstGeom>
          <a:noFill/>
          <a:ln>
            <a:noFill/>
          </a:ln>
        </p:spPr>
      </p:pic>
      <p:cxnSp>
        <p:nvCxnSpPr>
          <p:cNvPr id="64" name="Google Shape;64;p38"/>
          <p:cNvCxnSpPr/>
          <p:nvPr/>
        </p:nvCxnSpPr>
        <p:spPr>
          <a:xfrm>
            <a:off x="1131348" y="6575995"/>
            <a:ext cx="10129421" cy="0"/>
          </a:xfrm>
          <a:prstGeom prst="straightConnector1">
            <a:avLst/>
          </a:prstGeom>
          <a:noFill/>
          <a:ln w="12700" cap="flat" cmpd="sng">
            <a:solidFill>
              <a:srgbClr val="D8D8D8"/>
            </a:solidFill>
            <a:prstDash val="solid"/>
            <a:miter lim="800000"/>
            <a:headEnd type="none" w="sm" len="sm"/>
            <a:tailEnd type="none" w="sm" len="sm"/>
          </a:ln>
        </p:spPr>
      </p:cxnSp>
      <p:sp>
        <p:nvSpPr>
          <p:cNvPr id="65" name="Google Shape;65;p38"/>
          <p:cNvSpPr txBox="1">
            <a:spLocks noGrp="1"/>
          </p:cNvSpPr>
          <p:nvPr>
            <p:ph type="ftr" idx="11"/>
          </p:nvPr>
        </p:nvSpPr>
        <p:spPr>
          <a:xfrm>
            <a:off x="5384800" y="8475134"/>
            <a:ext cx="5486400" cy="486833"/>
          </a:xfrm>
          <a:prstGeom prst="rect">
            <a:avLst/>
          </a:prstGeom>
          <a:solidFill>
            <a:schemeClr val="lt1"/>
          </a:solidFill>
          <a:ln>
            <a:noFill/>
          </a:ln>
        </p:spPr>
        <p:txBody>
          <a:bodyPr spcFirstLastPara="1" wrap="square" lIns="91425" tIns="45700" rIns="91425" bIns="45700" anchor="ctr" anchorCtr="0">
            <a:noAutofit/>
          </a:bodyPr>
          <a:lstStyle>
            <a:lvl1pPr lvl="0" algn="ctr">
              <a:spcBef>
                <a:spcPts val="0"/>
              </a:spcBef>
              <a:spcAft>
                <a:spcPts val="0"/>
              </a:spcAft>
              <a:buSzPts val="1400"/>
              <a:buNone/>
              <a:defRPr sz="1600" b="0" i="0">
                <a:solidFill>
                  <a:srgbClr val="88C5B8"/>
                </a:solidFill>
                <a:latin typeface="Roboto"/>
                <a:ea typeface="Roboto"/>
                <a:cs typeface="Roboto"/>
                <a:sym typeface="Roboto"/>
              </a:defRPr>
            </a:lvl1pPr>
            <a:lvl2pPr lvl="1" algn="l">
              <a:spcBef>
                <a:spcPts val="0"/>
              </a:spcBef>
              <a:spcAft>
                <a:spcPts val="0"/>
              </a:spcAft>
              <a:buSzPts val="1400"/>
              <a:buNone/>
              <a:defRPr sz="2400">
                <a:solidFill>
                  <a:schemeClr val="dk1"/>
                </a:solidFill>
                <a:latin typeface="Arial"/>
                <a:ea typeface="Arial"/>
                <a:cs typeface="Arial"/>
                <a:sym typeface="Arial"/>
              </a:defRPr>
            </a:lvl2pPr>
            <a:lvl3pPr lvl="2" algn="l">
              <a:spcBef>
                <a:spcPts val="0"/>
              </a:spcBef>
              <a:spcAft>
                <a:spcPts val="0"/>
              </a:spcAft>
              <a:buSzPts val="1400"/>
              <a:buNone/>
              <a:defRPr sz="2400">
                <a:solidFill>
                  <a:schemeClr val="dk1"/>
                </a:solidFill>
                <a:latin typeface="Arial"/>
                <a:ea typeface="Arial"/>
                <a:cs typeface="Arial"/>
                <a:sym typeface="Arial"/>
              </a:defRPr>
            </a:lvl3pPr>
            <a:lvl4pPr lvl="3" algn="l">
              <a:spcBef>
                <a:spcPts val="0"/>
              </a:spcBef>
              <a:spcAft>
                <a:spcPts val="0"/>
              </a:spcAft>
              <a:buSzPts val="1400"/>
              <a:buNone/>
              <a:defRPr sz="2400">
                <a:solidFill>
                  <a:schemeClr val="dk1"/>
                </a:solidFill>
                <a:latin typeface="Arial"/>
                <a:ea typeface="Arial"/>
                <a:cs typeface="Arial"/>
                <a:sym typeface="Arial"/>
              </a:defRPr>
            </a:lvl4pPr>
            <a:lvl5pPr lvl="4" algn="l">
              <a:spcBef>
                <a:spcPts val="0"/>
              </a:spcBef>
              <a:spcAft>
                <a:spcPts val="0"/>
              </a:spcAft>
              <a:buSzPts val="1400"/>
              <a:buNone/>
              <a:defRPr sz="2400">
                <a:solidFill>
                  <a:schemeClr val="dk1"/>
                </a:solidFill>
                <a:latin typeface="Arial"/>
                <a:ea typeface="Arial"/>
                <a:cs typeface="Arial"/>
                <a:sym typeface="Arial"/>
              </a:defRPr>
            </a:lvl5pPr>
            <a:lvl6pPr lvl="5" algn="l">
              <a:spcBef>
                <a:spcPts val="0"/>
              </a:spcBef>
              <a:spcAft>
                <a:spcPts val="0"/>
              </a:spcAft>
              <a:buSzPts val="1400"/>
              <a:buNone/>
              <a:defRPr sz="2400">
                <a:solidFill>
                  <a:schemeClr val="dk1"/>
                </a:solidFill>
                <a:latin typeface="Arial"/>
                <a:ea typeface="Arial"/>
                <a:cs typeface="Arial"/>
                <a:sym typeface="Arial"/>
              </a:defRPr>
            </a:lvl6pPr>
            <a:lvl7pPr lvl="6" algn="l">
              <a:spcBef>
                <a:spcPts val="0"/>
              </a:spcBef>
              <a:spcAft>
                <a:spcPts val="0"/>
              </a:spcAft>
              <a:buSzPts val="1400"/>
              <a:buNone/>
              <a:defRPr sz="2400">
                <a:solidFill>
                  <a:schemeClr val="dk1"/>
                </a:solidFill>
                <a:latin typeface="Arial"/>
                <a:ea typeface="Arial"/>
                <a:cs typeface="Arial"/>
                <a:sym typeface="Arial"/>
              </a:defRPr>
            </a:lvl7pPr>
            <a:lvl8pPr lvl="7" algn="l">
              <a:spcBef>
                <a:spcPts val="0"/>
              </a:spcBef>
              <a:spcAft>
                <a:spcPts val="0"/>
              </a:spcAft>
              <a:buSzPts val="1400"/>
              <a:buNone/>
              <a:defRPr sz="2400">
                <a:solidFill>
                  <a:schemeClr val="dk1"/>
                </a:solidFill>
                <a:latin typeface="Arial"/>
                <a:ea typeface="Arial"/>
                <a:cs typeface="Arial"/>
                <a:sym typeface="Arial"/>
              </a:defRPr>
            </a:lvl8pPr>
            <a:lvl9pPr lvl="8" algn="l">
              <a:spcBef>
                <a:spcPts val="0"/>
              </a:spcBef>
              <a:spcAft>
                <a:spcPts val="0"/>
              </a:spcAft>
              <a:buSzPts val="1400"/>
              <a:buNone/>
              <a:defRPr sz="2400">
                <a:solidFill>
                  <a:schemeClr val="dk1"/>
                </a:solidFill>
                <a:latin typeface="Arial"/>
                <a:ea typeface="Arial"/>
                <a:cs typeface="Arial"/>
                <a:sym typeface="Arial"/>
              </a:defRPr>
            </a:lvl9pPr>
          </a:lstStyle>
          <a:p>
            <a:endParaRPr/>
          </a:p>
        </p:txBody>
      </p:sp>
      <p:pic>
        <p:nvPicPr>
          <p:cNvPr id="66" name="Google Shape;66;p38"/>
          <p:cNvPicPr preferRelativeResize="0"/>
          <p:nvPr/>
        </p:nvPicPr>
        <p:blipFill rotWithShape="1">
          <a:blip r:embed="rId3">
            <a:alphaModFix/>
          </a:blip>
          <a:srcRect/>
          <a:stretch/>
        </p:blipFill>
        <p:spPr>
          <a:xfrm>
            <a:off x="10801074" y="184504"/>
            <a:ext cx="1092948" cy="914283"/>
          </a:xfrm>
          <a:prstGeom prst="rect">
            <a:avLst/>
          </a:prstGeom>
          <a:noFill/>
          <a:ln>
            <a:noFill/>
          </a:ln>
        </p:spPr>
      </p:pic>
    </p:spTree>
    <p:extLst>
      <p:ext uri="{BB962C8B-B14F-4D97-AF65-F5344CB8AC3E}">
        <p14:creationId xmlns:p14="http://schemas.microsoft.com/office/powerpoint/2010/main" val="29150106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7"/>
        <p:cNvGrpSpPr/>
        <p:nvPr/>
      </p:nvGrpSpPr>
      <p:grpSpPr>
        <a:xfrm>
          <a:off x="0" y="0"/>
          <a:ext cx="0" cy="0"/>
          <a:chOff x="0" y="0"/>
          <a:chExt cx="0" cy="0"/>
        </a:xfrm>
      </p:grpSpPr>
      <p:sp>
        <p:nvSpPr>
          <p:cNvPr id="18" name="Google Shape;18;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A5B6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7"/>
          <p:cNvSpPr txBox="1">
            <a:spLocks noGrp="1"/>
          </p:cNvSpPr>
          <p:nvPr>
            <p:ph type="sldNum" idx="12"/>
          </p:nvPr>
        </p:nvSpPr>
        <p:spPr>
          <a:xfrm>
            <a:off x="9049266" y="624514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6708061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28"/>
        <p:cNvGrpSpPr/>
        <p:nvPr/>
      </p:nvGrpSpPr>
      <p:grpSpPr>
        <a:xfrm>
          <a:off x="0" y="0"/>
          <a:ext cx="0" cy="0"/>
          <a:chOff x="0" y="0"/>
          <a:chExt cx="0" cy="0"/>
        </a:xfrm>
      </p:grpSpPr>
      <p:sp>
        <p:nvSpPr>
          <p:cNvPr id="29" name="Google Shape;29;g373c9cdcf17_0_679"/>
          <p:cNvSpPr txBox="1">
            <a:spLocks noGrp="1"/>
          </p:cNvSpPr>
          <p:nvPr>
            <p:ph type="title"/>
          </p:nvPr>
        </p:nvSpPr>
        <p:spPr>
          <a:xfrm>
            <a:off x="8115299" y="2674874"/>
            <a:ext cx="3295800" cy="369300"/>
          </a:xfrm>
          <a:prstGeom prst="rect">
            <a:avLst/>
          </a:prstGeom>
          <a:noFill/>
          <a:ln>
            <a:noFill/>
          </a:ln>
        </p:spPr>
        <p:txBody>
          <a:bodyPr spcFirstLastPara="1" wrap="square" lIns="91425" tIns="45700" rIns="91425" bIns="45700" anchor="t" anchorCtr="0">
            <a:spAutoFit/>
          </a:bodyPr>
          <a:lstStyle>
            <a:lvl1pPr lvl="0" algn="r">
              <a:lnSpc>
                <a:spcPct val="90000"/>
              </a:lnSpc>
              <a:spcBef>
                <a:spcPts val="0"/>
              </a:spcBef>
              <a:spcAft>
                <a:spcPts val="0"/>
              </a:spcAft>
              <a:buClr>
                <a:srgbClr val="3F3F3F"/>
              </a:buClr>
              <a:buSzPts val="2000"/>
              <a:buFont typeface="Roboto"/>
              <a:buNone/>
              <a:defRPr sz="2000" b="1">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g373c9cdcf17_0_67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1" name="Google Shape;31;g373c9cdcf17_0_679"/>
          <p:cNvSpPr txBox="1">
            <a:spLocks noGrp="1"/>
          </p:cNvSpPr>
          <p:nvPr>
            <p:ph type="sldNum" idx="12"/>
          </p:nvPr>
        </p:nvSpPr>
        <p:spPr>
          <a:xfrm>
            <a:off x="11410950" y="6356350"/>
            <a:ext cx="4083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365CAA"/>
                </a:solidFill>
                <a:latin typeface="Roboto"/>
                <a:ea typeface="Roboto"/>
                <a:cs typeface="Roboto"/>
                <a:sym typeface="Roboto"/>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365CAA"/>
                </a:solidFill>
                <a:latin typeface="Roboto"/>
                <a:ea typeface="Roboto"/>
                <a:cs typeface="Roboto"/>
                <a:sym typeface="Roboto"/>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365CAA"/>
                </a:solidFill>
                <a:latin typeface="Roboto"/>
                <a:ea typeface="Roboto"/>
                <a:cs typeface="Roboto"/>
                <a:sym typeface="Roboto"/>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365CAA"/>
                </a:solidFill>
                <a:latin typeface="Roboto"/>
                <a:ea typeface="Roboto"/>
                <a:cs typeface="Roboto"/>
                <a:sym typeface="Roboto"/>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365CAA"/>
                </a:solidFill>
                <a:latin typeface="Roboto"/>
                <a:ea typeface="Roboto"/>
                <a:cs typeface="Roboto"/>
                <a:sym typeface="Roboto"/>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365CAA"/>
                </a:solidFill>
                <a:latin typeface="Roboto"/>
                <a:ea typeface="Roboto"/>
                <a:cs typeface="Roboto"/>
                <a:sym typeface="Roboto"/>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365CAA"/>
                </a:solidFill>
                <a:latin typeface="Roboto"/>
                <a:ea typeface="Roboto"/>
                <a:cs typeface="Roboto"/>
                <a:sym typeface="Roboto"/>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365CAA"/>
                </a:solidFill>
                <a:latin typeface="Roboto"/>
                <a:ea typeface="Roboto"/>
                <a:cs typeface="Roboto"/>
                <a:sym typeface="Roboto"/>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365CAA"/>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US"/>
              <a:t>‹#›</a:t>
            </a:fld>
            <a:endParaRPr/>
          </a:p>
        </p:txBody>
      </p:sp>
      <p:sp>
        <p:nvSpPr>
          <p:cNvPr id="32" name="Google Shape;32;g373c9cdcf17_0_679"/>
          <p:cNvSpPr/>
          <p:nvPr/>
        </p:nvSpPr>
        <p:spPr>
          <a:xfrm>
            <a:off x="369904" y="338154"/>
            <a:ext cx="239195" cy="239195"/>
          </a:xfrm>
          <a:custGeom>
            <a:avLst/>
            <a:gdLst/>
            <a:ahLst/>
            <a:cxnLst/>
            <a:rect l="l" t="t" r="r" b="b"/>
            <a:pathLst>
              <a:path w="464457" h="464457" extrusionOk="0">
                <a:moveTo>
                  <a:pt x="0" y="0"/>
                </a:moveTo>
                <a:lnTo>
                  <a:pt x="464457" y="0"/>
                </a:lnTo>
                <a:lnTo>
                  <a:pt x="0" y="464457"/>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pic>
        <p:nvPicPr>
          <p:cNvPr id="33" name="Google Shape;33;g373c9cdcf17_0_679"/>
          <p:cNvPicPr preferRelativeResize="0"/>
          <p:nvPr/>
        </p:nvPicPr>
        <p:blipFill rotWithShape="1">
          <a:blip r:embed="rId2">
            <a:alphaModFix/>
          </a:blip>
          <a:srcRect/>
          <a:stretch/>
        </p:blipFill>
        <p:spPr>
          <a:xfrm>
            <a:off x="10718800" y="365125"/>
            <a:ext cx="635000" cy="531198"/>
          </a:xfrm>
          <a:prstGeom prst="rect">
            <a:avLst/>
          </a:prstGeom>
          <a:noFill/>
          <a:ln>
            <a:noFill/>
          </a:ln>
        </p:spPr>
      </p:pic>
      <p:sp>
        <p:nvSpPr>
          <p:cNvPr id="34" name="Google Shape;34;g373c9cdcf17_0_679"/>
          <p:cNvSpPr txBox="1">
            <a:spLocks noGrp="1"/>
          </p:cNvSpPr>
          <p:nvPr>
            <p:ph type="body" idx="1"/>
          </p:nvPr>
        </p:nvSpPr>
        <p:spPr>
          <a:xfrm>
            <a:off x="8115300" y="1240457"/>
            <a:ext cx="3295800" cy="757200"/>
          </a:xfrm>
          <a:prstGeom prst="rect">
            <a:avLst/>
          </a:prstGeom>
          <a:noFill/>
          <a:ln>
            <a:noFill/>
          </a:ln>
        </p:spPr>
        <p:txBody>
          <a:bodyPr spcFirstLastPara="1" wrap="square" lIns="91425" tIns="45700" rIns="91425" bIns="45700" anchor="t" anchorCtr="0">
            <a:spAutoFit/>
          </a:bodyPr>
          <a:lstStyle>
            <a:lvl1pPr marL="457200" lvl="0" indent="-228600" algn="r">
              <a:lnSpc>
                <a:spcPct val="90000"/>
              </a:lnSpc>
              <a:spcBef>
                <a:spcPts val="1000"/>
              </a:spcBef>
              <a:spcAft>
                <a:spcPts val="0"/>
              </a:spcAft>
              <a:buClr>
                <a:srgbClr val="3F3F3F"/>
              </a:buClr>
              <a:buSzPts val="2400"/>
              <a:buFont typeface="Roboto Black"/>
              <a:buNone/>
              <a:defRPr sz="2400" b="0">
                <a:solidFill>
                  <a:srgbClr val="3F3F3F"/>
                </a:solidFill>
                <a:latin typeface="Roboto Black"/>
                <a:ea typeface="Roboto Black"/>
                <a:cs typeface="Roboto Black"/>
                <a:sym typeface="Roboto Black"/>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5" name="Google Shape;35;g373c9cdcf17_0_679"/>
          <p:cNvPicPr preferRelativeResize="0"/>
          <p:nvPr/>
        </p:nvPicPr>
        <p:blipFill rotWithShape="1">
          <a:blip r:embed="rId3">
            <a:alphaModFix/>
          </a:blip>
          <a:srcRect/>
          <a:stretch/>
        </p:blipFill>
        <p:spPr>
          <a:xfrm>
            <a:off x="334947" y="6061522"/>
            <a:ext cx="636603" cy="589653"/>
          </a:xfrm>
          <a:prstGeom prst="rect">
            <a:avLst/>
          </a:prstGeom>
          <a:noFill/>
          <a:ln>
            <a:noFill/>
          </a:ln>
        </p:spPr>
      </p:pic>
      <p:cxnSp>
        <p:nvCxnSpPr>
          <p:cNvPr id="36" name="Google Shape;36;g373c9cdcf17_0_679"/>
          <p:cNvCxnSpPr/>
          <p:nvPr/>
        </p:nvCxnSpPr>
        <p:spPr>
          <a:xfrm>
            <a:off x="1131348" y="6575994"/>
            <a:ext cx="10129500" cy="0"/>
          </a:xfrm>
          <a:prstGeom prst="straightConnector1">
            <a:avLst/>
          </a:prstGeom>
          <a:noFill/>
          <a:ln w="9525" cap="flat" cmpd="sng">
            <a:solidFill>
              <a:srgbClr val="D8D8D8"/>
            </a:solidFill>
            <a:prstDash val="solid"/>
            <a:miter lim="8000"/>
            <a:headEnd type="none" w="sm" len="sm"/>
            <a:tailEnd type="none" w="sm" len="sm"/>
          </a:ln>
        </p:spPr>
      </p:cxnSp>
      <p:sp>
        <p:nvSpPr>
          <p:cNvPr id="37" name="Google Shape;37;g373c9cdcf17_0_679"/>
          <p:cNvSpPr txBox="1">
            <a:spLocks noGrp="1"/>
          </p:cNvSpPr>
          <p:nvPr>
            <p:ph type="ftr" idx="11"/>
          </p:nvPr>
        </p:nvSpPr>
        <p:spPr>
          <a:xfrm>
            <a:off x="5029200" y="6393431"/>
            <a:ext cx="2133600" cy="365100"/>
          </a:xfrm>
          <a:prstGeom prst="rect">
            <a:avLst/>
          </a:prstGeom>
          <a:solidFill>
            <a:schemeClr val="lt1"/>
          </a:solid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100" b="0" i="0" u="none" strike="noStrike" cap="none">
                <a:solidFill>
                  <a:srgbClr val="2D75B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8" name="Google Shape;38;g373c9cdcf17_0_679"/>
          <p:cNvSpPr txBox="1">
            <a:spLocks noGrp="1"/>
          </p:cNvSpPr>
          <p:nvPr>
            <p:ph type="body" idx="2"/>
          </p:nvPr>
        </p:nvSpPr>
        <p:spPr>
          <a:xfrm>
            <a:off x="8115300" y="4441026"/>
            <a:ext cx="3295800" cy="258600"/>
          </a:xfrm>
          <a:prstGeom prst="rect">
            <a:avLst/>
          </a:prstGeom>
          <a:noFill/>
          <a:ln>
            <a:noFill/>
          </a:ln>
        </p:spPr>
        <p:txBody>
          <a:bodyPr spcFirstLastPara="1" wrap="square" lIns="91425" tIns="45700" rIns="91425" bIns="45700" anchor="t" anchorCtr="0">
            <a:spAutoFit/>
          </a:bodyPr>
          <a:lstStyle>
            <a:lvl1pPr marL="457200" lvl="0" indent="-228600" algn="r">
              <a:lnSpc>
                <a:spcPct val="90000"/>
              </a:lnSpc>
              <a:spcBef>
                <a:spcPts val="1000"/>
              </a:spcBef>
              <a:spcAft>
                <a:spcPts val="0"/>
              </a:spcAft>
              <a:buClr>
                <a:srgbClr val="3F3F3F"/>
              </a:buClr>
              <a:buSzPts val="1200"/>
              <a:buFont typeface="Roboto Black"/>
              <a:buNone/>
              <a:defRPr sz="1200" b="1">
                <a:solidFill>
                  <a:srgbClr val="3F3F3F"/>
                </a:solidFill>
                <a:latin typeface="Roboto Black"/>
                <a:ea typeface="Roboto Black"/>
                <a:cs typeface="Roboto Black"/>
                <a:sym typeface="Roboto Black"/>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913571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773A17-B7C4-EB8D-FA18-ADF6AF99C787}"/>
              </a:ext>
            </a:extLst>
          </p:cNvPr>
          <p:cNvSpPr>
            <a:spLocks noGrp="1"/>
          </p:cNvSpPr>
          <p:nvPr>
            <p:ph type="title"/>
          </p:nvPr>
        </p:nvSpPr>
        <p:spPr>
          <a:xfrm>
            <a:off x="698500" y="7715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B42D39-321E-E611-B38D-3DEA20550707}"/>
              </a:ext>
            </a:extLst>
          </p:cNvPr>
          <p:cNvSpPr>
            <a:spLocks noGrp="1"/>
          </p:cNvSpPr>
          <p:nvPr>
            <p:ph type="body" idx="1"/>
          </p:nvPr>
        </p:nvSpPr>
        <p:spPr>
          <a:xfrm>
            <a:off x="698500" y="2095500"/>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6EA29F-A109-1712-9FBE-BDCC37C1D9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1672AC-7194-2F48-93A4-724001A81A9E}" type="datetimeFigureOut">
              <a:rPr lang="en-US" smtClean="0"/>
              <a:t>10/14/26</a:t>
            </a:fld>
            <a:endParaRPr lang="en-US"/>
          </a:p>
        </p:txBody>
      </p:sp>
      <p:sp>
        <p:nvSpPr>
          <p:cNvPr id="5" name="Footer Placeholder 4">
            <a:extLst>
              <a:ext uri="{FF2B5EF4-FFF2-40B4-BE49-F238E27FC236}">
                <a16:creationId xmlns:a16="http://schemas.microsoft.com/office/drawing/2014/main" id="{2DAB4AFA-5964-B6E7-A4AB-6233034FF1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99E4674-D40D-C8E5-25F1-9B1522CAF2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99FA9D-3F0B-FD4C-8581-495F8D7811C4}" type="slidenum">
              <a:rPr lang="en-US" smtClean="0"/>
              <a:t>‹#›</a:t>
            </a:fld>
            <a:endParaRPr lang="en-US"/>
          </a:p>
        </p:txBody>
      </p:sp>
    </p:spTree>
    <p:extLst>
      <p:ext uri="{BB962C8B-B14F-4D97-AF65-F5344CB8AC3E}">
        <p14:creationId xmlns:p14="http://schemas.microsoft.com/office/powerpoint/2010/main" val="2475170859"/>
      </p:ext>
    </p:extLst>
  </p:cSld>
  <p:clrMap bg1="lt1" tx1="dk1" bg2="lt2" tx2="dk2" accent1="accent1" accent2="accent2" accent3="accent3" accent4="accent4" accent5="accent5" accent6="accent6" hlink="hlink" folHlink="folHlink"/>
  <p:sldLayoutIdLst>
    <p:sldLayoutId id="2147483721" r:id="rId1"/>
    <p:sldLayoutId id="2147483724" r:id="rId2"/>
    <p:sldLayoutId id="2147483725"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40" r:id="rId17"/>
  </p:sldLayoutIdLst>
  <p:txStyles>
    <p:titleStyle>
      <a:lvl1pPr algn="l" defTabSz="914400" rtl="0" eaLnBrk="1" latinLnBrk="0" hangingPunct="1">
        <a:lnSpc>
          <a:spcPct val="90000"/>
        </a:lnSpc>
        <a:spcBef>
          <a:spcPct val="0"/>
        </a:spcBef>
        <a:buNone/>
        <a:defRPr sz="3500" b="1" kern="1200">
          <a:solidFill>
            <a:srgbClr val="0F172A"/>
          </a:solidFill>
          <a:latin typeface="+mj-lt"/>
          <a:ea typeface="+mj-ea"/>
          <a:cs typeface="+mj-cs"/>
        </a:defRPr>
      </a:lvl1pPr>
    </p:titleStyle>
    <p:bodyStyle>
      <a:lvl1pPr marL="285750" indent="-285750" algn="l" defTabSz="914400" rtl="0" eaLnBrk="1" latinLnBrk="0" hangingPunct="1">
        <a:lnSpc>
          <a:spcPct val="110000"/>
        </a:lnSpc>
        <a:spcBef>
          <a:spcPts val="600"/>
        </a:spcBef>
        <a:buClr>
          <a:srgbClr val="0EA5E9"/>
        </a:buClr>
        <a:buFont typeface="Arial"/>
        <a:buChar char="•"/>
        <a:defRPr sz="1600" kern="1200">
          <a:solidFill>
            <a:srgbClr val="475569"/>
          </a:solidFill>
          <a:latin typeface="+mn-lt"/>
          <a:ea typeface="+mn-ea"/>
          <a:cs typeface="+mn-cs"/>
        </a:defRPr>
      </a:lvl1pPr>
      <a:lvl2pPr marL="571500" indent="-285750" algn="l" defTabSz="914400" rtl="0" eaLnBrk="1" latinLnBrk="0" hangingPunct="1">
        <a:lnSpc>
          <a:spcPct val="110000"/>
        </a:lnSpc>
        <a:spcBef>
          <a:spcPts val="600"/>
        </a:spcBef>
        <a:buClr>
          <a:srgbClr val="0EA5E9"/>
        </a:buClr>
        <a:buFont typeface="Arial"/>
        <a:buChar char="–"/>
        <a:defRPr sz="1400" kern="1200">
          <a:solidFill>
            <a:srgbClr val="64748B"/>
          </a:solidFill>
          <a:latin typeface="+mn-lt"/>
          <a:ea typeface="+mn-ea"/>
          <a:cs typeface="+mn-cs"/>
        </a:defRPr>
      </a:lvl2pPr>
      <a:lvl3pPr marL="857250" indent="-285750" algn="l" defTabSz="914400" rtl="0" eaLnBrk="1" latinLnBrk="0" hangingPunct="1">
        <a:lnSpc>
          <a:spcPct val="110000"/>
        </a:lnSpc>
        <a:spcBef>
          <a:spcPts val="600"/>
        </a:spcBef>
        <a:buClr>
          <a:srgbClr val="0EA5E9"/>
        </a:buClr>
        <a:buFont typeface="Arial"/>
        <a:buChar char="•"/>
        <a:defRPr sz="1400" kern="1200">
          <a:solidFill>
            <a:srgbClr val="64748B"/>
          </a:solidFill>
          <a:latin typeface="+mn-lt"/>
          <a:ea typeface="+mn-ea"/>
          <a:cs typeface="+mn-cs"/>
        </a:defRPr>
      </a:lvl3pPr>
      <a:lvl4pPr marL="1143000" indent="-285750" algn="l" defTabSz="914400" rtl="0" eaLnBrk="1" latinLnBrk="0" hangingPunct="1">
        <a:lnSpc>
          <a:spcPct val="110000"/>
        </a:lnSpc>
        <a:spcBef>
          <a:spcPts val="600"/>
        </a:spcBef>
        <a:buClr>
          <a:srgbClr val="0EA5E9"/>
        </a:buClr>
        <a:buFont typeface="Arial"/>
        <a:buChar char="–"/>
        <a:defRPr sz="1400" kern="1200">
          <a:solidFill>
            <a:srgbClr val="64748B"/>
          </a:solidFill>
          <a:latin typeface="+mn-lt"/>
          <a:ea typeface="+mn-ea"/>
          <a:cs typeface="+mn-cs"/>
        </a:defRPr>
      </a:lvl4pPr>
      <a:lvl5pPr marL="1428750" indent="-285750" algn="l" defTabSz="914400" rtl="0" eaLnBrk="1" latinLnBrk="0" hangingPunct="1">
        <a:lnSpc>
          <a:spcPct val="110000"/>
        </a:lnSpc>
        <a:spcBef>
          <a:spcPts val="600"/>
        </a:spcBef>
        <a:buClr>
          <a:srgbClr val="0EA5E9"/>
        </a:buClr>
        <a:buFont typeface="Arial"/>
        <a:buChar char="•"/>
        <a:defRPr sz="1400" kern="1200">
          <a:solidFill>
            <a:srgbClr val="64748B"/>
          </a:solidFill>
          <a:latin typeface="+mn-lt"/>
          <a:ea typeface="+mn-ea"/>
          <a:cs typeface="+mn-cs"/>
        </a:defRPr>
      </a:lvl5pPr>
      <a:lvl6pPr marL="1714500" indent="-285750" algn="l" defTabSz="914400" rtl="0" eaLnBrk="1" latinLnBrk="0" hangingPunct="1">
        <a:lnSpc>
          <a:spcPct val="110000"/>
        </a:lnSpc>
        <a:spcBef>
          <a:spcPts val="600"/>
        </a:spcBef>
        <a:buClr>
          <a:srgbClr val="0EA5E9"/>
        </a:buClr>
        <a:buFont typeface="Arial"/>
        <a:buChar char="•"/>
        <a:defRPr sz="1400" kern="1200">
          <a:solidFill>
            <a:srgbClr val="64748B"/>
          </a:solidFill>
          <a:latin typeface="+mn-lt"/>
          <a:ea typeface="+mn-ea"/>
          <a:cs typeface="+mn-cs"/>
        </a:defRPr>
      </a:lvl6pPr>
      <a:lvl7pPr marL="2000250" indent="-285750" algn="l" defTabSz="914400" rtl="0" eaLnBrk="1" latinLnBrk="0" hangingPunct="1">
        <a:lnSpc>
          <a:spcPct val="110000"/>
        </a:lnSpc>
        <a:spcBef>
          <a:spcPts val="600"/>
        </a:spcBef>
        <a:buClr>
          <a:srgbClr val="0EA5E9"/>
        </a:buClr>
        <a:buFont typeface="Arial"/>
        <a:buChar char="•"/>
        <a:defRPr sz="1400" kern="1200">
          <a:solidFill>
            <a:srgbClr val="64748B"/>
          </a:solidFill>
          <a:latin typeface="+mn-lt"/>
          <a:ea typeface="+mn-ea"/>
          <a:cs typeface="+mn-cs"/>
        </a:defRPr>
      </a:lvl7pPr>
      <a:lvl8pPr marL="2286000" indent="-285750" algn="l" defTabSz="914400" rtl="0" eaLnBrk="1" latinLnBrk="0" hangingPunct="1">
        <a:lnSpc>
          <a:spcPct val="110000"/>
        </a:lnSpc>
        <a:spcBef>
          <a:spcPts val="600"/>
        </a:spcBef>
        <a:buClr>
          <a:srgbClr val="0EA5E9"/>
        </a:buClr>
        <a:buFont typeface="Arial"/>
        <a:buChar char="•"/>
        <a:defRPr sz="1400" kern="1200">
          <a:solidFill>
            <a:srgbClr val="64748B"/>
          </a:solidFill>
          <a:latin typeface="+mn-lt"/>
          <a:ea typeface="+mn-ea"/>
          <a:cs typeface="+mn-cs"/>
        </a:defRPr>
      </a:lvl8pPr>
      <a:lvl9pPr marL="2571750" indent="-285750" algn="l" defTabSz="914400" rtl="0" eaLnBrk="1" latinLnBrk="0" hangingPunct="1">
        <a:lnSpc>
          <a:spcPct val="110000"/>
        </a:lnSpc>
        <a:spcBef>
          <a:spcPts val="600"/>
        </a:spcBef>
        <a:buClr>
          <a:srgbClr val="0EA5E9"/>
        </a:buClr>
        <a:buFont typeface="Arial"/>
        <a:buChar char="•"/>
        <a:defRPr sz="1400" kern="1200">
          <a:solidFill>
            <a:srgbClr val="64748B"/>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0.png"/><Relationship Id="rId5" Type="http://schemas.openxmlformats.org/officeDocument/2006/relationships/image" Target="../media/image25.png"/><Relationship Id="rId10" Type="http://schemas.openxmlformats.org/officeDocument/2006/relationships/hyperlink" Target="https://pegasus.isi.edu/application-showcase/" TargetMode="External"/><Relationship Id="rId4" Type="http://schemas.openxmlformats.org/officeDocument/2006/relationships/image" Target="../media/image24.png"/><Relationship Id="rId9"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laguna-ood.carc.usc.edu/"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hyperlink" Target="https://github.com/pegasus-isi/ACCESS-Pegasus-Examples"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pegasus.isi.edu/contact/" TargetMode="External"/><Relationship Id="rId7"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hyperlink" Target="https://pegasus.isi.edu/" TargetMode="External"/><Relationship Id="rId4" Type="http://schemas.openxmlformats.org/officeDocument/2006/relationships/hyperlink" Target="mailto:pegasus-support@isi.edu"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3" name="Text Placeholder 2">
            <a:extLst>
              <a:ext uri="{FF2B5EF4-FFF2-40B4-BE49-F238E27FC236}">
                <a16:creationId xmlns:a16="http://schemas.microsoft.com/office/drawing/2014/main" id="{A91F1184-AF87-6345-E558-6062BA9BDC73}"/>
              </a:ext>
            </a:extLst>
          </p:cNvPr>
          <p:cNvSpPr>
            <a:spLocks noGrp="1"/>
          </p:cNvSpPr>
          <p:nvPr>
            <p:ph type="body" idx="13"/>
          </p:nvPr>
        </p:nvSpPr>
        <p:spPr/>
        <p:txBody>
          <a:bodyPr>
            <a:normAutofit lnSpcReduction="10000"/>
          </a:bodyPr>
          <a:lstStyle/>
          <a:p>
            <a:r>
              <a:rPr lang="en-US" dirty="0"/>
              <a:t>SCITECH GROUP · USC ISI</a:t>
            </a:r>
          </a:p>
        </p:txBody>
      </p:sp>
      <p:sp>
        <p:nvSpPr>
          <p:cNvPr id="84" name="Google Shape;84;p1"/>
          <p:cNvSpPr txBox="1">
            <a:spLocks noGrp="1"/>
          </p:cNvSpPr>
          <p:nvPr>
            <p:ph type="title"/>
          </p:nvPr>
        </p:nvSpPr>
        <p:spPr/>
        <p:txBody>
          <a:bodyPr>
            <a:normAutofit/>
          </a:bodyPr>
          <a:lstStyle/>
          <a:p>
            <a:r>
              <a:rPr lang="en-US" dirty="0"/>
              <a:t>AI Workflows on Laguna using Pegasus</a:t>
            </a:r>
          </a:p>
        </p:txBody>
      </p:sp>
      <p:sp>
        <p:nvSpPr>
          <p:cNvPr id="2" name="Text Placeholder 1">
            <a:extLst>
              <a:ext uri="{FF2B5EF4-FFF2-40B4-BE49-F238E27FC236}">
                <a16:creationId xmlns:a16="http://schemas.microsoft.com/office/drawing/2014/main" id="{365F6C0D-9CAA-88FD-754A-0B7B56FA1F03}"/>
              </a:ext>
            </a:extLst>
          </p:cNvPr>
          <p:cNvSpPr>
            <a:spLocks noGrp="1"/>
          </p:cNvSpPr>
          <p:nvPr>
            <p:ph type="body" idx="1"/>
          </p:nvPr>
        </p:nvSpPr>
        <p:spPr/>
        <p:txBody>
          <a:bodyPr/>
          <a:lstStyle/>
          <a:p>
            <a:r>
              <a:rPr lang="en-US" dirty="0"/>
              <a:t>Karan Vahi · USC Information Sciences Institute</a:t>
            </a:r>
          </a:p>
        </p:txBody>
      </p:sp>
    </p:spTree>
    <p:extLst>
      <p:ext uri="{BB962C8B-B14F-4D97-AF65-F5344CB8AC3E}">
        <p14:creationId xmlns:p14="http://schemas.microsoft.com/office/powerpoint/2010/main" val="1477933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grpSp>
        <p:nvGrpSpPr>
          <p:cNvPr id="132" name="Content group"/>
          <p:cNvGrpSpPr/>
          <p:nvPr/>
        </p:nvGrpSpPr>
        <p:grpSpPr>
          <a:xfrm>
            <a:off x="6016557" y="1422400"/>
            <a:ext cx="5353185" cy="4864100"/>
            <a:chOff x="5402543" y="-16776"/>
            <a:chExt cx="6985819" cy="6347571"/>
          </a:xfrm>
        </p:grpSpPr>
        <p:pic>
          <p:nvPicPr>
            <p:cNvPr id="124" name="Google Shape;124;p2"/>
            <p:cNvPicPr preferRelativeResize="0"/>
            <p:nvPr/>
          </p:nvPicPr>
          <p:blipFill rotWithShape="1">
            <a:blip r:embed="rId3">
              <a:alphaModFix/>
            </a:blip>
            <a:srcRect t="16812"/>
            <a:stretch/>
          </p:blipFill>
          <p:spPr>
            <a:xfrm>
              <a:off x="5402543" y="2931170"/>
              <a:ext cx="6985819" cy="3399625"/>
            </a:xfrm>
            <a:prstGeom prst="rect">
              <a:avLst/>
            </a:prstGeom>
            <a:solidFill>
              <a:srgbClr val="FFFFFF"/>
            </a:solidFill>
            <a:ln>
              <a:noFill/>
            </a:ln>
          </p:spPr>
        </p:pic>
        <p:pic>
          <p:nvPicPr>
            <p:cNvPr id="128" name="Google Shape;128;p2" descr="USC ISI and Intel Custom Foundry Collaborate to Spur Microelectronics  Innovation - USC Viterbi | School of Engineering"/>
            <p:cNvPicPr preferRelativeResize="0"/>
            <p:nvPr/>
          </p:nvPicPr>
          <p:blipFill rotWithShape="1">
            <a:blip r:embed="rId4">
              <a:alphaModFix/>
            </a:blip>
            <a:srcRect/>
            <a:stretch/>
          </p:blipFill>
          <p:spPr>
            <a:xfrm>
              <a:off x="7292897" y="-16776"/>
              <a:ext cx="4800206" cy="2400103"/>
            </a:xfrm>
            <a:prstGeom prst="rect">
              <a:avLst/>
            </a:prstGeom>
            <a:noFill/>
            <a:ln>
              <a:noFill/>
            </a:ln>
          </p:spPr>
        </p:pic>
        <p:sp>
          <p:nvSpPr>
            <p:cNvPr id="129" name="Google Shape;129;p2"/>
            <p:cNvSpPr txBox="1"/>
            <p:nvPr/>
          </p:nvSpPr>
          <p:spPr>
            <a:xfrm>
              <a:off x="5642517" y="1405054"/>
              <a:ext cx="13046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accent4"/>
                  </a:solidFill>
                  <a:sym typeface="Arial"/>
                </a:rPr>
                <a:t>USC/ ISI</a:t>
              </a:r>
              <a:endParaRPr/>
            </a:p>
          </p:txBody>
        </p:sp>
        <p:cxnSp>
          <p:nvCxnSpPr>
            <p:cNvPr id="130" name="Google Shape;130;p2"/>
            <p:cNvCxnSpPr/>
            <p:nvPr/>
          </p:nvCxnSpPr>
          <p:spPr>
            <a:xfrm>
              <a:off x="6713034" y="1643760"/>
              <a:ext cx="2107581" cy="330006"/>
            </a:xfrm>
            <a:prstGeom prst="straightConnector1">
              <a:avLst/>
            </a:prstGeom>
            <a:noFill/>
            <a:ln w="57150" cap="flat" cmpd="sng">
              <a:solidFill>
                <a:schemeClr val="accent4"/>
              </a:solidFill>
              <a:prstDash val="solid"/>
              <a:miter lim="800000"/>
              <a:headEnd type="none" w="sm" len="sm"/>
              <a:tailEnd type="triangle" w="med" len="med"/>
            </a:ln>
          </p:spPr>
        </p:cxnSp>
        <p:sp>
          <p:nvSpPr>
            <p:cNvPr id="131" name="Google Shape;131;p2"/>
            <p:cNvSpPr txBox="1"/>
            <p:nvPr/>
          </p:nvSpPr>
          <p:spPr>
            <a:xfrm>
              <a:off x="8895452" y="2395397"/>
              <a:ext cx="182902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50">
                  <a:solidFill>
                    <a:schemeClr val="dk1"/>
                  </a:solidFill>
                  <a:sym typeface="Arial"/>
                </a:rPr>
                <a:t>Marina del Rey, CA</a:t>
              </a:r>
              <a:endParaRPr/>
            </a:p>
          </p:txBody>
        </p:sp>
      </p:grpSp>
      <p:sp>
        <p:nvSpPr>
          <p:cNvPr id="126" name="Google Shape;126;p2"/>
          <p:cNvSpPr txBox="1">
            <a:spLocks noGrp="1"/>
          </p:cNvSpPr>
          <p:nvPr/>
        </p:nvSpPr>
        <p:spPr>
          <a:xfrm>
            <a:off x="457200" y="1422400"/>
            <a:ext cx="5016500" cy="4318000"/>
          </a:xfrm>
          <a:prstGeom prst="rect">
            <a:avLst/>
          </a:prstGeom>
          <a:noFill/>
          <a:ln>
            <a:noFill/>
          </a:ln>
        </p:spPr>
        <p:txBody>
          <a:bodyPr wrap="square" lIns="91440" tIns="45720" rIns="91440" bIns="45720" anchor="t">
            <a:normAutofit/>
          </a:bodyPr>
          <a:lstStyle/>
          <a:p>
            <a:pPr marL="342900" indent="-342900">
              <a:spcBef>
                <a:spcPts val="900"/>
              </a:spcBef>
              <a:buClr>
                <a:schemeClr val="accent1"/>
              </a:buClr>
              <a:buFont typeface="+mj-lt"/>
              <a:buAutoNum type="arabicPeriod"/>
            </a:pPr>
            <a:r>
              <a:rPr lang="en-US" dirty="0"/>
              <a:t>Develop technologies to support scientific workflows</a:t>
            </a:r>
          </a:p>
          <a:p>
            <a:pPr marL="342900" indent="-342900">
              <a:spcBef>
                <a:spcPts val="900"/>
              </a:spcBef>
              <a:buClr>
                <a:schemeClr val="accent1"/>
              </a:buClr>
              <a:buFont typeface="+mj-lt"/>
              <a:buAutoNum type="arabicPeriod"/>
            </a:pPr>
            <a:r>
              <a:rPr lang="en-US" dirty="0"/>
              <a:t>Provide user support on national cyberinfrastructures and clouds</a:t>
            </a:r>
          </a:p>
          <a:p>
            <a:pPr marL="342900" indent="-342900">
              <a:spcBef>
                <a:spcPts val="900"/>
              </a:spcBef>
              <a:buClr>
                <a:schemeClr val="accent1"/>
              </a:buClr>
              <a:buFont typeface="+mj-lt"/>
              <a:buAutoNum type="arabicPeriod"/>
            </a:pPr>
            <a:r>
              <a:rPr lang="en-US" dirty="0"/>
              <a:t>Research new avenues in the workflow management space</a:t>
            </a:r>
          </a:p>
          <a:p>
            <a:pPr marL="342900" indent="-342900">
              <a:spcBef>
                <a:spcPts val="900"/>
              </a:spcBef>
              <a:buClr>
                <a:schemeClr val="accent1"/>
              </a:buClr>
              <a:buFont typeface="+mj-lt"/>
              <a:buAutoNum type="arabicPeriod"/>
            </a:pPr>
            <a:r>
              <a:rPr lang="en-US" dirty="0"/>
              <a:t>Provide advice on the design, implementation and use of Cyberinfrastructure (CI) for the Research Infrastructure lifecycle</a:t>
            </a:r>
          </a:p>
          <a:p>
            <a:pPr marL="342900" indent="-342900">
              <a:spcBef>
                <a:spcPts val="900"/>
              </a:spcBef>
              <a:buClr>
                <a:schemeClr val="accent1"/>
              </a:buClr>
              <a:buFont typeface="+mj-lt"/>
              <a:buAutoNum type="arabicPeriod"/>
            </a:pPr>
            <a:r>
              <a:rPr lang="en-US" dirty="0"/>
              <a:t>Create awareness and understanding of opportunities in CI for Science</a:t>
            </a:r>
          </a:p>
        </p:txBody>
      </p:sp>
      <p:sp>
        <p:nvSpPr>
          <p:cNvPr id="125" name="Google Shape;125;p2"/>
          <p:cNvSpPr txBox="1">
            <a:spLocks noGrp="1"/>
          </p:cNvSpPr>
          <p:nvPr>
            <p:ph type="title"/>
          </p:nvPr>
        </p:nvSpPr>
        <p:spPr/>
        <p:txBody>
          <a:bodyPr>
            <a:normAutofit/>
          </a:bodyPr>
          <a:lstStyle/>
          <a:p>
            <a:pPr lvl="0" rtl="0"/>
            <a:r>
              <a:rPr lang="en-US" dirty="0"/>
              <a:t>SciTech Activities</a:t>
            </a:r>
            <a:endParaRPr dirty="0"/>
          </a:p>
        </p:txBody>
      </p:sp>
      <p:sp>
        <p:nvSpPr>
          <p:cNvPr id="127" name="Google Shape;127;p2"/>
          <p:cNvSpPr txBox="1"/>
          <p:nvPr/>
        </p:nvSpPr>
        <p:spPr>
          <a:xfrm>
            <a:off x="457200" y="5740400"/>
            <a:ext cx="5016500" cy="5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1" u="none" strike="noStrike" cap="none" dirty="0">
                <a:solidFill>
                  <a:schemeClr val="dk1"/>
                </a:solidFill>
                <a:sym typeface="Arial"/>
              </a:rPr>
              <a:t>Most projects are collaborative across 4-6 organizations</a:t>
            </a:r>
            <a:endParaRPr dirty="0"/>
          </a:p>
        </p:txBody>
      </p:sp>
      <p:sp>
        <p:nvSpPr>
          <p:cNvPr id="133" name="Section Label"/>
          <p:cNvSpPr>
            <a:spLocks noGrp="1"/>
          </p:cNvSpPr>
          <p:nvPr>
            <p:ph type="body" idx="13"/>
          </p:nvPr>
        </p:nvSpPr>
        <p:spPr/>
        <p:txBody>
          <a:bodyPr/>
          <a:lstStyle/>
          <a:p>
            <a:r>
              <a:rPr lang="en-US" dirty="0"/>
              <a:t>ABOUT US</a:t>
            </a:r>
          </a:p>
        </p:txBody>
      </p:sp>
    </p:spTree>
    <p:extLst>
      <p:ext uri="{BB962C8B-B14F-4D97-AF65-F5344CB8AC3E}">
        <p14:creationId xmlns:p14="http://schemas.microsoft.com/office/powerpoint/2010/main" val="3018274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g3f95de07730_1_27"/>
          <p:cNvSpPr txBox="1">
            <a:spLocks noGrp="1"/>
          </p:cNvSpPr>
          <p:nvPr/>
        </p:nvSpPr>
        <p:spPr>
          <a:xfrm>
            <a:off x="533400" y="4089400"/>
            <a:ext cx="5207000" cy="2032000"/>
          </a:xfrm>
          <a:prstGeom prst="rect">
            <a:avLst/>
          </a:prstGeom>
        </p:spPr>
        <p:txBody>
          <a:bodyPr wrap="square" lIns="91440" tIns="45720" rIns="91440" bIns="45720" anchor="t">
            <a:normAutofit/>
          </a:bodyPr>
          <a:lstStyle/>
          <a:p>
            <a:pPr marL="285750" indent="-285750">
              <a:spcBef>
                <a:spcPts val="900"/>
              </a:spcBef>
              <a:buClr>
                <a:schemeClr val="accent1"/>
              </a:buClr>
              <a:buFont typeface="Arial"/>
              <a:buChar char="•"/>
            </a:pPr>
            <a:r>
              <a:rPr lang="en-US" sz="1600" dirty="0"/>
              <a:t>Quick to code, but hard to scale</a:t>
            </a:r>
          </a:p>
          <a:p>
            <a:pPr marL="285750" indent="-285750">
              <a:spcBef>
                <a:spcPts val="900"/>
              </a:spcBef>
              <a:buClr>
                <a:schemeClr val="accent1"/>
              </a:buClr>
              <a:buFont typeface="Arial"/>
              <a:buChar char="•"/>
            </a:pPr>
            <a:r>
              <a:rPr lang="en-US" sz="1600" dirty="0"/>
              <a:t>Difficult to maintain and error-prone</a:t>
            </a:r>
          </a:p>
          <a:p>
            <a:pPr marL="285750" indent="-285750">
              <a:spcBef>
                <a:spcPts val="900"/>
              </a:spcBef>
              <a:buClr>
                <a:schemeClr val="accent1"/>
              </a:buClr>
              <a:buFont typeface="Arial"/>
              <a:buChar char="•"/>
            </a:pPr>
            <a:r>
              <a:rPr lang="en-US" sz="1600" dirty="0"/>
              <a:t>Hard to move between resources (Laptop vs. Cluster)</a:t>
            </a:r>
          </a:p>
          <a:p>
            <a:pPr marL="285750" indent="-285750">
              <a:spcBef>
                <a:spcPts val="900"/>
              </a:spcBef>
              <a:buClr>
                <a:schemeClr val="accent1"/>
              </a:buClr>
              <a:buFont typeface="Arial"/>
              <a:buChar char="•"/>
            </a:pPr>
            <a:r>
              <a:rPr lang="en-US" sz="1600" dirty="0"/>
              <a:t>“Works on my machine” syndrome</a:t>
            </a:r>
          </a:p>
        </p:txBody>
      </p:sp>
      <p:sp>
        <p:nvSpPr>
          <p:cNvPr id="137" name="Google Shape;137;g3f95de07730_1_27"/>
          <p:cNvSpPr txBox="1">
            <a:spLocks noGrp="1"/>
          </p:cNvSpPr>
          <p:nvPr>
            <p:ph type="title"/>
          </p:nvPr>
        </p:nvSpPr>
        <p:spPr/>
        <p:txBody>
          <a:bodyPr>
            <a:normAutofit/>
          </a:bodyPr>
          <a:lstStyle/>
          <a:p>
            <a:pPr lvl="0" rtl="0"/>
            <a:endParaRPr dirty="0"/>
          </a:p>
          <a:p>
            <a:pPr lvl="0" rtl="0"/>
            <a:endParaRPr dirty="0"/>
          </a:p>
        </p:txBody>
      </p:sp>
      <p:sp>
        <p:nvSpPr>
          <p:cNvPr id="139" name="Google Shape;139;g3f95de07730_1_27"/>
          <p:cNvSpPr txBox="1">
            <a:spLocks noGrp="1"/>
          </p:cNvSpPr>
          <p:nvPr/>
        </p:nvSpPr>
        <p:spPr>
          <a:xfrm>
            <a:off x="6096000" y="4089400"/>
            <a:ext cx="5461000" cy="2032000"/>
          </a:xfrm>
          <a:prstGeom prst="rect">
            <a:avLst/>
          </a:prstGeom>
        </p:spPr>
        <p:txBody>
          <a:bodyPr wrap="square" lIns="91440" tIns="45720" rIns="91440" bIns="45720" anchor="t">
            <a:normAutofit/>
          </a:bodyPr>
          <a:lstStyle/>
          <a:p>
            <a:pPr marL="285750" indent="-285750">
              <a:spcBef>
                <a:spcPts val="900"/>
              </a:spcBef>
              <a:buClr>
                <a:schemeClr val="accent1"/>
              </a:buClr>
              <a:buFont typeface="Arial"/>
              <a:buChar char="•"/>
            </a:pPr>
            <a:r>
              <a:rPr lang="en-US" sz="1600" dirty="0"/>
              <a:t>Declarative: Describe what to do, not how</a:t>
            </a:r>
          </a:p>
          <a:p>
            <a:pPr marL="285750" indent="-285750">
              <a:spcBef>
                <a:spcPts val="900"/>
              </a:spcBef>
              <a:buClr>
                <a:schemeClr val="accent1"/>
              </a:buClr>
              <a:buFont typeface="Arial"/>
              <a:buChar char="•"/>
            </a:pPr>
            <a:r>
              <a:rPr lang="en-US" sz="1600" dirty="0"/>
              <a:t>Automated: Minimizes human involvement</a:t>
            </a:r>
          </a:p>
          <a:p>
            <a:pPr marL="285750" indent="-285750">
              <a:spcBef>
                <a:spcPts val="900"/>
              </a:spcBef>
              <a:buClr>
                <a:schemeClr val="accent1"/>
              </a:buClr>
              <a:buFont typeface="Arial"/>
              <a:buChar char="•"/>
            </a:pPr>
            <a:r>
              <a:rPr lang="en-US" sz="1600" dirty="0"/>
              <a:t>Provenance: Tracks history for reproducibility</a:t>
            </a:r>
          </a:p>
          <a:p>
            <a:pPr marL="285750" indent="-285750">
              <a:spcBef>
                <a:spcPts val="900"/>
              </a:spcBef>
              <a:buClr>
                <a:schemeClr val="accent1"/>
              </a:buClr>
              <a:buFont typeface="Arial"/>
              <a:buChar char="•"/>
            </a:pPr>
            <a:r>
              <a:rPr lang="en-US" sz="1600" dirty="0"/>
              <a:t>Portable: Runs on ACCESS, NAIRR, cloud, …</a:t>
            </a:r>
          </a:p>
        </p:txBody>
      </p:sp>
      <p:grpSp>
        <p:nvGrpSpPr>
          <p:cNvPr id="146" name="Content group"/>
          <p:cNvGrpSpPr/>
          <p:nvPr/>
        </p:nvGrpSpPr>
        <p:grpSpPr>
          <a:xfrm>
            <a:off x="1228713" y="1422400"/>
            <a:ext cx="9734575" cy="2540000"/>
            <a:chOff x="539300" y="1119367"/>
            <a:chExt cx="10626400" cy="2772700"/>
          </a:xfrm>
        </p:grpSpPr>
        <p:pic>
          <p:nvPicPr>
            <p:cNvPr id="140" name="Google Shape;140;g3f95de07730_1_27"/>
            <p:cNvPicPr preferRelativeResize="0"/>
            <p:nvPr/>
          </p:nvPicPr>
          <p:blipFill rotWithShape="1">
            <a:blip r:embed="rId3">
              <a:alphaModFix/>
            </a:blip>
            <a:srcRect/>
            <a:stretch/>
          </p:blipFill>
          <p:spPr>
            <a:xfrm>
              <a:off x="1916814" y="1828409"/>
              <a:ext cx="2203783" cy="1888201"/>
            </a:xfrm>
            <a:prstGeom prst="rect">
              <a:avLst/>
            </a:prstGeom>
            <a:noFill/>
            <a:ln>
              <a:noFill/>
            </a:ln>
          </p:spPr>
        </p:pic>
        <p:pic>
          <p:nvPicPr>
            <p:cNvPr id="141" name="Google Shape;141;g3f95de07730_1_27"/>
            <p:cNvPicPr preferRelativeResize="0"/>
            <p:nvPr/>
          </p:nvPicPr>
          <p:blipFill>
            <a:blip r:embed="rId4">
              <a:alphaModFix/>
            </a:blip>
            <a:stretch>
              <a:fillRect/>
            </a:stretch>
          </p:blipFill>
          <p:spPr>
            <a:xfrm>
              <a:off x="7804366" y="1652967"/>
              <a:ext cx="1734877" cy="2239100"/>
            </a:xfrm>
            <a:prstGeom prst="rect">
              <a:avLst/>
            </a:prstGeom>
            <a:noFill/>
            <a:ln>
              <a:noFill/>
            </a:ln>
          </p:spPr>
        </p:pic>
        <p:sp>
          <p:nvSpPr>
            <p:cNvPr id="142" name="Google Shape;142;g3f95de07730_1_27"/>
            <p:cNvSpPr txBox="1"/>
            <p:nvPr/>
          </p:nvSpPr>
          <p:spPr>
            <a:xfrm>
              <a:off x="539300" y="1119367"/>
              <a:ext cx="4958700" cy="562711"/>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1750" b="1" dirty="0">
                  <a:solidFill>
                    <a:schemeClr val="accent1"/>
                  </a:solidFill>
                </a:rPr>
                <a:t>The Scripting Trap</a:t>
              </a:r>
              <a:endParaRPr sz="1750" b="1" dirty="0">
                <a:solidFill>
                  <a:schemeClr val="accent1"/>
                </a:solidFill>
              </a:endParaRPr>
            </a:p>
          </p:txBody>
        </p:sp>
        <p:sp>
          <p:nvSpPr>
            <p:cNvPr id="143" name="Google Shape;143;g3f95de07730_1_27"/>
            <p:cNvSpPr txBox="1"/>
            <p:nvPr/>
          </p:nvSpPr>
          <p:spPr>
            <a:xfrm>
              <a:off x="6096000" y="1119367"/>
              <a:ext cx="5069700" cy="562711"/>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1750" b="1" dirty="0">
                  <a:solidFill>
                    <a:schemeClr val="accent1"/>
                  </a:solidFill>
                </a:rPr>
                <a:t>The Workflow Advantage</a:t>
              </a:r>
              <a:endParaRPr sz="1750" b="1" dirty="0">
                <a:solidFill>
                  <a:schemeClr val="accent1"/>
                </a:solidFill>
              </a:endParaRPr>
            </a:p>
          </p:txBody>
        </p:sp>
      </p:grpSp>
      <p:sp>
        <p:nvSpPr>
          <p:cNvPr id="144" name="Google Shape;144;g3f95de07730_1_27"/>
          <p:cNvSpPr/>
          <p:nvPr/>
        </p:nvSpPr>
        <p:spPr>
          <a:xfrm>
            <a:off x="5905500" y="1498600"/>
            <a:ext cx="0" cy="4699000"/>
          </a:xfrm>
          <a:custGeom>
            <a:avLst/>
            <a:gdLst/>
            <a:ahLst/>
            <a:cxnLst/>
            <a:rect l="l" t="t" r="r" b="b"/>
            <a:pathLst>
              <a:path w="120000" h="6855459" extrusionOk="0">
                <a:moveTo>
                  <a:pt x="0" y="6855418"/>
                </a:moveTo>
                <a:lnTo>
                  <a:pt x="0" y="0"/>
                </a:lnTo>
              </a:path>
            </a:pathLst>
          </a:custGeom>
          <a:noFill/>
          <a:ln w="89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300"/>
          </a:p>
        </p:txBody>
      </p:sp>
      <p:sp>
        <p:nvSpPr>
          <p:cNvPr id="145" name="Section Label"/>
          <p:cNvSpPr>
            <a:spLocks noGrp="1"/>
          </p:cNvSpPr>
          <p:nvPr>
            <p:ph type="body" idx="13"/>
          </p:nvPr>
        </p:nvSpPr>
        <p:spPr/>
        <p:txBody>
          <a:bodyPr/>
          <a:lstStyle/>
          <a:p>
            <a:r>
              <a:rPr lang="en-US" dirty="0"/>
              <a:t>THE PROBLEM</a:t>
            </a:r>
          </a:p>
        </p:txBody>
      </p:sp>
      <p:sp>
        <p:nvSpPr>
          <p:cNvPr id="2" name="Google Shape;125;p2">
            <a:extLst>
              <a:ext uri="{FF2B5EF4-FFF2-40B4-BE49-F238E27FC236}">
                <a16:creationId xmlns:a16="http://schemas.microsoft.com/office/drawing/2014/main" id="{9B502C00-3E61-DEA0-04B3-4AC8D9A4AFC2}"/>
              </a:ext>
            </a:extLst>
          </p:cNvPr>
          <p:cNvSpPr txBox="1">
            <a:spLocks/>
          </p:cNvSpPr>
          <p:nvPr/>
        </p:nvSpPr>
        <p:spPr>
          <a:xfrm>
            <a:off x="850900" y="863600"/>
            <a:ext cx="10795000" cy="571500"/>
          </a:xfrm>
          <a:prstGeom prst="rect">
            <a:avLst/>
          </a:prstGeom>
        </p:spPr>
        <p:txBody>
          <a:bodyPr vert="horz" lIns="16925" tIns="16925" rIns="16925" bIns="16925" rtlCol="0" anchor="b">
            <a:normAutofit/>
          </a:bodyPr>
          <a:lstStyle>
            <a:lvl1pPr algn="l" defTabSz="914400" rtl="0" eaLnBrk="1" latinLnBrk="0" hangingPunct="1">
              <a:lnSpc>
                <a:spcPct val="90000"/>
              </a:lnSpc>
              <a:spcBef>
                <a:spcPct val="0"/>
              </a:spcBef>
              <a:buNone/>
              <a:defRPr sz="3500" b="1" kern="1200">
                <a:solidFill>
                  <a:srgbClr val="0F172A"/>
                </a:solidFill>
                <a:latin typeface="+mj-lt"/>
                <a:ea typeface="+mj-ea"/>
                <a:cs typeface="+mj-cs"/>
              </a:defRPr>
            </a:lvl1pPr>
          </a:lstStyle>
          <a:p>
            <a:pPr algn="ctr"/>
            <a:r>
              <a:rPr lang="en-US" dirty="0"/>
              <a:t>The Challenge: Moving Beyond the Laptop</a:t>
            </a:r>
          </a:p>
        </p:txBody>
      </p:sp>
    </p:spTree>
    <p:extLst>
      <p:ext uri="{BB962C8B-B14F-4D97-AF65-F5344CB8AC3E}">
        <p14:creationId xmlns:p14="http://schemas.microsoft.com/office/powerpoint/2010/main" val="4203059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118" name="Content group"/>
          <p:cNvGrpSpPr/>
          <p:nvPr/>
        </p:nvGrpSpPr>
        <p:grpSpPr>
          <a:xfrm>
            <a:off x="1795807" y="1422400"/>
            <a:ext cx="8600387" cy="4864100"/>
            <a:chOff x="96950" y="169442"/>
            <a:chExt cx="11826275" cy="6688558"/>
          </a:xfrm>
        </p:grpSpPr>
        <p:pic>
          <p:nvPicPr>
            <p:cNvPr id="109" name="Google Shape;109;g3f95de07730_1_1"/>
            <p:cNvPicPr preferRelativeResize="0"/>
            <p:nvPr/>
          </p:nvPicPr>
          <p:blipFill>
            <a:blip r:embed="rId3">
              <a:alphaModFix/>
            </a:blip>
            <a:stretch>
              <a:fillRect/>
            </a:stretch>
          </p:blipFill>
          <p:spPr>
            <a:xfrm>
              <a:off x="2296425" y="4857322"/>
              <a:ext cx="3380227" cy="1926729"/>
            </a:xfrm>
            <a:prstGeom prst="rect">
              <a:avLst/>
            </a:prstGeom>
            <a:noFill/>
            <a:ln>
              <a:noFill/>
            </a:ln>
          </p:spPr>
        </p:pic>
        <p:pic>
          <p:nvPicPr>
            <p:cNvPr id="110" name="Google Shape;110;g3f95de07730_1_1"/>
            <p:cNvPicPr preferRelativeResize="0"/>
            <p:nvPr/>
          </p:nvPicPr>
          <p:blipFill>
            <a:blip r:embed="rId4">
              <a:alphaModFix/>
            </a:blip>
            <a:stretch>
              <a:fillRect/>
            </a:stretch>
          </p:blipFill>
          <p:spPr>
            <a:xfrm>
              <a:off x="5209250" y="3485050"/>
              <a:ext cx="3290939" cy="2106201"/>
            </a:xfrm>
            <a:prstGeom prst="rect">
              <a:avLst/>
            </a:prstGeom>
            <a:noFill/>
            <a:ln>
              <a:noFill/>
            </a:ln>
          </p:spPr>
        </p:pic>
        <p:pic>
          <p:nvPicPr>
            <p:cNvPr id="111" name="Google Shape;111;g3f95de07730_1_1"/>
            <p:cNvPicPr preferRelativeResize="0"/>
            <p:nvPr/>
          </p:nvPicPr>
          <p:blipFill>
            <a:blip r:embed="rId5">
              <a:alphaModFix/>
            </a:blip>
            <a:stretch>
              <a:fillRect/>
            </a:stretch>
          </p:blipFill>
          <p:spPr>
            <a:xfrm>
              <a:off x="184694" y="169442"/>
              <a:ext cx="6051947" cy="1489133"/>
            </a:xfrm>
            <a:prstGeom prst="rect">
              <a:avLst/>
            </a:prstGeom>
            <a:noFill/>
            <a:ln>
              <a:noFill/>
            </a:ln>
          </p:spPr>
        </p:pic>
        <p:pic>
          <p:nvPicPr>
            <p:cNvPr id="112" name="Google Shape;112;g3f95de07730_1_1"/>
            <p:cNvPicPr preferRelativeResize="0"/>
            <p:nvPr/>
          </p:nvPicPr>
          <p:blipFill>
            <a:blip r:embed="rId6">
              <a:alphaModFix/>
            </a:blip>
            <a:stretch>
              <a:fillRect/>
            </a:stretch>
          </p:blipFill>
          <p:spPr>
            <a:xfrm>
              <a:off x="8661838" y="2051850"/>
              <a:ext cx="3036925" cy="3502901"/>
            </a:xfrm>
            <a:prstGeom prst="rect">
              <a:avLst/>
            </a:prstGeom>
            <a:noFill/>
            <a:ln>
              <a:noFill/>
            </a:ln>
          </p:spPr>
        </p:pic>
        <p:pic>
          <p:nvPicPr>
            <p:cNvPr id="113" name="Google Shape;113;g3f95de07730_1_1"/>
            <p:cNvPicPr preferRelativeResize="0"/>
            <p:nvPr/>
          </p:nvPicPr>
          <p:blipFill>
            <a:blip r:embed="rId7">
              <a:alphaModFix/>
            </a:blip>
            <a:stretch>
              <a:fillRect/>
            </a:stretch>
          </p:blipFill>
          <p:spPr>
            <a:xfrm>
              <a:off x="96950" y="3048000"/>
              <a:ext cx="2009775" cy="3810000"/>
            </a:xfrm>
            <a:prstGeom prst="rect">
              <a:avLst/>
            </a:prstGeom>
            <a:noFill/>
            <a:ln>
              <a:noFill/>
            </a:ln>
          </p:spPr>
        </p:pic>
        <p:pic>
          <p:nvPicPr>
            <p:cNvPr id="114" name="Google Shape;114;g3f95de07730_1_1"/>
            <p:cNvPicPr preferRelativeResize="0"/>
            <p:nvPr/>
          </p:nvPicPr>
          <p:blipFill>
            <a:blip r:embed="rId8">
              <a:alphaModFix/>
            </a:blip>
            <a:stretch>
              <a:fillRect/>
            </a:stretch>
          </p:blipFill>
          <p:spPr>
            <a:xfrm>
              <a:off x="2277939" y="2093939"/>
              <a:ext cx="2455399" cy="2106200"/>
            </a:xfrm>
            <a:prstGeom prst="rect">
              <a:avLst/>
            </a:prstGeom>
            <a:noFill/>
            <a:ln>
              <a:noFill/>
            </a:ln>
          </p:spPr>
        </p:pic>
        <p:pic>
          <p:nvPicPr>
            <p:cNvPr id="115" name="Google Shape;115;g3f95de07730_1_1"/>
            <p:cNvPicPr preferRelativeResize="0"/>
            <p:nvPr/>
          </p:nvPicPr>
          <p:blipFill>
            <a:blip r:embed="rId9">
              <a:alphaModFix/>
            </a:blip>
            <a:stretch>
              <a:fillRect/>
            </a:stretch>
          </p:blipFill>
          <p:spPr>
            <a:xfrm>
              <a:off x="8071198" y="207172"/>
              <a:ext cx="3380224" cy="1667577"/>
            </a:xfrm>
            <a:prstGeom prst="rect">
              <a:avLst/>
            </a:prstGeom>
            <a:noFill/>
            <a:ln>
              <a:noFill/>
            </a:ln>
          </p:spPr>
        </p:pic>
        <p:pic>
          <p:nvPicPr>
            <p:cNvPr id="116" name="Google Shape;116;g3f95de07730_1_1"/>
            <p:cNvPicPr preferRelativeResize="0"/>
            <p:nvPr/>
          </p:nvPicPr>
          <p:blipFill>
            <a:blip r:embed="rId10">
              <a:alphaModFix/>
            </a:blip>
            <a:stretch>
              <a:fillRect/>
            </a:stretch>
          </p:blipFill>
          <p:spPr>
            <a:xfrm>
              <a:off x="5248419" y="1337050"/>
              <a:ext cx="2565132" cy="1926725"/>
            </a:xfrm>
            <a:prstGeom prst="rect">
              <a:avLst/>
            </a:prstGeom>
            <a:noFill/>
            <a:ln>
              <a:noFill/>
            </a:ln>
          </p:spPr>
        </p:pic>
        <p:pic>
          <p:nvPicPr>
            <p:cNvPr id="117" name="Google Shape;117;g3f95de07730_1_1"/>
            <p:cNvPicPr preferRelativeResize="0"/>
            <p:nvPr/>
          </p:nvPicPr>
          <p:blipFill>
            <a:blip r:embed="rId11">
              <a:alphaModFix/>
            </a:blip>
            <a:stretch>
              <a:fillRect/>
            </a:stretch>
          </p:blipFill>
          <p:spPr>
            <a:xfrm>
              <a:off x="6458450" y="5886463"/>
              <a:ext cx="5464775" cy="971525"/>
            </a:xfrm>
            <a:prstGeom prst="rect">
              <a:avLst/>
            </a:prstGeom>
            <a:noFill/>
            <a:ln>
              <a:noFill/>
            </a:ln>
          </p:spPr>
        </p:pic>
      </p:grpSp>
      <p:sp>
        <p:nvSpPr>
          <p:cNvPr id="3" name="Text Placeholder 2">
            <a:extLst>
              <a:ext uri="{FF2B5EF4-FFF2-40B4-BE49-F238E27FC236}">
                <a16:creationId xmlns:a16="http://schemas.microsoft.com/office/drawing/2014/main" id="{439F744A-DAF3-C1F5-8D57-E644C744425C}"/>
              </a:ext>
            </a:extLst>
          </p:cNvPr>
          <p:cNvSpPr>
            <a:spLocks noGrp="1"/>
          </p:cNvSpPr>
          <p:nvPr>
            <p:ph type="body" idx="13"/>
          </p:nvPr>
        </p:nvSpPr>
        <p:spPr/>
        <p:txBody>
          <a:bodyPr/>
          <a:lstStyle/>
          <a:p>
            <a:r>
              <a:rPr lang="en-US" dirty="0"/>
              <a:t>PEGASUS IN PRACTICE</a:t>
            </a:r>
          </a:p>
        </p:txBody>
      </p:sp>
      <p:sp>
        <p:nvSpPr>
          <p:cNvPr id="2" name="Title 1">
            <a:extLst>
              <a:ext uri="{FF2B5EF4-FFF2-40B4-BE49-F238E27FC236}">
                <a16:creationId xmlns:a16="http://schemas.microsoft.com/office/drawing/2014/main" id="{05E4D693-F837-7D1F-EDFD-06262D98B4B9}"/>
              </a:ext>
            </a:extLst>
          </p:cNvPr>
          <p:cNvSpPr>
            <a:spLocks noGrp="1"/>
          </p:cNvSpPr>
          <p:nvPr>
            <p:ph type="title"/>
          </p:nvPr>
        </p:nvSpPr>
        <p:spPr/>
        <p:txBody>
          <a:bodyPr>
            <a:normAutofit/>
          </a:bodyPr>
          <a:lstStyle/>
          <a:p>
            <a:r>
              <a:rPr lang="en-US" dirty="0"/>
              <a:t>Workflows Built with Pegasus Across Science Domains</a:t>
            </a:r>
          </a:p>
        </p:txBody>
      </p:sp>
    </p:spTree>
    <p:extLst>
      <p:ext uri="{BB962C8B-B14F-4D97-AF65-F5344CB8AC3E}">
        <p14:creationId xmlns:p14="http://schemas.microsoft.com/office/powerpoint/2010/main" val="2794448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grpSp>
        <p:nvGrpSpPr>
          <p:cNvPr id="164" name="Content group"/>
          <p:cNvGrpSpPr/>
          <p:nvPr/>
        </p:nvGrpSpPr>
        <p:grpSpPr>
          <a:xfrm>
            <a:off x="584648" y="1422400"/>
            <a:ext cx="11022704" cy="4864100"/>
            <a:chOff x="700180" y="1589033"/>
            <a:chExt cx="11374816" cy="5019480"/>
          </a:xfrm>
        </p:grpSpPr>
        <p:sp>
          <p:nvSpPr>
            <p:cNvPr id="156" name="Google Shape;156;p5"/>
            <p:cNvSpPr/>
            <p:nvPr/>
          </p:nvSpPr>
          <p:spPr>
            <a:xfrm>
              <a:off x="817508" y="2083864"/>
              <a:ext cx="5496747" cy="4109979"/>
            </a:xfrm>
            <a:prstGeom prst="roundRect">
              <a:avLst>
                <a:gd name="adj" fmla="val 4031"/>
              </a:avLst>
            </a:prstGeom>
            <a:noFill/>
            <a:ln w="12700" cap="flat" cmpd="sng">
              <a:solidFill>
                <a:srgbClr val="119D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sym typeface="Roboto"/>
              </a:endParaRPr>
            </a:p>
          </p:txBody>
        </p:sp>
        <p:sp>
          <p:nvSpPr>
            <p:cNvPr id="157" name="Google Shape;157;p5"/>
            <p:cNvSpPr/>
            <p:nvPr/>
          </p:nvSpPr>
          <p:spPr>
            <a:xfrm>
              <a:off x="6529685" y="2076337"/>
              <a:ext cx="5496747" cy="4109979"/>
            </a:xfrm>
            <a:prstGeom prst="roundRect">
              <a:avLst>
                <a:gd name="adj" fmla="val 4031"/>
              </a:avLst>
            </a:prstGeom>
            <a:noFill/>
            <a:ln w="12700" cap="flat" cmpd="sng">
              <a:solidFill>
                <a:srgbClr val="119D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sym typeface="Roboto"/>
              </a:endParaRPr>
            </a:p>
          </p:txBody>
        </p:sp>
        <p:sp>
          <p:nvSpPr>
            <p:cNvPr id="158" name="Google Shape;158;p5"/>
            <p:cNvSpPr/>
            <p:nvPr/>
          </p:nvSpPr>
          <p:spPr>
            <a:xfrm>
              <a:off x="700180" y="2057752"/>
              <a:ext cx="5218021" cy="4550761"/>
            </a:xfrm>
            <a:prstGeom prst="rect">
              <a:avLst/>
            </a:prstGeom>
            <a:gradFill>
              <a:gsLst>
                <a:gs pos="0">
                  <a:srgbClr val="F2F2F2">
                    <a:alpha val="73333"/>
                  </a:srgbClr>
                </a:gs>
                <a:gs pos="100000">
                  <a:srgbClr val="F2F2F2">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sym typeface="Roboto"/>
              </a:endParaRPr>
            </a:p>
          </p:txBody>
        </p:sp>
        <p:sp>
          <p:nvSpPr>
            <p:cNvPr id="159" name="Google Shape;159;p5"/>
            <p:cNvSpPr/>
            <p:nvPr/>
          </p:nvSpPr>
          <p:spPr>
            <a:xfrm>
              <a:off x="956066" y="1589033"/>
              <a:ext cx="5183095" cy="912019"/>
            </a:xfrm>
            <a:prstGeom prst="round2SameRect">
              <a:avLst>
                <a:gd name="adj1" fmla="val 12632"/>
                <a:gd name="adj2" fmla="val 0"/>
              </a:avLst>
            </a:prstGeom>
            <a:solidFill>
              <a:schemeClr val="accent4"/>
            </a:solidFill>
            <a:ln>
              <a:noFill/>
            </a:ln>
          </p:spPr>
          <p:txBody>
            <a:bodyPr spcFirstLastPara="1" wrap="square" lIns="72000" tIns="36000" rIns="72000" bIns="36000" anchor="ctr" anchorCtr="0">
              <a:noAutofit/>
            </a:bodyPr>
            <a:lstStyle/>
            <a:p>
              <a:pPr marL="0" marR="0" lvl="0" indent="0" algn="ctr" rtl="0">
                <a:lnSpc>
                  <a:spcPct val="90000"/>
                </a:lnSpc>
                <a:spcBef>
                  <a:spcPts val="0"/>
                </a:spcBef>
                <a:spcAft>
                  <a:spcPts val="0"/>
                </a:spcAft>
                <a:buNone/>
              </a:pPr>
              <a:r>
                <a:rPr lang="en-US" sz="2700" b="1">
                  <a:solidFill>
                    <a:schemeClr val="lt1"/>
                  </a:solidFill>
                  <a:sym typeface="Roboto"/>
                </a:rPr>
                <a:t>Workflow Challenges</a:t>
              </a:r>
              <a:br>
                <a:rPr lang="en-US" sz="2700" b="1">
                  <a:solidFill>
                    <a:schemeClr val="lt1"/>
                  </a:solidFill>
                  <a:sym typeface="Roboto"/>
                </a:rPr>
              </a:br>
              <a:r>
                <a:rPr lang="en-US" sz="2700" b="1">
                  <a:solidFill>
                    <a:schemeClr val="lt1"/>
                  </a:solidFill>
                  <a:sym typeface="Roboto"/>
                </a:rPr>
                <a:t> Across Domains</a:t>
              </a:r>
              <a:endParaRPr sz="1550">
                <a:solidFill>
                  <a:schemeClr val="dk1"/>
                </a:solidFill>
                <a:sym typeface="Roboto"/>
              </a:endParaRPr>
            </a:p>
          </p:txBody>
        </p:sp>
        <p:sp>
          <p:nvSpPr>
            <p:cNvPr id="161" name="Google Shape;161;p5"/>
            <p:cNvSpPr/>
            <p:nvPr/>
          </p:nvSpPr>
          <p:spPr>
            <a:xfrm>
              <a:off x="1098568" y="2663446"/>
              <a:ext cx="5040593" cy="3642335"/>
            </a:xfrm>
            <a:prstGeom prst="rect">
              <a:avLst/>
            </a:prstGeom>
            <a:noFill/>
            <a:ln>
              <a:noFill/>
            </a:ln>
          </p:spPr>
          <p:txBody>
            <a:bodyPr spcFirstLastPara="1" wrap="square" lIns="72000" tIns="36000" rIns="72000" bIns="36000" anchor="t" anchorCtr="0">
              <a:spAutoFit/>
            </a:bodyPr>
            <a:lstStyle/>
            <a:p>
              <a:pPr marL="285744" marR="0" lvl="0" indent="-285744" algn="l" rtl="0">
                <a:spcBef>
                  <a:spcPts val="0"/>
                </a:spcBef>
                <a:spcAft>
                  <a:spcPts val="0"/>
                </a:spcAft>
                <a:buClr>
                  <a:srgbClr val="BA083A"/>
                </a:buClr>
                <a:buSzPts val="1800"/>
                <a:buFont typeface="Noto Sans Symbols"/>
                <a:buChar char="▪"/>
              </a:pPr>
              <a:r>
                <a:rPr lang="en-US" sz="2050">
                  <a:solidFill>
                    <a:srgbClr val="3F3F3F"/>
                  </a:solidFill>
                  <a:sym typeface="Roboto"/>
                </a:rPr>
                <a:t>Describe complex workflows in a simple way</a:t>
              </a:r>
              <a:endParaRPr sz="1550">
                <a:solidFill>
                  <a:schemeClr val="dk1"/>
                </a:solidFill>
                <a:sym typeface="Roboto"/>
              </a:endParaRPr>
            </a:p>
            <a:p>
              <a:pPr marL="285744" marR="0" lvl="0" indent="-285744" algn="l" rtl="0">
                <a:spcBef>
                  <a:spcPts val="1200"/>
                </a:spcBef>
                <a:spcAft>
                  <a:spcPts val="0"/>
                </a:spcAft>
                <a:buClr>
                  <a:srgbClr val="BA083A"/>
                </a:buClr>
                <a:buSzPts val="1800"/>
                <a:buFont typeface="Noto Sans Symbols"/>
                <a:buChar char="▪"/>
              </a:pPr>
              <a:r>
                <a:rPr lang="en-US" sz="2050">
                  <a:solidFill>
                    <a:srgbClr val="3F3F3F"/>
                  </a:solidFill>
                  <a:sym typeface="Roboto"/>
                </a:rPr>
                <a:t>Access distributed, heterogeneous data and resources (heterogeneous interfaces)</a:t>
              </a:r>
              <a:endParaRPr sz="1550">
                <a:solidFill>
                  <a:schemeClr val="dk1"/>
                </a:solidFill>
                <a:sym typeface="Roboto"/>
              </a:endParaRPr>
            </a:p>
            <a:p>
              <a:pPr marL="285744" marR="0" lvl="0" indent="-285744" algn="l" rtl="0">
                <a:spcBef>
                  <a:spcPts val="1200"/>
                </a:spcBef>
                <a:spcAft>
                  <a:spcPts val="0"/>
                </a:spcAft>
                <a:buClr>
                  <a:srgbClr val="BA083A"/>
                </a:buClr>
                <a:buSzPts val="1800"/>
                <a:buFont typeface="Noto Sans Symbols"/>
                <a:buChar char="▪"/>
              </a:pPr>
              <a:r>
                <a:rPr lang="en-US" sz="2050">
                  <a:solidFill>
                    <a:srgbClr val="3F3F3F"/>
                  </a:solidFill>
                  <a:sym typeface="Roboto"/>
                </a:rPr>
                <a:t>Deal with resources/software that change over time</a:t>
              </a:r>
              <a:endParaRPr sz="1550">
                <a:solidFill>
                  <a:schemeClr val="dk1"/>
                </a:solidFill>
                <a:sym typeface="Roboto"/>
              </a:endParaRPr>
            </a:p>
            <a:p>
              <a:pPr marL="285744" marR="0" lvl="0" indent="-285744" algn="l" rtl="0">
                <a:spcBef>
                  <a:spcPts val="1200"/>
                </a:spcBef>
                <a:spcAft>
                  <a:spcPts val="1200"/>
                </a:spcAft>
                <a:buClr>
                  <a:srgbClr val="BA083A"/>
                </a:buClr>
                <a:buSzPts val="1800"/>
                <a:buFont typeface="Noto Sans Symbols"/>
                <a:buChar char="▪"/>
              </a:pPr>
              <a:r>
                <a:rPr lang="en-US" sz="2050">
                  <a:solidFill>
                    <a:srgbClr val="3F3F3F"/>
                  </a:solidFill>
                  <a:sym typeface="Roboto"/>
                </a:rPr>
                <a:t>Ease of use. Ability to monitor and debug large workflows</a:t>
              </a:r>
              <a:endParaRPr sz="1550">
                <a:solidFill>
                  <a:schemeClr val="dk1"/>
                </a:solidFill>
                <a:sym typeface="Roboto"/>
              </a:endParaRPr>
            </a:p>
          </p:txBody>
        </p:sp>
        <p:sp>
          <p:nvSpPr>
            <p:cNvPr id="162" name="Google Shape;162;p5"/>
            <p:cNvSpPr/>
            <p:nvPr/>
          </p:nvSpPr>
          <p:spPr>
            <a:xfrm>
              <a:off x="7263072" y="1667362"/>
              <a:ext cx="4104411" cy="755367"/>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3100" b="1">
                  <a:solidFill>
                    <a:schemeClr val="lt1"/>
                  </a:solidFill>
                  <a:sym typeface="Roboto"/>
                </a:rPr>
                <a:t>Our Focus</a:t>
              </a:r>
              <a:endParaRPr sz="1550">
                <a:solidFill>
                  <a:schemeClr val="dk1"/>
                </a:solidFill>
                <a:sym typeface="Roboto"/>
              </a:endParaRPr>
            </a:p>
          </p:txBody>
        </p:sp>
        <p:sp>
          <p:nvSpPr>
            <p:cNvPr id="163" name="Google Shape;163;p5"/>
            <p:cNvSpPr/>
            <p:nvPr/>
          </p:nvSpPr>
          <p:spPr>
            <a:xfrm>
              <a:off x="6728401" y="2693549"/>
              <a:ext cx="5346595" cy="3314103"/>
            </a:xfrm>
            <a:prstGeom prst="rect">
              <a:avLst/>
            </a:prstGeom>
            <a:noFill/>
            <a:ln>
              <a:noFill/>
            </a:ln>
          </p:spPr>
          <p:txBody>
            <a:bodyPr spcFirstLastPara="1" wrap="square" lIns="72000" tIns="36000" rIns="72000" bIns="36000" anchor="t" anchorCtr="0">
              <a:spAutoFit/>
            </a:bodyPr>
            <a:lstStyle/>
            <a:p>
              <a:pPr marL="342891" marR="0" lvl="0" indent="-342891" algn="l" rtl="0">
                <a:spcBef>
                  <a:spcPts val="0"/>
                </a:spcBef>
                <a:spcAft>
                  <a:spcPts val="0"/>
                </a:spcAft>
                <a:buClr>
                  <a:srgbClr val="119D96"/>
                </a:buClr>
                <a:buSzPts val="1800"/>
                <a:buFont typeface="Courier New"/>
                <a:buChar char="o"/>
              </a:pPr>
              <a:r>
                <a:rPr lang="en-US" sz="2050">
                  <a:solidFill>
                    <a:srgbClr val="3F3F3F"/>
                  </a:solidFill>
                  <a:sym typeface="Roboto"/>
                </a:rPr>
                <a:t>Separation between workflow description and workflow execution</a:t>
              </a:r>
              <a:endParaRPr sz="1550">
                <a:solidFill>
                  <a:schemeClr val="dk1"/>
                </a:solidFill>
                <a:sym typeface="Roboto"/>
              </a:endParaRPr>
            </a:p>
            <a:p>
              <a:pPr marL="342891" marR="0" lvl="0" indent="-342891" algn="l" rtl="0">
                <a:spcBef>
                  <a:spcPts val="1200"/>
                </a:spcBef>
                <a:spcAft>
                  <a:spcPts val="0"/>
                </a:spcAft>
                <a:buClr>
                  <a:srgbClr val="119D96"/>
                </a:buClr>
                <a:buSzPts val="1800"/>
                <a:buFont typeface="Courier New"/>
                <a:buChar char="o"/>
              </a:pPr>
              <a:r>
                <a:rPr lang="en-US" sz="2050">
                  <a:solidFill>
                    <a:srgbClr val="3F3F3F"/>
                  </a:solidFill>
                  <a:sym typeface="Roboto"/>
                </a:rPr>
                <a:t>Workflow planning and scheduling (scalability, performance)</a:t>
              </a:r>
              <a:endParaRPr sz="1550">
                <a:solidFill>
                  <a:schemeClr val="dk1"/>
                </a:solidFill>
                <a:sym typeface="Roboto"/>
              </a:endParaRPr>
            </a:p>
            <a:p>
              <a:pPr marL="342891" marR="0" lvl="0" indent="-342891" algn="l" rtl="0">
                <a:spcBef>
                  <a:spcPts val="1200"/>
                </a:spcBef>
                <a:spcAft>
                  <a:spcPts val="0"/>
                </a:spcAft>
                <a:buClr>
                  <a:srgbClr val="119D96"/>
                </a:buClr>
                <a:buSzPts val="1800"/>
                <a:buFont typeface="Courier New"/>
                <a:buChar char="o"/>
              </a:pPr>
              <a:r>
                <a:rPr lang="en-US" sz="2050">
                  <a:solidFill>
                    <a:srgbClr val="3F3F3F"/>
                  </a:solidFill>
                  <a:sym typeface="Roboto"/>
                </a:rPr>
                <a:t>Task execution (monitoring, fault tolerance, debugging, web dashboard) </a:t>
              </a:r>
              <a:endParaRPr sz="1550">
                <a:solidFill>
                  <a:schemeClr val="dk1"/>
                </a:solidFill>
                <a:sym typeface="Roboto"/>
              </a:endParaRPr>
            </a:p>
            <a:p>
              <a:pPr marL="342891" marR="0" lvl="0" indent="-342891" algn="l" rtl="0">
                <a:spcBef>
                  <a:spcPts val="1200"/>
                </a:spcBef>
                <a:spcAft>
                  <a:spcPts val="1200"/>
                </a:spcAft>
                <a:buClr>
                  <a:srgbClr val="119D96"/>
                </a:buClr>
                <a:buSzPts val="1800"/>
                <a:buFont typeface="Courier New"/>
                <a:buChar char="o"/>
              </a:pPr>
              <a:r>
                <a:rPr lang="en-US" sz="2050">
                  <a:solidFill>
                    <a:srgbClr val="3F3F3F"/>
                  </a:solidFill>
                  <a:sym typeface="Roboto"/>
                </a:rPr>
                <a:t>Workflow optimization, restructuring for performance and fault tolerance.</a:t>
              </a:r>
              <a:endParaRPr sz="1550">
                <a:solidFill>
                  <a:schemeClr val="dk1"/>
                </a:solidFill>
                <a:sym typeface="Roboto"/>
              </a:endParaRPr>
            </a:p>
          </p:txBody>
        </p:sp>
      </p:grpSp>
      <p:sp>
        <p:nvSpPr>
          <p:cNvPr id="2" name="Text Placeholder 1">
            <a:extLst>
              <a:ext uri="{FF2B5EF4-FFF2-40B4-BE49-F238E27FC236}">
                <a16:creationId xmlns:a16="http://schemas.microsoft.com/office/drawing/2014/main" id="{6F2993B4-230E-1426-73B7-3C239C0645EB}"/>
              </a:ext>
            </a:extLst>
          </p:cNvPr>
          <p:cNvSpPr>
            <a:spLocks noGrp="1"/>
          </p:cNvSpPr>
          <p:nvPr>
            <p:ph type="body" idx="13"/>
          </p:nvPr>
        </p:nvSpPr>
        <p:spPr/>
        <p:txBody>
          <a:bodyPr/>
          <a:lstStyle/>
          <a:p>
            <a:r>
              <a:rPr lang="en-US" dirty="0"/>
              <a:t>PEGASUS WMS</a:t>
            </a:r>
          </a:p>
        </p:txBody>
      </p:sp>
      <p:sp>
        <p:nvSpPr>
          <p:cNvPr id="160" name="Google Shape;160;p5"/>
          <p:cNvSpPr txBox="1">
            <a:spLocks noGrp="1"/>
          </p:cNvSpPr>
          <p:nvPr>
            <p:ph type="title"/>
          </p:nvPr>
        </p:nvSpPr>
        <p:spPr/>
        <p:txBody>
          <a:bodyPr>
            <a:normAutofit/>
          </a:bodyPr>
          <a:lstStyle/>
          <a:p>
            <a:pPr lvl="0" rtl="0"/>
            <a:r>
              <a:rPr lang="en-US"/>
              <a:t>Pegasus Workflow Management System, est. 2001</a:t>
            </a:r>
            <a:endParaRPr/>
          </a:p>
        </p:txBody>
      </p:sp>
    </p:spTree>
    <p:extLst>
      <p:ext uri="{BB962C8B-B14F-4D97-AF65-F5344CB8AC3E}">
        <p14:creationId xmlns:p14="http://schemas.microsoft.com/office/powerpoint/2010/main" val="3334981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grpSp>
        <p:nvGrpSpPr>
          <p:cNvPr id="291" name="Content group"/>
          <p:cNvGrpSpPr/>
          <p:nvPr/>
        </p:nvGrpSpPr>
        <p:grpSpPr>
          <a:xfrm>
            <a:off x="1045153" y="1422400"/>
            <a:ext cx="10101695" cy="4864100"/>
            <a:chOff x="105500" y="1114113"/>
            <a:chExt cx="11980800" cy="5768914"/>
          </a:xfrm>
        </p:grpSpPr>
        <p:sp>
          <p:nvSpPr>
            <p:cNvPr id="150" name="Google Shape;150;g3f95de07730_1_39"/>
            <p:cNvSpPr/>
            <p:nvPr/>
          </p:nvSpPr>
          <p:spPr>
            <a:xfrm>
              <a:off x="476766" y="4684544"/>
              <a:ext cx="1080000" cy="1080000"/>
            </a:xfrm>
            <a:prstGeom prst="roundRect">
              <a:avLst>
                <a:gd name="adj" fmla="val 11104"/>
              </a:avLst>
            </a:prstGeom>
            <a:gradFill>
              <a:gsLst>
                <a:gs pos="0">
                  <a:srgbClr val="4AB9C4"/>
                </a:gs>
                <a:gs pos="86000">
                  <a:srgbClr val="365CAA"/>
                </a:gs>
                <a:gs pos="100000">
                  <a:srgbClr val="365CAA"/>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2F2F2"/>
                </a:solidFill>
                <a:sym typeface="Calibri"/>
              </a:endParaRPr>
            </a:p>
          </p:txBody>
        </p:sp>
        <p:pic>
          <p:nvPicPr>
            <p:cNvPr id="151" name="Google Shape;151;g3f95de07730_1_39"/>
            <p:cNvPicPr preferRelativeResize="0"/>
            <p:nvPr/>
          </p:nvPicPr>
          <p:blipFill rotWithShape="1">
            <a:blip r:embed="rId3">
              <a:alphaModFix/>
            </a:blip>
            <a:srcRect/>
            <a:stretch/>
          </p:blipFill>
          <p:spPr>
            <a:xfrm>
              <a:off x="3729983" y="1670548"/>
              <a:ext cx="1030593" cy="1186326"/>
            </a:xfrm>
            <a:prstGeom prst="rect">
              <a:avLst/>
            </a:prstGeom>
            <a:noFill/>
            <a:ln>
              <a:noFill/>
            </a:ln>
          </p:spPr>
        </p:pic>
        <p:pic>
          <p:nvPicPr>
            <p:cNvPr id="152" name="Google Shape;152;g3f95de07730_1_39"/>
            <p:cNvPicPr preferRelativeResize="0"/>
            <p:nvPr/>
          </p:nvPicPr>
          <p:blipFill rotWithShape="1">
            <a:blip r:embed="rId4">
              <a:alphaModFix/>
            </a:blip>
            <a:srcRect/>
            <a:stretch/>
          </p:blipFill>
          <p:spPr>
            <a:xfrm>
              <a:off x="3626924" y="1874676"/>
              <a:ext cx="1133652" cy="1304959"/>
            </a:xfrm>
            <a:prstGeom prst="rect">
              <a:avLst/>
            </a:prstGeom>
            <a:noFill/>
            <a:ln>
              <a:noFill/>
            </a:ln>
          </p:spPr>
        </p:pic>
        <p:pic>
          <p:nvPicPr>
            <p:cNvPr id="153" name="Google Shape;153;g3f95de07730_1_39"/>
            <p:cNvPicPr preferRelativeResize="0"/>
            <p:nvPr/>
          </p:nvPicPr>
          <p:blipFill rotWithShape="1">
            <a:blip r:embed="rId5">
              <a:alphaModFix/>
            </a:blip>
            <a:srcRect/>
            <a:stretch/>
          </p:blipFill>
          <p:spPr>
            <a:xfrm>
              <a:off x="3513559" y="2072872"/>
              <a:ext cx="1247017" cy="1435455"/>
            </a:xfrm>
            <a:prstGeom prst="rect">
              <a:avLst/>
            </a:prstGeom>
            <a:noFill/>
            <a:ln>
              <a:noFill/>
            </a:ln>
          </p:spPr>
        </p:pic>
        <p:sp>
          <p:nvSpPr>
            <p:cNvPr id="154" name="Google Shape;154;g3f95de07730_1_39"/>
            <p:cNvSpPr/>
            <p:nvPr/>
          </p:nvSpPr>
          <p:spPr>
            <a:xfrm>
              <a:off x="476766" y="2777563"/>
              <a:ext cx="2713200" cy="1332000"/>
            </a:xfrm>
            <a:prstGeom prst="round2SameRect">
              <a:avLst>
                <a:gd name="adj1" fmla="val 0"/>
                <a:gd name="adj2" fmla="val 10130"/>
              </a:avLst>
            </a:prstGeom>
            <a:gradFill>
              <a:gsLst>
                <a:gs pos="0">
                  <a:srgbClr val="FFFFFF">
                    <a:alpha val="0"/>
                  </a:srgbClr>
                </a:gs>
                <a:gs pos="100000">
                  <a:srgbClr val="E7E6E6">
                    <a:alpha val="74902"/>
                  </a:srgbClr>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sym typeface="Calibri"/>
              </a:endParaRPr>
            </a:p>
          </p:txBody>
        </p:sp>
        <p:sp>
          <p:nvSpPr>
            <p:cNvPr id="155" name="Google Shape;155;g3f95de07730_1_39"/>
            <p:cNvSpPr/>
            <p:nvPr/>
          </p:nvSpPr>
          <p:spPr>
            <a:xfrm>
              <a:off x="476766" y="1226299"/>
              <a:ext cx="2713200" cy="1332000"/>
            </a:xfrm>
            <a:prstGeom prst="round2SameRect">
              <a:avLst>
                <a:gd name="adj1" fmla="val 10127"/>
                <a:gd name="adj2" fmla="val 0"/>
              </a:avLst>
            </a:prstGeom>
            <a:gradFill>
              <a:gsLst>
                <a:gs pos="0">
                  <a:srgbClr val="E7E6E6">
                    <a:alpha val="74902"/>
                  </a:srgbClr>
                </a:gs>
                <a:gs pos="100000">
                  <a:srgbClr val="FFFFFF">
                    <a:alpha val="0"/>
                  </a:srgbClr>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sym typeface="Calibri"/>
              </a:endParaRPr>
            </a:p>
          </p:txBody>
        </p:sp>
        <p:sp>
          <p:nvSpPr>
            <p:cNvPr id="160" name="Google Shape;160;g3f95de07730_1_39"/>
            <p:cNvSpPr/>
            <p:nvPr/>
          </p:nvSpPr>
          <p:spPr>
            <a:xfrm>
              <a:off x="464497" y="5089779"/>
              <a:ext cx="1104900" cy="534300"/>
            </a:xfrm>
            <a:prstGeom prst="rect">
              <a:avLst/>
            </a:prstGeom>
            <a:noFill/>
            <a:ln>
              <a:noFill/>
            </a:ln>
          </p:spPr>
          <p:txBody>
            <a:bodyPr spcFirstLastPara="1" wrap="square" lIns="36000" tIns="36000" rIns="36000" bIns="36000" anchor="ctr" anchorCtr="0">
              <a:noAutofit/>
            </a:bodyPr>
            <a:lstStyle/>
            <a:p>
              <a:pPr marL="0" marR="0" lvl="0" indent="0" algn="ctr" rtl="0">
                <a:spcBef>
                  <a:spcPts val="0"/>
                </a:spcBef>
                <a:spcAft>
                  <a:spcPts val="0"/>
                </a:spcAft>
                <a:buNone/>
              </a:pPr>
              <a:r>
                <a:rPr lang="en-US" sz="1350" b="1" i="0" u="none" strike="noStrike" cap="none">
                  <a:solidFill>
                    <a:schemeClr val="lt1"/>
                  </a:solidFill>
                  <a:sym typeface="Roboto"/>
                </a:rPr>
                <a:t>Pegasus</a:t>
              </a:r>
              <a:endParaRPr sz="1350" b="1" i="0" u="none" strike="noStrike" cap="none">
                <a:solidFill>
                  <a:schemeClr val="lt1"/>
                </a:solidFill>
                <a:sym typeface="Roboto"/>
              </a:endParaRPr>
            </a:p>
            <a:p>
              <a:pPr marL="0" marR="0" lvl="0" indent="0" algn="ctr" rtl="0">
                <a:spcBef>
                  <a:spcPts val="0"/>
                </a:spcBef>
                <a:spcAft>
                  <a:spcPts val="0"/>
                </a:spcAft>
                <a:buNone/>
              </a:pPr>
              <a:r>
                <a:rPr lang="en-US" sz="1100" b="1" i="0" u="none" strike="noStrike" cap="none">
                  <a:solidFill>
                    <a:schemeClr val="lt1"/>
                  </a:solidFill>
                  <a:sym typeface="Roboto"/>
                </a:rPr>
                <a:t>in practice</a:t>
              </a:r>
              <a:endParaRPr sz="1100" b="1" i="0" u="none" strike="noStrike" cap="none">
                <a:solidFill>
                  <a:schemeClr val="lt1"/>
                </a:solidFill>
                <a:sym typeface="Roboto"/>
              </a:endParaRPr>
            </a:p>
          </p:txBody>
        </p:sp>
        <p:sp>
          <p:nvSpPr>
            <p:cNvPr id="161" name="Google Shape;161;g3f95de07730_1_39"/>
            <p:cNvSpPr/>
            <p:nvPr/>
          </p:nvSpPr>
          <p:spPr>
            <a:xfrm>
              <a:off x="1662544" y="4649584"/>
              <a:ext cx="4348500" cy="1149900"/>
            </a:xfrm>
            <a:prstGeom prst="rect">
              <a:avLst/>
            </a:prstGeom>
            <a:noFill/>
            <a:ln>
              <a:noFill/>
            </a:ln>
          </p:spPr>
          <p:txBody>
            <a:bodyPr spcFirstLastPara="1" wrap="square" lIns="72000" tIns="36000" rIns="72000" bIns="36000" anchor="t" anchorCtr="0">
              <a:noAutofit/>
            </a:bodyPr>
            <a:lstStyle/>
            <a:p>
              <a:pPr marL="190500" marR="0" lvl="0" indent="-196850" algn="l" rtl="0">
                <a:spcBef>
                  <a:spcPts val="0"/>
                </a:spcBef>
                <a:spcAft>
                  <a:spcPts val="0"/>
                </a:spcAft>
                <a:buClr>
                  <a:srgbClr val="2C75B6"/>
                </a:buClr>
                <a:buSzPts val="1100"/>
                <a:buFont typeface="Montserrat"/>
                <a:buChar char="▶"/>
              </a:pPr>
              <a:r>
                <a:rPr lang="en-US" sz="950" b="1" i="0" u="none" strike="noStrike" cap="none">
                  <a:solidFill>
                    <a:srgbClr val="3F3F3F"/>
                  </a:solidFill>
                  <a:sym typeface="Roboto"/>
                </a:rPr>
                <a:t>Laser Interferometer Gravitational Wave Observatory (LIGO) develops large scale analysis pipelines used for gravitational wave detection. </a:t>
              </a:r>
              <a:endParaRPr sz="1250"/>
            </a:p>
            <a:p>
              <a:pPr marL="190500" marR="0" lvl="0" indent="-196850" algn="l" rtl="0">
                <a:spcBef>
                  <a:spcPts val="700"/>
                </a:spcBef>
                <a:spcAft>
                  <a:spcPts val="0"/>
                </a:spcAft>
                <a:buClr>
                  <a:srgbClr val="2C75B6"/>
                </a:buClr>
                <a:buSzPts val="1100"/>
                <a:buFont typeface="Montserrat"/>
                <a:buChar char="▶"/>
              </a:pPr>
              <a:r>
                <a:rPr lang="en-US" sz="950" b="1" i="0" u="none" strike="noStrike" cap="none">
                  <a:solidFill>
                    <a:srgbClr val="3F3F3F"/>
                  </a:solidFill>
                  <a:sym typeface="Roboto"/>
                </a:rPr>
                <a:t>Southern California Earthquake Center (SCEC) CyberShake project generates hazard maps using hierarchical workflows .</a:t>
              </a:r>
              <a:endParaRPr sz="1250"/>
            </a:p>
            <a:p>
              <a:pPr marL="190500" marR="0" lvl="0" indent="-196850" algn="l" rtl="0">
                <a:spcBef>
                  <a:spcPts val="700"/>
                </a:spcBef>
                <a:spcAft>
                  <a:spcPts val="0"/>
                </a:spcAft>
                <a:buClr>
                  <a:srgbClr val="2C75B6"/>
                </a:buClr>
                <a:buSzPts val="1100"/>
                <a:buFont typeface="Montserrat"/>
                <a:buChar char="▶"/>
              </a:pPr>
              <a:r>
                <a:rPr lang="en-US" sz="950" b="1">
                  <a:solidFill>
                    <a:srgbClr val="3F3F3F"/>
                  </a:solidFill>
                  <a:sym typeface="Roboto"/>
                </a:rPr>
                <a:t>The Event Horizon Telescope uses Pegasus to orchestrate and scale complex distributed computing pipelines for data calibration, massive synthetic data generation, and deep learning inference</a:t>
              </a:r>
              <a:endParaRPr sz="1250"/>
            </a:p>
          </p:txBody>
        </p:sp>
        <p:grpSp>
          <p:nvGrpSpPr>
            <p:cNvPr id="162" name="Google Shape;162;g3f95de07730_1_39"/>
            <p:cNvGrpSpPr/>
            <p:nvPr/>
          </p:nvGrpSpPr>
          <p:grpSpPr>
            <a:xfrm>
              <a:off x="5921816" y="3573424"/>
              <a:ext cx="5794161" cy="2412587"/>
              <a:chOff x="5449707" y="4022561"/>
              <a:chExt cx="6255167" cy="2604542"/>
            </a:xfrm>
          </p:grpSpPr>
          <p:grpSp>
            <p:nvGrpSpPr>
              <p:cNvPr id="163" name="Google Shape;163;g3f95de07730_1_39"/>
              <p:cNvGrpSpPr/>
              <p:nvPr/>
            </p:nvGrpSpPr>
            <p:grpSpPr>
              <a:xfrm>
                <a:off x="5449707" y="5316150"/>
                <a:ext cx="3656157" cy="1279117"/>
                <a:chOff x="4991826" y="3848740"/>
                <a:chExt cx="3728489" cy="1304422"/>
              </a:xfrm>
            </p:grpSpPr>
            <p:sp>
              <p:nvSpPr>
                <p:cNvPr id="164" name="Google Shape;164;g3f95de07730_1_39"/>
                <p:cNvSpPr txBox="1"/>
                <p:nvPr/>
              </p:nvSpPr>
              <p:spPr>
                <a:xfrm flipH="1">
                  <a:off x="4991826" y="4116181"/>
                  <a:ext cx="980100" cy="7116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750" b="1" i="1" u="none" strike="noStrike" cap="none">
                      <a:solidFill>
                        <a:srgbClr val="BA083A"/>
                      </a:solidFill>
                      <a:sym typeface="Roboto"/>
                    </a:rPr>
                    <a:t>LIGO observation </a:t>
                  </a:r>
                  <a:endParaRPr sz="750" b="1" i="1" u="none" strike="noStrike" cap="none">
                    <a:solidFill>
                      <a:srgbClr val="BA083A"/>
                    </a:solidFill>
                    <a:sym typeface="Roboto"/>
                  </a:endParaRPr>
                </a:p>
                <a:p>
                  <a:pPr marL="0" marR="0" lvl="0" indent="0" algn="r" rtl="0">
                    <a:spcBef>
                      <a:spcPts val="0"/>
                    </a:spcBef>
                    <a:spcAft>
                      <a:spcPts val="0"/>
                    </a:spcAft>
                    <a:buNone/>
                  </a:pPr>
                  <a:r>
                    <a:rPr lang="en-US" sz="750" b="1" i="1" u="none" strike="noStrike" cap="none">
                      <a:solidFill>
                        <a:srgbClr val="BA083A"/>
                      </a:solidFill>
                      <a:sym typeface="Roboto"/>
                    </a:rPr>
                    <a:t>of colliding black holes</a:t>
                  </a:r>
                  <a:endParaRPr sz="1250"/>
                </a:p>
              </p:txBody>
            </p:sp>
            <p:pic>
              <p:nvPicPr>
                <p:cNvPr id="165" name="Google Shape;165;g3f95de07730_1_39"/>
                <p:cNvPicPr preferRelativeResize="0"/>
                <p:nvPr/>
              </p:nvPicPr>
              <p:blipFill rotWithShape="1">
                <a:blip r:embed="rId6">
                  <a:alphaModFix/>
                </a:blip>
                <a:srcRect/>
                <a:stretch/>
              </p:blipFill>
              <p:spPr>
                <a:xfrm>
                  <a:off x="5991459" y="3848740"/>
                  <a:ext cx="2728856" cy="1304422"/>
                </a:xfrm>
                <a:prstGeom prst="rect">
                  <a:avLst/>
                </a:prstGeom>
                <a:noFill/>
                <a:ln>
                  <a:noFill/>
                </a:ln>
              </p:spPr>
            </p:pic>
          </p:grpSp>
          <p:grpSp>
            <p:nvGrpSpPr>
              <p:cNvPr id="166" name="Google Shape;166;g3f95de07730_1_39"/>
              <p:cNvGrpSpPr/>
              <p:nvPr/>
            </p:nvGrpSpPr>
            <p:grpSpPr>
              <a:xfrm>
                <a:off x="9206753" y="4022561"/>
                <a:ext cx="2498122" cy="2604542"/>
                <a:chOff x="9502298" y="4233275"/>
                <a:chExt cx="2528719" cy="2330478"/>
              </a:xfrm>
            </p:grpSpPr>
            <p:pic>
              <p:nvPicPr>
                <p:cNvPr id="167" name="Google Shape;167;g3f95de07730_1_39"/>
                <p:cNvPicPr preferRelativeResize="0"/>
                <p:nvPr/>
              </p:nvPicPr>
              <p:blipFill rotWithShape="1">
                <a:blip r:embed="rId7">
                  <a:alphaModFix/>
                </a:blip>
                <a:srcRect/>
                <a:stretch/>
              </p:blipFill>
              <p:spPr>
                <a:xfrm>
                  <a:off x="9502298" y="4233275"/>
                  <a:ext cx="2528719" cy="1896538"/>
                </a:xfrm>
                <a:prstGeom prst="rect">
                  <a:avLst/>
                </a:prstGeom>
                <a:noFill/>
                <a:ln>
                  <a:noFill/>
                </a:ln>
              </p:spPr>
            </p:pic>
            <p:sp>
              <p:nvSpPr>
                <p:cNvPr id="168" name="Google Shape;168;g3f95de07730_1_39"/>
                <p:cNvSpPr txBox="1"/>
                <p:nvPr/>
              </p:nvSpPr>
              <p:spPr>
                <a:xfrm flipH="1">
                  <a:off x="9502315" y="6181253"/>
                  <a:ext cx="2528700" cy="382500"/>
                </a:xfrm>
                <a:prstGeom prst="rect">
                  <a:avLst/>
                </a:prstGeom>
                <a:noFill/>
                <a:ln>
                  <a:noFill/>
                </a:ln>
              </p:spPr>
              <p:txBody>
                <a:bodyPr spcFirstLastPara="1" wrap="square" lIns="36000" tIns="36000" rIns="36000" bIns="36000" anchor="t" anchorCtr="0">
                  <a:spAutoFit/>
                </a:bodyPr>
                <a:lstStyle/>
                <a:p>
                  <a:pPr marL="0" marR="0" lvl="0" indent="0" algn="ctr" rtl="0">
                    <a:spcBef>
                      <a:spcPts val="0"/>
                    </a:spcBef>
                    <a:spcAft>
                      <a:spcPts val="0"/>
                    </a:spcAft>
                    <a:buNone/>
                  </a:pPr>
                  <a:r>
                    <a:rPr lang="en-US" sz="700" b="1" i="1" u="none" strike="noStrike" cap="none">
                      <a:solidFill>
                        <a:srgbClr val="BA083A"/>
                      </a:solidFill>
                      <a:sym typeface="Roboto"/>
                    </a:rPr>
                    <a:t>Hazard map indicating  maximum amount of shaking at a particular geographic location generated from SCEC’s CyberShake Pegasus workflow </a:t>
                  </a:r>
                  <a:endParaRPr sz="1250"/>
                </a:p>
              </p:txBody>
            </p:sp>
          </p:grpSp>
          <p:sp>
            <p:nvSpPr>
              <p:cNvPr id="169" name="Google Shape;169;g3f95de07730_1_39"/>
              <p:cNvSpPr txBox="1"/>
              <p:nvPr/>
            </p:nvSpPr>
            <p:spPr>
              <a:xfrm flipH="1">
                <a:off x="6120865" y="4346430"/>
                <a:ext cx="998100" cy="365400"/>
              </a:xfrm>
              <a:prstGeom prst="rect">
                <a:avLst/>
              </a:prstGeom>
              <a:noFill/>
              <a:ln>
                <a:noFill/>
              </a:ln>
            </p:spPr>
            <p:txBody>
              <a:bodyPr spcFirstLastPara="1" wrap="square" lIns="0" tIns="45700" rIns="0" bIns="45700" anchor="t" anchorCtr="0">
                <a:spAutoFit/>
              </a:bodyPr>
              <a:lstStyle/>
              <a:p>
                <a:pPr marL="0" marR="0" lvl="0" indent="0" algn="r" rtl="0">
                  <a:spcBef>
                    <a:spcPts val="0"/>
                  </a:spcBef>
                  <a:spcAft>
                    <a:spcPts val="0"/>
                  </a:spcAft>
                  <a:buNone/>
                </a:pPr>
                <a:r>
                  <a:rPr lang="en-US" sz="700" b="1" i="1">
                    <a:solidFill>
                      <a:srgbClr val="BA083A"/>
                    </a:solidFill>
                    <a:sym typeface="Roboto"/>
                  </a:rPr>
                  <a:t>Event Horizon Telescope</a:t>
                </a:r>
                <a:endParaRPr sz="1250"/>
              </a:p>
            </p:txBody>
          </p:sp>
        </p:grpSp>
        <p:sp>
          <p:nvSpPr>
            <p:cNvPr id="170" name="Google Shape;170;g3f95de07730_1_39"/>
            <p:cNvSpPr/>
            <p:nvPr/>
          </p:nvSpPr>
          <p:spPr>
            <a:xfrm>
              <a:off x="4815075" y="1114113"/>
              <a:ext cx="6465300" cy="1119300"/>
            </a:xfrm>
            <a:prstGeom prst="rect">
              <a:avLst/>
            </a:prstGeom>
            <a:noFill/>
            <a:ln>
              <a:noFill/>
            </a:ln>
          </p:spPr>
          <p:txBody>
            <a:bodyPr spcFirstLastPara="1" wrap="square" lIns="72000" tIns="36000" rIns="72000" bIns="36000" anchor="t" anchorCtr="0">
              <a:noAutofit/>
            </a:bodyPr>
            <a:lstStyle/>
            <a:p>
              <a:pPr marL="0" marR="0" lvl="0" indent="0" algn="ctr" rtl="0">
                <a:spcBef>
                  <a:spcPts val="0"/>
                </a:spcBef>
                <a:spcAft>
                  <a:spcPts val="0"/>
                </a:spcAft>
                <a:buNone/>
              </a:pPr>
              <a:r>
                <a:rPr lang="en-US" sz="1700" b="1" i="0" u="none" strike="noStrike" cap="none">
                  <a:solidFill>
                    <a:srgbClr val="4AB9C4"/>
                  </a:solidFill>
                  <a:sym typeface="Roboto"/>
                </a:rPr>
                <a:t>End to End Workflow</a:t>
              </a:r>
              <a:r>
                <a:rPr lang="en-US" sz="1700" b="1">
                  <a:solidFill>
                    <a:srgbClr val="4AB9C4"/>
                  </a:solidFill>
                  <a:sym typeface="Roboto"/>
                </a:rPr>
                <a:t> </a:t>
              </a:r>
              <a:r>
                <a:rPr lang="en-US" sz="1700" b="1" i="0" u="none" strike="noStrike" cap="none">
                  <a:solidFill>
                    <a:srgbClr val="4AB9C4"/>
                  </a:solidFill>
                  <a:sym typeface="Roboto"/>
                </a:rPr>
                <a:t>Management &amp; Execution</a:t>
              </a:r>
              <a:endParaRPr sz="1700"/>
            </a:p>
          </p:txBody>
        </p:sp>
        <p:sp>
          <p:nvSpPr>
            <p:cNvPr id="171" name="Google Shape;171;g3f95de07730_1_39"/>
            <p:cNvSpPr/>
            <p:nvPr/>
          </p:nvSpPr>
          <p:spPr>
            <a:xfrm>
              <a:off x="5879300" y="1610135"/>
              <a:ext cx="6111900" cy="1332000"/>
            </a:xfrm>
            <a:prstGeom prst="rect">
              <a:avLst/>
            </a:prstGeom>
            <a:noFill/>
            <a:ln>
              <a:noFill/>
            </a:ln>
          </p:spPr>
          <p:txBody>
            <a:bodyPr spcFirstLastPara="1" wrap="square" lIns="72000" tIns="36000" rIns="72000" bIns="36000" anchor="t" anchorCtr="0">
              <a:noAutofit/>
            </a:bodyPr>
            <a:lstStyle/>
            <a:p>
              <a:pPr marL="190500" marR="0" lvl="0" indent="-209550" algn="l" rtl="0">
                <a:spcBef>
                  <a:spcPts val="0"/>
                </a:spcBef>
                <a:spcAft>
                  <a:spcPts val="0"/>
                </a:spcAft>
                <a:buClr>
                  <a:srgbClr val="119D96"/>
                </a:buClr>
                <a:buSzPts val="1300"/>
                <a:buFont typeface="Montserrat"/>
                <a:buChar char="▶"/>
              </a:pPr>
              <a:r>
                <a:rPr lang="en-US" sz="1100" b="1" i="0" u="none" strike="noStrike" cap="none">
                  <a:solidFill>
                    <a:srgbClr val="3F3F3F"/>
                  </a:solidFill>
                  <a:sym typeface="Roboto"/>
                </a:rPr>
                <a:t>Develop portable scientific workflows in Python </a:t>
              </a:r>
              <a:r>
                <a:rPr lang="en-US" sz="1100" b="1">
                  <a:solidFill>
                    <a:srgbClr val="3F3F3F"/>
                  </a:solidFill>
                  <a:sym typeface="Roboto"/>
                </a:rPr>
                <a:t>and </a:t>
              </a:r>
              <a:r>
                <a:rPr lang="en-US" sz="1100" b="1" i="0" u="none" strike="noStrike" cap="none">
                  <a:solidFill>
                    <a:srgbClr val="3F3F3F"/>
                  </a:solidFill>
                  <a:sym typeface="Roboto"/>
                </a:rPr>
                <a:t>Java</a:t>
              </a:r>
              <a:endParaRPr sz="1450"/>
            </a:p>
            <a:p>
              <a:pPr marL="190500" marR="0" lvl="0" indent="-209550" algn="l" rtl="0">
                <a:spcBef>
                  <a:spcPts val="400"/>
                </a:spcBef>
                <a:spcAft>
                  <a:spcPts val="0"/>
                </a:spcAft>
                <a:buClr>
                  <a:srgbClr val="119D96"/>
                </a:buClr>
                <a:buSzPts val="1300"/>
                <a:buFont typeface="Montserrat"/>
                <a:buChar char="▶"/>
              </a:pPr>
              <a:r>
                <a:rPr lang="en-US" sz="1100" b="1" i="0" u="none" strike="noStrike" cap="none">
                  <a:solidFill>
                    <a:srgbClr val="3F3F3F"/>
                  </a:solidFill>
                  <a:sym typeface="Roboto"/>
                </a:rPr>
                <a:t>Compile workflows to be run on </a:t>
              </a:r>
              <a:r>
                <a:rPr lang="en-US" sz="1100" b="1">
                  <a:solidFill>
                    <a:srgbClr val="3F3F3F"/>
                  </a:solidFill>
                  <a:sym typeface="Roboto"/>
                </a:rPr>
                <a:t>heterogeneous</a:t>
              </a:r>
              <a:r>
                <a:rPr lang="en-US" sz="1100" b="1" i="0" u="none" strike="noStrike" cap="none">
                  <a:solidFill>
                    <a:srgbClr val="3F3F3F"/>
                  </a:solidFill>
                  <a:sym typeface="Roboto"/>
                </a:rPr>
                <a:t> resources</a:t>
              </a:r>
              <a:endParaRPr sz="1450"/>
            </a:p>
            <a:p>
              <a:pPr marL="190500" marR="0" lvl="0" indent="-209550" algn="l" rtl="0">
                <a:spcBef>
                  <a:spcPts val="400"/>
                </a:spcBef>
                <a:spcAft>
                  <a:spcPts val="0"/>
                </a:spcAft>
                <a:buClr>
                  <a:srgbClr val="119D96"/>
                </a:buClr>
                <a:buSzPts val="1300"/>
                <a:buFont typeface="Montserrat"/>
                <a:buChar char="▶"/>
              </a:pPr>
              <a:r>
                <a:rPr lang="en-US" sz="1100" b="1" i="0" u="none" strike="noStrike" cap="none">
                  <a:solidFill>
                    <a:srgbClr val="3F3F3F"/>
                  </a:solidFill>
                  <a:sym typeface="Roboto"/>
                </a:rPr>
                <a:t>Monitor and debug workflow execution via CLI and web-based tools</a:t>
              </a:r>
              <a:endParaRPr sz="1450"/>
            </a:p>
            <a:p>
              <a:pPr marL="190500" marR="0" lvl="0" indent="-209550" algn="l" rtl="0">
                <a:spcBef>
                  <a:spcPts val="400"/>
                </a:spcBef>
                <a:spcAft>
                  <a:spcPts val="0"/>
                </a:spcAft>
                <a:buClr>
                  <a:srgbClr val="119D96"/>
                </a:buClr>
                <a:buSzPts val="1300"/>
                <a:buFont typeface="Montserrat"/>
                <a:buChar char="▶"/>
              </a:pPr>
              <a:r>
                <a:rPr lang="en-US" sz="1100" b="1" i="0" u="none" strike="noStrike" cap="none">
                  <a:solidFill>
                    <a:srgbClr val="3F3F3F"/>
                  </a:solidFill>
                  <a:sym typeface="Roboto"/>
                </a:rPr>
                <a:t>Recover from failures with built-in fault tolerance mechanisms</a:t>
              </a:r>
              <a:endParaRPr sz="1450"/>
            </a:p>
            <a:p>
              <a:pPr marL="190500" marR="0" lvl="0" indent="-209550" algn="l" rtl="0">
                <a:spcBef>
                  <a:spcPts val="400"/>
                </a:spcBef>
                <a:spcAft>
                  <a:spcPts val="0"/>
                </a:spcAft>
                <a:buClr>
                  <a:srgbClr val="119D96"/>
                </a:buClr>
                <a:buSzPts val="1300"/>
                <a:buFont typeface="Montserrat"/>
                <a:buChar char="▶"/>
              </a:pPr>
              <a:r>
                <a:rPr lang="en-US" sz="1100" b="1" i="0" u="none" strike="noStrike" cap="none">
                  <a:solidFill>
                    <a:srgbClr val="3F3F3F"/>
                  </a:solidFill>
                  <a:sym typeface="Roboto"/>
                </a:rPr>
                <a:t>Regular release schedule incorporating latest research and development</a:t>
              </a:r>
              <a:endParaRPr sz="1450"/>
            </a:p>
          </p:txBody>
        </p:sp>
        <p:pic>
          <p:nvPicPr>
            <p:cNvPr id="172" name="Google Shape;172;g3f95de07730_1_39"/>
            <p:cNvPicPr preferRelativeResize="0"/>
            <p:nvPr/>
          </p:nvPicPr>
          <p:blipFill rotWithShape="1">
            <a:blip r:embed="rId8">
              <a:alphaModFix/>
            </a:blip>
            <a:srcRect/>
            <a:stretch/>
          </p:blipFill>
          <p:spPr>
            <a:xfrm>
              <a:off x="1977010" y="1453582"/>
              <a:ext cx="815256" cy="681985"/>
            </a:xfrm>
            <a:prstGeom prst="rect">
              <a:avLst/>
            </a:prstGeom>
            <a:noFill/>
            <a:ln>
              <a:noFill/>
            </a:ln>
          </p:spPr>
        </p:pic>
        <p:grpSp>
          <p:nvGrpSpPr>
            <p:cNvPr id="173" name="Google Shape;173;g3f95de07730_1_39"/>
            <p:cNvGrpSpPr/>
            <p:nvPr/>
          </p:nvGrpSpPr>
          <p:grpSpPr>
            <a:xfrm>
              <a:off x="2685410" y="2050526"/>
              <a:ext cx="348091" cy="369209"/>
              <a:chOff x="5967413" y="-3362325"/>
              <a:chExt cx="1133478" cy="1454150"/>
            </a:xfrm>
          </p:grpSpPr>
          <p:sp>
            <p:nvSpPr>
              <p:cNvPr id="174" name="Google Shape;174;g3f95de07730_1_39"/>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175" name="Google Shape;175;g3f95de07730_1_39"/>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176" name="Google Shape;176;g3f95de07730_1_39"/>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177" name="Google Shape;177;g3f95de07730_1_39"/>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178" name="Google Shape;178;g3f95de07730_1_39"/>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179" name="Google Shape;179;g3f95de07730_1_39"/>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180" name="Google Shape;180;g3f95de07730_1_39"/>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181" name="Google Shape;181;g3f95de07730_1_39"/>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182" name="Google Shape;182;g3f95de07730_1_39"/>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183" name="Google Shape;183;g3f95de07730_1_39"/>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184" name="Google Shape;184;g3f95de07730_1_39"/>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185" name="Google Shape;185;g3f95de07730_1_39"/>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186" name="Google Shape;186;g3f95de07730_1_39"/>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187" name="Google Shape;187;g3f95de07730_1_39"/>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grpSp>
        <p:sp>
          <p:nvSpPr>
            <p:cNvPr id="188" name="Google Shape;188;g3f95de07730_1_39"/>
            <p:cNvSpPr/>
            <p:nvPr/>
          </p:nvSpPr>
          <p:spPr>
            <a:xfrm>
              <a:off x="657667" y="1828878"/>
              <a:ext cx="899100" cy="324300"/>
            </a:xfrm>
            <a:prstGeom prst="roundRect">
              <a:avLst>
                <a:gd name="adj" fmla="val 50000"/>
              </a:avLst>
            </a:prstGeom>
            <a:solidFill>
              <a:srgbClr val="2D75B6"/>
            </a:solidFill>
            <a:ln>
              <a:noFill/>
            </a:ln>
          </p:spPr>
          <p:txBody>
            <a:bodyPr spcFirstLastPara="1" wrap="square" lIns="72000" tIns="36000" rIns="0" bIns="36000" anchor="ctr" anchorCtr="0">
              <a:noAutofit/>
            </a:bodyPr>
            <a:lstStyle/>
            <a:p>
              <a:pPr marL="0" marR="0" lvl="0" indent="0" algn="l" rtl="0">
                <a:spcBef>
                  <a:spcPts val="0"/>
                </a:spcBef>
                <a:spcAft>
                  <a:spcPts val="0"/>
                </a:spcAft>
                <a:buNone/>
              </a:pPr>
              <a:r>
                <a:rPr lang="en-US" sz="1000" b="1">
                  <a:solidFill>
                    <a:schemeClr val="lt1"/>
                  </a:solidFill>
                  <a:sym typeface="Roboto"/>
                </a:rPr>
                <a:t>Planner</a:t>
              </a:r>
              <a:endParaRPr sz="1250"/>
            </a:p>
          </p:txBody>
        </p:sp>
        <p:sp>
          <p:nvSpPr>
            <p:cNvPr id="189" name="Google Shape;189;g3f95de07730_1_39"/>
            <p:cNvSpPr/>
            <p:nvPr/>
          </p:nvSpPr>
          <p:spPr>
            <a:xfrm>
              <a:off x="657667" y="2221212"/>
              <a:ext cx="2079900" cy="324300"/>
            </a:xfrm>
            <a:prstGeom prst="roundRect">
              <a:avLst>
                <a:gd name="adj" fmla="val 50000"/>
              </a:avLst>
            </a:prstGeom>
            <a:solidFill>
              <a:srgbClr val="119D96"/>
            </a:solidFill>
            <a:ln>
              <a:noFill/>
            </a:ln>
          </p:spPr>
          <p:txBody>
            <a:bodyPr spcFirstLastPara="1" wrap="square" lIns="72000" tIns="36000" rIns="0" bIns="36000" anchor="ctr" anchorCtr="0">
              <a:noAutofit/>
            </a:bodyPr>
            <a:lstStyle/>
            <a:p>
              <a:pPr marL="0" marR="0" lvl="0" indent="0" algn="l" rtl="0">
                <a:spcBef>
                  <a:spcPts val="0"/>
                </a:spcBef>
                <a:spcAft>
                  <a:spcPts val="0"/>
                </a:spcAft>
                <a:buNone/>
              </a:pPr>
              <a:r>
                <a:rPr lang="en-US" sz="1000" b="1">
                  <a:solidFill>
                    <a:schemeClr val="lt1"/>
                  </a:solidFill>
                  <a:sym typeface="Roboto"/>
                </a:rPr>
                <a:t>Monitoring &amp; Provenance</a:t>
              </a:r>
              <a:endParaRPr sz="1250"/>
            </a:p>
          </p:txBody>
        </p:sp>
        <p:sp>
          <p:nvSpPr>
            <p:cNvPr id="190" name="Google Shape;190;g3f95de07730_1_39"/>
            <p:cNvSpPr/>
            <p:nvPr/>
          </p:nvSpPr>
          <p:spPr>
            <a:xfrm>
              <a:off x="662080" y="1292808"/>
              <a:ext cx="1035900" cy="503700"/>
            </a:xfrm>
            <a:prstGeom prst="rect">
              <a:avLst/>
            </a:prstGeom>
            <a:noFill/>
            <a:ln>
              <a:noFill/>
            </a:ln>
          </p:spPr>
          <p:txBody>
            <a:bodyPr spcFirstLastPara="1" wrap="square" lIns="36000" tIns="36000" rIns="36000" bIns="36000" anchor="t" anchorCtr="0">
              <a:noAutofit/>
            </a:bodyPr>
            <a:lstStyle/>
            <a:p>
              <a:pPr marL="0" marR="0" lvl="0" indent="0" algn="l" rtl="0">
                <a:spcBef>
                  <a:spcPts val="0"/>
                </a:spcBef>
                <a:spcAft>
                  <a:spcPts val="0"/>
                </a:spcAft>
                <a:buNone/>
              </a:pPr>
              <a:r>
                <a:rPr lang="en-US" sz="1250" b="1">
                  <a:solidFill>
                    <a:srgbClr val="3F3F3F"/>
                  </a:solidFill>
                  <a:sym typeface="Roboto"/>
                </a:rPr>
                <a:t>Pegasus</a:t>
              </a:r>
              <a:endParaRPr sz="1250" b="1">
                <a:solidFill>
                  <a:srgbClr val="3F3F3F"/>
                </a:solidFill>
                <a:sym typeface="Roboto"/>
              </a:endParaRPr>
            </a:p>
            <a:p>
              <a:pPr marL="0" marR="0" lvl="0" indent="0" algn="l" rtl="0">
                <a:spcBef>
                  <a:spcPts val="0"/>
                </a:spcBef>
                <a:spcAft>
                  <a:spcPts val="0"/>
                </a:spcAft>
                <a:buNone/>
              </a:pPr>
              <a:r>
                <a:rPr lang="en-US" sz="1250" b="1">
                  <a:solidFill>
                    <a:srgbClr val="3F3F3F"/>
                  </a:solidFill>
                  <a:sym typeface="Roboto"/>
                </a:rPr>
                <a:t>WMS</a:t>
              </a:r>
              <a:endParaRPr sz="1250"/>
            </a:p>
          </p:txBody>
        </p:sp>
        <p:cxnSp>
          <p:nvCxnSpPr>
            <p:cNvPr id="191" name="Google Shape;191;g3f95de07730_1_39"/>
            <p:cNvCxnSpPr/>
            <p:nvPr/>
          </p:nvCxnSpPr>
          <p:spPr>
            <a:xfrm>
              <a:off x="650934" y="2664731"/>
              <a:ext cx="2364900" cy="0"/>
            </a:xfrm>
            <a:prstGeom prst="straightConnector1">
              <a:avLst/>
            </a:prstGeom>
            <a:noFill/>
            <a:ln w="9525" cap="flat" cmpd="sng">
              <a:solidFill>
                <a:srgbClr val="BFBFBF"/>
              </a:solidFill>
              <a:prstDash val="dash"/>
              <a:miter lim="800000"/>
              <a:headEnd type="none" w="sm" len="sm"/>
              <a:tailEnd type="none" w="sm" len="sm"/>
            </a:ln>
          </p:spPr>
        </p:cxnSp>
        <p:pic>
          <p:nvPicPr>
            <p:cNvPr id="192" name="Google Shape;192;g3f95de07730_1_39"/>
            <p:cNvPicPr preferRelativeResize="0"/>
            <p:nvPr/>
          </p:nvPicPr>
          <p:blipFill rotWithShape="1">
            <a:blip r:embed="rId9">
              <a:alphaModFix/>
            </a:blip>
            <a:srcRect/>
            <a:stretch/>
          </p:blipFill>
          <p:spPr>
            <a:xfrm>
              <a:off x="662079" y="3576279"/>
              <a:ext cx="1260586" cy="378768"/>
            </a:xfrm>
            <a:prstGeom prst="rect">
              <a:avLst/>
            </a:prstGeom>
            <a:noFill/>
            <a:ln>
              <a:noFill/>
            </a:ln>
          </p:spPr>
        </p:pic>
        <p:sp>
          <p:nvSpPr>
            <p:cNvPr id="193" name="Google Shape;193;g3f95de07730_1_39"/>
            <p:cNvSpPr txBox="1"/>
            <p:nvPr/>
          </p:nvSpPr>
          <p:spPr>
            <a:xfrm>
              <a:off x="4066211" y="3541839"/>
              <a:ext cx="2406900" cy="7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700" i="1">
                  <a:solidFill>
                    <a:srgbClr val="119D96"/>
                  </a:solidFill>
                  <a:sym typeface="Roboto"/>
                </a:rPr>
                <a:t>                        &gt; Cloud Resources</a:t>
              </a:r>
              <a:endParaRPr sz="1250"/>
            </a:p>
            <a:p>
              <a:pPr marL="0" marR="0" lvl="0" indent="0" algn="l" rtl="0">
                <a:spcBef>
                  <a:spcPts val="300"/>
                </a:spcBef>
                <a:spcAft>
                  <a:spcPts val="0"/>
                </a:spcAft>
                <a:buNone/>
              </a:pPr>
              <a:r>
                <a:rPr lang="en-US" sz="700" i="1">
                  <a:solidFill>
                    <a:srgbClr val="119D96"/>
                  </a:solidFill>
                  <a:sym typeface="Roboto"/>
                </a:rPr>
                <a:t>                &gt; OSG OSPool</a:t>
              </a:r>
              <a:endParaRPr sz="1250"/>
            </a:p>
            <a:p>
              <a:pPr marL="0" marR="0" lvl="0" indent="0" algn="l" rtl="0">
                <a:spcBef>
                  <a:spcPts val="300"/>
                </a:spcBef>
                <a:spcAft>
                  <a:spcPts val="0"/>
                </a:spcAft>
                <a:buNone/>
              </a:pPr>
              <a:r>
                <a:rPr lang="en-US" sz="700" i="1">
                  <a:solidFill>
                    <a:srgbClr val="119D96"/>
                  </a:solidFill>
                  <a:sym typeface="Roboto"/>
                </a:rPr>
                <a:t>        &gt; HPC Systems</a:t>
              </a:r>
              <a:endParaRPr sz="1250"/>
            </a:p>
            <a:p>
              <a:pPr marL="0" marR="0" lvl="0" indent="0" algn="l" rtl="0">
                <a:spcBef>
                  <a:spcPts val="300"/>
                </a:spcBef>
                <a:spcAft>
                  <a:spcPts val="0"/>
                </a:spcAft>
                <a:buNone/>
              </a:pPr>
              <a:r>
                <a:rPr lang="en-US" sz="700" i="1">
                  <a:solidFill>
                    <a:srgbClr val="119D96"/>
                  </a:solidFill>
                  <a:sym typeface="Roboto"/>
                </a:rPr>
                <a:t>&gt; HTCondor Pools</a:t>
              </a:r>
              <a:endParaRPr sz="1250"/>
            </a:p>
          </p:txBody>
        </p:sp>
        <p:sp>
          <p:nvSpPr>
            <p:cNvPr id="194" name="Google Shape;194;g3f95de07730_1_39"/>
            <p:cNvSpPr/>
            <p:nvPr/>
          </p:nvSpPr>
          <p:spPr>
            <a:xfrm>
              <a:off x="657667" y="2783913"/>
              <a:ext cx="899100" cy="324300"/>
            </a:xfrm>
            <a:prstGeom prst="roundRect">
              <a:avLst>
                <a:gd name="adj" fmla="val 50000"/>
              </a:avLst>
            </a:prstGeom>
            <a:solidFill>
              <a:srgbClr val="BA083A"/>
            </a:solidFill>
            <a:ln>
              <a:noFill/>
            </a:ln>
          </p:spPr>
          <p:txBody>
            <a:bodyPr spcFirstLastPara="1" wrap="square" lIns="72000" tIns="36000" rIns="0" bIns="36000" anchor="ctr" anchorCtr="0">
              <a:noAutofit/>
            </a:bodyPr>
            <a:lstStyle/>
            <a:p>
              <a:pPr marL="0" marR="0" lvl="0" indent="0" algn="l" rtl="0">
                <a:spcBef>
                  <a:spcPts val="0"/>
                </a:spcBef>
                <a:spcAft>
                  <a:spcPts val="0"/>
                </a:spcAft>
                <a:buNone/>
              </a:pPr>
              <a:r>
                <a:rPr lang="en-US" sz="1000" b="1">
                  <a:solidFill>
                    <a:schemeClr val="lt1"/>
                  </a:solidFill>
                  <a:sym typeface="Roboto"/>
                </a:rPr>
                <a:t>Engine</a:t>
              </a:r>
              <a:endParaRPr sz="1250"/>
            </a:p>
          </p:txBody>
        </p:sp>
        <p:sp>
          <p:nvSpPr>
            <p:cNvPr id="195" name="Google Shape;195;g3f95de07730_1_39"/>
            <p:cNvSpPr/>
            <p:nvPr/>
          </p:nvSpPr>
          <p:spPr>
            <a:xfrm>
              <a:off x="657668" y="3182001"/>
              <a:ext cx="1093500" cy="324300"/>
            </a:xfrm>
            <a:prstGeom prst="roundRect">
              <a:avLst>
                <a:gd name="adj" fmla="val 50000"/>
              </a:avLst>
            </a:prstGeom>
            <a:solidFill>
              <a:srgbClr val="BA083A"/>
            </a:solidFill>
            <a:ln>
              <a:noFill/>
            </a:ln>
          </p:spPr>
          <p:txBody>
            <a:bodyPr spcFirstLastPara="1" wrap="square" lIns="72000" tIns="36000" rIns="0" bIns="36000" anchor="ctr" anchorCtr="0">
              <a:noAutofit/>
            </a:bodyPr>
            <a:lstStyle/>
            <a:p>
              <a:pPr marL="0" marR="0" lvl="0" indent="0" algn="l" rtl="0">
                <a:spcBef>
                  <a:spcPts val="0"/>
                </a:spcBef>
                <a:spcAft>
                  <a:spcPts val="0"/>
                </a:spcAft>
                <a:buNone/>
              </a:pPr>
              <a:r>
                <a:rPr lang="en-US" sz="1000" b="1">
                  <a:solidFill>
                    <a:schemeClr val="lt1"/>
                  </a:solidFill>
                  <a:sym typeface="Roboto"/>
                </a:rPr>
                <a:t>Scheduler</a:t>
              </a:r>
              <a:endParaRPr sz="1250"/>
            </a:p>
          </p:txBody>
        </p:sp>
        <p:sp>
          <p:nvSpPr>
            <p:cNvPr id="196" name="Google Shape;196;g3f95de07730_1_39"/>
            <p:cNvSpPr/>
            <p:nvPr/>
          </p:nvSpPr>
          <p:spPr>
            <a:xfrm>
              <a:off x="476766" y="4386808"/>
              <a:ext cx="2713200" cy="211200"/>
            </a:xfrm>
            <a:prstGeom prst="rect">
              <a:avLst/>
            </a:prstGeom>
            <a:noFill/>
            <a:ln>
              <a:noFill/>
            </a:ln>
          </p:spPr>
          <p:txBody>
            <a:bodyPr spcFirstLastPara="1" wrap="square" lIns="72000" tIns="36000" rIns="72000" bIns="36000" anchor="t" anchorCtr="0">
              <a:noAutofit/>
            </a:bodyPr>
            <a:lstStyle/>
            <a:p>
              <a:pPr marL="0" marR="0" lvl="0" indent="0" algn="ctr" rtl="0">
                <a:spcBef>
                  <a:spcPts val="0"/>
                </a:spcBef>
                <a:spcAft>
                  <a:spcPts val="0"/>
                </a:spcAft>
                <a:buNone/>
              </a:pPr>
              <a:r>
                <a:rPr lang="en-US" sz="750" b="1" i="1">
                  <a:solidFill>
                    <a:srgbClr val="3F3F3F"/>
                  </a:solidFill>
                  <a:sym typeface="Roboto"/>
                </a:rPr>
                <a:t>Submit Node</a:t>
              </a:r>
              <a:endParaRPr sz="1250"/>
            </a:p>
          </p:txBody>
        </p:sp>
        <p:sp>
          <p:nvSpPr>
            <p:cNvPr id="197" name="Google Shape;197;g3f95de07730_1_39"/>
            <p:cNvSpPr/>
            <p:nvPr/>
          </p:nvSpPr>
          <p:spPr>
            <a:xfrm>
              <a:off x="3661316" y="4386808"/>
              <a:ext cx="1835700" cy="211200"/>
            </a:xfrm>
            <a:prstGeom prst="rect">
              <a:avLst/>
            </a:prstGeom>
            <a:noFill/>
            <a:ln>
              <a:noFill/>
            </a:ln>
          </p:spPr>
          <p:txBody>
            <a:bodyPr spcFirstLastPara="1" wrap="square" lIns="72000" tIns="36000" rIns="72000" bIns="36000" anchor="t" anchorCtr="0">
              <a:noAutofit/>
            </a:bodyPr>
            <a:lstStyle/>
            <a:p>
              <a:pPr marL="0" marR="0" lvl="0" indent="0" algn="ctr" rtl="0">
                <a:spcBef>
                  <a:spcPts val="0"/>
                </a:spcBef>
                <a:spcAft>
                  <a:spcPts val="0"/>
                </a:spcAft>
                <a:buNone/>
              </a:pPr>
              <a:r>
                <a:rPr lang="en-US" sz="750" b="1" i="1">
                  <a:solidFill>
                    <a:srgbClr val="3F3F3F"/>
                  </a:solidFill>
                  <a:sym typeface="Roboto"/>
                </a:rPr>
                <a:t>Compute Resources</a:t>
              </a:r>
              <a:endParaRPr sz="1250"/>
            </a:p>
          </p:txBody>
        </p:sp>
        <p:sp>
          <p:nvSpPr>
            <p:cNvPr id="198" name="Google Shape;198;g3f95de07730_1_39"/>
            <p:cNvSpPr/>
            <p:nvPr/>
          </p:nvSpPr>
          <p:spPr>
            <a:xfrm rot="5400000">
              <a:off x="1784809" y="2939953"/>
              <a:ext cx="97200" cy="2713200"/>
            </a:xfrm>
            <a:prstGeom prst="rightBrace">
              <a:avLst>
                <a:gd name="adj1" fmla="val 85245"/>
                <a:gd name="adj2" fmla="val 50000"/>
              </a:avLst>
            </a:prstGeom>
            <a:noFill/>
            <a:ln w="12700" cap="rnd" cmpd="sng">
              <a:solidFill>
                <a:schemeClr val="accent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sym typeface="Calibri"/>
              </a:endParaRPr>
            </a:p>
          </p:txBody>
        </p:sp>
        <p:sp>
          <p:nvSpPr>
            <p:cNvPr id="199" name="Google Shape;199;g3f95de07730_1_39"/>
            <p:cNvSpPr/>
            <p:nvPr/>
          </p:nvSpPr>
          <p:spPr>
            <a:xfrm rot="5400000">
              <a:off x="4530505" y="2996355"/>
              <a:ext cx="97200" cy="2600400"/>
            </a:xfrm>
            <a:prstGeom prst="rightBrace">
              <a:avLst>
                <a:gd name="adj1" fmla="val 85245"/>
                <a:gd name="adj2" fmla="val 50000"/>
              </a:avLst>
            </a:prstGeom>
            <a:noFill/>
            <a:ln w="12700" cap="rnd" cmpd="sng">
              <a:solidFill>
                <a:srgbClr val="119D96"/>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sym typeface="Calibri"/>
              </a:endParaRPr>
            </a:p>
          </p:txBody>
        </p:sp>
        <p:sp>
          <p:nvSpPr>
            <p:cNvPr id="200" name="Google Shape;200;g3f95de07730_1_39"/>
            <p:cNvSpPr/>
            <p:nvPr/>
          </p:nvSpPr>
          <p:spPr>
            <a:xfrm>
              <a:off x="2722669" y="3775362"/>
              <a:ext cx="883444" cy="290512"/>
            </a:xfrm>
            <a:custGeom>
              <a:avLst/>
              <a:gdLst/>
              <a:ahLst/>
              <a:cxnLst/>
              <a:rect l="l" t="t" r="r" b="b"/>
              <a:pathLst>
                <a:path w="883444" h="290512" extrusionOk="0">
                  <a:moveTo>
                    <a:pt x="883444" y="45244"/>
                  </a:moveTo>
                  <a:lnTo>
                    <a:pt x="471487" y="290512"/>
                  </a:lnTo>
                  <a:lnTo>
                    <a:pt x="0" y="0"/>
                  </a:lnTo>
                </a:path>
              </a:pathLst>
            </a:custGeom>
            <a:noFill/>
            <a:ln w="9525" cap="flat" cmpd="sng">
              <a:solidFill>
                <a:srgbClr val="BA083A"/>
              </a:solidFill>
              <a:prstDash val="dash"/>
              <a:miter lim="800000"/>
              <a:headEnd type="oval" w="sm" len="sm"/>
              <a:tailEnd type="oval" w="sm" len="sm"/>
            </a:ln>
            <a:effectLst>
              <a:outerShdw blurRad="25400" dist="635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sym typeface="Calibri"/>
              </a:endParaRPr>
            </a:p>
          </p:txBody>
        </p:sp>
        <p:grpSp>
          <p:nvGrpSpPr>
            <p:cNvPr id="201" name="Google Shape;201;g3f95de07730_1_39"/>
            <p:cNvGrpSpPr/>
            <p:nvPr/>
          </p:nvGrpSpPr>
          <p:grpSpPr>
            <a:xfrm>
              <a:off x="2207400" y="2753768"/>
              <a:ext cx="803207" cy="1209669"/>
              <a:chOff x="4575915" y="1374775"/>
              <a:chExt cx="1396397" cy="2103042"/>
            </a:xfrm>
          </p:grpSpPr>
          <p:sp>
            <p:nvSpPr>
              <p:cNvPr id="202" name="Google Shape;202;g3f95de07730_1_39"/>
              <p:cNvSpPr/>
              <p:nvPr/>
            </p:nvSpPr>
            <p:spPr>
              <a:xfrm flipH="1">
                <a:off x="4577433" y="2004659"/>
                <a:ext cx="493776" cy="1471390"/>
              </a:xfrm>
              <a:custGeom>
                <a:avLst/>
                <a:gdLst/>
                <a:ahLst/>
                <a:cxnLst/>
                <a:rect l="l" t="t" r="r" b="b"/>
                <a:pathLst>
                  <a:path w="812800" h="2432050" extrusionOk="0">
                    <a:moveTo>
                      <a:pt x="0" y="463550"/>
                    </a:moveTo>
                    <a:lnTo>
                      <a:pt x="796925" y="0"/>
                    </a:lnTo>
                    <a:lnTo>
                      <a:pt x="812800" y="1974850"/>
                    </a:lnTo>
                    <a:lnTo>
                      <a:pt x="9525" y="2432050"/>
                    </a:lnTo>
                    <a:cubicBezTo>
                      <a:pt x="8467" y="1774825"/>
                      <a:pt x="7408" y="1117600"/>
                      <a:pt x="0" y="463550"/>
                    </a:cubicBez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03" name="Google Shape;203;g3f95de07730_1_39"/>
              <p:cNvSpPr/>
              <p:nvPr/>
            </p:nvSpPr>
            <p:spPr>
              <a:xfrm flipH="1">
                <a:off x="5226252" y="1439578"/>
                <a:ext cx="302754" cy="240411"/>
              </a:xfrm>
              <a:custGeom>
                <a:avLst/>
                <a:gdLst/>
                <a:ahLst/>
                <a:cxnLst/>
                <a:rect l="l" t="t" r="r" b="b"/>
                <a:pathLst>
                  <a:path w="498360" h="399022" extrusionOk="0">
                    <a:moveTo>
                      <a:pt x="233014" y="0"/>
                    </a:moveTo>
                    <a:lnTo>
                      <a:pt x="498360" y="399022"/>
                    </a:lnTo>
                    <a:lnTo>
                      <a:pt x="0" y="167054"/>
                    </a:lnTo>
                    <a:lnTo>
                      <a:pt x="233014" y="0"/>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04" name="Google Shape;204;g3f95de07730_1_39"/>
              <p:cNvSpPr/>
              <p:nvPr/>
            </p:nvSpPr>
            <p:spPr>
              <a:xfrm flipH="1">
                <a:off x="4582900" y="1497373"/>
                <a:ext cx="1359813" cy="793321"/>
              </a:xfrm>
              <a:custGeom>
                <a:avLst/>
                <a:gdLst/>
                <a:ahLst/>
                <a:cxnLst/>
                <a:rect l="l" t="t" r="r" b="b"/>
                <a:pathLst>
                  <a:path w="2238375" h="1311275" extrusionOk="0">
                    <a:moveTo>
                      <a:pt x="777875" y="0"/>
                    </a:moveTo>
                    <a:lnTo>
                      <a:pt x="2238375" y="850900"/>
                    </a:lnTo>
                    <a:lnTo>
                      <a:pt x="1450975" y="1311275"/>
                    </a:lnTo>
                    <a:lnTo>
                      <a:pt x="0" y="473075"/>
                    </a:lnTo>
                    <a:lnTo>
                      <a:pt x="441325" y="47625"/>
                    </a:lnTo>
                    <a:cubicBezTo>
                      <a:pt x="444755" y="44363"/>
                      <a:pt x="454025" y="41275"/>
                      <a:pt x="454025" y="41275"/>
                    </a:cubicBezTo>
                    <a:lnTo>
                      <a:pt x="777875" y="0"/>
                    </a:lnTo>
                    <a:close/>
                  </a:path>
                </a:pathLst>
              </a:custGeom>
              <a:gradFill>
                <a:gsLst>
                  <a:gs pos="0">
                    <a:srgbClr val="242424"/>
                  </a:gs>
                  <a:gs pos="50000">
                    <a:srgbClr val="343434"/>
                  </a:gs>
                  <a:gs pos="100000">
                    <a:srgbClr val="3F3F3F"/>
                  </a:gs>
                </a:gsLst>
                <a:lin ang="1350003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sym typeface="Calibri"/>
                </a:endParaRPr>
              </a:p>
            </p:txBody>
          </p:sp>
          <p:sp>
            <p:nvSpPr>
              <p:cNvPr id="205" name="Google Shape;205;g3f95de07730_1_39"/>
              <p:cNvSpPr/>
              <p:nvPr/>
            </p:nvSpPr>
            <p:spPr>
              <a:xfrm flipH="1">
                <a:off x="4759882" y="1434030"/>
                <a:ext cx="1108898" cy="470614"/>
              </a:xfrm>
              <a:custGeom>
                <a:avLst/>
                <a:gdLst/>
                <a:ahLst/>
                <a:cxnLst/>
                <a:rect l="l" t="t" r="r" b="b"/>
                <a:pathLst>
                  <a:path w="1832889" h="777875" extrusionOk="0">
                    <a:moveTo>
                      <a:pt x="193675" y="365125"/>
                    </a:moveTo>
                    <a:lnTo>
                      <a:pt x="0" y="476250"/>
                    </a:lnTo>
                    <a:lnTo>
                      <a:pt x="3175" y="542925"/>
                    </a:lnTo>
                    <a:lnTo>
                      <a:pt x="812800" y="47625"/>
                    </a:lnTo>
                    <a:lnTo>
                      <a:pt x="958850" y="295275"/>
                    </a:lnTo>
                    <a:lnTo>
                      <a:pt x="1793875" y="777875"/>
                    </a:lnTo>
                    <a:cubicBezTo>
                      <a:pt x="1832889" y="755117"/>
                      <a:pt x="1831975" y="770353"/>
                      <a:pt x="1831975" y="752475"/>
                    </a:cubicBezTo>
                    <a:lnTo>
                      <a:pt x="990600" y="266700"/>
                    </a:lnTo>
                    <a:lnTo>
                      <a:pt x="819150" y="0"/>
                    </a:lnTo>
                    <a:lnTo>
                      <a:pt x="193675" y="365125"/>
                    </a:lnTo>
                    <a:close/>
                  </a:path>
                </a:pathLst>
              </a:custGeom>
              <a:gradFill>
                <a:gsLst>
                  <a:gs pos="0">
                    <a:srgbClr val="0C0C0C"/>
                  </a:gs>
                  <a:gs pos="100000">
                    <a:srgbClr val="262626"/>
                  </a:gs>
                </a:gsLst>
                <a:lin ang="10800025"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sym typeface="Calibri"/>
                </a:endParaRPr>
              </a:p>
            </p:txBody>
          </p:sp>
          <p:sp>
            <p:nvSpPr>
              <p:cNvPr id="206" name="Google Shape;206;g3f95de07730_1_39"/>
              <p:cNvSpPr/>
              <p:nvPr/>
            </p:nvSpPr>
            <p:spPr>
              <a:xfrm flipH="1">
                <a:off x="5368594" y="1374775"/>
                <a:ext cx="603718" cy="352973"/>
              </a:xfrm>
              <a:custGeom>
                <a:avLst/>
                <a:gdLst/>
                <a:ahLst/>
                <a:cxnLst/>
                <a:rect l="l" t="t" r="r" b="b"/>
                <a:pathLst>
                  <a:path w="993775" h="581025" extrusionOk="0">
                    <a:moveTo>
                      <a:pt x="0" y="479425"/>
                    </a:moveTo>
                    <a:lnTo>
                      <a:pt x="174625" y="581025"/>
                    </a:lnTo>
                    <a:lnTo>
                      <a:pt x="993775" y="98425"/>
                    </a:lnTo>
                    <a:lnTo>
                      <a:pt x="822325" y="0"/>
                    </a:lnTo>
                    <a:lnTo>
                      <a:pt x="0" y="479425"/>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07" name="Google Shape;207;g3f95de07730_1_39"/>
              <p:cNvSpPr/>
              <p:nvPr/>
            </p:nvSpPr>
            <p:spPr>
              <a:xfrm flipH="1">
                <a:off x="5057953" y="1656827"/>
                <a:ext cx="914257" cy="1820990"/>
              </a:xfrm>
              <a:custGeom>
                <a:avLst/>
                <a:gdLst/>
                <a:ahLst/>
                <a:cxnLst/>
                <a:rect l="l" t="t" r="r" b="b"/>
                <a:pathLst>
                  <a:path w="1504950" h="3009900" extrusionOk="0">
                    <a:moveTo>
                      <a:pt x="1504950" y="3009900"/>
                    </a:moveTo>
                    <a:cubicBezTo>
                      <a:pt x="1502833" y="2292350"/>
                      <a:pt x="1500717" y="1574800"/>
                      <a:pt x="1498600" y="857250"/>
                    </a:cubicBezTo>
                    <a:lnTo>
                      <a:pt x="1339850" y="768350"/>
                    </a:lnTo>
                    <a:lnTo>
                      <a:pt x="1174750" y="844550"/>
                    </a:lnTo>
                    <a:lnTo>
                      <a:pt x="342900" y="368300"/>
                    </a:lnTo>
                    <a:lnTo>
                      <a:pt x="307975" y="320675"/>
                    </a:lnTo>
                    <a:lnTo>
                      <a:pt x="238125" y="222250"/>
                    </a:lnTo>
                    <a:cubicBezTo>
                      <a:pt x="235479" y="219604"/>
                      <a:pt x="199496" y="166158"/>
                      <a:pt x="165100" y="98425"/>
                    </a:cubicBezTo>
                    <a:cubicBezTo>
                      <a:pt x="133879" y="71967"/>
                      <a:pt x="100012" y="58738"/>
                      <a:pt x="0" y="0"/>
                    </a:cubicBezTo>
                    <a:lnTo>
                      <a:pt x="25400" y="2203450"/>
                    </a:lnTo>
                    <a:lnTo>
                      <a:pt x="139700" y="2279650"/>
                    </a:lnTo>
                    <a:lnTo>
                      <a:pt x="336550" y="2197100"/>
                    </a:lnTo>
                    <a:lnTo>
                      <a:pt x="1130300" y="2635250"/>
                    </a:lnTo>
                    <a:lnTo>
                      <a:pt x="1308100" y="2895600"/>
                    </a:lnTo>
                    <a:lnTo>
                      <a:pt x="1504950" y="3009900"/>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08" name="Google Shape;208;g3f95de07730_1_39"/>
              <p:cNvSpPr/>
              <p:nvPr/>
            </p:nvSpPr>
            <p:spPr>
              <a:xfrm flipH="1">
                <a:off x="4583827" y="1902038"/>
                <a:ext cx="96441" cy="109490"/>
              </a:xfrm>
              <a:custGeom>
                <a:avLst/>
                <a:gdLst/>
                <a:ahLst/>
                <a:cxnLst/>
                <a:rect l="l" t="t" r="r" b="b"/>
                <a:pathLst>
                  <a:path w="158750" h="180975" extrusionOk="0">
                    <a:moveTo>
                      <a:pt x="0" y="95250"/>
                    </a:moveTo>
                    <a:lnTo>
                      <a:pt x="146050" y="180975"/>
                    </a:lnTo>
                    <a:lnTo>
                      <a:pt x="158750" y="0"/>
                    </a:lnTo>
                    <a:lnTo>
                      <a:pt x="0" y="95250"/>
                    </a:lnTo>
                    <a:close/>
                  </a:path>
                </a:pathLst>
              </a:custGeom>
              <a:gradFill>
                <a:gsLst>
                  <a:gs pos="0">
                    <a:srgbClr val="0C0C0C"/>
                  </a:gs>
                  <a:gs pos="100000">
                    <a:srgbClr val="262626"/>
                  </a:gs>
                </a:gsLst>
                <a:lin ang="10800025"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sym typeface="Calibri"/>
                </a:endParaRPr>
              </a:p>
            </p:txBody>
          </p:sp>
          <p:sp>
            <p:nvSpPr>
              <p:cNvPr id="209" name="Google Shape;209;g3f95de07730_1_39"/>
              <p:cNvSpPr/>
              <p:nvPr/>
            </p:nvSpPr>
            <p:spPr>
              <a:xfrm flipH="1">
                <a:off x="4633119" y="2120285"/>
                <a:ext cx="380333" cy="299656"/>
              </a:xfrm>
              <a:custGeom>
                <a:avLst/>
                <a:gdLst/>
                <a:ahLst/>
                <a:cxnLst/>
                <a:rect l="l" t="t" r="r" b="b"/>
                <a:pathLst>
                  <a:path w="628650" h="495300" extrusionOk="0">
                    <a:moveTo>
                      <a:pt x="0" y="358775"/>
                    </a:moveTo>
                    <a:cubicBezTo>
                      <a:pt x="1058" y="404283"/>
                      <a:pt x="2117" y="449792"/>
                      <a:pt x="3175" y="495300"/>
                    </a:cubicBezTo>
                    <a:lnTo>
                      <a:pt x="628650" y="136525"/>
                    </a:lnTo>
                    <a:cubicBezTo>
                      <a:pt x="627592" y="91017"/>
                      <a:pt x="626533" y="45508"/>
                      <a:pt x="625475" y="0"/>
                    </a:cubicBezTo>
                    <a:lnTo>
                      <a:pt x="0" y="358775"/>
                    </a:lnTo>
                    <a:close/>
                  </a:path>
                </a:pathLst>
              </a:custGeom>
              <a:gradFill>
                <a:gsLst>
                  <a:gs pos="0">
                    <a:srgbClr val="242424"/>
                  </a:gs>
                  <a:gs pos="50000">
                    <a:srgbClr val="343434"/>
                  </a:gs>
                  <a:gs pos="100000">
                    <a:srgbClr val="3F3F3F"/>
                  </a:gs>
                </a:gsLst>
                <a:lin ang="1890004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sym typeface="Calibri"/>
                </a:endParaRPr>
              </a:p>
            </p:txBody>
          </p:sp>
          <p:sp>
            <p:nvSpPr>
              <p:cNvPr id="210" name="Google Shape;210;g3f95de07730_1_39"/>
              <p:cNvSpPr/>
              <p:nvPr/>
            </p:nvSpPr>
            <p:spPr>
              <a:xfrm flipH="1">
                <a:off x="4575915" y="1842833"/>
                <a:ext cx="590217" cy="343329"/>
              </a:xfrm>
              <a:custGeom>
                <a:avLst/>
                <a:gdLst/>
                <a:ahLst/>
                <a:cxnLst/>
                <a:rect l="l" t="t" r="r" b="b"/>
                <a:pathLst>
                  <a:path w="971550" h="565150" extrusionOk="0">
                    <a:moveTo>
                      <a:pt x="0" y="463550"/>
                    </a:moveTo>
                    <a:lnTo>
                      <a:pt x="800100" y="0"/>
                    </a:lnTo>
                    <a:lnTo>
                      <a:pt x="971550" y="101600"/>
                    </a:lnTo>
                    <a:lnTo>
                      <a:pt x="171450" y="565150"/>
                    </a:lnTo>
                    <a:lnTo>
                      <a:pt x="0" y="463550"/>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11" name="Google Shape;211;g3f95de07730_1_39"/>
              <p:cNvSpPr/>
              <p:nvPr/>
            </p:nvSpPr>
            <p:spPr>
              <a:xfrm flipH="1">
                <a:off x="4633119" y="2232025"/>
                <a:ext cx="380333" cy="299656"/>
              </a:xfrm>
              <a:custGeom>
                <a:avLst/>
                <a:gdLst/>
                <a:ahLst/>
                <a:cxnLst/>
                <a:rect l="l" t="t" r="r" b="b"/>
                <a:pathLst>
                  <a:path w="628650" h="495300" extrusionOk="0">
                    <a:moveTo>
                      <a:pt x="0" y="358775"/>
                    </a:moveTo>
                    <a:cubicBezTo>
                      <a:pt x="1058" y="404283"/>
                      <a:pt x="2117" y="449792"/>
                      <a:pt x="3175" y="495300"/>
                    </a:cubicBezTo>
                    <a:lnTo>
                      <a:pt x="628650" y="136525"/>
                    </a:lnTo>
                    <a:cubicBezTo>
                      <a:pt x="627592" y="91017"/>
                      <a:pt x="626533" y="45508"/>
                      <a:pt x="625475" y="0"/>
                    </a:cubicBezTo>
                    <a:lnTo>
                      <a:pt x="0" y="358775"/>
                    </a:lnTo>
                    <a:close/>
                  </a:path>
                </a:pathLst>
              </a:custGeom>
              <a:gradFill>
                <a:gsLst>
                  <a:gs pos="0">
                    <a:srgbClr val="242424"/>
                  </a:gs>
                  <a:gs pos="50000">
                    <a:srgbClr val="343434"/>
                  </a:gs>
                  <a:gs pos="100000">
                    <a:srgbClr val="3F3F3F"/>
                  </a:gs>
                </a:gsLst>
                <a:lin ang="1890004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sym typeface="Calibri"/>
                </a:endParaRPr>
              </a:p>
            </p:txBody>
          </p:sp>
          <p:sp>
            <p:nvSpPr>
              <p:cNvPr id="212" name="Google Shape;212;g3f95de07730_1_39"/>
              <p:cNvSpPr/>
              <p:nvPr/>
            </p:nvSpPr>
            <p:spPr>
              <a:xfrm flipH="1">
                <a:off x="4942729" y="2511425"/>
                <a:ext cx="70723" cy="55721"/>
              </a:xfrm>
              <a:custGeom>
                <a:avLst/>
                <a:gdLst/>
                <a:ahLst/>
                <a:cxnLst/>
                <a:rect l="l" t="t" r="r" b="b"/>
                <a:pathLst>
                  <a:path w="628650" h="495300" extrusionOk="0">
                    <a:moveTo>
                      <a:pt x="0" y="358775"/>
                    </a:moveTo>
                    <a:cubicBezTo>
                      <a:pt x="1058" y="404283"/>
                      <a:pt x="2117" y="449792"/>
                      <a:pt x="3175" y="495300"/>
                    </a:cubicBezTo>
                    <a:lnTo>
                      <a:pt x="628650" y="136525"/>
                    </a:lnTo>
                    <a:cubicBezTo>
                      <a:pt x="627592" y="91017"/>
                      <a:pt x="626533" y="45508"/>
                      <a:pt x="625475" y="0"/>
                    </a:cubicBezTo>
                    <a:lnTo>
                      <a:pt x="0" y="358775"/>
                    </a:lnTo>
                    <a:close/>
                  </a:path>
                </a:pathLst>
              </a:cu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sym typeface="Calibri"/>
                </a:endParaRPr>
              </a:p>
            </p:txBody>
          </p:sp>
          <p:sp>
            <p:nvSpPr>
              <p:cNvPr id="213" name="Google Shape;213;g3f95de07730_1_39"/>
              <p:cNvSpPr/>
              <p:nvPr/>
            </p:nvSpPr>
            <p:spPr>
              <a:xfrm flipH="1">
                <a:off x="4942729" y="2557466"/>
                <a:ext cx="70723" cy="55721"/>
              </a:xfrm>
              <a:custGeom>
                <a:avLst/>
                <a:gdLst/>
                <a:ahLst/>
                <a:cxnLst/>
                <a:rect l="l" t="t" r="r" b="b"/>
                <a:pathLst>
                  <a:path w="628650" h="495300" extrusionOk="0">
                    <a:moveTo>
                      <a:pt x="0" y="358775"/>
                    </a:moveTo>
                    <a:cubicBezTo>
                      <a:pt x="1058" y="404283"/>
                      <a:pt x="2117" y="449792"/>
                      <a:pt x="3175" y="495300"/>
                    </a:cubicBezTo>
                    <a:lnTo>
                      <a:pt x="628650" y="136525"/>
                    </a:lnTo>
                    <a:cubicBezTo>
                      <a:pt x="627592" y="91017"/>
                      <a:pt x="626533" y="45508"/>
                      <a:pt x="625475" y="0"/>
                    </a:cubicBezTo>
                    <a:lnTo>
                      <a:pt x="0" y="358775"/>
                    </a:lnTo>
                    <a:close/>
                  </a:path>
                </a:pathLst>
              </a:cu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sym typeface="Calibri"/>
                </a:endParaRPr>
              </a:p>
            </p:txBody>
          </p:sp>
        </p:grpSp>
        <p:grpSp>
          <p:nvGrpSpPr>
            <p:cNvPr id="214" name="Google Shape;214;g3f95de07730_1_39"/>
            <p:cNvGrpSpPr/>
            <p:nvPr/>
          </p:nvGrpSpPr>
          <p:grpSpPr>
            <a:xfrm>
              <a:off x="2291662" y="3189129"/>
              <a:ext cx="758268" cy="622652"/>
              <a:chOff x="2282137" y="3704944"/>
              <a:chExt cx="758268" cy="622652"/>
            </a:xfrm>
          </p:grpSpPr>
          <p:sp>
            <p:nvSpPr>
              <p:cNvPr id="215" name="Google Shape;215;g3f95de07730_1_39"/>
              <p:cNvSpPr/>
              <p:nvPr/>
            </p:nvSpPr>
            <p:spPr>
              <a:xfrm>
                <a:off x="2449405" y="3704944"/>
                <a:ext cx="591000" cy="441900"/>
              </a:xfrm>
              <a:prstGeom prst="rect">
                <a:avLst/>
              </a:prstGeom>
              <a:noFill/>
              <a:ln>
                <a:noFill/>
              </a:ln>
            </p:spPr>
            <p:txBody>
              <a:bodyPr spcFirstLastPara="1" wrap="square" lIns="72000" tIns="36000" rIns="72000" bIns="36000" anchor="t" anchorCtr="0">
                <a:noAutofit/>
              </a:bodyPr>
              <a:lstStyle/>
              <a:p>
                <a:pPr marL="0" marR="0" lvl="0" indent="0" algn="ctr" rtl="0">
                  <a:spcBef>
                    <a:spcPts val="0"/>
                  </a:spcBef>
                  <a:spcAft>
                    <a:spcPts val="0"/>
                  </a:spcAft>
                  <a:buNone/>
                </a:pPr>
                <a:r>
                  <a:rPr lang="en-US" sz="1000" b="1">
                    <a:solidFill>
                      <a:srgbClr val="FFCCCC"/>
                    </a:solidFill>
                    <a:sym typeface="Roboto Black"/>
                  </a:rPr>
                  <a:t>Job</a:t>
                </a:r>
                <a:endParaRPr sz="1000" b="1">
                  <a:solidFill>
                    <a:srgbClr val="FFCCCC"/>
                  </a:solidFill>
                  <a:sym typeface="Roboto Black"/>
                </a:endParaRPr>
              </a:p>
              <a:p>
                <a:pPr marL="0" marR="0" lvl="0" indent="0" algn="ctr" rtl="0">
                  <a:spcBef>
                    <a:spcPts val="0"/>
                  </a:spcBef>
                  <a:spcAft>
                    <a:spcPts val="0"/>
                  </a:spcAft>
                  <a:buNone/>
                </a:pPr>
                <a:r>
                  <a:rPr lang="en-US" sz="1000" b="1">
                    <a:solidFill>
                      <a:srgbClr val="FFCCCC"/>
                    </a:solidFill>
                    <a:sym typeface="Roboto Black"/>
                  </a:rPr>
                  <a:t>Queue</a:t>
                </a:r>
                <a:endParaRPr sz="1250"/>
              </a:p>
            </p:txBody>
          </p:sp>
          <p:sp>
            <p:nvSpPr>
              <p:cNvPr id="216" name="Google Shape;216;g3f95de07730_1_39"/>
              <p:cNvSpPr/>
              <p:nvPr/>
            </p:nvSpPr>
            <p:spPr>
              <a:xfrm>
                <a:off x="2282137" y="3929886"/>
                <a:ext cx="99300" cy="12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700" b="1">
                    <a:solidFill>
                      <a:srgbClr val="FFCCCC"/>
                    </a:solidFill>
                    <a:sym typeface="Roboto"/>
                  </a:rPr>
                  <a:t>jN</a:t>
                </a:r>
                <a:endParaRPr sz="700" b="1">
                  <a:solidFill>
                    <a:srgbClr val="FFCCCC"/>
                  </a:solidFill>
                  <a:sym typeface="Roboto"/>
                </a:endParaRPr>
              </a:p>
            </p:txBody>
          </p:sp>
          <p:sp>
            <p:nvSpPr>
              <p:cNvPr id="217" name="Google Shape;217;g3f95de07730_1_39"/>
              <p:cNvSpPr/>
              <p:nvPr/>
            </p:nvSpPr>
            <p:spPr>
              <a:xfrm>
                <a:off x="2288550" y="4067241"/>
                <a:ext cx="86700" cy="12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700" b="1">
                    <a:solidFill>
                      <a:srgbClr val="FFCCCC"/>
                    </a:solidFill>
                    <a:sym typeface="Roboto"/>
                  </a:rPr>
                  <a:t>j2</a:t>
                </a:r>
                <a:endParaRPr sz="700" b="1">
                  <a:solidFill>
                    <a:srgbClr val="FFCCCC"/>
                  </a:solidFill>
                  <a:sym typeface="Roboto"/>
                </a:endParaRPr>
              </a:p>
            </p:txBody>
          </p:sp>
          <p:sp>
            <p:nvSpPr>
              <p:cNvPr id="218" name="Google Shape;218;g3f95de07730_1_39"/>
              <p:cNvSpPr/>
              <p:nvPr/>
            </p:nvSpPr>
            <p:spPr>
              <a:xfrm>
                <a:off x="2288550" y="4204596"/>
                <a:ext cx="86700" cy="12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700" b="1">
                    <a:solidFill>
                      <a:srgbClr val="FFCCCC"/>
                    </a:solidFill>
                    <a:sym typeface="Roboto"/>
                  </a:rPr>
                  <a:t>j1</a:t>
                </a:r>
                <a:endParaRPr sz="700" b="1">
                  <a:solidFill>
                    <a:srgbClr val="FFCCCC"/>
                  </a:solidFill>
                  <a:sym typeface="Roboto"/>
                </a:endParaRPr>
              </a:p>
            </p:txBody>
          </p:sp>
        </p:grpSp>
        <p:grpSp>
          <p:nvGrpSpPr>
            <p:cNvPr id="219" name="Google Shape;219;g3f95de07730_1_39"/>
            <p:cNvGrpSpPr/>
            <p:nvPr/>
          </p:nvGrpSpPr>
          <p:grpSpPr>
            <a:xfrm>
              <a:off x="3405447" y="2401622"/>
              <a:ext cx="1355349" cy="1581425"/>
              <a:chOff x="2590800" y="1219200"/>
              <a:chExt cx="1839758" cy="2146634"/>
            </a:xfrm>
          </p:grpSpPr>
          <p:sp>
            <p:nvSpPr>
              <p:cNvPr id="220" name="Google Shape;220;g3f95de07730_1_39"/>
              <p:cNvSpPr/>
              <p:nvPr/>
            </p:nvSpPr>
            <p:spPr>
              <a:xfrm>
                <a:off x="2590801" y="1692006"/>
                <a:ext cx="1839757" cy="1084500"/>
              </a:xfrm>
              <a:custGeom>
                <a:avLst/>
                <a:gdLst/>
                <a:ahLst/>
                <a:cxnLst/>
                <a:rect l="l" t="t" r="r" b="b"/>
                <a:pathLst>
                  <a:path w="10941" h="10000" extrusionOk="0">
                    <a:moveTo>
                      <a:pt x="0" y="6495"/>
                    </a:moveTo>
                    <a:lnTo>
                      <a:pt x="7093" y="0"/>
                    </a:lnTo>
                    <a:lnTo>
                      <a:pt x="10941" y="3707"/>
                    </a:lnTo>
                    <a:lnTo>
                      <a:pt x="3815" y="10000"/>
                    </a:lnTo>
                    <a:lnTo>
                      <a:pt x="0" y="6495"/>
                    </a:lnTo>
                    <a:close/>
                  </a:path>
                </a:pathLst>
              </a:custGeom>
              <a:gradFill>
                <a:gsLst>
                  <a:gs pos="0">
                    <a:srgbClr val="3F3F3F"/>
                  </a:gs>
                  <a:gs pos="30000">
                    <a:srgbClr val="3F3F3F"/>
                  </a:gs>
                  <a:gs pos="50000">
                    <a:srgbClr val="6A6A6A"/>
                  </a:gs>
                  <a:gs pos="100000">
                    <a:srgbClr val="7F7F7F"/>
                  </a:gs>
                </a:gsLst>
                <a:lin ang="13500032" scaled="0"/>
              </a:gradFill>
              <a:ln w="9525" cap="flat" cmpd="sng">
                <a:solidFill>
                  <a:srgbClr val="59595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21" name="Google Shape;221;g3f95de07730_1_39"/>
              <p:cNvSpPr/>
              <p:nvPr/>
            </p:nvSpPr>
            <p:spPr>
              <a:xfrm>
                <a:off x="3235921" y="2086053"/>
                <a:ext cx="1192604" cy="1279780"/>
              </a:xfrm>
              <a:custGeom>
                <a:avLst/>
                <a:gdLst/>
                <a:ahLst/>
                <a:cxnLst/>
                <a:rect l="l" t="t" r="r" b="b"/>
                <a:pathLst>
                  <a:path w="684" h="734" extrusionOk="0">
                    <a:moveTo>
                      <a:pt x="684" y="330"/>
                    </a:moveTo>
                    <a:lnTo>
                      <a:pt x="0" y="734"/>
                    </a:lnTo>
                    <a:lnTo>
                      <a:pt x="0" y="392"/>
                    </a:lnTo>
                    <a:lnTo>
                      <a:pt x="684" y="0"/>
                    </a:lnTo>
                    <a:lnTo>
                      <a:pt x="684" y="330"/>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22" name="Google Shape;222;g3f95de07730_1_39"/>
              <p:cNvSpPr/>
              <p:nvPr/>
            </p:nvSpPr>
            <p:spPr>
              <a:xfrm>
                <a:off x="2590800" y="2396408"/>
                <a:ext cx="645121" cy="969426"/>
              </a:xfrm>
              <a:custGeom>
                <a:avLst/>
                <a:gdLst/>
                <a:ahLst/>
                <a:cxnLst/>
                <a:rect l="l" t="t" r="r" b="b"/>
                <a:pathLst>
                  <a:path w="370" h="556" extrusionOk="0">
                    <a:moveTo>
                      <a:pt x="0" y="0"/>
                    </a:moveTo>
                    <a:lnTo>
                      <a:pt x="368" y="218"/>
                    </a:lnTo>
                    <a:lnTo>
                      <a:pt x="370" y="556"/>
                    </a:lnTo>
                    <a:lnTo>
                      <a:pt x="2" y="334"/>
                    </a:lnTo>
                    <a:lnTo>
                      <a:pt x="0" y="0"/>
                    </a:lnTo>
                    <a:close/>
                  </a:path>
                </a:pathLst>
              </a:custGeom>
              <a:gradFill>
                <a:gsLst>
                  <a:gs pos="0">
                    <a:srgbClr val="BFBFBF"/>
                  </a:gs>
                  <a:gs pos="830">
                    <a:srgbClr val="BFBFBF"/>
                  </a:gs>
                  <a:gs pos="37000">
                    <a:srgbClr val="E2E2E2"/>
                  </a:gs>
                  <a:gs pos="60000">
                    <a:srgbClr val="F2F2F2"/>
                  </a:gs>
                  <a:gs pos="99000">
                    <a:srgbClr val="BFBFBF"/>
                  </a:gs>
                  <a:gs pos="100000">
                    <a:srgbClr val="BFBFBF"/>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23" name="Google Shape;223;g3f95de07730_1_39"/>
              <p:cNvSpPr/>
              <p:nvPr/>
            </p:nvSpPr>
            <p:spPr>
              <a:xfrm>
                <a:off x="2590800" y="2344101"/>
                <a:ext cx="728813" cy="428918"/>
              </a:xfrm>
              <a:custGeom>
                <a:avLst/>
                <a:gdLst/>
                <a:ahLst/>
                <a:cxnLst/>
                <a:rect l="l" t="t" r="r" b="b"/>
                <a:pathLst>
                  <a:path w="418" h="246" extrusionOk="0">
                    <a:moveTo>
                      <a:pt x="50" y="0"/>
                    </a:moveTo>
                    <a:lnTo>
                      <a:pt x="418" y="216"/>
                    </a:lnTo>
                    <a:lnTo>
                      <a:pt x="366" y="246"/>
                    </a:lnTo>
                    <a:lnTo>
                      <a:pt x="0" y="30"/>
                    </a:lnTo>
                    <a:lnTo>
                      <a:pt x="50" y="0"/>
                    </a:lnTo>
                    <a:close/>
                  </a:path>
                </a:pathLst>
              </a:custGeom>
              <a:gradFill>
                <a:gsLst>
                  <a:gs pos="0">
                    <a:srgbClr val="CACBCE"/>
                  </a:gs>
                  <a:gs pos="47000">
                    <a:srgbClr val="BFBFBF"/>
                  </a:gs>
                  <a:gs pos="57000">
                    <a:srgbClr val="D8D8D8"/>
                  </a:gs>
                  <a:gs pos="77000">
                    <a:srgbClr val="BFBFBF"/>
                  </a:gs>
                  <a:gs pos="100000">
                    <a:srgbClr val="BFBFBF"/>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24" name="Google Shape;224;g3f95de07730_1_39"/>
              <p:cNvSpPr/>
              <p:nvPr/>
            </p:nvSpPr>
            <p:spPr>
              <a:xfrm>
                <a:off x="3228947" y="2720713"/>
                <a:ext cx="97640" cy="641634"/>
              </a:xfrm>
              <a:custGeom>
                <a:avLst/>
                <a:gdLst/>
                <a:ahLst/>
                <a:cxnLst/>
                <a:rect l="l" t="t" r="r" b="b"/>
                <a:pathLst>
                  <a:path w="56" h="368" extrusionOk="0">
                    <a:moveTo>
                      <a:pt x="4" y="368"/>
                    </a:moveTo>
                    <a:lnTo>
                      <a:pt x="0" y="30"/>
                    </a:lnTo>
                    <a:lnTo>
                      <a:pt x="52" y="0"/>
                    </a:lnTo>
                    <a:lnTo>
                      <a:pt x="56" y="338"/>
                    </a:lnTo>
                    <a:lnTo>
                      <a:pt x="4" y="368"/>
                    </a:lnTo>
                    <a:close/>
                  </a:path>
                </a:pathLst>
              </a:custGeom>
              <a:gradFill>
                <a:gsLst>
                  <a:gs pos="0">
                    <a:srgbClr val="CACBCE"/>
                  </a:gs>
                  <a:gs pos="19000">
                    <a:srgbClr val="D8D8D8"/>
                  </a:gs>
                  <a:gs pos="67000">
                    <a:srgbClr val="F2F2F2"/>
                  </a:gs>
                  <a:gs pos="100000">
                    <a:srgbClr val="BFBFBF"/>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grpSp>
            <p:nvGrpSpPr>
              <p:cNvPr id="225" name="Google Shape;225;g3f95de07730_1_39"/>
              <p:cNvGrpSpPr/>
              <p:nvPr/>
            </p:nvGrpSpPr>
            <p:grpSpPr>
              <a:xfrm>
                <a:off x="2611587" y="2434689"/>
                <a:ext cx="261513" cy="282434"/>
                <a:chOff x="2858178" y="1605236"/>
                <a:chExt cx="484732" cy="523510"/>
              </a:xfrm>
            </p:grpSpPr>
            <p:sp>
              <p:nvSpPr>
                <p:cNvPr id="226" name="Google Shape;226;g3f95de07730_1_39"/>
                <p:cNvSpPr/>
                <p:nvPr/>
              </p:nvSpPr>
              <p:spPr>
                <a:xfrm>
                  <a:off x="3013292" y="1702183"/>
                  <a:ext cx="64631" cy="155114"/>
                </a:xfrm>
                <a:custGeom>
                  <a:avLst/>
                  <a:gdLst/>
                  <a:ahLst/>
                  <a:cxnLst/>
                  <a:rect l="l" t="t" r="r" b="b"/>
                  <a:pathLst>
                    <a:path w="20" h="48" extrusionOk="0">
                      <a:moveTo>
                        <a:pt x="20" y="12"/>
                      </a:moveTo>
                      <a:lnTo>
                        <a:pt x="0" y="0"/>
                      </a:lnTo>
                      <a:lnTo>
                        <a:pt x="0" y="36"/>
                      </a:lnTo>
                      <a:lnTo>
                        <a:pt x="20" y="4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27" name="Google Shape;227;g3f95de07730_1_39"/>
                <p:cNvSpPr/>
                <p:nvPr/>
              </p:nvSpPr>
              <p:spPr>
                <a:xfrm>
                  <a:off x="3103776" y="1760350"/>
                  <a:ext cx="239134" cy="368396"/>
                </a:xfrm>
                <a:custGeom>
                  <a:avLst/>
                  <a:gdLst/>
                  <a:ahLst/>
                  <a:cxnLst/>
                  <a:rect l="l" t="t" r="r" b="b"/>
                  <a:pathLst>
                    <a:path w="74" h="114" extrusionOk="0">
                      <a:moveTo>
                        <a:pt x="0" y="36"/>
                      </a:moveTo>
                      <a:lnTo>
                        <a:pt x="0" y="36"/>
                      </a:lnTo>
                      <a:lnTo>
                        <a:pt x="0" y="36"/>
                      </a:lnTo>
                      <a:lnTo>
                        <a:pt x="0" y="70"/>
                      </a:lnTo>
                      <a:lnTo>
                        <a:pt x="74" y="114"/>
                      </a:lnTo>
                      <a:lnTo>
                        <a:pt x="74" y="44"/>
                      </a:lnTo>
                      <a:lnTo>
                        <a:pt x="0" y="0"/>
                      </a:lnTo>
                      <a:lnTo>
                        <a:pt x="0"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28" name="Google Shape;228;g3f95de07730_1_39"/>
                <p:cNvSpPr/>
                <p:nvPr/>
              </p:nvSpPr>
              <p:spPr>
                <a:xfrm>
                  <a:off x="2942199" y="1656941"/>
                  <a:ext cx="45242" cy="148651"/>
                </a:xfrm>
                <a:custGeom>
                  <a:avLst/>
                  <a:gdLst/>
                  <a:ahLst/>
                  <a:cxnLst/>
                  <a:rect l="l" t="t" r="r" b="b"/>
                  <a:pathLst>
                    <a:path w="14" h="46" extrusionOk="0">
                      <a:moveTo>
                        <a:pt x="14" y="10"/>
                      </a:moveTo>
                      <a:lnTo>
                        <a:pt x="0" y="0"/>
                      </a:lnTo>
                      <a:lnTo>
                        <a:pt x="0" y="36"/>
                      </a:lnTo>
                      <a:lnTo>
                        <a:pt x="14" y="46"/>
                      </a:lnTo>
                      <a:lnTo>
                        <a:pt x="14"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29" name="Google Shape;229;g3f95de07730_1_39"/>
                <p:cNvSpPr/>
                <p:nvPr/>
              </p:nvSpPr>
              <p:spPr>
                <a:xfrm>
                  <a:off x="2858178" y="1605236"/>
                  <a:ext cx="58168" cy="148651"/>
                </a:xfrm>
                <a:custGeom>
                  <a:avLst/>
                  <a:gdLst/>
                  <a:ahLst/>
                  <a:cxnLst/>
                  <a:rect l="l" t="t" r="r" b="b"/>
                  <a:pathLst>
                    <a:path w="18" h="46" extrusionOk="0">
                      <a:moveTo>
                        <a:pt x="2" y="38"/>
                      </a:moveTo>
                      <a:lnTo>
                        <a:pt x="18" y="46"/>
                      </a:lnTo>
                      <a:lnTo>
                        <a:pt x="18" y="12"/>
                      </a:lnTo>
                      <a:lnTo>
                        <a:pt x="0" y="0"/>
                      </a:lnTo>
                      <a:lnTo>
                        <a:pt x="0" y="40"/>
                      </a:lnTo>
                      <a:lnTo>
                        <a:pt x="2" y="38"/>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30" name="Google Shape;230;g3f95de07730_1_39"/>
                <p:cNvSpPr/>
                <p:nvPr/>
              </p:nvSpPr>
              <p:spPr>
                <a:xfrm>
                  <a:off x="2858178" y="1753887"/>
                  <a:ext cx="58168" cy="122799"/>
                </a:xfrm>
                <a:custGeom>
                  <a:avLst/>
                  <a:gdLst/>
                  <a:ahLst/>
                  <a:cxnLst/>
                  <a:rect l="l" t="t" r="r" b="b"/>
                  <a:pathLst>
                    <a:path w="18" h="38" extrusionOk="0">
                      <a:moveTo>
                        <a:pt x="18" y="10"/>
                      </a:moveTo>
                      <a:lnTo>
                        <a:pt x="0" y="0"/>
                      </a:lnTo>
                      <a:lnTo>
                        <a:pt x="0" y="28"/>
                      </a:lnTo>
                      <a:lnTo>
                        <a:pt x="18" y="38"/>
                      </a:lnTo>
                      <a:lnTo>
                        <a:pt x="18"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31" name="Google Shape;231;g3f95de07730_1_39"/>
                <p:cNvSpPr/>
                <p:nvPr/>
              </p:nvSpPr>
              <p:spPr>
                <a:xfrm>
                  <a:off x="3013292" y="1850833"/>
                  <a:ext cx="64631" cy="122799"/>
                </a:xfrm>
                <a:custGeom>
                  <a:avLst/>
                  <a:gdLst/>
                  <a:ahLst/>
                  <a:cxnLst/>
                  <a:rect l="l" t="t" r="r" b="b"/>
                  <a:pathLst>
                    <a:path w="20" h="38" extrusionOk="0">
                      <a:moveTo>
                        <a:pt x="20" y="12"/>
                      </a:moveTo>
                      <a:lnTo>
                        <a:pt x="0" y="0"/>
                      </a:lnTo>
                      <a:lnTo>
                        <a:pt x="0" y="26"/>
                      </a:lnTo>
                      <a:lnTo>
                        <a:pt x="20" y="3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32" name="Google Shape;232;g3f95de07730_1_39"/>
                <p:cNvSpPr/>
                <p:nvPr/>
              </p:nvSpPr>
              <p:spPr>
                <a:xfrm>
                  <a:off x="2942199" y="1805592"/>
                  <a:ext cx="45242" cy="116335"/>
                </a:xfrm>
                <a:custGeom>
                  <a:avLst/>
                  <a:gdLst/>
                  <a:ahLst/>
                  <a:cxnLst/>
                  <a:rect l="l" t="t" r="r" b="b"/>
                  <a:pathLst>
                    <a:path w="14" h="36" extrusionOk="0">
                      <a:moveTo>
                        <a:pt x="14" y="36"/>
                      </a:moveTo>
                      <a:lnTo>
                        <a:pt x="14" y="8"/>
                      </a:lnTo>
                      <a:lnTo>
                        <a:pt x="0" y="0"/>
                      </a:lnTo>
                      <a:lnTo>
                        <a:pt x="0" y="26"/>
                      </a:lnTo>
                      <a:lnTo>
                        <a:pt x="14"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grpSp>
          <p:sp>
            <p:nvSpPr>
              <p:cNvPr id="233" name="Google Shape;233;g3f95de07730_1_39"/>
              <p:cNvSpPr/>
              <p:nvPr/>
            </p:nvSpPr>
            <p:spPr>
              <a:xfrm>
                <a:off x="3180127" y="2773020"/>
                <a:ext cx="31384" cy="80204"/>
              </a:xfrm>
              <a:custGeom>
                <a:avLst/>
                <a:gdLst/>
                <a:ahLst/>
                <a:cxnLst/>
                <a:rect l="l" t="t" r="r" b="b"/>
                <a:pathLst>
                  <a:path w="18" h="46" extrusionOk="0">
                    <a:moveTo>
                      <a:pt x="2" y="38"/>
                    </a:moveTo>
                    <a:lnTo>
                      <a:pt x="18" y="46"/>
                    </a:lnTo>
                    <a:lnTo>
                      <a:pt x="18" y="12"/>
                    </a:lnTo>
                    <a:lnTo>
                      <a:pt x="0" y="0"/>
                    </a:lnTo>
                    <a:lnTo>
                      <a:pt x="0" y="40"/>
                    </a:lnTo>
                    <a:lnTo>
                      <a:pt x="2" y="38"/>
                    </a:lnTo>
                    <a:close/>
                  </a:path>
                </a:pathLst>
              </a:custGeom>
              <a:gradFill>
                <a:gsLst>
                  <a:gs pos="0">
                    <a:srgbClr val="006C2D"/>
                  </a:gs>
                  <a:gs pos="50000">
                    <a:srgbClr val="009E40"/>
                  </a:gs>
                  <a:gs pos="100000">
                    <a:srgbClr val="00BD4E"/>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34" name="Google Shape;234;g3f95de07730_1_39"/>
              <p:cNvSpPr/>
              <p:nvPr/>
            </p:nvSpPr>
            <p:spPr>
              <a:xfrm>
                <a:off x="3180127" y="2853224"/>
                <a:ext cx="31384" cy="66256"/>
              </a:xfrm>
              <a:custGeom>
                <a:avLst/>
                <a:gdLst/>
                <a:ahLst/>
                <a:cxnLst/>
                <a:rect l="l" t="t" r="r" b="b"/>
                <a:pathLst>
                  <a:path w="18" h="38" extrusionOk="0">
                    <a:moveTo>
                      <a:pt x="18" y="10"/>
                    </a:moveTo>
                    <a:lnTo>
                      <a:pt x="0" y="0"/>
                    </a:lnTo>
                    <a:lnTo>
                      <a:pt x="0" y="28"/>
                    </a:lnTo>
                    <a:lnTo>
                      <a:pt x="18" y="38"/>
                    </a:lnTo>
                    <a:lnTo>
                      <a:pt x="18" y="10"/>
                    </a:lnTo>
                    <a:close/>
                  </a:path>
                </a:pathLst>
              </a:custGeom>
              <a:gradFill>
                <a:gsLst>
                  <a:gs pos="0">
                    <a:srgbClr val="770000"/>
                  </a:gs>
                  <a:gs pos="50000">
                    <a:srgbClr val="AC0000"/>
                  </a:gs>
                  <a:gs pos="100000">
                    <a:srgbClr val="CE0000"/>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35" name="Google Shape;235;g3f95de07730_1_39"/>
              <p:cNvSpPr/>
              <p:nvPr/>
            </p:nvSpPr>
            <p:spPr>
              <a:xfrm>
                <a:off x="2590800" y="1459029"/>
                <a:ext cx="1833535" cy="1084500"/>
              </a:xfrm>
              <a:custGeom>
                <a:avLst/>
                <a:gdLst/>
                <a:ahLst/>
                <a:cxnLst/>
                <a:rect l="l" t="t" r="r" b="b"/>
                <a:pathLst>
                  <a:path w="10799" h="10000" extrusionOk="0">
                    <a:moveTo>
                      <a:pt x="0" y="6495"/>
                    </a:moveTo>
                    <a:lnTo>
                      <a:pt x="7025" y="0"/>
                    </a:lnTo>
                    <a:lnTo>
                      <a:pt x="10799" y="3682"/>
                    </a:lnTo>
                    <a:lnTo>
                      <a:pt x="3779" y="10000"/>
                    </a:lnTo>
                    <a:lnTo>
                      <a:pt x="0" y="6495"/>
                    </a:lnTo>
                    <a:close/>
                  </a:path>
                </a:pathLst>
              </a:custGeom>
              <a:gradFill>
                <a:gsLst>
                  <a:gs pos="0">
                    <a:srgbClr val="3F3F3F"/>
                  </a:gs>
                  <a:gs pos="30000">
                    <a:srgbClr val="3F3F3F"/>
                  </a:gs>
                  <a:gs pos="50000">
                    <a:srgbClr val="6A6A6A"/>
                  </a:gs>
                  <a:gs pos="100000">
                    <a:srgbClr val="7F7F7F"/>
                  </a:gs>
                </a:gsLst>
                <a:lin ang="13500032" scaled="0"/>
              </a:gradFill>
              <a:ln w="9525" cap="flat" cmpd="sng">
                <a:solidFill>
                  <a:srgbClr val="59595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36" name="Google Shape;236;g3f95de07730_1_39"/>
              <p:cNvSpPr/>
              <p:nvPr/>
            </p:nvSpPr>
            <p:spPr>
              <a:xfrm>
                <a:off x="3235921" y="1853076"/>
                <a:ext cx="1192604" cy="878761"/>
              </a:xfrm>
              <a:custGeom>
                <a:avLst/>
                <a:gdLst/>
                <a:ahLst/>
                <a:cxnLst/>
                <a:rect l="l" t="t" r="r" b="b"/>
                <a:pathLst>
                  <a:path w="684" h="504" extrusionOk="0">
                    <a:moveTo>
                      <a:pt x="684" y="100"/>
                    </a:moveTo>
                    <a:lnTo>
                      <a:pt x="0" y="504"/>
                    </a:lnTo>
                    <a:lnTo>
                      <a:pt x="0" y="392"/>
                    </a:lnTo>
                    <a:lnTo>
                      <a:pt x="684" y="0"/>
                    </a:lnTo>
                    <a:lnTo>
                      <a:pt x="684" y="100"/>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37" name="Google Shape;237;g3f95de07730_1_39"/>
              <p:cNvSpPr/>
              <p:nvPr/>
            </p:nvSpPr>
            <p:spPr>
              <a:xfrm>
                <a:off x="2590800" y="2163432"/>
                <a:ext cx="645121" cy="568404"/>
              </a:xfrm>
              <a:custGeom>
                <a:avLst/>
                <a:gdLst/>
                <a:ahLst/>
                <a:cxnLst/>
                <a:rect l="l" t="t" r="r" b="b"/>
                <a:pathLst>
                  <a:path w="370" h="326" extrusionOk="0">
                    <a:moveTo>
                      <a:pt x="0" y="0"/>
                    </a:moveTo>
                    <a:lnTo>
                      <a:pt x="368" y="218"/>
                    </a:lnTo>
                    <a:lnTo>
                      <a:pt x="370" y="326"/>
                    </a:lnTo>
                    <a:lnTo>
                      <a:pt x="2" y="104"/>
                    </a:lnTo>
                    <a:lnTo>
                      <a:pt x="0" y="0"/>
                    </a:lnTo>
                    <a:close/>
                  </a:path>
                </a:pathLst>
              </a:custGeom>
              <a:gradFill>
                <a:gsLst>
                  <a:gs pos="0">
                    <a:srgbClr val="BFBFBF"/>
                  </a:gs>
                  <a:gs pos="830">
                    <a:srgbClr val="BFBFBF"/>
                  </a:gs>
                  <a:gs pos="37000">
                    <a:srgbClr val="E2E2E2"/>
                  </a:gs>
                  <a:gs pos="60000">
                    <a:srgbClr val="F2F2F2"/>
                  </a:gs>
                  <a:gs pos="99000">
                    <a:srgbClr val="BFBFBF"/>
                  </a:gs>
                  <a:gs pos="100000">
                    <a:srgbClr val="BFBFBF"/>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38" name="Google Shape;238;g3f95de07730_1_39"/>
              <p:cNvSpPr/>
              <p:nvPr/>
            </p:nvSpPr>
            <p:spPr>
              <a:xfrm>
                <a:off x="2590800" y="2111124"/>
                <a:ext cx="728813" cy="428918"/>
              </a:xfrm>
              <a:custGeom>
                <a:avLst/>
                <a:gdLst/>
                <a:ahLst/>
                <a:cxnLst/>
                <a:rect l="l" t="t" r="r" b="b"/>
                <a:pathLst>
                  <a:path w="418" h="246" extrusionOk="0">
                    <a:moveTo>
                      <a:pt x="50" y="0"/>
                    </a:moveTo>
                    <a:lnTo>
                      <a:pt x="418" y="216"/>
                    </a:lnTo>
                    <a:lnTo>
                      <a:pt x="366" y="246"/>
                    </a:lnTo>
                    <a:lnTo>
                      <a:pt x="0" y="30"/>
                    </a:lnTo>
                    <a:lnTo>
                      <a:pt x="50" y="0"/>
                    </a:lnTo>
                    <a:close/>
                  </a:path>
                </a:pathLst>
              </a:custGeom>
              <a:gradFill>
                <a:gsLst>
                  <a:gs pos="0">
                    <a:srgbClr val="CACBCE"/>
                  </a:gs>
                  <a:gs pos="47000">
                    <a:srgbClr val="BFBFBF"/>
                  </a:gs>
                  <a:gs pos="57000">
                    <a:srgbClr val="D8D8D8"/>
                  </a:gs>
                  <a:gs pos="77000">
                    <a:srgbClr val="BFBFBF"/>
                  </a:gs>
                  <a:gs pos="100000">
                    <a:srgbClr val="BFBFBF"/>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39" name="Google Shape;239;g3f95de07730_1_39"/>
              <p:cNvSpPr/>
              <p:nvPr/>
            </p:nvSpPr>
            <p:spPr>
              <a:xfrm>
                <a:off x="3228947" y="2487736"/>
                <a:ext cx="97640" cy="244100"/>
              </a:xfrm>
              <a:custGeom>
                <a:avLst/>
                <a:gdLst/>
                <a:ahLst/>
                <a:cxnLst/>
                <a:rect l="l" t="t" r="r" b="b"/>
                <a:pathLst>
                  <a:path w="56" h="140" extrusionOk="0">
                    <a:moveTo>
                      <a:pt x="4" y="140"/>
                    </a:moveTo>
                    <a:lnTo>
                      <a:pt x="0" y="30"/>
                    </a:lnTo>
                    <a:lnTo>
                      <a:pt x="52" y="0"/>
                    </a:lnTo>
                    <a:lnTo>
                      <a:pt x="56" y="110"/>
                    </a:lnTo>
                    <a:lnTo>
                      <a:pt x="4" y="140"/>
                    </a:lnTo>
                    <a:close/>
                  </a:path>
                </a:pathLst>
              </a:custGeom>
              <a:gradFill>
                <a:gsLst>
                  <a:gs pos="0">
                    <a:srgbClr val="CACBCE"/>
                  </a:gs>
                  <a:gs pos="19000">
                    <a:srgbClr val="D8D8D8"/>
                  </a:gs>
                  <a:gs pos="67000">
                    <a:srgbClr val="F2F2F2"/>
                  </a:gs>
                  <a:gs pos="100000">
                    <a:srgbClr val="BFBFBF"/>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grpSp>
            <p:nvGrpSpPr>
              <p:cNvPr id="240" name="Google Shape;240;g3f95de07730_1_39"/>
              <p:cNvGrpSpPr/>
              <p:nvPr/>
            </p:nvGrpSpPr>
            <p:grpSpPr>
              <a:xfrm>
                <a:off x="2611540" y="2201617"/>
                <a:ext cx="261513" cy="282433"/>
                <a:chOff x="3848778" y="3662637"/>
                <a:chExt cx="484732" cy="523509"/>
              </a:xfrm>
            </p:grpSpPr>
            <p:sp>
              <p:nvSpPr>
                <p:cNvPr id="241" name="Google Shape;241;g3f95de07730_1_39"/>
                <p:cNvSpPr/>
                <p:nvPr/>
              </p:nvSpPr>
              <p:spPr>
                <a:xfrm>
                  <a:off x="4003892" y="3759583"/>
                  <a:ext cx="64631" cy="155114"/>
                </a:xfrm>
                <a:custGeom>
                  <a:avLst/>
                  <a:gdLst/>
                  <a:ahLst/>
                  <a:cxnLst/>
                  <a:rect l="l" t="t" r="r" b="b"/>
                  <a:pathLst>
                    <a:path w="20" h="48" extrusionOk="0">
                      <a:moveTo>
                        <a:pt x="20" y="12"/>
                      </a:moveTo>
                      <a:lnTo>
                        <a:pt x="0" y="0"/>
                      </a:lnTo>
                      <a:lnTo>
                        <a:pt x="0" y="36"/>
                      </a:lnTo>
                      <a:lnTo>
                        <a:pt x="20" y="4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42" name="Google Shape;242;g3f95de07730_1_39"/>
                <p:cNvSpPr/>
                <p:nvPr/>
              </p:nvSpPr>
              <p:spPr>
                <a:xfrm>
                  <a:off x="4094376" y="3817750"/>
                  <a:ext cx="239134" cy="368396"/>
                </a:xfrm>
                <a:custGeom>
                  <a:avLst/>
                  <a:gdLst/>
                  <a:ahLst/>
                  <a:cxnLst/>
                  <a:rect l="l" t="t" r="r" b="b"/>
                  <a:pathLst>
                    <a:path w="74" h="114" extrusionOk="0">
                      <a:moveTo>
                        <a:pt x="0" y="36"/>
                      </a:moveTo>
                      <a:lnTo>
                        <a:pt x="0" y="36"/>
                      </a:lnTo>
                      <a:lnTo>
                        <a:pt x="0" y="36"/>
                      </a:lnTo>
                      <a:lnTo>
                        <a:pt x="0" y="70"/>
                      </a:lnTo>
                      <a:lnTo>
                        <a:pt x="74" y="114"/>
                      </a:lnTo>
                      <a:lnTo>
                        <a:pt x="74" y="44"/>
                      </a:lnTo>
                      <a:lnTo>
                        <a:pt x="0" y="0"/>
                      </a:lnTo>
                      <a:lnTo>
                        <a:pt x="0"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43" name="Google Shape;243;g3f95de07730_1_39"/>
                <p:cNvSpPr/>
                <p:nvPr/>
              </p:nvSpPr>
              <p:spPr>
                <a:xfrm>
                  <a:off x="3932799" y="3714341"/>
                  <a:ext cx="45242" cy="148651"/>
                </a:xfrm>
                <a:custGeom>
                  <a:avLst/>
                  <a:gdLst/>
                  <a:ahLst/>
                  <a:cxnLst/>
                  <a:rect l="l" t="t" r="r" b="b"/>
                  <a:pathLst>
                    <a:path w="14" h="46" extrusionOk="0">
                      <a:moveTo>
                        <a:pt x="14" y="10"/>
                      </a:moveTo>
                      <a:lnTo>
                        <a:pt x="0" y="0"/>
                      </a:lnTo>
                      <a:lnTo>
                        <a:pt x="0" y="36"/>
                      </a:lnTo>
                      <a:lnTo>
                        <a:pt x="14" y="46"/>
                      </a:lnTo>
                      <a:lnTo>
                        <a:pt x="14"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44" name="Google Shape;244;g3f95de07730_1_39"/>
                <p:cNvSpPr/>
                <p:nvPr/>
              </p:nvSpPr>
              <p:spPr>
                <a:xfrm>
                  <a:off x="3848778" y="3662637"/>
                  <a:ext cx="58168" cy="148651"/>
                </a:xfrm>
                <a:custGeom>
                  <a:avLst/>
                  <a:gdLst/>
                  <a:ahLst/>
                  <a:cxnLst/>
                  <a:rect l="l" t="t" r="r" b="b"/>
                  <a:pathLst>
                    <a:path w="18" h="46" extrusionOk="0">
                      <a:moveTo>
                        <a:pt x="2" y="38"/>
                      </a:moveTo>
                      <a:lnTo>
                        <a:pt x="18" y="46"/>
                      </a:lnTo>
                      <a:lnTo>
                        <a:pt x="18" y="12"/>
                      </a:lnTo>
                      <a:lnTo>
                        <a:pt x="0" y="0"/>
                      </a:lnTo>
                      <a:lnTo>
                        <a:pt x="0" y="40"/>
                      </a:lnTo>
                      <a:lnTo>
                        <a:pt x="2" y="38"/>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45" name="Google Shape;245;g3f95de07730_1_39"/>
                <p:cNvSpPr/>
                <p:nvPr/>
              </p:nvSpPr>
              <p:spPr>
                <a:xfrm>
                  <a:off x="3848778" y="3811287"/>
                  <a:ext cx="58168" cy="122799"/>
                </a:xfrm>
                <a:custGeom>
                  <a:avLst/>
                  <a:gdLst/>
                  <a:ahLst/>
                  <a:cxnLst/>
                  <a:rect l="l" t="t" r="r" b="b"/>
                  <a:pathLst>
                    <a:path w="18" h="38" extrusionOk="0">
                      <a:moveTo>
                        <a:pt x="18" y="10"/>
                      </a:moveTo>
                      <a:lnTo>
                        <a:pt x="0" y="0"/>
                      </a:lnTo>
                      <a:lnTo>
                        <a:pt x="0" y="28"/>
                      </a:lnTo>
                      <a:lnTo>
                        <a:pt x="18" y="38"/>
                      </a:lnTo>
                      <a:lnTo>
                        <a:pt x="18"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46" name="Google Shape;246;g3f95de07730_1_39"/>
                <p:cNvSpPr/>
                <p:nvPr/>
              </p:nvSpPr>
              <p:spPr>
                <a:xfrm>
                  <a:off x="4003892" y="3908234"/>
                  <a:ext cx="64631" cy="122799"/>
                </a:xfrm>
                <a:custGeom>
                  <a:avLst/>
                  <a:gdLst/>
                  <a:ahLst/>
                  <a:cxnLst/>
                  <a:rect l="l" t="t" r="r" b="b"/>
                  <a:pathLst>
                    <a:path w="20" h="38" extrusionOk="0">
                      <a:moveTo>
                        <a:pt x="20" y="12"/>
                      </a:moveTo>
                      <a:lnTo>
                        <a:pt x="0" y="0"/>
                      </a:lnTo>
                      <a:lnTo>
                        <a:pt x="0" y="26"/>
                      </a:lnTo>
                      <a:lnTo>
                        <a:pt x="20" y="3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47" name="Google Shape;247;g3f95de07730_1_39"/>
                <p:cNvSpPr/>
                <p:nvPr/>
              </p:nvSpPr>
              <p:spPr>
                <a:xfrm>
                  <a:off x="3932799" y="3862992"/>
                  <a:ext cx="45242" cy="116335"/>
                </a:xfrm>
                <a:custGeom>
                  <a:avLst/>
                  <a:gdLst/>
                  <a:ahLst/>
                  <a:cxnLst/>
                  <a:rect l="l" t="t" r="r" b="b"/>
                  <a:pathLst>
                    <a:path w="14" h="36" extrusionOk="0">
                      <a:moveTo>
                        <a:pt x="14" y="36"/>
                      </a:moveTo>
                      <a:lnTo>
                        <a:pt x="14" y="8"/>
                      </a:lnTo>
                      <a:lnTo>
                        <a:pt x="0" y="0"/>
                      </a:lnTo>
                      <a:lnTo>
                        <a:pt x="0" y="26"/>
                      </a:lnTo>
                      <a:lnTo>
                        <a:pt x="14"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grpSp>
          <p:sp>
            <p:nvSpPr>
              <p:cNvPr id="248" name="Google Shape;248;g3f95de07730_1_39"/>
              <p:cNvSpPr/>
              <p:nvPr/>
            </p:nvSpPr>
            <p:spPr>
              <a:xfrm>
                <a:off x="3180127" y="2540043"/>
                <a:ext cx="31384" cy="80204"/>
              </a:xfrm>
              <a:custGeom>
                <a:avLst/>
                <a:gdLst/>
                <a:ahLst/>
                <a:cxnLst/>
                <a:rect l="l" t="t" r="r" b="b"/>
                <a:pathLst>
                  <a:path w="18" h="46" extrusionOk="0">
                    <a:moveTo>
                      <a:pt x="2" y="38"/>
                    </a:moveTo>
                    <a:lnTo>
                      <a:pt x="18" y="46"/>
                    </a:lnTo>
                    <a:lnTo>
                      <a:pt x="18" y="12"/>
                    </a:lnTo>
                    <a:lnTo>
                      <a:pt x="0" y="0"/>
                    </a:lnTo>
                    <a:lnTo>
                      <a:pt x="0" y="40"/>
                    </a:lnTo>
                    <a:lnTo>
                      <a:pt x="2" y="38"/>
                    </a:lnTo>
                    <a:close/>
                  </a:path>
                </a:pathLst>
              </a:custGeom>
              <a:gradFill>
                <a:gsLst>
                  <a:gs pos="0">
                    <a:srgbClr val="006C2D"/>
                  </a:gs>
                  <a:gs pos="50000">
                    <a:srgbClr val="009E40"/>
                  </a:gs>
                  <a:gs pos="100000">
                    <a:srgbClr val="00BD4E"/>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49" name="Google Shape;249;g3f95de07730_1_39"/>
              <p:cNvSpPr/>
              <p:nvPr/>
            </p:nvSpPr>
            <p:spPr>
              <a:xfrm>
                <a:off x="3180127" y="2620247"/>
                <a:ext cx="31384" cy="66256"/>
              </a:xfrm>
              <a:custGeom>
                <a:avLst/>
                <a:gdLst/>
                <a:ahLst/>
                <a:cxnLst/>
                <a:rect l="l" t="t" r="r" b="b"/>
                <a:pathLst>
                  <a:path w="18" h="38" extrusionOk="0">
                    <a:moveTo>
                      <a:pt x="18" y="10"/>
                    </a:moveTo>
                    <a:lnTo>
                      <a:pt x="0" y="0"/>
                    </a:lnTo>
                    <a:lnTo>
                      <a:pt x="0" y="28"/>
                    </a:lnTo>
                    <a:lnTo>
                      <a:pt x="18" y="38"/>
                    </a:lnTo>
                    <a:lnTo>
                      <a:pt x="18" y="10"/>
                    </a:lnTo>
                    <a:close/>
                  </a:path>
                </a:pathLst>
              </a:custGeom>
              <a:gradFill>
                <a:gsLst>
                  <a:gs pos="0">
                    <a:srgbClr val="770000"/>
                  </a:gs>
                  <a:gs pos="50000">
                    <a:srgbClr val="AC0000"/>
                  </a:gs>
                  <a:gs pos="100000">
                    <a:srgbClr val="CE0000"/>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grpSp>
            <p:nvGrpSpPr>
              <p:cNvPr id="250" name="Google Shape;250;g3f95de07730_1_39"/>
              <p:cNvGrpSpPr/>
              <p:nvPr/>
            </p:nvGrpSpPr>
            <p:grpSpPr>
              <a:xfrm>
                <a:off x="2611587" y="2637540"/>
                <a:ext cx="261513" cy="282434"/>
                <a:chOff x="2858178" y="1605236"/>
                <a:chExt cx="484732" cy="523510"/>
              </a:xfrm>
            </p:grpSpPr>
            <p:sp>
              <p:nvSpPr>
                <p:cNvPr id="251" name="Google Shape;251;g3f95de07730_1_39"/>
                <p:cNvSpPr/>
                <p:nvPr/>
              </p:nvSpPr>
              <p:spPr>
                <a:xfrm>
                  <a:off x="3013292" y="1702183"/>
                  <a:ext cx="64631" cy="155114"/>
                </a:xfrm>
                <a:custGeom>
                  <a:avLst/>
                  <a:gdLst/>
                  <a:ahLst/>
                  <a:cxnLst/>
                  <a:rect l="l" t="t" r="r" b="b"/>
                  <a:pathLst>
                    <a:path w="20" h="48" extrusionOk="0">
                      <a:moveTo>
                        <a:pt x="20" y="12"/>
                      </a:moveTo>
                      <a:lnTo>
                        <a:pt x="0" y="0"/>
                      </a:lnTo>
                      <a:lnTo>
                        <a:pt x="0" y="36"/>
                      </a:lnTo>
                      <a:lnTo>
                        <a:pt x="20" y="4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52" name="Google Shape;252;g3f95de07730_1_39"/>
                <p:cNvSpPr/>
                <p:nvPr/>
              </p:nvSpPr>
              <p:spPr>
                <a:xfrm>
                  <a:off x="3103776" y="1760350"/>
                  <a:ext cx="239134" cy="368396"/>
                </a:xfrm>
                <a:custGeom>
                  <a:avLst/>
                  <a:gdLst/>
                  <a:ahLst/>
                  <a:cxnLst/>
                  <a:rect l="l" t="t" r="r" b="b"/>
                  <a:pathLst>
                    <a:path w="74" h="114" extrusionOk="0">
                      <a:moveTo>
                        <a:pt x="0" y="36"/>
                      </a:moveTo>
                      <a:lnTo>
                        <a:pt x="0" y="36"/>
                      </a:lnTo>
                      <a:lnTo>
                        <a:pt x="0" y="36"/>
                      </a:lnTo>
                      <a:lnTo>
                        <a:pt x="0" y="70"/>
                      </a:lnTo>
                      <a:lnTo>
                        <a:pt x="74" y="114"/>
                      </a:lnTo>
                      <a:lnTo>
                        <a:pt x="74" y="44"/>
                      </a:lnTo>
                      <a:lnTo>
                        <a:pt x="0" y="0"/>
                      </a:lnTo>
                      <a:lnTo>
                        <a:pt x="0"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53" name="Google Shape;253;g3f95de07730_1_39"/>
                <p:cNvSpPr/>
                <p:nvPr/>
              </p:nvSpPr>
              <p:spPr>
                <a:xfrm>
                  <a:off x="2942199" y="1656941"/>
                  <a:ext cx="45242" cy="148651"/>
                </a:xfrm>
                <a:custGeom>
                  <a:avLst/>
                  <a:gdLst/>
                  <a:ahLst/>
                  <a:cxnLst/>
                  <a:rect l="l" t="t" r="r" b="b"/>
                  <a:pathLst>
                    <a:path w="14" h="46" extrusionOk="0">
                      <a:moveTo>
                        <a:pt x="14" y="10"/>
                      </a:moveTo>
                      <a:lnTo>
                        <a:pt x="0" y="0"/>
                      </a:lnTo>
                      <a:lnTo>
                        <a:pt x="0" y="36"/>
                      </a:lnTo>
                      <a:lnTo>
                        <a:pt x="14" y="46"/>
                      </a:lnTo>
                      <a:lnTo>
                        <a:pt x="14"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54" name="Google Shape;254;g3f95de07730_1_39"/>
                <p:cNvSpPr/>
                <p:nvPr/>
              </p:nvSpPr>
              <p:spPr>
                <a:xfrm>
                  <a:off x="2858178" y="1605236"/>
                  <a:ext cx="58168" cy="148651"/>
                </a:xfrm>
                <a:custGeom>
                  <a:avLst/>
                  <a:gdLst/>
                  <a:ahLst/>
                  <a:cxnLst/>
                  <a:rect l="l" t="t" r="r" b="b"/>
                  <a:pathLst>
                    <a:path w="18" h="46" extrusionOk="0">
                      <a:moveTo>
                        <a:pt x="2" y="38"/>
                      </a:moveTo>
                      <a:lnTo>
                        <a:pt x="18" y="46"/>
                      </a:lnTo>
                      <a:lnTo>
                        <a:pt x="18" y="12"/>
                      </a:lnTo>
                      <a:lnTo>
                        <a:pt x="0" y="0"/>
                      </a:lnTo>
                      <a:lnTo>
                        <a:pt x="0" y="40"/>
                      </a:lnTo>
                      <a:lnTo>
                        <a:pt x="2" y="38"/>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55" name="Google Shape;255;g3f95de07730_1_39"/>
                <p:cNvSpPr/>
                <p:nvPr/>
              </p:nvSpPr>
              <p:spPr>
                <a:xfrm>
                  <a:off x="2858178" y="1753887"/>
                  <a:ext cx="58168" cy="122799"/>
                </a:xfrm>
                <a:custGeom>
                  <a:avLst/>
                  <a:gdLst/>
                  <a:ahLst/>
                  <a:cxnLst/>
                  <a:rect l="l" t="t" r="r" b="b"/>
                  <a:pathLst>
                    <a:path w="18" h="38" extrusionOk="0">
                      <a:moveTo>
                        <a:pt x="18" y="10"/>
                      </a:moveTo>
                      <a:lnTo>
                        <a:pt x="0" y="0"/>
                      </a:lnTo>
                      <a:lnTo>
                        <a:pt x="0" y="28"/>
                      </a:lnTo>
                      <a:lnTo>
                        <a:pt x="18" y="38"/>
                      </a:lnTo>
                      <a:lnTo>
                        <a:pt x="18"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56" name="Google Shape;256;g3f95de07730_1_39"/>
                <p:cNvSpPr/>
                <p:nvPr/>
              </p:nvSpPr>
              <p:spPr>
                <a:xfrm>
                  <a:off x="3013292" y="1850833"/>
                  <a:ext cx="64631" cy="122799"/>
                </a:xfrm>
                <a:custGeom>
                  <a:avLst/>
                  <a:gdLst/>
                  <a:ahLst/>
                  <a:cxnLst/>
                  <a:rect l="l" t="t" r="r" b="b"/>
                  <a:pathLst>
                    <a:path w="20" h="38" extrusionOk="0">
                      <a:moveTo>
                        <a:pt x="20" y="12"/>
                      </a:moveTo>
                      <a:lnTo>
                        <a:pt x="0" y="0"/>
                      </a:lnTo>
                      <a:lnTo>
                        <a:pt x="0" y="26"/>
                      </a:lnTo>
                      <a:lnTo>
                        <a:pt x="20" y="3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57" name="Google Shape;257;g3f95de07730_1_39"/>
                <p:cNvSpPr/>
                <p:nvPr/>
              </p:nvSpPr>
              <p:spPr>
                <a:xfrm>
                  <a:off x="2942199" y="1805592"/>
                  <a:ext cx="45242" cy="116335"/>
                </a:xfrm>
                <a:custGeom>
                  <a:avLst/>
                  <a:gdLst/>
                  <a:ahLst/>
                  <a:cxnLst/>
                  <a:rect l="l" t="t" r="r" b="b"/>
                  <a:pathLst>
                    <a:path w="14" h="36" extrusionOk="0">
                      <a:moveTo>
                        <a:pt x="14" y="36"/>
                      </a:moveTo>
                      <a:lnTo>
                        <a:pt x="14" y="8"/>
                      </a:lnTo>
                      <a:lnTo>
                        <a:pt x="0" y="0"/>
                      </a:lnTo>
                      <a:lnTo>
                        <a:pt x="0" y="26"/>
                      </a:lnTo>
                      <a:lnTo>
                        <a:pt x="14"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grpSp>
          <p:grpSp>
            <p:nvGrpSpPr>
              <p:cNvPr id="258" name="Google Shape;258;g3f95de07730_1_39"/>
              <p:cNvGrpSpPr/>
              <p:nvPr/>
            </p:nvGrpSpPr>
            <p:grpSpPr>
              <a:xfrm>
                <a:off x="2611587" y="2843107"/>
                <a:ext cx="261513" cy="282434"/>
                <a:chOff x="2858178" y="1605236"/>
                <a:chExt cx="484732" cy="523510"/>
              </a:xfrm>
            </p:grpSpPr>
            <p:sp>
              <p:nvSpPr>
                <p:cNvPr id="259" name="Google Shape;259;g3f95de07730_1_39"/>
                <p:cNvSpPr/>
                <p:nvPr/>
              </p:nvSpPr>
              <p:spPr>
                <a:xfrm>
                  <a:off x="3013292" y="1702183"/>
                  <a:ext cx="64631" cy="155114"/>
                </a:xfrm>
                <a:custGeom>
                  <a:avLst/>
                  <a:gdLst/>
                  <a:ahLst/>
                  <a:cxnLst/>
                  <a:rect l="l" t="t" r="r" b="b"/>
                  <a:pathLst>
                    <a:path w="20" h="48" extrusionOk="0">
                      <a:moveTo>
                        <a:pt x="20" y="12"/>
                      </a:moveTo>
                      <a:lnTo>
                        <a:pt x="0" y="0"/>
                      </a:lnTo>
                      <a:lnTo>
                        <a:pt x="0" y="36"/>
                      </a:lnTo>
                      <a:lnTo>
                        <a:pt x="20" y="4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60" name="Google Shape;260;g3f95de07730_1_39"/>
                <p:cNvSpPr/>
                <p:nvPr/>
              </p:nvSpPr>
              <p:spPr>
                <a:xfrm>
                  <a:off x="3103776" y="1760350"/>
                  <a:ext cx="239134" cy="368396"/>
                </a:xfrm>
                <a:custGeom>
                  <a:avLst/>
                  <a:gdLst/>
                  <a:ahLst/>
                  <a:cxnLst/>
                  <a:rect l="l" t="t" r="r" b="b"/>
                  <a:pathLst>
                    <a:path w="74" h="114" extrusionOk="0">
                      <a:moveTo>
                        <a:pt x="0" y="36"/>
                      </a:moveTo>
                      <a:lnTo>
                        <a:pt x="0" y="36"/>
                      </a:lnTo>
                      <a:lnTo>
                        <a:pt x="0" y="36"/>
                      </a:lnTo>
                      <a:lnTo>
                        <a:pt x="0" y="70"/>
                      </a:lnTo>
                      <a:lnTo>
                        <a:pt x="74" y="114"/>
                      </a:lnTo>
                      <a:lnTo>
                        <a:pt x="74" y="44"/>
                      </a:lnTo>
                      <a:lnTo>
                        <a:pt x="0" y="0"/>
                      </a:lnTo>
                      <a:lnTo>
                        <a:pt x="0"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61" name="Google Shape;261;g3f95de07730_1_39"/>
                <p:cNvSpPr/>
                <p:nvPr/>
              </p:nvSpPr>
              <p:spPr>
                <a:xfrm>
                  <a:off x="2942199" y="1656941"/>
                  <a:ext cx="45242" cy="148651"/>
                </a:xfrm>
                <a:custGeom>
                  <a:avLst/>
                  <a:gdLst/>
                  <a:ahLst/>
                  <a:cxnLst/>
                  <a:rect l="l" t="t" r="r" b="b"/>
                  <a:pathLst>
                    <a:path w="14" h="46" extrusionOk="0">
                      <a:moveTo>
                        <a:pt x="14" y="10"/>
                      </a:moveTo>
                      <a:lnTo>
                        <a:pt x="0" y="0"/>
                      </a:lnTo>
                      <a:lnTo>
                        <a:pt x="0" y="36"/>
                      </a:lnTo>
                      <a:lnTo>
                        <a:pt x="14" y="46"/>
                      </a:lnTo>
                      <a:lnTo>
                        <a:pt x="14"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62" name="Google Shape;262;g3f95de07730_1_39"/>
                <p:cNvSpPr/>
                <p:nvPr/>
              </p:nvSpPr>
              <p:spPr>
                <a:xfrm>
                  <a:off x="2858178" y="1605236"/>
                  <a:ext cx="58168" cy="148651"/>
                </a:xfrm>
                <a:custGeom>
                  <a:avLst/>
                  <a:gdLst/>
                  <a:ahLst/>
                  <a:cxnLst/>
                  <a:rect l="l" t="t" r="r" b="b"/>
                  <a:pathLst>
                    <a:path w="18" h="46" extrusionOk="0">
                      <a:moveTo>
                        <a:pt x="2" y="38"/>
                      </a:moveTo>
                      <a:lnTo>
                        <a:pt x="18" y="46"/>
                      </a:lnTo>
                      <a:lnTo>
                        <a:pt x="18" y="12"/>
                      </a:lnTo>
                      <a:lnTo>
                        <a:pt x="0" y="0"/>
                      </a:lnTo>
                      <a:lnTo>
                        <a:pt x="0" y="40"/>
                      </a:lnTo>
                      <a:lnTo>
                        <a:pt x="2" y="38"/>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63" name="Google Shape;263;g3f95de07730_1_39"/>
                <p:cNvSpPr/>
                <p:nvPr/>
              </p:nvSpPr>
              <p:spPr>
                <a:xfrm>
                  <a:off x="2858178" y="1753887"/>
                  <a:ext cx="58168" cy="122799"/>
                </a:xfrm>
                <a:custGeom>
                  <a:avLst/>
                  <a:gdLst/>
                  <a:ahLst/>
                  <a:cxnLst/>
                  <a:rect l="l" t="t" r="r" b="b"/>
                  <a:pathLst>
                    <a:path w="18" h="38" extrusionOk="0">
                      <a:moveTo>
                        <a:pt x="18" y="10"/>
                      </a:moveTo>
                      <a:lnTo>
                        <a:pt x="0" y="0"/>
                      </a:lnTo>
                      <a:lnTo>
                        <a:pt x="0" y="28"/>
                      </a:lnTo>
                      <a:lnTo>
                        <a:pt x="18" y="38"/>
                      </a:lnTo>
                      <a:lnTo>
                        <a:pt x="18"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64" name="Google Shape;264;g3f95de07730_1_39"/>
                <p:cNvSpPr/>
                <p:nvPr/>
              </p:nvSpPr>
              <p:spPr>
                <a:xfrm>
                  <a:off x="3013292" y="1850833"/>
                  <a:ext cx="64631" cy="122799"/>
                </a:xfrm>
                <a:custGeom>
                  <a:avLst/>
                  <a:gdLst/>
                  <a:ahLst/>
                  <a:cxnLst/>
                  <a:rect l="l" t="t" r="r" b="b"/>
                  <a:pathLst>
                    <a:path w="20" h="38" extrusionOk="0">
                      <a:moveTo>
                        <a:pt x="20" y="12"/>
                      </a:moveTo>
                      <a:lnTo>
                        <a:pt x="0" y="0"/>
                      </a:lnTo>
                      <a:lnTo>
                        <a:pt x="0" y="26"/>
                      </a:lnTo>
                      <a:lnTo>
                        <a:pt x="20" y="3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65" name="Google Shape;265;g3f95de07730_1_39"/>
                <p:cNvSpPr/>
                <p:nvPr/>
              </p:nvSpPr>
              <p:spPr>
                <a:xfrm>
                  <a:off x="2942199" y="1805592"/>
                  <a:ext cx="45242" cy="116335"/>
                </a:xfrm>
                <a:custGeom>
                  <a:avLst/>
                  <a:gdLst/>
                  <a:ahLst/>
                  <a:cxnLst/>
                  <a:rect l="l" t="t" r="r" b="b"/>
                  <a:pathLst>
                    <a:path w="14" h="36" extrusionOk="0">
                      <a:moveTo>
                        <a:pt x="14" y="36"/>
                      </a:moveTo>
                      <a:lnTo>
                        <a:pt x="14" y="8"/>
                      </a:lnTo>
                      <a:lnTo>
                        <a:pt x="0" y="0"/>
                      </a:lnTo>
                      <a:lnTo>
                        <a:pt x="0" y="26"/>
                      </a:lnTo>
                      <a:lnTo>
                        <a:pt x="14"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grpSp>
          <p:sp>
            <p:nvSpPr>
              <p:cNvPr id="266" name="Google Shape;266;g3f95de07730_1_39"/>
              <p:cNvSpPr/>
              <p:nvPr/>
            </p:nvSpPr>
            <p:spPr>
              <a:xfrm>
                <a:off x="2590800" y="1219200"/>
                <a:ext cx="1833535" cy="1084500"/>
              </a:xfrm>
              <a:custGeom>
                <a:avLst/>
                <a:gdLst/>
                <a:ahLst/>
                <a:cxnLst/>
                <a:rect l="l" t="t" r="r" b="b"/>
                <a:pathLst>
                  <a:path w="10799" h="10000" extrusionOk="0">
                    <a:moveTo>
                      <a:pt x="0" y="6495"/>
                    </a:moveTo>
                    <a:lnTo>
                      <a:pt x="7025" y="0"/>
                    </a:lnTo>
                    <a:lnTo>
                      <a:pt x="10799" y="3682"/>
                    </a:lnTo>
                    <a:lnTo>
                      <a:pt x="3779" y="10000"/>
                    </a:lnTo>
                    <a:lnTo>
                      <a:pt x="0" y="6495"/>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67" name="Google Shape;267;g3f95de07730_1_39"/>
              <p:cNvSpPr/>
              <p:nvPr/>
            </p:nvSpPr>
            <p:spPr>
              <a:xfrm>
                <a:off x="3235921" y="1613247"/>
                <a:ext cx="1192604" cy="878761"/>
              </a:xfrm>
              <a:custGeom>
                <a:avLst/>
                <a:gdLst/>
                <a:ahLst/>
                <a:cxnLst/>
                <a:rect l="l" t="t" r="r" b="b"/>
                <a:pathLst>
                  <a:path w="684" h="504" extrusionOk="0">
                    <a:moveTo>
                      <a:pt x="684" y="100"/>
                    </a:moveTo>
                    <a:lnTo>
                      <a:pt x="0" y="504"/>
                    </a:lnTo>
                    <a:lnTo>
                      <a:pt x="0" y="392"/>
                    </a:lnTo>
                    <a:lnTo>
                      <a:pt x="684" y="0"/>
                    </a:lnTo>
                    <a:lnTo>
                      <a:pt x="684" y="100"/>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68" name="Google Shape;268;g3f95de07730_1_39"/>
              <p:cNvSpPr/>
              <p:nvPr/>
            </p:nvSpPr>
            <p:spPr>
              <a:xfrm>
                <a:off x="2590800" y="1923603"/>
                <a:ext cx="645121" cy="568404"/>
              </a:xfrm>
              <a:custGeom>
                <a:avLst/>
                <a:gdLst/>
                <a:ahLst/>
                <a:cxnLst/>
                <a:rect l="l" t="t" r="r" b="b"/>
                <a:pathLst>
                  <a:path w="370" h="326" extrusionOk="0">
                    <a:moveTo>
                      <a:pt x="0" y="0"/>
                    </a:moveTo>
                    <a:lnTo>
                      <a:pt x="368" y="218"/>
                    </a:lnTo>
                    <a:lnTo>
                      <a:pt x="370" y="326"/>
                    </a:lnTo>
                    <a:lnTo>
                      <a:pt x="2" y="104"/>
                    </a:lnTo>
                    <a:lnTo>
                      <a:pt x="0" y="0"/>
                    </a:lnTo>
                    <a:close/>
                  </a:path>
                </a:pathLst>
              </a:custGeom>
              <a:gradFill>
                <a:gsLst>
                  <a:gs pos="0">
                    <a:srgbClr val="BFBFBF"/>
                  </a:gs>
                  <a:gs pos="830">
                    <a:srgbClr val="BFBFBF"/>
                  </a:gs>
                  <a:gs pos="37000">
                    <a:srgbClr val="E2E2E2"/>
                  </a:gs>
                  <a:gs pos="60000">
                    <a:srgbClr val="F2F2F2"/>
                  </a:gs>
                  <a:gs pos="99000">
                    <a:srgbClr val="BFBFBF"/>
                  </a:gs>
                  <a:gs pos="100000">
                    <a:srgbClr val="BFBFBF"/>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69" name="Google Shape;269;g3f95de07730_1_39"/>
              <p:cNvSpPr/>
              <p:nvPr/>
            </p:nvSpPr>
            <p:spPr>
              <a:xfrm>
                <a:off x="2590800" y="1871295"/>
                <a:ext cx="728813" cy="428918"/>
              </a:xfrm>
              <a:custGeom>
                <a:avLst/>
                <a:gdLst/>
                <a:ahLst/>
                <a:cxnLst/>
                <a:rect l="l" t="t" r="r" b="b"/>
                <a:pathLst>
                  <a:path w="418" h="246" extrusionOk="0">
                    <a:moveTo>
                      <a:pt x="50" y="0"/>
                    </a:moveTo>
                    <a:lnTo>
                      <a:pt x="418" y="216"/>
                    </a:lnTo>
                    <a:lnTo>
                      <a:pt x="366" y="246"/>
                    </a:lnTo>
                    <a:lnTo>
                      <a:pt x="0" y="30"/>
                    </a:lnTo>
                    <a:lnTo>
                      <a:pt x="50" y="0"/>
                    </a:lnTo>
                    <a:close/>
                  </a:path>
                </a:pathLst>
              </a:custGeom>
              <a:gradFill>
                <a:gsLst>
                  <a:gs pos="0">
                    <a:srgbClr val="CACBCE"/>
                  </a:gs>
                  <a:gs pos="47000">
                    <a:srgbClr val="D8D8D8"/>
                  </a:gs>
                  <a:gs pos="57000">
                    <a:srgbClr val="F2F2F2"/>
                  </a:gs>
                  <a:gs pos="77000">
                    <a:srgbClr val="BFBFBF"/>
                  </a:gs>
                  <a:gs pos="100000">
                    <a:srgbClr val="BFBFBF"/>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70" name="Google Shape;270;g3f95de07730_1_39"/>
              <p:cNvSpPr/>
              <p:nvPr/>
            </p:nvSpPr>
            <p:spPr>
              <a:xfrm>
                <a:off x="3228947" y="2247907"/>
                <a:ext cx="97640" cy="244100"/>
              </a:xfrm>
              <a:custGeom>
                <a:avLst/>
                <a:gdLst/>
                <a:ahLst/>
                <a:cxnLst/>
                <a:rect l="l" t="t" r="r" b="b"/>
                <a:pathLst>
                  <a:path w="56" h="140" extrusionOk="0">
                    <a:moveTo>
                      <a:pt x="4" y="140"/>
                    </a:moveTo>
                    <a:lnTo>
                      <a:pt x="0" y="30"/>
                    </a:lnTo>
                    <a:lnTo>
                      <a:pt x="52" y="0"/>
                    </a:lnTo>
                    <a:lnTo>
                      <a:pt x="56" y="110"/>
                    </a:lnTo>
                    <a:lnTo>
                      <a:pt x="4" y="140"/>
                    </a:lnTo>
                    <a:close/>
                  </a:path>
                </a:pathLst>
              </a:custGeom>
              <a:gradFill>
                <a:gsLst>
                  <a:gs pos="0">
                    <a:srgbClr val="CACBCE"/>
                  </a:gs>
                  <a:gs pos="19000">
                    <a:srgbClr val="D8D8D8"/>
                  </a:gs>
                  <a:gs pos="63000">
                    <a:srgbClr val="F2F2F2"/>
                  </a:gs>
                  <a:gs pos="100000">
                    <a:srgbClr val="BFBFBF"/>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grpSp>
            <p:nvGrpSpPr>
              <p:cNvPr id="271" name="Google Shape;271;g3f95de07730_1_39"/>
              <p:cNvGrpSpPr/>
              <p:nvPr/>
            </p:nvGrpSpPr>
            <p:grpSpPr>
              <a:xfrm>
                <a:off x="2611540" y="1961788"/>
                <a:ext cx="261513" cy="282433"/>
                <a:chOff x="3848778" y="3662637"/>
                <a:chExt cx="484732" cy="523509"/>
              </a:xfrm>
            </p:grpSpPr>
            <p:sp>
              <p:nvSpPr>
                <p:cNvPr id="272" name="Google Shape;272;g3f95de07730_1_39"/>
                <p:cNvSpPr/>
                <p:nvPr/>
              </p:nvSpPr>
              <p:spPr>
                <a:xfrm>
                  <a:off x="4003892" y="3759583"/>
                  <a:ext cx="64631" cy="155114"/>
                </a:xfrm>
                <a:custGeom>
                  <a:avLst/>
                  <a:gdLst/>
                  <a:ahLst/>
                  <a:cxnLst/>
                  <a:rect l="l" t="t" r="r" b="b"/>
                  <a:pathLst>
                    <a:path w="20" h="48" extrusionOk="0">
                      <a:moveTo>
                        <a:pt x="20" y="12"/>
                      </a:moveTo>
                      <a:lnTo>
                        <a:pt x="0" y="0"/>
                      </a:lnTo>
                      <a:lnTo>
                        <a:pt x="0" y="36"/>
                      </a:lnTo>
                      <a:lnTo>
                        <a:pt x="20" y="4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73" name="Google Shape;273;g3f95de07730_1_39"/>
                <p:cNvSpPr/>
                <p:nvPr/>
              </p:nvSpPr>
              <p:spPr>
                <a:xfrm>
                  <a:off x="4094376" y="3817750"/>
                  <a:ext cx="239134" cy="368396"/>
                </a:xfrm>
                <a:custGeom>
                  <a:avLst/>
                  <a:gdLst/>
                  <a:ahLst/>
                  <a:cxnLst/>
                  <a:rect l="l" t="t" r="r" b="b"/>
                  <a:pathLst>
                    <a:path w="74" h="114" extrusionOk="0">
                      <a:moveTo>
                        <a:pt x="0" y="36"/>
                      </a:moveTo>
                      <a:lnTo>
                        <a:pt x="0" y="36"/>
                      </a:lnTo>
                      <a:lnTo>
                        <a:pt x="0" y="36"/>
                      </a:lnTo>
                      <a:lnTo>
                        <a:pt x="0" y="70"/>
                      </a:lnTo>
                      <a:lnTo>
                        <a:pt x="74" y="114"/>
                      </a:lnTo>
                      <a:lnTo>
                        <a:pt x="74" y="44"/>
                      </a:lnTo>
                      <a:lnTo>
                        <a:pt x="0" y="0"/>
                      </a:lnTo>
                      <a:lnTo>
                        <a:pt x="0"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74" name="Google Shape;274;g3f95de07730_1_39"/>
                <p:cNvSpPr/>
                <p:nvPr/>
              </p:nvSpPr>
              <p:spPr>
                <a:xfrm>
                  <a:off x="3932799" y="3714341"/>
                  <a:ext cx="45242" cy="148651"/>
                </a:xfrm>
                <a:custGeom>
                  <a:avLst/>
                  <a:gdLst/>
                  <a:ahLst/>
                  <a:cxnLst/>
                  <a:rect l="l" t="t" r="r" b="b"/>
                  <a:pathLst>
                    <a:path w="14" h="46" extrusionOk="0">
                      <a:moveTo>
                        <a:pt x="14" y="10"/>
                      </a:moveTo>
                      <a:lnTo>
                        <a:pt x="0" y="0"/>
                      </a:lnTo>
                      <a:lnTo>
                        <a:pt x="0" y="36"/>
                      </a:lnTo>
                      <a:lnTo>
                        <a:pt x="14" y="46"/>
                      </a:lnTo>
                      <a:lnTo>
                        <a:pt x="14"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75" name="Google Shape;275;g3f95de07730_1_39"/>
                <p:cNvSpPr/>
                <p:nvPr/>
              </p:nvSpPr>
              <p:spPr>
                <a:xfrm>
                  <a:off x="3848778" y="3662637"/>
                  <a:ext cx="58168" cy="148651"/>
                </a:xfrm>
                <a:custGeom>
                  <a:avLst/>
                  <a:gdLst/>
                  <a:ahLst/>
                  <a:cxnLst/>
                  <a:rect l="l" t="t" r="r" b="b"/>
                  <a:pathLst>
                    <a:path w="18" h="46" extrusionOk="0">
                      <a:moveTo>
                        <a:pt x="2" y="38"/>
                      </a:moveTo>
                      <a:lnTo>
                        <a:pt x="18" y="46"/>
                      </a:lnTo>
                      <a:lnTo>
                        <a:pt x="18" y="12"/>
                      </a:lnTo>
                      <a:lnTo>
                        <a:pt x="0" y="0"/>
                      </a:lnTo>
                      <a:lnTo>
                        <a:pt x="0" y="40"/>
                      </a:lnTo>
                      <a:lnTo>
                        <a:pt x="2" y="38"/>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76" name="Google Shape;276;g3f95de07730_1_39"/>
                <p:cNvSpPr/>
                <p:nvPr/>
              </p:nvSpPr>
              <p:spPr>
                <a:xfrm>
                  <a:off x="3848778" y="3811287"/>
                  <a:ext cx="58168" cy="122799"/>
                </a:xfrm>
                <a:custGeom>
                  <a:avLst/>
                  <a:gdLst/>
                  <a:ahLst/>
                  <a:cxnLst/>
                  <a:rect l="l" t="t" r="r" b="b"/>
                  <a:pathLst>
                    <a:path w="18" h="38" extrusionOk="0">
                      <a:moveTo>
                        <a:pt x="18" y="10"/>
                      </a:moveTo>
                      <a:lnTo>
                        <a:pt x="0" y="0"/>
                      </a:lnTo>
                      <a:lnTo>
                        <a:pt x="0" y="28"/>
                      </a:lnTo>
                      <a:lnTo>
                        <a:pt x="18" y="38"/>
                      </a:lnTo>
                      <a:lnTo>
                        <a:pt x="18"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77" name="Google Shape;277;g3f95de07730_1_39"/>
                <p:cNvSpPr/>
                <p:nvPr/>
              </p:nvSpPr>
              <p:spPr>
                <a:xfrm>
                  <a:off x="4003892" y="3908234"/>
                  <a:ext cx="64631" cy="122799"/>
                </a:xfrm>
                <a:custGeom>
                  <a:avLst/>
                  <a:gdLst/>
                  <a:ahLst/>
                  <a:cxnLst/>
                  <a:rect l="l" t="t" r="r" b="b"/>
                  <a:pathLst>
                    <a:path w="20" h="38" extrusionOk="0">
                      <a:moveTo>
                        <a:pt x="20" y="12"/>
                      </a:moveTo>
                      <a:lnTo>
                        <a:pt x="0" y="0"/>
                      </a:lnTo>
                      <a:lnTo>
                        <a:pt x="0" y="26"/>
                      </a:lnTo>
                      <a:lnTo>
                        <a:pt x="20" y="3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78" name="Google Shape;278;g3f95de07730_1_39"/>
                <p:cNvSpPr/>
                <p:nvPr/>
              </p:nvSpPr>
              <p:spPr>
                <a:xfrm>
                  <a:off x="3932799" y="3862992"/>
                  <a:ext cx="45242" cy="116335"/>
                </a:xfrm>
                <a:custGeom>
                  <a:avLst/>
                  <a:gdLst/>
                  <a:ahLst/>
                  <a:cxnLst/>
                  <a:rect l="l" t="t" r="r" b="b"/>
                  <a:pathLst>
                    <a:path w="14" h="36" extrusionOk="0">
                      <a:moveTo>
                        <a:pt x="14" y="36"/>
                      </a:moveTo>
                      <a:lnTo>
                        <a:pt x="14" y="8"/>
                      </a:lnTo>
                      <a:lnTo>
                        <a:pt x="0" y="0"/>
                      </a:lnTo>
                      <a:lnTo>
                        <a:pt x="0" y="26"/>
                      </a:lnTo>
                      <a:lnTo>
                        <a:pt x="14"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grpSp>
          <p:sp>
            <p:nvSpPr>
              <p:cNvPr id="279" name="Google Shape;279;g3f95de07730_1_39"/>
              <p:cNvSpPr/>
              <p:nvPr/>
            </p:nvSpPr>
            <p:spPr>
              <a:xfrm>
                <a:off x="3180127" y="2300214"/>
                <a:ext cx="31384" cy="80204"/>
              </a:xfrm>
              <a:custGeom>
                <a:avLst/>
                <a:gdLst/>
                <a:ahLst/>
                <a:cxnLst/>
                <a:rect l="l" t="t" r="r" b="b"/>
                <a:pathLst>
                  <a:path w="18" h="46" extrusionOk="0">
                    <a:moveTo>
                      <a:pt x="2" y="38"/>
                    </a:moveTo>
                    <a:lnTo>
                      <a:pt x="18" y="46"/>
                    </a:lnTo>
                    <a:lnTo>
                      <a:pt x="18" y="12"/>
                    </a:lnTo>
                    <a:lnTo>
                      <a:pt x="0" y="0"/>
                    </a:lnTo>
                    <a:lnTo>
                      <a:pt x="0" y="40"/>
                    </a:lnTo>
                    <a:lnTo>
                      <a:pt x="2" y="38"/>
                    </a:lnTo>
                    <a:close/>
                  </a:path>
                </a:pathLst>
              </a:custGeom>
              <a:gradFill>
                <a:gsLst>
                  <a:gs pos="0">
                    <a:srgbClr val="006C2D"/>
                  </a:gs>
                  <a:gs pos="50000">
                    <a:srgbClr val="009E40"/>
                  </a:gs>
                  <a:gs pos="100000">
                    <a:srgbClr val="00BD4E"/>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80" name="Google Shape;280;g3f95de07730_1_39"/>
              <p:cNvSpPr/>
              <p:nvPr/>
            </p:nvSpPr>
            <p:spPr>
              <a:xfrm>
                <a:off x="3180127" y="2380418"/>
                <a:ext cx="31384" cy="66256"/>
              </a:xfrm>
              <a:custGeom>
                <a:avLst/>
                <a:gdLst/>
                <a:ahLst/>
                <a:cxnLst/>
                <a:rect l="l" t="t" r="r" b="b"/>
                <a:pathLst>
                  <a:path w="18" h="38" extrusionOk="0">
                    <a:moveTo>
                      <a:pt x="18" y="10"/>
                    </a:moveTo>
                    <a:lnTo>
                      <a:pt x="0" y="0"/>
                    </a:lnTo>
                    <a:lnTo>
                      <a:pt x="0" y="28"/>
                    </a:lnTo>
                    <a:lnTo>
                      <a:pt x="18" y="38"/>
                    </a:lnTo>
                    <a:lnTo>
                      <a:pt x="18" y="10"/>
                    </a:lnTo>
                    <a:close/>
                  </a:path>
                </a:pathLst>
              </a:custGeom>
              <a:gradFill>
                <a:gsLst>
                  <a:gs pos="0">
                    <a:srgbClr val="770000"/>
                  </a:gs>
                  <a:gs pos="50000">
                    <a:srgbClr val="AC0000"/>
                  </a:gs>
                  <a:gs pos="100000">
                    <a:srgbClr val="CE0000"/>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grpSp>
        <p:sp>
          <p:nvSpPr>
            <p:cNvPr id="281" name="Google Shape;281;g3f95de07730_1_39"/>
            <p:cNvSpPr/>
            <p:nvPr/>
          </p:nvSpPr>
          <p:spPr>
            <a:xfrm>
              <a:off x="3194876" y="3525167"/>
              <a:ext cx="1621762" cy="645633"/>
            </a:xfrm>
            <a:custGeom>
              <a:avLst/>
              <a:gdLst/>
              <a:ahLst/>
              <a:cxnLst/>
              <a:rect l="l" t="t" r="r" b="b"/>
              <a:pathLst>
                <a:path w="626768" h="253438" extrusionOk="0">
                  <a:moveTo>
                    <a:pt x="626768" y="0"/>
                  </a:moveTo>
                  <a:lnTo>
                    <a:pt x="218883" y="252268"/>
                  </a:lnTo>
                  <a:lnTo>
                    <a:pt x="67548" y="253438"/>
                  </a:lnTo>
                  <a:lnTo>
                    <a:pt x="0" y="212128"/>
                  </a:lnTo>
                </a:path>
              </a:pathLst>
            </a:custGeom>
            <a:noFill/>
            <a:ln w="9525" cap="flat" cmpd="sng">
              <a:solidFill>
                <a:srgbClr val="119D96"/>
              </a:solidFill>
              <a:prstDash val="dash"/>
              <a:miter lim="800000"/>
              <a:headEnd type="oval" w="sm" len="sm"/>
              <a:tailEnd type="oval" w="sm" len="sm"/>
            </a:ln>
            <a:effectLst>
              <a:outerShdw blurRad="25400" dist="127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sym typeface="Calibri"/>
              </a:endParaRPr>
            </a:p>
          </p:txBody>
        </p:sp>
        <p:pic>
          <p:nvPicPr>
            <p:cNvPr id="282" name="Google Shape;282;g3f95de07730_1_39"/>
            <p:cNvPicPr preferRelativeResize="0"/>
            <p:nvPr/>
          </p:nvPicPr>
          <p:blipFill rotWithShape="1">
            <a:blip r:embed="rId8">
              <a:alphaModFix/>
            </a:blip>
            <a:srcRect/>
            <a:stretch/>
          </p:blipFill>
          <p:spPr>
            <a:xfrm>
              <a:off x="878890" y="4817282"/>
              <a:ext cx="336681" cy="281652"/>
            </a:xfrm>
            <a:prstGeom prst="rect">
              <a:avLst/>
            </a:prstGeom>
            <a:noFill/>
            <a:ln>
              <a:noFill/>
            </a:ln>
          </p:spPr>
        </p:pic>
        <p:grpSp>
          <p:nvGrpSpPr>
            <p:cNvPr id="283" name="Google Shape;283;g3f95de07730_1_39"/>
            <p:cNvGrpSpPr/>
            <p:nvPr/>
          </p:nvGrpSpPr>
          <p:grpSpPr>
            <a:xfrm>
              <a:off x="2976243" y="1147719"/>
              <a:ext cx="429179" cy="429179"/>
              <a:chOff x="3957638" y="3803651"/>
              <a:chExt cx="941388" cy="941388"/>
            </a:xfrm>
          </p:grpSpPr>
          <p:sp>
            <p:nvSpPr>
              <p:cNvPr id="284" name="Google Shape;284;g3f95de07730_1_39"/>
              <p:cNvSpPr/>
              <p:nvPr/>
            </p:nvSpPr>
            <p:spPr>
              <a:xfrm>
                <a:off x="4411663" y="3803651"/>
                <a:ext cx="487363" cy="941388"/>
              </a:xfrm>
              <a:custGeom>
                <a:avLst/>
                <a:gdLst/>
                <a:ahLst/>
                <a:cxnLst/>
                <a:rect l="l" t="t" r="r" b="b"/>
                <a:pathLst>
                  <a:path w="615" h="1186" extrusionOk="0">
                    <a:moveTo>
                      <a:pt x="3" y="1"/>
                    </a:moveTo>
                    <a:lnTo>
                      <a:pt x="3" y="1"/>
                    </a:lnTo>
                    <a:lnTo>
                      <a:pt x="29" y="0"/>
                    </a:lnTo>
                    <a:lnTo>
                      <a:pt x="53" y="1"/>
                    </a:lnTo>
                    <a:lnTo>
                      <a:pt x="78" y="3"/>
                    </a:lnTo>
                    <a:lnTo>
                      <a:pt x="104" y="5"/>
                    </a:lnTo>
                    <a:lnTo>
                      <a:pt x="128" y="8"/>
                    </a:lnTo>
                    <a:lnTo>
                      <a:pt x="154" y="14"/>
                    </a:lnTo>
                    <a:lnTo>
                      <a:pt x="178" y="20"/>
                    </a:lnTo>
                    <a:lnTo>
                      <a:pt x="202" y="27"/>
                    </a:lnTo>
                    <a:lnTo>
                      <a:pt x="225" y="35"/>
                    </a:lnTo>
                    <a:lnTo>
                      <a:pt x="249" y="44"/>
                    </a:lnTo>
                    <a:lnTo>
                      <a:pt x="272" y="54"/>
                    </a:lnTo>
                    <a:lnTo>
                      <a:pt x="295" y="65"/>
                    </a:lnTo>
                    <a:lnTo>
                      <a:pt x="316" y="78"/>
                    </a:lnTo>
                    <a:lnTo>
                      <a:pt x="338" y="91"/>
                    </a:lnTo>
                    <a:lnTo>
                      <a:pt x="359" y="105"/>
                    </a:lnTo>
                    <a:lnTo>
                      <a:pt x="379" y="119"/>
                    </a:lnTo>
                    <a:lnTo>
                      <a:pt x="399" y="135"/>
                    </a:lnTo>
                    <a:lnTo>
                      <a:pt x="419" y="152"/>
                    </a:lnTo>
                    <a:lnTo>
                      <a:pt x="437" y="169"/>
                    </a:lnTo>
                    <a:lnTo>
                      <a:pt x="454" y="186"/>
                    </a:lnTo>
                    <a:lnTo>
                      <a:pt x="471" y="206"/>
                    </a:lnTo>
                    <a:lnTo>
                      <a:pt x="488" y="225"/>
                    </a:lnTo>
                    <a:lnTo>
                      <a:pt x="503" y="246"/>
                    </a:lnTo>
                    <a:lnTo>
                      <a:pt x="518" y="266"/>
                    </a:lnTo>
                    <a:lnTo>
                      <a:pt x="531" y="287"/>
                    </a:lnTo>
                    <a:lnTo>
                      <a:pt x="544" y="310"/>
                    </a:lnTo>
                    <a:lnTo>
                      <a:pt x="555" y="333"/>
                    </a:lnTo>
                    <a:lnTo>
                      <a:pt x="567" y="356"/>
                    </a:lnTo>
                    <a:lnTo>
                      <a:pt x="577" y="380"/>
                    </a:lnTo>
                    <a:lnTo>
                      <a:pt x="585" y="404"/>
                    </a:lnTo>
                    <a:lnTo>
                      <a:pt x="592" y="430"/>
                    </a:lnTo>
                    <a:lnTo>
                      <a:pt x="600" y="455"/>
                    </a:lnTo>
                    <a:lnTo>
                      <a:pt x="600" y="455"/>
                    </a:lnTo>
                    <a:lnTo>
                      <a:pt x="605" y="487"/>
                    </a:lnTo>
                    <a:lnTo>
                      <a:pt x="611" y="518"/>
                    </a:lnTo>
                    <a:lnTo>
                      <a:pt x="614" y="548"/>
                    </a:lnTo>
                    <a:lnTo>
                      <a:pt x="615" y="579"/>
                    </a:lnTo>
                    <a:lnTo>
                      <a:pt x="615" y="609"/>
                    </a:lnTo>
                    <a:lnTo>
                      <a:pt x="614" y="640"/>
                    </a:lnTo>
                    <a:lnTo>
                      <a:pt x="611" y="670"/>
                    </a:lnTo>
                    <a:lnTo>
                      <a:pt x="607" y="700"/>
                    </a:lnTo>
                    <a:lnTo>
                      <a:pt x="600" y="729"/>
                    </a:lnTo>
                    <a:lnTo>
                      <a:pt x="592" y="757"/>
                    </a:lnTo>
                    <a:lnTo>
                      <a:pt x="584" y="786"/>
                    </a:lnTo>
                    <a:lnTo>
                      <a:pt x="574" y="813"/>
                    </a:lnTo>
                    <a:lnTo>
                      <a:pt x="561" y="840"/>
                    </a:lnTo>
                    <a:lnTo>
                      <a:pt x="548" y="867"/>
                    </a:lnTo>
                    <a:lnTo>
                      <a:pt x="534" y="892"/>
                    </a:lnTo>
                    <a:lnTo>
                      <a:pt x="520" y="917"/>
                    </a:lnTo>
                    <a:lnTo>
                      <a:pt x="503" y="941"/>
                    </a:lnTo>
                    <a:lnTo>
                      <a:pt x="484" y="965"/>
                    </a:lnTo>
                    <a:lnTo>
                      <a:pt x="466" y="988"/>
                    </a:lnTo>
                    <a:lnTo>
                      <a:pt x="446" y="1009"/>
                    </a:lnTo>
                    <a:lnTo>
                      <a:pt x="424" y="1029"/>
                    </a:lnTo>
                    <a:lnTo>
                      <a:pt x="402" y="1049"/>
                    </a:lnTo>
                    <a:lnTo>
                      <a:pt x="379" y="1068"/>
                    </a:lnTo>
                    <a:lnTo>
                      <a:pt x="355" y="1085"/>
                    </a:lnTo>
                    <a:lnTo>
                      <a:pt x="329" y="1100"/>
                    </a:lnTo>
                    <a:lnTo>
                      <a:pt x="302" y="1116"/>
                    </a:lnTo>
                    <a:lnTo>
                      <a:pt x="275" y="1129"/>
                    </a:lnTo>
                    <a:lnTo>
                      <a:pt x="248" y="1142"/>
                    </a:lnTo>
                    <a:lnTo>
                      <a:pt x="218" y="1153"/>
                    </a:lnTo>
                    <a:lnTo>
                      <a:pt x="188" y="1162"/>
                    </a:lnTo>
                    <a:lnTo>
                      <a:pt x="158" y="1170"/>
                    </a:lnTo>
                    <a:lnTo>
                      <a:pt x="127" y="1177"/>
                    </a:lnTo>
                    <a:lnTo>
                      <a:pt x="127" y="1177"/>
                    </a:lnTo>
                    <a:lnTo>
                      <a:pt x="96" y="1182"/>
                    </a:lnTo>
                    <a:lnTo>
                      <a:pt x="64" y="1186"/>
                    </a:lnTo>
                    <a:lnTo>
                      <a:pt x="34" y="1186"/>
                    </a:lnTo>
                    <a:lnTo>
                      <a:pt x="3" y="1184"/>
                    </a:lnTo>
                    <a:lnTo>
                      <a:pt x="3" y="1184"/>
                    </a:lnTo>
                    <a:lnTo>
                      <a:pt x="3" y="976"/>
                    </a:lnTo>
                    <a:lnTo>
                      <a:pt x="3" y="976"/>
                    </a:lnTo>
                    <a:lnTo>
                      <a:pt x="29" y="975"/>
                    </a:lnTo>
                    <a:lnTo>
                      <a:pt x="54" y="972"/>
                    </a:lnTo>
                    <a:lnTo>
                      <a:pt x="81" y="968"/>
                    </a:lnTo>
                    <a:lnTo>
                      <a:pt x="107" y="962"/>
                    </a:lnTo>
                    <a:lnTo>
                      <a:pt x="107" y="962"/>
                    </a:lnTo>
                    <a:lnTo>
                      <a:pt x="130" y="955"/>
                    </a:lnTo>
                    <a:lnTo>
                      <a:pt x="151" y="948"/>
                    </a:lnTo>
                    <a:lnTo>
                      <a:pt x="172" y="939"/>
                    </a:lnTo>
                    <a:lnTo>
                      <a:pt x="194" y="929"/>
                    </a:lnTo>
                    <a:lnTo>
                      <a:pt x="212" y="918"/>
                    </a:lnTo>
                    <a:lnTo>
                      <a:pt x="231" y="907"/>
                    </a:lnTo>
                    <a:lnTo>
                      <a:pt x="248" y="894"/>
                    </a:lnTo>
                    <a:lnTo>
                      <a:pt x="265" y="880"/>
                    </a:lnTo>
                    <a:lnTo>
                      <a:pt x="281" y="865"/>
                    </a:lnTo>
                    <a:lnTo>
                      <a:pt x="293" y="848"/>
                    </a:lnTo>
                    <a:lnTo>
                      <a:pt x="308" y="831"/>
                    </a:lnTo>
                    <a:lnTo>
                      <a:pt x="319" y="813"/>
                    </a:lnTo>
                    <a:lnTo>
                      <a:pt x="329" y="793"/>
                    </a:lnTo>
                    <a:lnTo>
                      <a:pt x="339" y="771"/>
                    </a:lnTo>
                    <a:lnTo>
                      <a:pt x="348" y="749"/>
                    </a:lnTo>
                    <a:lnTo>
                      <a:pt x="353" y="726"/>
                    </a:lnTo>
                    <a:lnTo>
                      <a:pt x="353" y="726"/>
                    </a:lnTo>
                    <a:lnTo>
                      <a:pt x="357" y="707"/>
                    </a:lnTo>
                    <a:lnTo>
                      <a:pt x="360" y="695"/>
                    </a:lnTo>
                    <a:lnTo>
                      <a:pt x="360" y="686"/>
                    </a:lnTo>
                    <a:lnTo>
                      <a:pt x="360" y="682"/>
                    </a:lnTo>
                    <a:lnTo>
                      <a:pt x="359" y="679"/>
                    </a:lnTo>
                    <a:lnTo>
                      <a:pt x="356" y="677"/>
                    </a:lnTo>
                    <a:lnTo>
                      <a:pt x="353" y="675"/>
                    </a:lnTo>
                    <a:lnTo>
                      <a:pt x="343" y="673"/>
                    </a:lnTo>
                    <a:lnTo>
                      <a:pt x="330" y="673"/>
                    </a:lnTo>
                    <a:lnTo>
                      <a:pt x="312" y="672"/>
                    </a:lnTo>
                    <a:lnTo>
                      <a:pt x="312" y="672"/>
                    </a:lnTo>
                    <a:lnTo>
                      <a:pt x="298" y="672"/>
                    </a:lnTo>
                    <a:lnTo>
                      <a:pt x="298" y="672"/>
                    </a:lnTo>
                    <a:lnTo>
                      <a:pt x="271" y="672"/>
                    </a:lnTo>
                    <a:lnTo>
                      <a:pt x="258" y="673"/>
                    </a:lnTo>
                    <a:lnTo>
                      <a:pt x="251" y="675"/>
                    </a:lnTo>
                    <a:lnTo>
                      <a:pt x="245" y="676"/>
                    </a:lnTo>
                    <a:lnTo>
                      <a:pt x="245" y="676"/>
                    </a:lnTo>
                    <a:lnTo>
                      <a:pt x="244" y="679"/>
                    </a:lnTo>
                    <a:lnTo>
                      <a:pt x="241" y="682"/>
                    </a:lnTo>
                    <a:lnTo>
                      <a:pt x="239" y="692"/>
                    </a:lnTo>
                    <a:lnTo>
                      <a:pt x="238" y="705"/>
                    </a:lnTo>
                    <a:lnTo>
                      <a:pt x="235" y="714"/>
                    </a:lnTo>
                    <a:lnTo>
                      <a:pt x="235" y="714"/>
                    </a:lnTo>
                    <a:lnTo>
                      <a:pt x="228" y="732"/>
                    </a:lnTo>
                    <a:lnTo>
                      <a:pt x="221" y="747"/>
                    </a:lnTo>
                    <a:lnTo>
                      <a:pt x="211" y="763"/>
                    </a:lnTo>
                    <a:lnTo>
                      <a:pt x="201" y="777"/>
                    </a:lnTo>
                    <a:lnTo>
                      <a:pt x="188" y="791"/>
                    </a:lnTo>
                    <a:lnTo>
                      <a:pt x="175" y="803"/>
                    </a:lnTo>
                    <a:lnTo>
                      <a:pt x="161" y="814"/>
                    </a:lnTo>
                    <a:lnTo>
                      <a:pt x="145" y="826"/>
                    </a:lnTo>
                    <a:lnTo>
                      <a:pt x="130" y="834"/>
                    </a:lnTo>
                    <a:lnTo>
                      <a:pt x="114" y="843"/>
                    </a:lnTo>
                    <a:lnTo>
                      <a:pt x="96" y="850"/>
                    </a:lnTo>
                    <a:lnTo>
                      <a:pt x="78" y="855"/>
                    </a:lnTo>
                    <a:lnTo>
                      <a:pt x="60" y="860"/>
                    </a:lnTo>
                    <a:lnTo>
                      <a:pt x="41" y="863"/>
                    </a:lnTo>
                    <a:lnTo>
                      <a:pt x="21" y="864"/>
                    </a:lnTo>
                    <a:lnTo>
                      <a:pt x="3" y="864"/>
                    </a:lnTo>
                    <a:lnTo>
                      <a:pt x="3" y="864"/>
                    </a:lnTo>
                    <a:lnTo>
                      <a:pt x="2" y="421"/>
                    </a:lnTo>
                    <a:lnTo>
                      <a:pt x="2" y="421"/>
                    </a:lnTo>
                    <a:lnTo>
                      <a:pt x="0" y="323"/>
                    </a:lnTo>
                    <a:lnTo>
                      <a:pt x="0" y="323"/>
                    </a:lnTo>
                    <a:lnTo>
                      <a:pt x="17" y="320"/>
                    </a:lnTo>
                    <a:lnTo>
                      <a:pt x="33" y="317"/>
                    </a:lnTo>
                    <a:lnTo>
                      <a:pt x="50" y="317"/>
                    </a:lnTo>
                    <a:lnTo>
                      <a:pt x="66" y="317"/>
                    </a:lnTo>
                    <a:lnTo>
                      <a:pt x="80" y="319"/>
                    </a:lnTo>
                    <a:lnTo>
                      <a:pt x="96" y="320"/>
                    </a:lnTo>
                    <a:lnTo>
                      <a:pt x="111" y="323"/>
                    </a:lnTo>
                    <a:lnTo>
                      <a:pt x="125" y="327"/>
                    </a:lnTo>
                    <a:lnTo>
                      <a:pt x="140" y="333"/>
                    </a:lnTo>
                    <a:lnTo>
                      <a:pt x="152" y="339"/>
                    </a:lnTo>
                    <a:lnTo>
                      <a:pt x="167" y="346"/>
                    </a:lnTo>
                    <a:lnTo>
                      <a:pt x="180" y="354"/>
                    </a:lnTo>
                    <a:lnTo>
                      <a:pt x="192" y="363"/>
                    </a:lnTo>
                    <a:lnTo>
                      <a:pt x="204" y="374"/>
                    </a:lnTo>
                    <a:lnTo>
                      <a:pt x="217" y="386"/>
                    </a:lnTo>
                    <a:lnTo>
                      <a:pt x="228" y="398"/>
                    </a:lnTo>
                    <a:lnTo>
                      <a:pt x="228" y="398"/>
                    </a:lnTo>
                    <a:lnTo>
                      <a:pt x="235" y="407"/>
                    </a:lnTo>
                    <a:lnTo>
                      <a:pt x="236" y="411"/>
                    </a:lnTo>
                    <a:lnTo>
                      <a:pt x="236" y="415"/>
                    </a:lnTo>
                    <a:lnTo>
                      <a:pt x="235" y="418"/>
                    </a:lnTo>
                    <a:lnTo>
                      <a:pt x="232" y="421"/>
                    </a:lnTo>
                    <a:lnTo>
                      <a:pt x="226" y="424"/>
                    </a:lnTo>
                    <a:lnTo>
                      <a:pt x="221" y="427"/>
                    </a:lnTo>
                    <a:lnTo>
                      <a:pt x="221" y="427"/>
                    </a:lnTo>
                    <a:lnTo>
                      <a:pt x="182" y="443"/>
                    </a:lnTo>
                    <a:lnTo>
                      <a:pt x="141" y="460"/>
                    </a:lnTo>
                    <a:lnTo>
                      <a:pt x="141" y="460"/>
                    </a:lnTo>
                    <a:lnTo>
                      <a:pt x="356" y="589"/>
                    </a:lnTo>
                    <a:lnTo>
                      <a:pt x="356" y="589"/>
                    </a:lnTo>
                    <a:lnTo>
                      <a:pt x="360" y="591"/>
                    </a:lnTo>
                    <a:lnTo>
                      <a:pt x="363" y="591"/>
                    </a:lnTo>
                    <a:lnTo>
                      <a:pt x="366" y="591"/>
                    </a:lnTo>
                    <a:lnTo>
                      <a:pt x="367" y="589"/>
                    </a:lnTo>
                    <a:lnTo>
                      <a:pt x="369" y="585"/>
                    </a:lnTo>
                    <a:lnTo>
                      <a:pt x="370" y="579"/>
                    </a:lnTo>
                    <a:lnTo>
                      <a:pt x="370" y="579"/>
                    </a:lnTo>
                    <a:lnTo>
                      <a:pt x="417" y="366"/>
                    </a:lnTo>
                    <a:lnTo>
                      <a:pt x="417" y="366"/>
                    </a:lnTo>
                    <a:lnTo>
                      <a:pt x="417" y="356"/>
                    </a:lnTo>
                    <a:lnTo>
                      <a:pt x="417" y="351"/>
                    </a:lnTo>
                    <a:lnTo>
                      <a:pt x="416" y="350"/>
                    </a:lnTo>
                    <a:lnTo>
                      <a:pt x="413" y="349"/>
                    </a:lnTo>
                    <a:lnTo>
                      <a:pt x="409" y="349"/>
                    </a:lnTo>
                    <a:lnTo>
                      <a:pt x="399" y="351"/>
                    </a:lnTo>
                    <a:lnTo>
                      <a:pt x="399" y="351"/>
                    </a:lnTo>
                    <a:lnTo>
                      <a:pt x="355" y="370"/>
                    </a:lnTo>
                    <a:lnTo>
                      <a:pt x="355" y="370"/>
                    </a:lnTo>
                    <a:lnTo>
                      <a:pt x="348" y="373"/>
                    </a:lnTo>
                    <a:lnTo>
                      <a:pt x="340" y="373"/>
                    </a:lnTo>
                    <a:lnTo>
                      <a:pt x="335" y="370"/>
                    </a:lnTo>
                    <a:lnTo>
                      <a:pt x="329" y="363"/>
                    </a:lnTo>
                    <a:lnTo>
                      <a:pt x="329" y="363"/>
                    </a:lnTo>
                    <a:lnTo>
                      <a:pt x="315" y="340"/>
                    </a:lnTo>
                    <a:lnTo>
                      <a:pt x="299" y="320"/>
                    </a:lnTo>
                    <a:lnTo>
                      <a:pt x="283" y="302"/>
                    </a:lnTo>
                    <a:lnTo>
                      <a:pt x="266" y="284"/>
                    </a:lnTo>
                    <a:lnTo>
                      <a:pt x="248" y="270"/>
                    </a:lnTo>
                    <a:lnTo>
                      <a:pt x="229" y="256"/>
                    </a:lnTo>
                    <a:lnTo>
                      <a:pt x="211" y="245"/>
                    </a:lnTo>
                    <a:lnTo>
                      <a:pt x="189" y="235"/>
                    </a:lnTo>
                    <a:lnTo>
                      <a:pt x="170" y="226"/>
                    </a:lnTo>
                    <a:lnTo>
                      <a:pt x="148" y="219"/>
                    </a:lnTo>
                    <a:lnTo>
                      <a:pt x="125" y="213"/>
                    </a:lnTo>
                    <a:lnTo>
                      <a:pt x="103" y="210"/>
                    </a:lnTo>
                    <a:lnTo>
                      <a:pt x="78" y="208"/>
                    </a:lnTo>
                    <a:lnTo>
                      <a:pt x="54" y="206"/>
                    </a:lnTo>
                    <a:lnTo>
                      <a:pt x="29" y="208"/>
                    </a:lnTo>
                    <a:lnTo>
                      <a:pt x="3" y="209"/>
                    </a:lnTo>
                    <a:lnTo>
                      <a:pt x="3" y="209"/>
                    </a:lnTo>
                    <a:lnTo>
                      <a:pt x="3" y="1"/>
                    </a:lnTo>
                    <a:lnTo>
                      <a:pt x="3" y="1"/>
                    </a:lnTo>
                    <a:close/>
                  </a:path>
                </a:pathLst>
              </a:custGeom>
              <a:solidFill>
                <a:srgbClr val="9CC2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85" name="Google Shape;285;g3f95de07730_1_39"/>
              <p:cNvSpPr/>
              <p:nvPr/>
            </p:nvSpPr>
            <p:spPr>
              <a:xfrm>
                <a:off x="3957638" y="3805238"/>
                <a:ext cx="455613" cy="939799"/>
              </a:xfrm>
              <a:custGeom>
                <a:avLst/>
                <a:gdLst/>
                <a:ahLst/>
                <a:cxnLst/>
                <a:rect l="l" t="t" r="r" b="b"/>
                <a:pathLst>
                  <a:path w="574" h="1183" extrusionOk="0">
                    <a:moveTo>
                      <a:pt x="574" y="975"/>
                    </a:moveTo>
                    <a:lnTo>
                      <a:pt x="574" y="975"/>
                    </a:lnTo>
                    <a:lnTo>
                      <a:pt x="574" y="1183"/>
                    </a:lnTo>
                    <a:lnTo>
                      <a:pt x="574" y="1183"/>
                    </a:lnTo>
                    <a:lnTo>
                      <a:pt x="550" y="1182"/>
                    </a:lnTo>
                    <a:lnTo>
                      <a:pt x="527" y="1181"/>
                    </a:lnTo>
                    <a:lnTo>
                      <a:pt x="504" y="1178"/>
                    </a:lnTo>
                    <a:lnTo>
                      <a:pt x="481" y="1175"/>
                    </a:lnTo>
                    <a:lnTo>
                      <a:pt x="459" y="1171"/>
                    </a:lnTo>
                    <a:lnTo>
                      <a:pt x="437" y="1165"/>
                    </a:lnTo>
                    <a:lnTo>
                      <a:pt x="416" y="1159"/>
                    </a:lnTo>
                    <a:lnTo>
                      <a:pt x="395" y="1152"/>
                    </a:lnTo>
                    <a:lnTo>
                      <a:pt x="373" y="1143"/>
                    </a:lnTo>
                    <a:lnTo>
                      <a:pt x="353" y="1135"/>
                    </a:lnTo>
                    <a:lnTo>
                      <a:pt x="333" y="1126"/>
                    </a:lnTo>
                    <a:lnTo>
                      <a:pt x="313" y="1115"/>
                    </a:lnTo>
                    <a:lnTo>
                      <a:pt x="293" y="1104"/>
                    </a:lnTo>
                    <a:lnTo>
                      <a:pt x="274" y="1092"/>
                    </a:lnTo>
                    <a:lnTo>
                      <a:pt x="255" y="1079"/>
                    </a:lnTo>
                    <a:lnTo>
                      <a:pt x="237" y="1065"/>
                    </a:lnTo>
                    <a:lnTo>
                      <a:pt x="237" y="1065"/>
                    </a:lnTo>
                    <a:lnTo>
                      <a:pt x="211" y="1045"/>
                    </a:lnTo>
                    <a:lnTo>
                      <a:pt x="187" y="1024"/>
                    </a:lnTo>
                    <a:lnTo>
                      <a:pt x="164" y="1001"/>
                    </a:lnTo>
                    <a:lnTo>
                      <a:pt x="143" y="978"/>
                    </a:lnTo>
                    <a:lnTo>
                      <a:pt x="123" y="954"/>
                    </a:lnTo>
                    <a:lnTo>
                      <a:pt x="106" y="930"/>
                    </a:lnTo>
                    <a:lnTo>
                      <a:pt x="88" y="904"/>
                    </a:lnTo>
                    <a:lnTo>
                      <a:pt x="73" y="879"/>
                    </a:lnTo>
                    <a:lnTo>
                      <a:pt x="59" y="852"/>
                    </a:lnTo>
                    <a:lnTo>
                      <a:pt x="47" y="823"/>
                    </a:lnTo>
                    <a:lnTo>
                      <a:pt x="36" y="795"/>
                    </a:lnTo>
                    <a:lnTo>
                      <a:pt x="26" y="766"/>
                    </a:lnTo>
                    <a:lnTo>
                      <a:pt x="19" y="735"/>
                    </a:lnTo>
                    <a:lnTo>
                      <a:pt x="12" y="705"/>
                    </a:lnTo>
                    <a:lnTo>
                      <a:pt x="6" y="672"/>
                    </a:lnTo>
                    <a:lnTo>
                      <a:pt x="3" y="639"/>
                    </a:lnTo>
                    <a:lnTo>
                      <a:pt x="3" y="639"/>
                    </a:lnTo>
                    <a:lnTo>
                      <a:pt x="0" y="611"/>
                    </a:lnTo>
                    <a:lnTo>
                      <a:pt x="0" y="581"/>
                    </a:lnTo>
                    <a:lnTo>
                      <a:pt x="2" y="553"/>
                    </a:lnTo>
                    <a:lnTo>
                      <a:pt x="4" y="524"/>
                    </a:lnTo>
                    <a:lnTo>
                      <a:pt x="7" y="496"/>
                    </a:lnTo>
                    <a:lnTo>
                      <a:pt x="13" y="469"/>
                    </a:lnTo>
                    <a:lnTo>
                      <a:pt x="20" y="440"/>
                    </a:lnTo>
                    <a:lnTo>
                      <a:pt x="27" y="414"/>
                    </a:lnTo>
                    <a:lnTo>
                      <a:pt x="36" y="387"/>
                    </a:lnTo>
                    <a:lnTo>
                      <a:pt x="46" y="362"/>
                    </a:lnTo>
                    <a:lnTo>
                      <a:pt x="57" y="336"/>
                    </a:lnTo>
                    <a:lnTo>
                      <a:pt x="70" y="312"/>
                    </a:lnTo>
                    <a:lnTo>
                      <a:pt x="84" y="288"/>
                    </a:lnTo>
                    <a:lnTo>
                      <a:pt x="98" y="265"/>
                    </a:lnTo>
                    <a:lnTo>
                      <a:pt x="114" y="242"/>
                    </a:lnTo>
                    <a:lnTo>
                      <a:pt x="131" y="219"/>
                    </a:lnTo>
                    <a:lnTo>
                      <a:pt x="148" y="199"/>
                    </a:lnTo>
                    <a:lnTo>
                      <a:pt x="168" y="178"/>
                    </a:lnTo>
                    <a:lnTo>
                      <a:pt x="187" y="160"/>
                    </a:lnTo>
                    <a:lnTo>
                      <a:pt x="208" y="141"/>
                    </a:lnTo>
                    <a:lnTo>
                      <a:pt x="229" y="124"/>
                    </a:lnTo>
                    <a:lnTo>
                      <a:pt x="251" y="107"/>
                    </a:lnTo>
                    <a:lnTo>
                      <a:pt x="274" y="91"/>
                    </a:lnTo>
                    <a:lnTo>
                      <a:pt x="298" y="77"/>
                    </a:lnTo>
                    <a:lnTo>
                      <a:pt x="322" y="64"/>
                    </a:lnTo>
                    <a:lnTo>
                      <a:pt x="348" y="51"/>
                    </a:lnTo>
                    <a:lnTo>
                      <a:pt x="373" y="40"/>
                    </a:lnTo>
                    <a:lnTo>
                      <a:pt x="400" y="31"/>
                    </a:lnTo>
                    <a:lnTo>
                      <a:pt x="427" y="23"/>
                    </a:lnTo>
                    <a:lnTo>
                      <a:pt x="454" y="14"/>
                    </a:lnTo>
                    <a:lnTo>
                      <a:pt x="483" y="9"/>
                    </a:lnTo>
                    <a:lnTo>
                      <a:pt x="511" y="4"/>
                    </a:lnTo>
                    <a:lnTo>
                      <a:pt x="511" y="4"/>
                    </a:lnTo>
                    <a:lnTo>
                      <a:pt x="543" y="0"/>
                    </a:lnTo>
                    <a:lnTo>
                      <a:pt x="558" y="0"/>
                    </a:lnTo>
                    <a:lnTo>
                      <a:pt x="574" y="0"/>
                    </a:lnTo>
                    <a:lnTo>
                      <a:pt x="574" y="0"/>
                    </a:lnTo>
                    <a:lnTo>
                      <a:pt x="574" y="208"/>
                    </a:lnTo>
                    <a:lnTo>
                      <a:pt x="574" y="208"/>
                    </a:lnTo>
                    <a:lnTo>
                      <a:pt x="538" y="215"/>
                    </a:lnTo>
                    <a:lnTo>
                      <a:pt x="506" y="224"/>
                    </a:lnTo>
                    <a:lnTo>
                      <a:pt x="473" y="235"/>
                    </a:lnTo>
                    <a:lnTo>
                      <a:pt x="442" y="248"/>
                    </a:lnTo>
                    <a:lnTo>
                      <a:pt x="412" y="264"/>
                    </a:lnTo>
                    <a:lnTo>
                      <a:pt x="383" y="282"/>
                    </a:lnTo>
                    <a:lnTo>
                      <a:pt x="370" y="293"/>
                    </a:lnTo>
                    <a:lnTo>
                      <a:pt x="358" y="305"/>
                    </a:lnTo>
                    <a:lnTo>
                      <a:pt x="345" y="316"/>
                    </a:lnTo>
                    <a:lnTo>
                      <a:pt x="332" y="329"/>
                    </a:lnTo>
                    <a:lnTo>
                      <a:pt x="332" y="329"/>
                    </a:lnTo>
                    <a:lnTo>
                      <a:pt x="318" y="346"/>
                    </a:lnTo>
                    <a:lnTo>
                      <a:pt x="303" y="365"/>
                    </a:lnTo>
                    <a:lnTo>
                      <a:pt x="293" y="385"/>
                    </a:lnTo>
                    <a:lnTo>
                      <a:pt x="283" y="403"/>
                    </a:lnTo>
                    <a:lnTo>
                      <a:pt x="276" y="424"/>
                    </a:lnTo>
                    <a:lnTo>
                      <a:pt x="271" y="446"/>
                    </a:lnTo>
                    <a:lnTo>
                      <a:pt x="266" y="469"/>
                    </a:lnTo>
                    <a:lnTo>
                      <a:pt x="265" y="491"/>
                    </a:lnTo>
                    <a:lnTo>
                      <a:pt x="265" y="491"/>
                    </a:lnTo>
                    <a:lnTo>
                      <a:pt x="265" y="500"/>
                    </a:lnTo>
                    <a:lnTo>
                      <a:pt x="268" y="506"/>
                    </a:lnTo>
                    <a:lnTo>
                      <a:pt x="271" y="508"/>
                    </a:lnTo>
                    <a:lnTo>
                      <a:pt x="274" y="510"/>
                    </a:lnTo>
                    <a:lnTo>
                      <a:pt x="276" y="511"/>
                    </a:lnTo>
                    <a:lnTo>
                      <a:pt x="282" y="510"/>
                    </a:lnTo>
                    <a:lnTo>
                      <a:pt x="282" y="510"/>
                    </a:lnTo>
                    <a:lnTo>
                      <a:pt x="302" y="507"/>
                    </a:lnTo>
                    <a:lnTo>
                      <a:pt x="323" y="507"/>
                    </a:lnTo>
                    <a:lnTo>
                      <a:pt x="365" y="507"/>
                    </a:lnTo>
                    <a:lnTo>
                      <a:pt x="365" y="507"/>
                    </a:lnTo>
                    <a:lnTo>
                      <a:pt x="370" y="507"/>
                    </a:lnTo>
                    <a:lnTo>
                      <a:pt x="375" y="504"/>
                    </a:lnTo>
                    <a:lnTo>
                      <a:pt x="377" y="501"/>
                    </a:lnTo>
                    <a:lnTo>
                      <a:pt x="379" y="494"/>
                    </a:lnTo>
                    <a:lnTo>
                      <a:pt x="379" y="494"/>
                    </a:lnTo>
                    <a:lnTo>
                      <a:pt x="383" y="476"/>
                    </a:lnTo>
                    <a:lnTo>
                      <a:pt x="387" y="457"/>
                    </a:lnTo>
                    <a:lnTo>
                      <a:pt x="395" y="440"/>
                    </a:lnTo>
                    <a:lnTo>
                      <a:pt x="403" y="424"/>
                    </a:lnTo>
                    <a:lnTo>
                      <a:pt x="413" y="410"/>
                    </a:lnTo>
                    <a:lnTo>
                      <a:pt x="424" y="396"/>
                    </a:lnTo>
                    <a:lnTo>
                      <a:pt x="436" y="383"/>
                    </a:lnTo>
                    <a:lnTo>
                      <a:pt x="450" y="372"/>
                    </a:lnTo>
                    <a:lnTo>
                      <a:pt x="464" y="362"/>
                    </a:lnTo>
                    <a:lnTo>
                      <a:pt x="479" y="353"/>
                    </a:lnTo>
                    <a:lnTo>
                      <a:pt x="493" y="345"/>
                    </a:lnTo>
                    <a:lnTo>
                      <a:pt x="508" y="338"/>
                    </a:lnTo>
                    <a:lnTo>
                      <a:pt x="524" y="332"/>
                    </a:lnTo>
                    <a:lnTo>
                      <a:pt x="540" y="328"/>
                    </a:lnTo>
                    <a:lnTo>
                      <a:pt x="555" y="323"/>
                    </a:lnTo>
                    <a:lnTo>
                      <a:pt x="571" y="322"/>
                    </a:lnTo>
                    <a:lnTo>
                      <a:pt x="571" y="322"/>
                    </a:lnTo>
                    <a:lnTo>
                      <a:pt x="573" y="420"/>
                    </a:lnTo>
                    <a:lnTo>
                      <a:pt x="573" y="420"/>
                    </a:lnTo>
                    <a:lnTo>
                      <a:pt x="574" y="863"/>
                    </a:lnTo>
                    <a:lnTo>
                      <a:pt x="574" y="863"/>
                    </a:lnTo>
                    <a:lnTo>
                      <a:pt x="545" y="863"/>
                    </a:lnTo>
                    <a:lnTo>
                      <a:pt x="520" y="860"/>
                    </a:lnTo>
                    <a:lnTo>
                      <a:pt x="496" y="853"/>
                    </a:lnTo>
                    <a:lnTo>
                      <a:pt x="473" y="844"/>
                    </a:lnTo>
                    <a:lnTo>
                      <a:pt x="450" y="833"/>
                    </a:lnTo>
                    <a:lnTo>
                      <a:pt x="430" y="817"/>
                    </a:lnTo>
                    <a:lnTo>
                      <a:pt x="410" y="800"/>
                    </a:lnTo>
                    <a:lnTo>
                      <a:pt x="392" y="782"/>
                    </a:lnTo>
                    <a:lnTo>
                      <a:pt x="392" y="782"/>
                    </a:lnTo>
                    <a:lnTo>
                      <a:pt x="385" y="772"/>
                    </a:lnTo>
                    <a:lnTo>
                      <a:pt x="383" y="768"/>
                    </a:lnTo>
                    <a:lnTo>
                      <a:pt x="385" y="765"/>
                    </a:lnTo>
                    <a:lnTo>
                      <a:pt x="386" y="762"/>
                    </a:lnTo>
                    <a:lnTo>
                      <a:pt x="389" y="759"/>
                    </a:lnTo>
                    <a:lnTo>
                      <a:pt x="399" y="755"/>
                    </a:lnTo>
                    <a:lnTo>
                      <a:pt x="399" y="755"/>
                    </a:lnTo>
                    <a:lnTo>
                      <a:pt x="419" y="746"/>
                    </a:lnTo>
                    <a:lnTo>
                      <a:pt x="437" y="739"/>
                    </a:lnTo>
                    <a:lnTo>
                      <a:pt x="480" y="721"/>
                    </a:lnTo>
                    <a:lnTo>
                      <a:pt x="480" y="721"/>
                    </a:lnTo>
                    <a:lnTo>
                      <a:pt x="266" y="592"/>
                    </a:lnTo>
                    <a:lnTo>
                      <a:pt x="266" y="592"/>
                    </a:lnTo>
                    <a:lnTo>
                      <a:pt x="261" y="590"/>
                    </a:lnTo>
                    <a:lnTo>
                      <a:pt x="256" y="590"/>
                    </a:lnTo>
                    <a:lnTo>
                      <a:pt x="254" y="590"/>
                    </a:lnTo>
                    <a:lnTo>
                      <a:pt x="252" y="592"/>
                    </a:lnTo>
                    <a:lnTo>
                      <a:pt x="249" y="600"/>
                    </a:lnTo>
                    <a:lnTo>
                      <a:pt x="248" y="607"/>
                    </a:lnTo>
                    <a:lnTo>
                      <a:pt x="248" y="607"/>
                    </a:lnTo>
                    <a:lnTo>
                      <a:pt x="231" y="682"/>
                    </a:lnTo>
                    <a:lnTo>
                      <a:pt x="217" y="756"/>
                    </a:lnTo>
                    <a:lnTo>
                      <a:pt x="217" y="756"/>
                    </a:lnTo>
                    <a:lnTo>
                      <a:pt x="211" y="776"/>
                    </a:lnTo>
                    <a:lnTo>
                      <a:pt x="207" y="795"/>
                    </a:lnTo>
                    <a:lnTo>
                      <a:pt x="204" y="815"/>
                    </a:lnTo>
                    <a:lnTo>
                      <a:pt x="202" y="826"/>
                    </a:lnTo>
                    <a:lnTo>
                      <a:pt x="204" y="836"/>
                    </a:lnTo>
                    <a:lnTo>
                      <a:pt x="204" y="836"/>
                    </a:lnTo>
                    <a:lnTo>
                      <a:pt x="232" y="825"/>
                    </a:lnTo>
                    <a:lnTo>
                      <a:pt x="261" y="813"/>
                    </a:lnTo>
                    <a:lnTo>
                      <a:pt x="261" y="813"/>
                    </a:lnTo>
                    <a:lnTo>
                      <a:pt x="271" y="809"/>
                    </a:lnTo>
                    <a:lnTo>
                      <a:pt x="275" y="809"/>
                    </a:lnTo>
                    <a:lnTo>
                      <a:pt x="279" y="809"/>
                    </a:lnTo>
                    <a:lnTo>
                      <a:pt x="283" y="812"/>
                    </a:lnTo>
                    <a:lnTo>
                      <a:pt x="286" y="815"/>
                    </a:lnTo>
                    <a:lnTo>
                      <a:pt x="295" y="823"/>
                    </a:lnTo>
                    <a:lnTo>
                      <a:pt x="295" y="823"/>
                    </a:lnTo>
                    <a:lnTo>
                      <a:pt x="306" y="842"/>
                    </a:lnTo>
                    <a:lnTo>
                      <a:pt x="319" y="859"/>
                    </a:lnTo>
                    <a:lnTo>
                      <a:pt x="333" y="876"/>
                    </a:lnTo>
                    <a:lnTo>
                      <a:pt x="349" y="890"/>
                    </a:lnTo>
                    <a:lnTo>
                      <a:pt x="365" y="904"/>
                    </a:lnTo>
                    <a:lnTo>
                      <a:pt x="382" y="917"/>
                    </a:lnTo>
                    <a:lnTo>
                      <a:pt x="400" y="930"/>
                    </a:lnTo>
                    <a:lnTo>
                      <a:pt x="420" y="940"/>
                    </a:lnTo>
                    <a:lnTo>
                      <a:pt x="420" y="940"/>
                    </a:lnTo>
                    <a:lnTo>
                      <a:pt x="439" y="948"/>
                    </a:lnTo>
                    <a:lnTo>
                      <a:pt x="457" y="956"/>
                    </a:lnTo>
                    <a:lnTo>
                      <a:pt x="476" y="961"/>
                    </a:lnTo>
                    <a:lnTo>
                      <a:pt x="494" y="967"/>
                    </a:lnTo>
                    <a:lnTo>
                      <a:pt x="514" y="970"/>
                    </a:lnTo>
                    <a:lnTo>
                      <a:pt x="534" y="973"/>
                    </a:lnTo>
                    <a:lnTo>
                      <a:pt x="574" y="975"/>
                    </a:lnTo>
                    <a:lnTo>
                      <a:pt x="574" y="975"/>
                    </a:lnTo>
                    <a:close/>
                  </a:path>
                </a:pathLst>
              </a:custGeom>
              <a:solidFill>
                <a:srgbClr val="BBD6E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86" name="Google Shape;286;g3f95de07730_1_39"/>
              <p:cNvSpPr/>
              <p:nvPr/>
            </p:nvSpPr>
            <p:spPr>
              <a:xfrm>
                <a:off x="4117975" y="4273551"/>
                <a:ext cx="579438" cy="306388"/>
              </a:xfrm>
              <a:custGeom>
                <a:avLst/>
                <a:gdLst/>
                <a:ahLst/>
                <a:cxnLst/>
                <a:rect l="l" t="t" r="r" b="b"/>
                <a:pathLst>
                  <a:path w="729" h="385" extrusionOk="0">
                    <a:moveTo>
                      <a:pt x="372" y="385"/>
                    </a:moveTo>
                    <a:lnTo>
                      <a:pt x="372" y="385"/>
                    </a:lnTo>
                    <a:lnTo>
                      <a:pt x="332" y="383"/>
                    </a:lnTo>
                    <a:lnTo>
                      <a:pt x="312" y="380"/>
                    </a:lnTo>
                    <a:lnTo>
                      <a:pt x="292" y="377"/>
                    </a:lnTo>
                    <a:lnTo>
                      <a:pt x="274" y="371"/>
                    </a:lnTo>
                    <a:lnTo>
                      <a:pt x="255" y="366"/>
                    </a:lnTo>
                    <a:lnTo>
                      <a:pt x="237" y="358"/>
                    </a:lnTo>
                    <a:lnTo>
                      <a:pt x="218" y="350"/>
                    </a:lnTo>
                    <a:lnTo>
                      <a:pt x="218" y="350"/>
                    </a:lnTo>
                    <a:lnTo>
                      <a:pt x="198" y="340"/>
                    </a:lnTo>
                    <a:lnTo>
                      <a:pt x="180" y="327"/>
                    </a:lnTo>
                    <a:lnTo>
                      <a:pt x="163" y="314"/>
                    </a:lnTo>
                    <a:lnTo>
                      <a:pt x="147" y="300"/>
                    </a:lnTo>
                    <a:lnTo>
                      <a:pt x="131" y="286"/>
                    </a:lnTo>
                    <a:lnTo>
                      <a:pt x="117" y="269"/>
                    </a:lnTo>
                    <a:lnTo>
                      <a:pt x="104" y="252"/>
                    </a:lnTo>
                    <a:lnTo>
                      <a:pt x="93" y="233"/>
                    </a:lnTo>
                    <a:lnTo>
                      <a:pt x="93" y="233"/>
                    </a:lnTo>
                    <a:lnTo>
                      <a:pt x="84" y="225"/>
                    </a:lnTo>
                    <a:lnTo>
                      <a:pt x="81" y="222"/>
                    </a:lnTo>
                    <a:lnTo>
                      <a:pt x="77" y="219"/>
                    </a:lnTo>
                    <a:lnTo>
                      <a:pt x="73" y="219"/>
                    </a:lnTo>
                    <a:lnTo>
                      <a:pt x="69" y="219"/>
                    </a:lnTo>
                    <a:lnTo>
                      <a:pt x="59" y="223"/>
                    </a:lnTo>
                    <a:lnTo>
                      <a:pt x="59" y="223"/>
                    </a:lnTo>
                    <a:lnTo>
                      <a:pt x="30" y="235"/>
                    </a:lnTo>
                    <a:lnTo>
                      <a:pt x="2" y="246"/>
                    </a:lnTo>
                    <a:lnTo>
                      <a:pt x="2" y="246"/>
                    </a:lnTo>
                    <a:lnTo>
                      <a:pt x="0" y="236"/>
                    </a:lnTo>
                    <a:lnTo>
                      <a:pt x="2" y="225"/>
                    </a:lnTo>
                    <a:lnTo>
                      <a:pt x="5" y="205"/>
                    </a:lnTo>
                    <a:lnTo>
                      <a:pt x="9" y="186"/>
                    </a:lnTo>
                    <a:lnTo>
                      <a:pt x="15" y="166"/>
                    </a:lnTo>
                    <a:lnTo>
                      <a:pt x="15" y="166"/>
                    </a:lnTo>
                    <a:lnTo>
                      <a:pt x="29" y="92"/>
                    </a:lnTo>
                    <a:lnTo>
                      <a:pt x="46" y="17"/>
                    </a:lnTo>
                    <a:lnTo>
                      <a:pt x="46" y="17"/>
                    </a:lnTo>
                    <a:lnTo>
                      <a:pt x="47" y="10"/>
                    </a:lnTo>
                    <a:lnTo>
                      <a:pt x="50" y="2"/>
                    </a:lnTo>
                    <a:lnTo>
                      <a:pt x="52" y="0"/>
                    </a:lnTo>
                    <a:lnTo>
                      <a:pt x="54" y="0"/>
                    </a:lnTo>
                    <a:lnTo>
                      <a:pt x="59" y="0"/>
                    </a:lnTo>
                    <a:lnTo>
                      <a:pt x="64" y="2"/>
                    </a:lnTo>
                    <a:lnTo>
                      <a:pt x="64" y="2"/>
                    </a:lnTo>
                    <a:lnTo>
                      <a:pt x="278" y="131"/>
                    </a:lnTo>
                    <a:lnTo>
                      <a:pt x="278" y="131"/>
                    </a:lnTo>
                    <a:lnTo>
                      <a:pt x="235" y="149"/>
                    </a:lnTo>
                    <a:lnTo>
                      <a:pt x="217" y="156"/>
                    </a:lnTo>
                    <a:lnTo>
                      <a:pt x="197" y="165"/>
                    </a:lnTo>
                    <a:lnTo>
                      <a:pt x="197" y="165"/>
                    </a:lnTo>
                    <a:lnTo>
                      <a:pt x="187" y="169"/>
                    </a:lnTo>
                    <a:lnTo>
                      <a:pt x="184" y="172"/>
                    </a:lnTo>
                    <a:lnTo>
                      <a:pt x="183" y="175"/>
                    </a:lnTo>
                    <a:lnTo>
                      <a:pt x="181" y="178"/>
                    </a:lnTo>
                    <a:lnTo>
                      <a:pt x="183" y="182"/>
                    </a:lnTo>
                    <a:lnTo>
                      <a:pt x="190" y="192"/>
                    </a:lnTo>
                    <a:lnTo>
                      <a:pt x="190" y="192"/>
                    </a:lnTo>
                    <a:lnTo>
                      <a:pt x="208" y="210"/>
                    </a:lnTo>
                    <a:lnTo>
                      <a:pt x="228" y="227"/>
                    </a:lnTo>
                    <a:lnTo>
                      <a:pt x="248" y="243"/>
                    </a:lnTo>
                    <a:lnTo>
                      <a:pt x="271" y="254"/>
                    </a:lnTo>
                    <a:lnTo>
                      <a:pt x="294" y="263"/>
                    </a:lnTo>
                    <a:lnTo>
                      <a:pt x="318" y="270"/>
                    </a:lnTo>
                    <a:lnTo>
                      <a:pt x="343" y="273"/>
                    </a:lnTo>
                    <a:lnTo>
                      <a:pt x="372" y="273"/>
                    </a:lnTo>
                    <a:lnTo>
                      <a:pt x="372" y="273"/>
                    </a:lnTo>
                    <a:lnTo>
                      <a:pt x="390" y="273"/>
                    </a:lnTo>
                    <a:lnTo>
                      <a:pt x="410" y="272"/>
                    </a:lnTo>
                    <a:lnTo>
                      <a:pt x="429" y="269"/>
                    </a:lnTo>
                    <a:lnTo>
                      <a:pt x="447" y="264"/>
                    </a:lnTo>
                    <a:lnTo>
                      <a:pt x="465" y="259"/>
                    </a:lnTo>
                    <a:lnTo>
                      <a:pt x="483" y="252"/>
                    </a:lnTo>
                    <a:lnTo>
                      <a:pt x="499" y="243"/>
                    </a:lnTo>
                    <a:lnTo>
                      <a:pt x="514" y="235"/>
                    </a:lnTo>
                    <a:lnTo>
                      <a:pt x="530" y="223"/>
                    </a:lnTo>
                    <a:lnTo>
                      <a:pt x="544" y="212"/>
                    </a:lnTo>
                    <a:lnTo>
                      <a:pt x="557" y="200"/>
                    </a:lnTo>
                    <a:lnTo>
                      <a:pt x="570" y="186"/>
                    </a:lnTo>
                    <a:lnTo>
                      <a:pt x="580" y="172"/>
                    </a:lnTo>
                    <a:lnTo>
                      <a:pt x="590" y="156"/>
                    </a:lnTo>
                    <a:lnTo>
                      <a:pt x="597" y="141"/>
                    </a:lnTo>
                    <a:lnTo>
                      <a:pt x="604" y="123"/>
                    </a:lnTo>
                    <a:lnTo>
                      <a:pt x="604" y="123"/>
                    </a:lnTo>
                    <a:lnTo>
                      <a:pt x="607" y="114"/>
                    </a:lnTo>
                    <a:lnTo>
                      <a:pt x="608" y="101"/>
                    </a:lnTo>
                    <a:lnTo>
                      <a:pt x="610" y="91"/>
                    </a:lnTo>
                    <a:lnTo>
                      <a:pt x="613" y="88"/>
                    </a:lnTo>
                    <a:lnTo>
                      <a:pt x="614" y="85"/>
                    </a:lnTo>
                    <a:lnTo>
                      <a:pt x="614" y="85"/>
                    </a:lnTo>
                    <a:lnTo>
                      <a:pt x="620" y="84"/>
                    </a:lnTo>
                    <a:lnTo>
                      <a:pt x="627" y="82"/>
                    </a:lnTo>
                    <a:lnTo>
                      <a:pt x="640" y="81"/>
                    </a:lnTo>
                    <a:lnTo>
                      <a:pt x="667" y="81"/>
                    </a:lnTo>
                    <a:lnTo>
                      <a:pt x="667" y="81"/>
                    </a:lnTo>
                    <a:lnTo>
                      <a:pt x="681" y="81"/>
                    </a:lnTo>
                    <a:lnTo>
                      <a:pt x="681" y="81"/>
                    </a:lnTo>
                    <a:lnTo>
                      <a:pt x="699" y="82"/>
                    </a:lnTo>
                    <a:lnTo>
                      <a:pt x="712" y="82"/>
                    </a:lnTo>
                    <a:lnTo>
                      <a:pt x="722" y="84"/>
                    </a:lnTo>
                    <a:lnTo>
                      <a:pt x="725" y="86"/>
                    </a:lnTo>
                    <a:lnTo>
                      <a:pt x="728" y="88"/>
                    </a:lnTo>
                    <a:lnTo>
                      <a:pt x="729" y="91"/>
                    </a:lnTo>
                    <a:lnTo>
                      <a:pt x="729" y="95"/>
                    </a:lnTo>
                    <a:lnTo>
                      <a:pt x="729" y="104"/>
                    </a:lnTo>
                    <a:lnTo>
                      <a:pt x="726" y="116"/>
                    </a:lnTo>
                    <a:lnTo>
                      <a:pt x="722" y="135"/>
                    </a:lnTo>
                    <a:lnTo>
                      <a:pt x="722" y="135"/>
                    </a:lnTo>
                    <a:lnTo>
                      <a:pt x="717" y="158"/>
                    </a:lnTo>
                    <a:lnTo>
                      <a:pt x="708" y="180"/>
                    </a:lnTo>
                    <a:lnTo>
                      <a:pt x="698" y="202"/>
                    </a:lnTo>
                    <a:lnTo>
                      <a:pt x="688" y="222"/>
                    </a:lnTo>
                    <a:lnTo>
                      <a:pt x="677" y="240"/>
                    </a:lnTo>
                    <a:lnTo>
                      <a:pt x="662" y="257"/>
                    </a:lnTo>
                    <a:lnTo>
                      <a:pt x="650" y="274"/>
                    </a:lnTo>
                    <a:lnTo>
                      <a:pt x="634" y="289"/>
                    </a:lnTo>
                    <a:lnTo>
                      <a:pt x="617" y="303"/>
                    </a:lnTo>
                    <a:lnTo>
                      <a:pt x="600" y="316"/>
                    </a:lnTo>
                    <a:lnTo>
                      <a:pt x="581" y="327"/>
                    </a:lnTo>
                    <a:lnTo>
                      <a:pt x="563" y="338"/>
                    </a:lnTo>
                    <a:lnTo>
                      <a:pt x="541" y="348"/>
                    </a:lnTo>
                    <a:lnTo>
                      <a:pt x="520" y="357"/>
                    </a:lnTo>
                    <a:lnTo>
                      <a:pt x="499" y="364"/>
                    </a:lnTo>
                    <a:lnTo>
                      <a:pt x="476" y="371"/>
                    </a:lnTo>
                    <a:lnTo>
                      <a:pt x="476" y="371"/>
                    </a:lnTo>
                    <a:lnTo>
                      <a:pt x="450" y="377"/>
                    </a:lnTo>
                    <a:lnTo>
                      <a:pt x="423" y="381"/>
                    </a:lnTo>
                    <a:lnTo>
                      <a:pt x="398" y="384"/>
                    </a:lnTo>
                    <a:lnTo>
                      <a:pt x="372" y="385"/>
                    </a:lnTo>
                    <a:lnTo>
                      <a:pt x="372" y="385"/>
                    </a:lnTo>
                    <a:close/>
                  </a:path>
                </a:pathLst>
              </a:custGeom>
              <a:solidFill>
                <a:srgbClr val="FDFEF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sp>
            <p:nvSpPr>
              <p:cNvPr id="287" name="Google Shape;287;g3f95de07730_1_39"/>
              <p:cNvSpPr/>
              <p:nvPr/>
            </p:nvSpPr>
            <p:spPr>
              <a:xfrm>
                <a:off x="4167188" y="3968751"/>
                <a:ext cx="574675" cy="304800"/>
              </a:xfrm>
              <a:custGeom>
                <a:avLst/>
                <a:gdLst/>
                <a:ahLst/>
                <a:cxnLst/>
                <a:rect l="l" t="t" r="r" b="b"/>
                <a:pathLst>
                  <a:path w="723" h="385" extrusionOk="0">
                    <a:moveTo>
                      <a:pt x="306" y="117"/>
                    </a:moveTo>
                    <a:lnTo>
                      <a:pt x="306" y="117"/>
                    </a:lnTo>
                    <a:lnTo>
                      <a:pt x="290" y="118"/>
                    </a:lnTo>
                    <a:lnTo>
                      <a:pt x="275" y="123"/>
                    </a:lnTo>
                    <a:lnTo>
                      <a:pt x="259" y="127"/>
                    </a:lnTo>
                    <a:lnTo>
                      <a:pt x="243" y="133"/>
                    </a:lnTo>
                    <a:lnTo>
                      <a:pt x="228" y="140"/>
                    </a:lnTo>
                    <a:lnTo>
                      <a:pt x="214" y="148"/>
                    </a:lnTo>
                    <a:lnTo>
                      <a:pt x="199" y="157"/>
                    </a:lnTo>
                    <a:lnTo>
                      <a:pt x="185" y="167"/>
                    </a:lnTo>
                    <a:lnTo>
                      <a:pt x="171" y="178"/>
                    </a:lnTo>
                    <a:lnTo>
                      <a:pt x="159" y="191"/>
                    </a:lnTo>
                    <a:lnTo>
                      <a:pt x="148" y="205"/>
                    </a:lnTo>
                    <a:lnTo>
                      <a:pt x="138" y="219"/>
                    </a:lnTo>
                    <a:lnTo>
                      <a:pt x="130" y="235"/>
                    </a:lnTo>
                    <a:lnTo>
                      <a:pt x="122" y="252"/>
                    </a:lnTo>
                    <a:lnTo>
                      <a:pt x="118" y="271"/>
                    </a:lnTo>
                    <a:lnTo>
                      <a:pt x="114" y="289"/>
                    </a:lnTo>
                    <a:lnTo>
                      <a:pt x="114" y="289"/>
                    </a:lnTo>
                    <a:lnTo>
                      <a:pt x="112" y="296"/>
                    </a:lnTo>
                    <a:lnTo>
                      <a:pt x="110" y="299"/>
                    </a:lnTo>
                    <a:lnTo>
                      <a:pt x="105" y="302"/>
                    </a:lnTo>
                    <a:lnTo>
                      <a:pt x="100" y="302"/>
                    </a:lnTo>
                    <a:lnTo>
                      <a:pt x="100" y="302"/>
                    </a:lnTo>
                    <a:lnTo>
                      <a:pt x="58" y="302"/>
                    </a:lnTo>
                    <a:lnTo>
                      <a:pt x="37" y="302"/>
                    </a:lnTo>
                    <a:lnTo>
                      <a:pt x="17" y="305"/>
                    </a:lnTo>
                    <a:lnTo>
                      <a:pt x="17" y="305"/>
                    </a:lnTo>
                    <a:lnTo>
                      <a:pt x="11" y="306"/>
                    </a:lnTo>
                    <a:lnTo>
                      <a:pt x="9" y="305"/>
                    </a:lnTo>
                    <a:lnTo>
                      <a:pt x="6" y="303"/>
                    </a:lnTo>
                    <a:lnTo>
                      <a:pt x="3" y="301"/>
                    </a:lnTo>
                    <a:lnTo>
                      <a:pt x="0" y="295"/>
                    </a:lnTo>
                    <a:lnTo>
                      <a:pt x="0" y="286"/>
                    </a:lnTo>
                    <a:lnTo>
                      <a:pt x="0" y="286"/>
                    </a:lnTo>
                    <a:lnTo>
                      <a:pt x="1" y="264"/>
                    </a:lnTo>
                    <a:lnTo>
                      <a:pt x="6" y="241"/>
                    </a:lnTo>
                    <a:lnTo>
                      <a:pt x="11" y="219"/>
                    </a:lnTo>
                    <a:lnTo>
                      <a:pt x="18" y="198"/>
                    </a:lnTo>
                    <a:lnTo>
                      <a:pt x="28" y="180"/>
                    </a:lnTo>
                    <a:lnTo>
                      <a:pt x="38" y="160"/>
                    </a:lnTo>
                    <a:lnTo>
                      <a:pt x="53" y="141"/>
                    </a:lnTo>
                    <a:lnTo>
                      <a:pt x="67" y="124"/>
                    </a:lnTo>
                    <a:lnTo>
                      <a:pt x="67" y="124"/>
                    </a:lnTo>
                    <a:lnTo>
                      <a:pt x="80" y="111"/>
                    </a:lnTo>
                    <a:lnTo>
                      <a:pt x="93" y="100"/>
                    </a:lnTo>
                    <a:lnTo>
                      <a:pt x="105" y="88"/>
                    </a:lnTo>
                    <a:lnTo>
                      <a:pt x="118" y="77"/>
                    </a:lnTo>
                    <a:lnTo>
                      <a:pt x="147" y="59"/>
                    </a:lnTo>
                    <a:lnTo>
                      <a:pt x="177" y="43"/>
                    </a:lnTo>
                    <a:lnTo>
                      <a:pt x="208" y="30"/>
                    </a:lnTo>
                    <a:lnTo>
                      <a:pt x="241" y="19"/>
                    </a:lnTo>
                    <a:lnTo>
                      <a:pt x="273" y="10"/>
                    </a:lnTo>
                    <a:lnTo>
                      <a:pt x="309" y="3"/>
                    </a:lnTo>
                    <a:lnTo>
                      <a:pt x="309" y="3"/>
                    </a:lnTo>
                    <a:lnTo>
                      <a:pt x="335" y="2"/>
                    </a:lnTo>
                    <a:lnTo>
                      <a:pt x="360" y="0"/>
                    </a:lnTo>
                    <a:lnTo>
                      <a:pt x="384" y="2"/>
                    </a:lnTo>
                    <a:lnTo>
                      <a:pt x="409" y="4"/>
                    </a:lnTo>
                    <a:lnTo>
                      <a:pt x="431" y="7"/>
                    </a:lnTo>
                    <a:lnTo>
                      <a:pt x="454" y="13"/>
                    </a:lnTo>
                    <a:lnTo>
                      <a:pt x="476" y="20"/>
                    </a:lnTo>
                    <a:lnTo>
                      <a:pt x="495" y="29"/>
                    </a:lnTo>
                    <a:lnTo>
                      <a:pt x="517" y="39"/>
                    </a:lnTo>
                    <a:lnTo>
                      <a:pt x="535" y="50"/>
                    </a:lnTo>
                    <a:lnTo>
                      <a:pt x="554" y="64"/>
                    </a:lnTo>
                    <a:lnTo>
                      <a:pt x="572" y="78"/>
                    </a:lnTo>
                    <a:lnTo>
                      <a:pt x="589" y="96"/>
                    </a:lnTo>
                    <a:lnTo>
                      <a:pt x="605" y="114"/>
                    </a:lnTo>
                    <a:lnTo>
                      <a:pt x="621" y="134"/>
                    </a:lnTo>
                    <a:lnTo>
                      <a:pt x="635" y="157"/>
                    </a:lnTo>
                    <a:lnTo>
                      <a:pt x="635" y="157"/>
                    </a:lnTo>
                    <a:lnTo>
                      <a:pt x="641" y="164"/>
                    </a:lnTo>
                    <a:lnTo>
                      <a:pt x="646" y="167"/>
                    </a:lnTo>
                    <a:lnTo>
                      <a:pt x="654" y="167"/>
                    </a:lnTo>
                    <a:lnTo>
                      <a:pt x="661" y="164"/>
                    </a:lnTo>
                    <a:lnTo>
                      <a:pt x="661" y="164"/>
                    </a:lnTo>
                    <a:lnTo>
                      <a:pt x="705" y="145"/>
                    </a:lnTo>
                    <a:lnTo>
                      <a:pt x="705" y="145"/>
                    </a:lnTo>
                    <a:lnTo>
                      <a:pt x="715" y="143"/>
                    </a:lnTo>
                    <a:lnTo>
                      <a:pt x="719" y="143"/>
                    </a:lnTo>
                    <a:lnTo>
                      <a:pt x="722" y="144"/>
                    </a:lnTo>
                    <a:lnTo>
                      <a:pt x="723" y="145"/>
                    </a:lnTo>
                    <a:lnTo>
                      <a:pt x="723" y="150"/>
                    </a:lnTo>
                    <a:lnTo>
                      <a:pt x="723" y="160"/>
                    </a:lnTo>
                    <a:lnTo>
                      <a:pt x="723" y="160"/>
                    </a:lnTo>
                    <a:lnTo>
                      <a:pt x="676" y="373"/>
                    </a:lnTo>
                    <a:lnTo>
                      <a:pt x="676" y="373"/>
                    </a:lnTo>
                    <a:lnTo>
                      <a:pt x="675" y="379"/>
                    </a:lnTo>
                    <a:lnTo>
                      <a:pt x="673" y="383"/>
                    </a:lnTo>
                    <a:lnTo>
                      <a:pt x="672" y="385"/>
                    </a:lnTo>
                    <a:lnTo>
                      <a:pt x="669" y="385"/>
                    </a:lnTo>
                    <a:lnTo>
                      <a:pt x="666" y="385"/>
                    </a:lnTo>
                    <a:lnTo>
                      <a:pt x="662" y="383"/>
                    </a:lnTo>
                    <a:lnTo>
                      <a:pt x="662" y="383"/>
                    </a:lnTo>
                    <a:lnTo>
                      <a:pt x="447" y="254"/>
                    </a:lnTo>
                    <a:lnTo>
                      <a:pt x="447" y="254"/>
                    </a:lnTo>
                    <a:lnTo>
                      <a:pt x="488" y="237"/>
                    </a:lnTo>
                    <a:lnTo>
                      <a:pt x="527" y="221"/>
                    </a:lnTo>
                    <a:lnTo>
                      <a:pt x="527" y="221"/>
                    </a:lnTo>
                    <a:lnTo>
                      <a:pt x="532" y="218"/>
                    </a:lnTo>
                    <a:lnTo>
                      <a:pt x="538" y="215"/>
                    </a:lnTo>
                    <a:lnTo>
                      <a:pt x="541" y="212"/>
                    </a:lnTo>
                    <a:lnTo>
                      <a:pt x="542" y="209"/>
                    </a:lnTo>
                    <a:lnTo>
                      <a:pt x="542" y="205"/>
                    </a:lnTo>
                    <a:lnTo>
                      <a:pt x="541" y="201"/>
                    </a:lnTo>
                    <a:lnTo>
                      <a:pt x="534" y="192"/>
                    </a:lnTo>
                    <a:lnTo>
                      <a:pt x="534" y="192"/>
                    </a:lnTo>
                    <a:lnTo>
                      <a:pt x="523" y="180"/>
                    </a:lnTo>
                    <a:lnTo>
                      <a:pt x="510" y="168"/>
                    </a:lnTo>
                    <a:lnTo>
                      <a:pt x="498" y="157"/>
                    </a:lnTo>
                    <a:lnTo>
                      <a:pt x="486" y="148"/>
                    </a:lnTo>
                    <a:lnTo>
                      <a:pt x="473" y="140"/>
                    </a:lnTo>
                    <a:lnTo>
                      <a:pt x="458" y="133"/>
                    </a:lnTo>
                    <a:lnTo>
                      <a:pt x="446" y="127"/>
                    </a:lnTo>
                    <a:lnTo>
                      <a:pt x="431" y="121"/>
                    </a:lnTo>
                    <a:lnTo>
                      <a:pt x="417" y="117"/>
                    </a:lnTo>
                    <a:lnTo>
                      <a:pt x="402" y="114"/>
                    </a:lnTo>
                    <a:lnTo>
                      <a:pt x="386" y="113"/>
                    </a:lnTo>
                    <a:lnTo>
                      <a:pt x="372" y="111"/>
                    </a:lnTo>
                    <a:lnTo>
                      <a:pt x="356" y="111"/>
                    </a:lnTo>
                    <a:lnTo>
                      <a:pt x="339" y="111"/>
                    </a:lnTo>
                    <a:lnTo>
                      <a:pt x="323" y="114"/>
                    </a:lnTo>
                    <a:lnTo>
                      <a:pt x="306" y="117"/>
                    </a:lnTo>
                    <a:lnTo>
                      <a:pt x="306" y="117"/>
                    </a:lnTo>
                    <a:close/>
                  </a:path>
                </a:pathLst>
              </a:custGeom>
              <a:solidFill>
                <a:srgbClr val="FDFEF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sym typeface="Calibri"/>
                </a:endParaRPr>
              </a:p>
            </p:txBody>
          </p:sp>
        </p:grpSp>
        <p:sp>
          <p:nvSpPr>
            <p:cNvPr id="289" name="Google Shape;289;g3f95de07730_1_39"/>
            <p:cNvSpPr txBox="1"/>
            <p:nvPr/>
          </p:nvSpPr>
          <p:spPr>
            <a:xfrm>
              <a:off x="105500" y="6379327"/>
              <a:ext cx="11980800" cy="50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300" b="1" dirty="0">
                  <a:solidFill>
                    <a:schemeClr val="accent1"/>
                  </a:solidFill>
                  <a:sym typeface="Calibri"/>
                </a:rPr>
                <a:t>Application Showcase:</a:t>
              </a:r>
              <a:r>
                <a:rPr lang="en-US" sz="2300" dirty="0">
                  <a:solidFill>
                    <a:srgbClr val="595959"/>
                  </a:solidFill>
                  <a:sym typeface="Calibri"/>
                </a:rPr>
                <a:t> </a:t>
              </a:r>
              <a:r>
                <a:rPr lang="en-US" sz="2300" u="sng" dirty="0">
                  <a:solidFill>
                    <a:schemeClr val="hlink"/>
                  </a:solidFill>
                  <a:sym typeface="Calibri"/>
                  <a:hlinkClick r:id="rId10"/>
                </a:rPr>
                <a:t>https://pegasus.isi.edu/application-showcase/</a:t>
              </a:r>
              <a:r>
                <a:rPr lang="en-US" sz="2300" dirty="0">
                  <a:solidFill>
                    <a:srgbClr val="595959"/>
                  </a:solidFill>
                  <a:sym typeface="Calibri"/>
                </a:rPr>
                <a:t> </a:t>
              </a:r>
              <a:endParaRPr sz="2300" dirty="0">
                <a:solidFill>
                  <a:srgbClr val="595959"/>
                </a:solidFill>
                <a:sym typeface="Calibri"/>
              </a:endParaRPr>
            </a:p>
          </p:txBody>
        </p:sp>
        <p:pic>
          <p:nvPicPr>
            <p:cNvPr id="290" name="Google Shape;290;g3f95de07730_1_39"/>
            <p:cNvPicPr preferRelativeResize="0"/>
            <p:nvPr/>
          </p:nvPicPr>
          <p:blipFill>
            <a:blip r:embed="rId11">
              <a:alphaModFix/>
            </a:blip>
            <a:stretch>
              <a:fillRect/>
            </a:stretch>
          </p:blipFill>
          <p:spPr>
            <a:xfrm>
              <a:off x="7594425" y="3313544"/>
              <a:ext cx="1454854" cy="1332000"/>
            </a:xfrm>
            <a:prstGeom prst="rect">
              <a:avLst/>
            </a:prstGeom>
            <a:noFill/>
            <a:ln>
              <a:noFill/>
            </a:ln>
          </p:spPr>
        </p:pic>
      </p:grpSp>
      <p:sp>
        <p:nvSpPr>
          <p:cNvPr id="3" name="Text Placeholder 2">
            <a:extLst>
              <a:ext uri="{FF2B5EF4-FFF2-40B4-BE49-F238E27FC236}">
                <a16:creationId xmlns:a16="http://schemas.microsoft.com/office/drawing/2014/main" id="{46A0AF6C-3F86-F45B-53BA-233C93F3E7DD}"/>
              </a:ext>
            </a:extLst>
          </p:cNvPr>
          <p:cNvSpPr>
            <a:spLocks noGrp="1"/>
          </p:cNvSpPr>
          <p:nvPr>
            <p:ph type="body" idx="13"/>
          </p:nvPr>
        </p:nvSpPr>
        <p:spPr/>
        <p:txBody>
          <a:bodyPr/>
          <a:lstStyle/>
          <a:p>
            <a:r>
              <a:rPr lang="en-US" dirty="0"/>
              <a:t>PEGASUS WMS</a:t>
            </a:r>
          </a:p>
        </p:txBody>
      </p:sp>
      <p:sp>
        <p:nvSpPr>
          <p:cNvPr id="2" name="Title 1">
            <a:extLst>
              <a:ext uri="{FF2B5EF4-FFF2-40B4-BE49-F238E27FC236}">
                <a16:creationId xmlns:a16="http://schemas.microsoft.com/office/drawing/2014/main" id="{47BE38D7-1018-3991-2285-3CFCB04B83A2}"/>
              </a:ext>
            </a:extLst>
          </p:cNvPr>
          <p:cNvSpPr>
            <a:spLocks noGrp="1"/>
          </p:cNvSpPr>
          <p:nvPr>
            <p:ph type="title"/>
          </p:nvPr>
        </p:nvSpPr>
        <p:spPr/>
        <p:txBody>
          <a:bodyPr>
            <a:normAutofit/>
          </a:bodyPr>
          <a:lstStyle/>
          <a:p>
            <a:r>
              <a:rPr lang="en-US" dirty="0"/>
              <a:t>Pegasus Workflow Management System</a:t>
            </a:r>
          </a:p>
        </p:txBody>
      </p:sp>
    </p:spTree>
    <p:extLst>
      <p:ext uri="{BB962C8B-B14F-4D97-AF65-F5344CB8AC3E}">
        <p14:creationId xmlns:p14="http://schemas.microsoft.com/office/powerpoint/2010/main" val="627566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169"/>
        <p:cNvGrpSpPr/>
        <p:nvPr/>
      </p:nvGrpSpPr>
      <p:grpSpPr>
        <a:xfrm>
          <a:off x="0" y="0"/>
          <a:ext cx="0" cy="0"/>
          <a:chOff x="0" y="0"/>
          <a:chExt cx="0" cy="0"/>
        </a:xfrm>
      </p:grpSpPr>
      <p:grpSp>
        <p:nvGrpSpPr>
          <p:cNvPr id="423" name="Content group"/>
          <p:cNvGrpSpPr/>
          <p:nvPr/>
        </p:nvGrpSpPr>
        <p:grpSpPr>
          <a:xfrm>
            <a:off x="1114072" y="1422400"/>
            <a:ext cx="9963856" cy="4874596"/>
            <a:chOff x="955196" y="881646"/>
            <a:chExt cx="11135533" cy="5447813"/>
          </a:xfrm>
        </p:grpSpPr>
        <p:grpSp>
          <p:nvGrpSpPr>
            <p:cNvPr id="170" name="Google Shape;170;p6"/>
            <p:cNvGrpSpPr/>
            <p:nvPr/>
          </p:nvGrpSpPr>
          <p:grpSpPr>
            <a:xfrm>
              <a:off x="1129907" y="1252906"/>
              <a:ext cx="4643566" cy="3103675"/>
              <a:chOff x="4511040" y="1264992"/>
              <a:chExt cx="7177072" cy="2002242"/>
            </a:xfrm>
          </p:grpSpPr>
          <p:sp>
            <p:nvSpPr>
              <p:cNvPr id="171" name="Google Shape;171;p6"/>
              <p:cNvSpPr/>
              <p:nvPr/>
            </p:nvSpPr>
            <p:spPr>
              <a:xfrm>
                <a:off x="4511040" y="1264992"/>
                <a:ext cx="1767900" cy="374174"/>
              </a:xfrm>
              <a:prstGeom prst="rect">
                <a:avLst/>
              </a:prstGeom>
              <a:noFill/>
              <a:ln>
                <a:noFill/>
              </a:ln>
            </p:spPr>
            <p:txBody>
              <a:bodyPr spcFirstLastPara="1" wrap="square" lIns="72000" tIns="36000" rIns="72000" bIns="36000" anchor="t" anchorCtr="0">
                <a:spAutoFit/>
              </a:bodyPr>
              <a:lstStyle/>
              <a:p>
                <a:pPr marL="0" marR="0" lvl="0" indent="0" algn="l" rtl="0">
                  <a:spcBef>
                    <a:spcPts val="0"/>
                  </a:spcBef>
                  <a:spcAft>
                    <a:spcPts val="0"/>
                  </a:spcAft>
                  <a:buNone/>
                </a:pPr>
                <a:r>
                  <a:rPr lang="en-US" sz="1450" b="1" dirty="0">
                    <a:solidFill>
                      <a:schemeClr val="accent1"/>
                    </a:solidFill>
                    <a:sym typeface="Roboto"/>
                  </a:rPr>
                  <a:t>Pegasus WMS ==</a:t>
                </a:r>
                <a:endParaRPr sz="1250" dirty="0">
                  <a:solidFill>
                    <a:schemeClr val="accent1"/>
                  </a:solidFill>
                  <a:sym typeface="Roboto"/>
                </a:endParaRPr>
              </a:p>
            </p:txBody>
          </p:sp>
          <p:sp>
            <p:nvSpPr>
              <p:cNvPr id="172" name="Google Shape;172;p6"/>
              <p:cNvSpPr/>
              <p:nvPr/>
            </p:nvSpPr>
            <p:spPr>
              <a:xfrm>
                <a:off x="6209212" y="1264992"/>
                <a:ext cx="5478900" cy="523500"/>
              </a:xfrm>
              <a:prstGeom prst="rect">
                <a:avLst/>
              </a:prstGeom>
              <a:noFill/>
              <a:ln>
                <a:noFill/>
              </a:ln>
            </p:spPr>
            <p:txBody>
              <a:bodyPr spcFirstLastPara="1" wrap="square" lIns="72000" tIns="36000" rIns="72000" bIns="36000" anchor="t" anchorCtr="0">
                <a:spAutoFit/>
              </a:bodyPr>
              <a:lstStyle/>
              <a:p>
                <a:pPr marL="0" marR="0" lvl="0" indent="0" algn="l" rtl="0">
                  <a:spcBef>
                    <a:spcPts val="0"/>
                  </a:spcBef>
                  <a:spcAft>
                    <a:spcPts val="0"/>
                  </a:spcAft>
                  <a:buNone/>
                </a:pPr>
                <a:r>
                  <a:rPr lang="en-US" sz="1450" b="1" dirty="0">
                    <a:solidFill>
                      <a:srgbClr val="3F3F3F"/>
                    </a:solidFill>
                    <a:sym typeface="Roboto"/>
                  </a:rPr>
                  <a:t>Pegasus planner (mapper) + </a:t>
                </a:r>
                <a:r>
                  <a:rPr lang="en-US" sz="1450" b="1" dirty="0" err="1">
                    <a:solidFill>
                      <a:srgbClr val="3F3F3F"/>
                    </a:solidFill>
                    <a:sym typeface="Roboto"/>
                  </a:rPr>
                  <a:t>DAGMan</a:t>
                </a:r>
                <a:r>
                  <a:rPr lang="en-US" sz="1450" b="1" dirty="0">
                    <a:solidFill>
                      <a:srgbClr val="3F3F3F"/>
                    </a:solidFill>
                    <a:sym typeface="Roboto"/>
                  </a:rPr>
                  <a:t> workflow engine + </a:t>
                </a:r>
                <a:r>
                  <a:rPr lang="en-US" sz="1450" b="1" dirty="0" err="1">
                    <a:solidFill>
                      <a:srgbClr val="3F3F3F"/>
                    </a:solidFill>
                    <a:sym typeface="Roboto"/>
                  </a:rPr>
                  <a:t>HTCondor</a:t>
                </a:r>
                <a:r>
                  <a:rPr lang="en-US" sz="1450" b="1" dirty="0">
                    <a:solidFill>
                      <a:srgbClr val="3F3F3F"/>
                    </a:solidFill>
                    <a:sym typeface="Roboto"/>
                  </a:rPr>
                  <a:t> scheduler/broker</a:t>
                </a:r>
                <a:endParaRPr sz="1250" dirty="0">
                  <a:solidFill>
                    <a:schemeClr val="dk1"/>
                  </a:solidFill>
                  <a:sym typeface="Roboto"/>
                </a:endParaRPr>
              </a:p>
            </p:txBody>
          </p:sp>
          <p:sp>
            <p:nvSpPr>
              <p:cNvPr id="173" name="Google Shape;173;p6"/>
              <p:cNvSpPr/>
              <p:nvPr/>
            </p:nvSpPr>
            <p:spPr>
              <a:xfrm>
                <a:off x="4511040" y="1850334"/>
                <a:ext cx="4551300" cy="1416900"/>
              </a:xfrm>
              <a:prstGeom prst="rect">
                <a:avLst/>
              </a:prstGeom>
              <a:noFill/>
              <a:ln>
                <a:noFill/>
              </a:ln>
            </p:spPr>
            <p:txBody>
              <a:bodyPr spcFirstLastPara="1" wrap="square" lIns="72000" tIns="36000" rIns="72000" bIns="36000" anchor="t" anchorCtr="0">
                <a:spAutoFit/>
              </a:bodyPr>
              <a:lstStyle/>
              <a:p>
                <a:pPr marL="200019" marR="0" lvl="0" indent="-200019" algn="l" rtl="0">
                  <a:spcBef>
                    <a:spcPts val="0"/>
                  </a:spcBef>
                  <a:spcAft>
                    <a:spcPts val="0"/>
                  </a:spcAft>
                  <a:buClr>
                    <a:srgbClr val="74CA21"/>
                  </a:buClr>
                  <a:buSzPts val="1400"/>
                  <a:buFont typeface="Noto Sans Symbols"/>
                  <a:buChar char="▪"/>
                </a:pPr>
                <a:r>
                  <a:rPr lang="en-US" sz="1450">
                    <a:solidFill>
                      <a:srgbClr val="3F3F3F"/>
                    </a:solidFill>
                    <a:sym typeface="Roboto"/>
                  </a:rPr>
                  <a:t>Pegasus maps workflows to target infrastructure  (1 or more resources)</a:t>
                </a:r>
                <a:endParaRPr sz="1450">
                  <a:solidFill>
                    <a:schemeClr val="dk1"/>
                  </a:solidFill>
                  <a:sym typeface="Roboto"/>
                </a:endParaRPr>
              </a:p>
              <a:p>
                <a:pPr marL="200019" marR="0" lvl="0" indent="-200019" algn="l" rtl="0">
                  <a:spcBef>
                    <a:spcPts val="600"/>
                  </a:spcBef>
                  <a:spcAft>
                    <a:spcPts val="0"/>
                  </a:spcAft>
                  <a:buClr>
                    <a:srgbClr val="74CA21"/>
                  </a:buClr>
                  <a:buSzPts val="1400"/>
                  <a:buFont typeface="Noto Sans Symbols"/>
                  <a:buChar char="▪"/>
                </a:pPr>
                <a:r>
                  <a:rPr lang="en-US" sz="1450">
                    <a:solidFill>
                      <a:srgbClr val="3F3F3F"/>
                    </a:solidFill>
                    <a:sym typeface="Roboto"/>
                  </a:rPr>
                  <a:t>DAGMan manages dependencies and reliability</a:t>
                </a:r>
                <a:endParaRPr sz="1450">
                  <a:solidFill>
                    <a:schemeClr val="dk1"/>
                  </a:solidFill>
                  <a:sym typeface="Roboto"/>
                </a:endParaRPr>
              </a:p>
              <a:p>
                <a:pPr marL="200019" marR="0" lvl="0" indent="-200019" algn="l" rtl="0">
                  <a:spcBef>
                    <a:spcPts val="600"/>
                  </a:spcBef>
                  <a:spcAft>
                    <a:spcPts val="0"/>
                  </a:spcAft>
                  <a:buClr>
                    <a:srgbClr val="74CA21"/>
                  </a:buClr>
                  <a:buSzPts val="1400"/>
                  <a:buFont typeface="Noto Sans Symbols"/>
                  <a:buChar char="▪"/>
                </a:pPr>
                <a:r>
                  <a:rPr lang="en-US" sz="1450">
                    <a:solidFill>
                      <a:srgbClr val="3F3F3F"/>
                    </a:solidFill>
                    <a:sym typeface="Roboto"/>
                  </a:rPr>
                  <a:t>HTCondor is used as a broker to interface with different schedulers</a:t>
                </a:r>
                <a:endParaRPr sz="1450">
                  <a:solidFill>
                    <a:schemeClr val="dk1"/>
                  </a:solidFill>
                  <a:sym typeface="Roboto"/>
                </a:endParaRPr>
              </a:p>
            </p:txBody>
          </p:sp>
        </p:grpSp>
        <p:grpSp>
          <p:nvGrpSpPr>
            <p:cNvPr id="174" name="Google Shape;174;p6"/>
            <p:cNvGrpSpPr/>
            <p:nvPr/>
          </p:nvGrpSpPr>
          <p:grpSpPr>
            <a:xfrm>
              <a:off x="1129870" y="4485805"/>
              <a:ext cx="7246800" cy="1280288"/>
              <a:chOff x="4511040" y="4677974"/>
              <a:chExt cx="7246800" cy="1280288"/>
            </a:xfrm>
          </p:grpSpPr>
          <p:sp>
            <p:nvSpPr>
              <p:cNvPr id="175" name="Google Shape;175;p6"/>
              <p:cNvSpPr/>
              <p:nvPr/>
            </p:nvSpPr>
            <p:spPr>
              <a:xfrm>
                <a:off x="4511040" y="4677974"/>
                <a:ext cx="7246800" cy="580007"/>
              </a:xfrm>
              <a:prstGeom prst="rect">
                <a:avLst/>
              </a:prstGeom>
              <a:noFill/>
              <a:ln>
                <a:noFill/>
              </a:ln>
            </p:spPr>
            <p:txBody>
              <a:bodyPr spcFirstLastPara="1" wrap="square" lIns="72000" tIns="36000" rIns="72000" bIns="36000" anchor="t" anchorCtr="0">
                <a:spAutoFit/>
              </a:bodyPr>
              <a:lstStyle/>
              <a:p>
                <a:pPr marL="0" marR="0" lvl="0" indent="0" algn="l" rtl="0">
                  <a:spcBef>
                    <a:spcPts val="0"/>
                  </a:spcBef>
                  <a:spcAft>
                    <a:spcPts val="0"/>
                  </a:spcAft>
                  <a:buNone/>
                </a:pPr>
                <a:r>
                  <a:rPr lang="en-US" sz="1450" b="1" dirty="0">
                    <a:solidFill>
                      <a:schemeClr val="accent1"/>
                    </a:solidFill>
                    <a:sym typeface="Roboto"/>
                  </a:rPr>
                  <a:t>Planning converts an abstract workflow </a:t>
                </a:r>
                <a:endParaRPr dirty="0">
                  <a:solidFill>
                    <a:schemeClr val="accent1"/>
                  </a:solidFill>
                </a:endParaRPr>
              </a:p>
              <a:p>
                <a:pPr marL="0" marR="0" lvl="0" indent="0" algn="l" rtl="0">
                  <a:spcBef>
                    <a:spcPts val="0"/>
                  </a:spcBef>
                  <a:spcAft>
                    <a:spcPts val="0"/>
                  </a:spcAft>
                  <a:buNone/>
                </a:pPr>
                <a:r>
                  <a:rPr lang="en-US" sz="1450" b="1" dirty="0">
                    <a:solidFill>
                      <a:schemeClr val="accent1"/>
                    </a:solidFill>
                    <a:sym typeface="Roboto"/>
                  </a:rPr>
                  <a:t>into a concrete, executable workflow</a:t>
                </a:r>
                <a:endParaRPr sz="1250" dirty="0">
                  <a:solidFill>
                    <a:schemeClr val="accent1"/>
                  </a:solidFill>
                  <a:sym typeface="Roboto"/>
                </a:endParaRPr>
              </a:p>
            </p:txBody>
          </p:sp>
          <p:sp>
            <p:nvSpPr>
              <p:cNvPr id="176" name="Google Shape;176;p6"/>
              <p:cNvSpPr/>
              <p:nvPr/>
            </p:nvSpPr>
            <p:spPr>
              <a:xfrm>
                <a:off x="4511040" y="5239162"/>
                <a:ext cx="5742900" cy="719100"/>
              </a:xfrm>
              <a:prstGeom prst="rect">
                <a:avLst/>
              </a:prstGeom>
              <a:noFill/>
              <a:ln>
                <a:noFill/>
              </a:ln>
            </p:spPr>
            <p:txBody>
              <a:bodyPr spcFirstLastPara="1" wrap="square" lIns="72000" tIns="36000" rIns="72000" bIns="36000" anchor="t" anchorCtr="0">
                <a:spAutoFit/>
              </a:bodyPr>
              <a:lstStyle/>
              <a:p>
                <a:pPr marL="200019" marR="0" lvl="0" indent="-200019" algn="l" rtl="0">
                  <a:spcBef>
                    <a:spcPts val="0"/>
                  </a:spcBef>
                  <a:spcAft>
                    <a:spcPts val="0"/>
                  </a:spcAft>
                  <a:buClr>
                    <a:srgbClr val="74CA21"/>
                  </a:buClr>
                  <a:buSzPts val="1400"/>
                  <a:buFont typeface="Noto Sans Symbols"/>
                  <a:buChar char="▪"/>
                </a:pPr>
                <a:r>
                  <a:rPr lang="en-US" sz="1250">
                    <a:solidFill>
                      <a:srgbClr val="3F3F3F"/>
                    </a:solidFill>
                    <a:sym typeface="Roboto"/>
                  </a:rPr>
                  <a:t>Planner is like a compiler</a:t>
                </a:r>
                <a:endParaRPr/>
              </a:p>
              <a:p>
                <a:pPr marL="200019" marR="0" lvl="0" indent="-200019" algn="l" rtl="0">
                  <a:spcBef>
                    <a:spcPts val="0"/>
                  </a:spcBef>
                  <a:spcAft>
                    <a:spcPts val="0"/>
                  </a:spcAft>
                  <a:buClr>
                    <a:srgbClr val="74CA21"/>
                  </a:buClr>
                  <a:buSzPts val="1400"/>
                  <a:buFont typeface="Noto Sans Symbols"/>
                  <a:buChar char="▪"/>
                </a:pPr>
                <a:r>
                  <a:rPr lang="en-US" sz="1250">
                    <a:solidFill>
                      <a:srgbClr val="3F3F3F"/>
                    </a:solidFill>
                    <a:sym typeface="Roboto"/>
                  </a:rPr>
                  <a:t>Optimized performance</a:t>
                </a:r>
                <a:endParaRPr/>
              </a:p>
              <a:p>
                <a:pPr marL="200019" marR="0" lvl="0" indent="-200019" algn="l" rtl="0">
                  <a:spcBef>
                    <a:spcPts val="0"/>
                  </a:spcBef>
                  <a:spcAft>
                    <a:spcPts val="0"/>
                  </a:spcAft>
                  <a:buClr>
                    <a:srgbClr val="74CA21"/>
                  </a:buClr>
                  <a:buSzPts val="1400"/>
                  <a:buFont typeface="Noto Sans Symbols"/>
                  <a:buChar char="▪"/>
                </a:pPr>
                <a:r>
                  <a:rPr lang="en-US" sz="1250">
                    <a:solidFill>
                      <a:srgbClr val="3F3F3F"/>
                    </a:solidFill>
                    <a:sym typeface="Roboto"/>
                  </a:rPr>
                  <a:t>Provides fault tolerance</a:t>
                </a:r>
                <a:endParaRPr sz="1250">
                  <a:solidFill>
                    <a:schemeClr val="dk1"/>
                  </a:solidFill>
                  <a:sym typeface="Roboto"/>
                </a:endParaRPr>
              </a:p>
            </p:txBody>
          </p:sp>
        </p:grpSp>
        <p:cxnSp>
          <p:nvCxnSpPr>
            <p:cNvPr id="177" name="Google Shape;177;p6"/>
            <p:cNvCxnSpPr/>
            <p:nvPr/>
          </p:nvCxnSpPr>
          <p:spPr>
            <a:xfrm>
              <a:off x="1129873" y="4421737"/>
              <a:ext cx="3645300" cy="0"/>
            </a:xfrm>
            <a:prstGeom prst="straightConnector1">
              <a:avLst/>
            </a:prstGeom>
            <a:noFill/>
            <a:ln w="9525" cap="flat" cmpd="sng">
              <a:solidFill>
                <a:srgbClr val="74CA21"/>
              </a:solidFill>
              <a:prstDash val="dash"/>
              <a:miter lim="800000"/>
              <a:headEnd type="none" w="sm" len="sm"/>
              <a:tailEnd type="none" w="sm" len="sm"/>
            </a:ln>
          </p:spPr>
        </p:cxnSp>
        <p:sp>
          <p:nvSpPr>
            <p:cNvPr id="180" name="Google Shape;180;p6"/>
            <p:cNvSpPr/>
            <p:nvPr/>
          </p:nvSpPr>
          <p:spPr>
            <a:xfrm flipH="1">
              <a:off x="955196" y="1345237"/>
              <a:ext cx="109200" cy="109200"/>
            </a:xfrm>
            <a:prstGeom prst="rtTriangle">
              <a:avLst/>
            </a:prstGeom>
            <a:solidFill>
              <a:srgbClr val="BA08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sym typeface="Roboto Light"/>
              </a:endParaRPr>
            </a:p>
          </p:txBody>
        </p:sp>
        <p:sp>
          <p:nvSpPr>
            <p:cNvPr id="181" name="Google Shape;181;p6"/>
            <p:cNvSpPr/>
            <p:nvPr/>
          </p:nvSpPr>
          <p:spPr>
            <a:xfrm flipH="1">
              <a:off x="955196" y="4591881"/>
              <a:ext cx="109200" cy="109200"/>
            </a:xfrm>
            <a:prstGeom prst="rtTriangle">
              <a:avLst/>
            </a:prstGeom>
            <a:solidFill>
              <a:srgbClr val="BA08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sym typeface="Roboto Light"/>
              </a:endParaRPr>
            </a:p>
          </p:txBody>
        </p:sp>
        <p:sp>
          <p:nvSpPr>
            <p:cNvPr id="182" name="Google Shape;182;p6"/>
            <p:cNvSpPr/>
            <p:nvPr/>
          </p:nvSpPr>
          <p:spPr>
            <a:xfrm>
              <a:off x="7304512" y="2880555"/>
              <a:ext cx="3086100" cy="1835700"/>
            </a:xfrm>
            <a:prstGeom prst="roundRect">
              <a:avLst>
                <a:gd name="adj" fmla="val 5855"/>
              </a:avLst>
            </a:prstGeom>
            <a:solidFill>
              <a:srgbClr val="E1EFD8">
                <a:alpha val="23140"/>
              </a:srgbClr>
            </a:solidFill>
            <a:ln w="12700" cap="flat" cmpd="sng">
              <a:solidFill>
                <a:srgbClr val="6CAF2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50">
                <a:solidFill>
                  <a:schemeClr val="lt1"/>
                </a:solidFill>
                <a:sym typeface="Roboto"/>
              </a:endParaRPr>
            </a:p>
          </p:txBody>
        </p:sp>
        <p:sp>
          <p:nvSpPr>
            <p:cNvPr id="183" name="Google Shape;183;p6"/>
            <p:cNvSpPr/>
            <p:nvPr/>
          </p:nvSpPr>
          <p:spPr>
            <a:xfrm>
              <a:off x="7927834" y="3059264"/>
              <a:ext cx="1593928" cy="1361096"/>
            </a:xfrm>
            <a:custGeom>
              <a:avLst/>
              <a:gdLst/>
              <a:ahLst/>
              <a:cxnLst/>
              <a:rect l="l" t="t" r="r" b="b"/>
              <a:pathLst>
                <a:path w="741362" h="763588" extrusionOk="0">
                  <a:moveTo>
                    <a:pt x="0" y="354013"/>
                  </a:moveTo>
                  <a:lnTo>
                    <a:pt x="741362" y="0"/>
                  </a:lnTo>
                  <a:lnTo>
                    <a:pt x="542925" y="763588"/>
                  </a:lnTo>
                  <a:lnTo>
                    <a:pt x="0" y="354013"/>
                  </a:lnTo>
                  <a:close/>
                </a:path>
              </a:pathLst>
            </a:custGeom>
            <a:gradFill>
              <a:gsLst>
                <a:gs pos="0">
                  <a:srgbClr val="C4E0B2">
                    <a:alpha val="43529"/>
                  </a:srgbClr>
                </a:gs>
                <a:gs pos="100000">
                  <a:srgbClr val="E1EFD8">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50">
                <a:solidFill>
                  <a:schemeClr val="lt1"/>
                </a:solidFill>
                <a:sym typeface="Roboto"/>
              </a:endParaRPr>
            </a:p>
          </p:txBody>
        </p:sp>
        <p:sp>
          <p:nvSpPr>
            <p:cNvPr id="184" name="Google Shape;184;p6"/>
            <p:cNvSpPr/>
            <p:nvPr/>
          </p:nvSpPr>
          <p:spPr>
            <a:xfrm>
              <a:off x="8720029" y="3051236"/>
              <a:ext cx="1549200" cy="1549200"/>
            </a:xfrm>
            <a:prstGeom prst="ellipse">
              <a:avLst/>
            </a:prstGeom>
            <a:gradFill>
              <a:gsLst>
                <a:gs pos="0">
                  <a:srgbClr val="E1EFD8">
                    <a:alpha val="43529"/>
                  </a:srgbClr>
                </a:gs>
                <a:gs pos="17000">
                  <a:srgbClr val="E1EFD8">
                    <a:alpha val="43529"/>
                  </a:srgbClr>
                </a:gs>
                <a:gs pos="100000">
                  <a:srgbClr val="C4E0B2"/>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50">
                <a:solidFill>
                  <a:schemeClr val="lt1"/>
                </a:solidFill>
                <a:sym typeface="Roboto"/>
              </a:endParaRPr>
            </a:p>
          </p:txBody>
        </p:sp>
        <p:sp>
          <p:nvSpPr>
            <p:cNvPr id="185" name="Google Shape;185;p6"/>
            <p:cNvSpPr/>
            <p:nvPr/>
          </p:nvSpPr>
          <p:spPr>
            <a:xfrm>
              <a:off x="7304512" y="893563"/>
              <a:ext cx="3086100" cy="1835700"/>
            </a:xfrm>
            <a:prstGeom prst="roundRect">
              <a:avLst>
                <a:gd name="adj" fmla="val 5855"/>
              </a:avLst>
            </a:prstGeom>
            <a:solidFill>
              <a:srgbClr val="E1EFD8">
                <a:alpha val="23140"/>
              </a:srgbClr>
            </a:solidFill>
            <a:ln w="12700" cap="flat" cmpd="sng">
              <a:solidFill>
                <a:srgbClr val="6CAF2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50">
                <a:solidFill>
                  <a:schemeClr val="lt1"/>
                </a:solidFill>
                <a:sym typeface="Roboto"/>
              </a:endParaRPr>
            </a:p>
          </p:txBody>
        </p:sp>
        <p:sp>
          <p:nvSpPr>
            <p:cNvPr id="186" name="Google Shape;186;p6"/>
            <p:cNvSpPr/>
            <p:nvPr/>
          </p:nvSpPr>
          <p:spPr>
            <a:xfrm>
              <a:off x="7927834" y="1044908"/>
              <a:ext cx="1593928" cy="1361096"/>
            </a:xfrm>
            <a:custGeom>
              <a:avLst/>
              <a:gdLst/>
              <a:ahLst/>
              <a:cxnLst/>
              <a:rect l="l" t="t" r="r" b="b"/>
              <a:pathLst>
                <a:path w="741362" h="763588" extrusionOk="0">
                  <a:moveTo>
                    <a:pt x="0" y="354013"/>
                  </a:moveTo>
                  <a:lnTo>
                    <a:pt x="741362" y="0"/>
                  </a:lnTo>
                  <a:lnTo>
                    <a:pt x="542925" y="763588"/>
                  </a:lnTo>
                  <a:lnTo>
                    <a:pt x="0" y="354013"/>
                  </a:lnTo>
                  <a:close/>
                </a:path>
              </a:pathLst>
            </a:custGeom>
            <a:gradFill>
              <a:gsLst>
                <a:gs pos="0">
                  <a:srgbClr val="C4E0B2">
                    <a:alpha val="43529"/>
                  </a:srgbClr>
                </a:gs>
                <a:gs pos="100000">
                  <a:srgbClr val="E1EFD8">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50">
                <a:solidFill>
                  <a:schemeClr val="lt1"/>
                </a:solidFill>
                <a:sym typeface="Roboto"/>
              </a:endParaRPr>
            </a:p>
          </p:txBody>
        </p:sp>
        <p:sp>
          <p:nvSpPr>
            <p:cNvPr id="187" name="Google Shape;187;p6"/>
            <p:cNvSpPr/>
            <p:nvPr/>
          </p:nvSpPr>
          <p:spPr>
            <a:xfrm>
              <a:off x="8720029" y="1036880"/>
              <a:ext cx="1549200" cy="1549200"/>
            </a:xfrm>
            <a:prstGeom prst="ellipse">
              <a:avLst/>
            </a:prstGeom>
            <a:gradFill>
              <a:gsLst>
                <a:gs pos="0">
                  <a:srgbClr val="E1EFD8">
                    <a:alpha val="43529"/>
                  </a:srgbClr>
                </a:gs>
                <a:gs pos="17000">
                  <a:srgbClr val="E1EFD8">
                    <a:alpha val="43529"/>
                  </a:srgbClr>
                </a:gs>
                <a:gs pos="100000">
                  <a:srgbClr val="C4E0B2"/>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50">
                <a:solidFill>
                  <a:schemeClr val="lt1"/>
                </a:solidFill>
                <a:sym typeface="Roboto"/>
              </a:endParaRPr>
            </a:p>
          </p:txBody>
        </p:sp>
        <p:sp>
          <p:nvSpPr>
            <p:cNvPr id="188" name="Google Shape;188;p6"/>
            <p:cNvSpPr/>
            <p:nvPr/>
          </p:nvSpPr>
          <p:spPr>
            <a:xfrm>
              <a:off x="5718526" y="5375379"/>
              <a:ext cx="6266100" cy="815400"/>
            </a:xfrm>
            <a:prstGeom prst="rect">
              <a:avLst/>
            </a:prstGeom>
            <a:solidFill>
              <a:srgbClr val="F2F2F2">
                <a:alpha val="23140"/>
              </a:srgbClr>
            </a:solidFill>
            <a:ln w="12700" cap="flat" cmpd="sng">
              <a:solidFill>
                <a:srgbClr val="D8D8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50">
                <a:solidFill>
                  <a:schemeClr val="lt1"/>
                </a:solidFill>
                <a:sym typeface="Roboto"/>
              </a:endParaRPr>
            </a:p>
          </p:txBody>
        </p:sp>
        <p:grpSp>
          <p:nvGrpSpPr>
            <p:cNvPr id="189" name="Google Shape;189;p6"/>
            <p:cNvGrpSpPr/>
            <p:nvPr/>
          </p:nvGrpSpPr>
          <p:grpSpPr>
            <a:xfrm>
              <a:off x="10801951" y="5497944"/>
              <a:ext cx="219845" cy="219845"/>
              <a:chOff x="4288417" y="6929460"/>
              <a:chExt cx="228600" cy="228600"/>
            </a:xfrm>
          </p:grpSpPr>
          <p:sp>
            <p:nvSpPr>
              <p:cNvPr id="190" name="Google Shape;190;p6"/>
              <p:cNvSpPr/>
              <p:nvPr/>
            </p:nvSpPr>
            <p:spPr>
              <a:xfrm>
                <a:off x="4288417" y="6929460"/>
                <a:ext cx="228600" cy="228600"/>
              </a:xfrm>
              <a:prstGeom prst="ellipse">
                <a:avLst/>
              </a:prstGeom>
              <a:noFill/>
              <a:ln w="9525"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191" name="Google Shape;191;p6"/>
              <p:cNvSpPr/>
              <p:nvPr/>
            </p:nvSpPr>
            <p:spPr>
              <a:xfrm>
                <a:off x="4309170" y="6949298"/>
                <a:ext cx="189000" cy="1890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700" b="1">
                    <a:solidFill>
                      <a:schemeClr val="lt1"/>
                    </a:solidFill>
                    <a:sym typeface="Roboto"/>
                  </a:rPr>
                  <a:t>J</a:t>
                </a:r>
                <a:endParaRPr sz="1250">
                  <a:solidFill>
                    <a:schemeClr val="dk1"/>
                  </a:solidFill>
                  <a:sym typeface="Roboto"/>
                </a:endParaRPr>
              </a:p>
            </p:txBody>
          </p:sp>
        </p:grpSp>
        <p:sp>
          <p:nvSpPr>
            <p:cNvPr id="192" name="Google Shape;192;p6"/>
            <p:cNvSpPr/>
            <p:nvPr/>
          </p:nvSpPr>
          <p:spPr>
            <a:xfrm>
              <a:off x="7401616" y="5507656"/>
              <a:ext cx="199800" cy="1998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193" name="Google Shape;193;p6"/>
            <p:cNvSpPr/>
            <p:nvPr/>
          </p:nvSpPr>
          <p:spPr>
            <a:xfrm>
              <a:off x="7401616" y="5855236"/>
              <a:ext cx="199800" cy="199800"/>
            </a:xfrm>
            <a:prstGeom prst="ellipse">
              <a:avLst/>
            </a:prstGeom>
            <a:solidFill>
              <a:srgbClr val="74CA2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194" name="Google Shape;194;p6"/>
            <p:cNvSpPr/>
            <p:nvPr/>
          </p:nvSpPr>
          <p:spPr>
            <a:xfrm>
              <a:off x="8442193" y="5507656"/>
              <a:ext cx="199800" cy="199800"/>
            </a:xfrm>
            <a:prstGeom prst="ellipse">
              <a:avLst/>
            </a:prstGeom>
            <a:solidFill>
              <a:srgbClr val="119D9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195" name="Google Shape;195;p6"/>
            <p:cNvSpPr/>
            <p:nvPr/>
          </p:nvSpPr>
          <p:spPr>
            <a:xfrm>
              <a:off x="8442193" y="5855236"/>
              <a:ext cx="199800" cy="199800"/>
            </a:xfrm>
            <a:prstGeom prst="ellipse">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196" name="Google Shape;196;p6"/>
            <p:cNvSpPr txBox="1"/>
            <p:nvPr/>
          </p:nvSpPr>
          <p:spPr>
            <a:xfrm>
              <a:off x="7685687" y="5484471"/>
              <a:ext cx="753600" cy="246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a:solidFill>
                    <a:srgbClr val="3F3F3F"/>
                  </a:solidFill>
                  <a:sym typeface="Roboto Light"/>
                </a:rPr>
                <a:t>Directory </a:t>
              </a:r>
              <a:endParaRPr sz="1250">
                <a:solidFill>
                  <a:schemeClr val="dk1"/>
                </a:solidFill>
                <a:sym typeface="Roboto"/>
              </a:endParaRPr>
            </a:p>
            <a:p>
              <a:pPr marL="0" marR="0" lvl="0" indent="0" algn="l" rtl="0">
                <a:spcBef>
                  <a:spcPts val="0"/>
                </a:spcBef>
                <a:spcAft>
                  <a:spcPts val="0"/>
                </a:spcAft>
                <a:buNone/>
              </a:pPr>
              <a:r>
                <a:rPr lang="en-US" sz="700">
                  <a:solidFill>
                    <a:srgbClr val="3F3F3F"/>
                  </a:solidFill>
                  <a:sym typeface="Roboto Light"/>
                </a:rPr>
                <a:t>Setup Job</a:t>
              </a:r>
              <a:endParaRPr sz="700">
                <a:solidFill>
                  <a:srgbClr val="3F3F3F"/>
                </a:solidFill>
                <a:sym typeface="Roboto Light"/>
              </a:endParaRPr>
            </a:p>
          </p:txBody>
        </p:sp>
        <p:sp>
          <p:nvSpPr>
            <p:cNvPr id="197" name="Google Shape;197;p6"/>
            <p:cNvSpPr txBox="1"/>
            <p:nvPr/>
          </p:nvSpPr>
          <p:spPr>
            <a:xfrm>
              <a:off x="7680527" y="5832051"/>
              <a:ext cx="753600" cy="246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a:solidFill>
                    <a:srgbClr val="3F3F3F"/>
                  </a:solidFill>
                  <a:sym typeface="Roboto Light"/>
                </a:rPr>
                <a:t>Data </a:t>
              </a:r>
              <a:endParaRPr sz="1250">
                <a:solidFill>
                  <a:schemeClr val="dk1"/>
                </a:solidFill>
                <a:sym typeface="Roboto"/>
              </a:endParaRPr>
            </a:p>
            <a:p>
              <a:pPr marL="0" marR="0" lvl="0" indent="0" algn="l" rtl="0">
                <a:spcBef>
                  <a:spcPts val="0"/>
                </a:spcBef>
                <a:spcAft>
                  <a:spcPts val="0"/>
                </a:spcAft>
                <a:buNone/>
              </a:pPr>
              <a:r>
                <a:rPr lang="en-US" sz="700">
                  <a:solidFill>
                    <a:srgbClr val="3F3F3F"/>
                  </a:solidFill>
                  <a:sym typeface="Roboto Light"/>
                </a:rPr>
                <a:t>Stagein Job</a:t>
              </a:r>
              <a:endParaRPr sz="700">
                <a:solidFill>
                  <a:srgbClr val="3F3F3F"/>
                </a:solidFill>
                <a:sym typeface="Roboto Light"/>
              </a:endParaRPr>
            </a:p>
          </p:txBody>
        </p:sp>
        <p:sp>
          <p:nvSpPr>
            <p:cNvPr id="198" name="Google Shape;198;p6"/>
            <p:cNvSpPr txBox="1"/>
            <p:nvPr/>
          </p:nvSpPr>
          <p:spPr>
            <a:xfrm>
              <a:off x="11131906" y="5484471"/>
              <a:ext cx="753600" cy="246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a:solidFill>
                    <a:srgbClr val="3F3F3F"/>
                  </a:solidFill>
                  <a:sym typeface="Roboto Light"/>
                </a:rPr>
                <a:t>Pegasus Lite Compute Job</a:t>
              </a:r>
              <a:endParaRPr sz="700">
                <a:solidFill>
                  <a:srgbClr val="3F3F3F"/>
                </a:solidFill>
                <a:sym typeface="Roboto Light"/>
              </a:endParaRPr>
            </a:p>
          </p:txBody>
        </p:sp>
        <p:sp>
          <p:nvSpPr>
            <p:cNvPr id="199" name="Google Shape;199;p6"/>
            <p:cNvSpPr txBox="1"/>
            <p:nvPr/>
          </p:nvSpPr>
          <p:spPr>
            <a:xfrm>
              <a:off x="8744866" y="5484470"/>
              <a:ext cx="753600" cy="246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a:solidFill>
                    <a:srgbClr val="3F3F3F"/>
                  </a:solidFill>
                  <a:sym typeface="Roboto Light"/>
                </a:rPr>
                <a:t>Data </a:t>
              </a:r>
              <a:endParaRPr sz="1250">
                <a:solidFill>
                  <a:schemeClr val="dk1"/>
                </a:solidFill>
                <a:sym typeface="Roboto"/>
              </a:endParaRPr>
            </a:p>
            <a:p>
              <a:pPr marL="0" marR="0" lvl="0" indent="0" algn="l" rtl="0">
                <a:spcBef>
                  <a:spcPts val="0"/>
                </a:spcBef>
                <a:spcAft>
                  <a:spcPts val="0"/>
                </a:spcAft>
                <a:buNone/>
              </a:pPr>
              <a:r>
                <a:rPr lang="en-US" sz="700">
                  <a:solidFill>
                    <a:srgbClr val="3F3F3F"/>
                  </a:solidFill>
                  <a:sym typeface="Roboto Light"/>
                </a:rPr>
                <a:t>Stageout Job</a:t>
              </a:r>
              <a:endParaRPr sz="700">
                <a:solidFill>
                  <a:srgbClr val="3F3F3F"/>
                </a:solidFill>
                <a:sym typeface="Roboto Light"/>
              </a:endParaRPr>
            </a:p>
          </p:txBody>
        </p:sp>
        <p:sp>
          <p:nvSpPr>
            <p:cNvPr id="200" name="Google Shape;200;p6"/>
            <p:cNvSpPr txBox="1"/>
            <p:nvPr/>
          </p:nvSpPr>
          <p:spPr>
            <a:xfrm>
              <a:off x="8729386" y="5832051"/>
              <a:ext cx="753600" cy="246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a:solidFill>
                    <a:srgbClr val="3F3F3F"/>
                  </a:solidFill>
                  <a:sym typeface="Roboto Light"/>
                </a:rPr>
                <a:t>Directory</a:t>
              </a:r>
              <a:endParaRPr sz="1250">
                <a:solidFill>
                  <a:schemeClr val="dk1"/>
                </a:solidFill>
                <a:sym typeface="Roboto"/>
              </a:endParaRPr>
            </a:p>
            <a:p>
              <a:pPr marL="0" marR="0" lvl="0" indent="0" algn="l" rtl="0">
                <a:spcBef>
                  <a:spcPts val="0"/>
                </a:spcBef>
                <a:spcAft>
                  <a:spcPts val="0"/>
                </a:spcAft>
                <a:buNone/>
              </a:pPr>
              <a:r>
                <a:rPr lang="en-US" sz="700">
                  <a:solidFill>
                    <a:srgbClr val="3F3F3F"/>
                  </a:solidFill>
                  <a:sym typeface="Roboto Light"/>
                </a:rPr>
                <a:t>Cleanup Job</a:t>
              </a:r>
              <a:endParaRPr sz="700">
                <a:solidFill>
                  <a:srgbClr val="3F3F3F"/>
                </a:solidFill>
                <a:sym typeface="Roboto Light"/>
              </a:endParaRPr>
            </a:p>
          </p:txBody>
        </p:sp>
        <p:sp>
          <p:nvSpPr>
            <p:cNvPr id="201" name="Google Shape;201;p6"/>
            <p:cNvSpPr txBox="1"/>
            <p:nvPr/>
          </p:nvSpPr>
          <p:spPr>
            <a:xfrm>
              <a:off x="11131904" y="5830880"/>
              <a:ext cx="753600" cy="246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a:solidFill>
                    <a:srgbClr val="3F3F3F"/>
                  </a:solidFill>
                  <a:sym typeface="Roboto Light"/>
                </a:rPr>
                <a:t>Worker Node </a:t>
              </a:r>
              <a:endParaRPr sz="700">
                <a:solidFill>
                  <a:srgbClr val="3F3F3F"/>
                </a:solidFill>
                <a:sym typeface="Roboto Light"/>
              </a:endParaRPr>
            </a:p>
            <a:p>
              <a:pPr marL="0" marR="0" lvl="0" indent="0" algn="l" rtl="0">
                <a:spcBef>
                  <a:spcPts val="0"/>
                </a:spcBef>
                <a:spcAft>
                  <a:spcPts val="0"/>
                </a:spcAft>
                <a:buNone/>
              </a:pPr>
              <a:r>
                <a:rPr lang="en-US" sz="700">
                  <a:solidFill>
                    <a:srgbClr val="3F3F3F"/>
                  </a:solidFill>
                  <a:sym typeface="Roboto Light"/>
                </a:rPr>
                <a:t>(WN)</a:t>
              </a:r>
              <a:endParaRPr sz="700">
                <a:solidFill>
                  <a:srgbClr val="3F3F3F"/>
                </a:solidFill>
                <a:sym typeface="Roboto Light"/>
              </a:endParaRPr>
            </a:p>
          </p:txBody>
        </p:sp>
        <p:sp>
          <p:nvSpPr>
            <p:cNvPr id="202" name="Google Shape;202;p6"/>
            <p:cNvSpPr/>
            <p:nvPr/>
          </p:nvSpPr>
          <p:spPr>
            <a:xfrm>
              <a:off x="5718526" y="5061759"/>
              <a:ext cx="6266100" cy="313500"/>
            </a:xfrm>
            <a:prstGeom prst="round2SameRect">
              <a:avLst>
                <a:gd name="adj1" fmla="val 16667"/>
                <a:gd name="adj2" fmla="val 0"/>
              </a:avLst>
            </a:prstGeom>
            <a:gradFill>
              <a:gsLst>
                <a:gs pos="0">
                  <a:schemeClr val="lt2"/>
                </a:gs>
                <a:gs pos="100000">
                  <a:srgbClr val="D8D8D8"/>
                </a:gs>
              </a:gsLst>
              <a:path path="circle">
                <a:fillToRect l="50000" t="50000" r="50000" b="50000"/>
              </a:path>
              <a:tileRect/>
            </a:gra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50" b="1">
                  <a:solidFill>
                    <a:srgbClr val="3F3F3F"/>
                  </a:solidFill>
                  <a:sym typeface="Roboto"/>
                </a:rPr>
                <a:t>LEGEND</a:t>
              </a:r>
              <a:endParaRPr sz="950" b="1">
                <a:solidFill>
                  <a:srgbClr val="3F3F3F"/>
                </a:solidFill>
                <a:sym typeface="Roboto"/>
              </a:endParaRPr>
            </a:p>
          </p:txBody>
        </p:sp>
        <p:sp>
          <p:nvSpPr>
            <p:cNvPr id="203" name="Google Shape;203;p6"/>
            <p:cNvSpPr/>
            <p:nvPr/>
          </p:nvSpPr>
          <p:spPr>
            <a:xfrm>
              <a:off x="9575791" y="5507656"/>
              <a:ext cx="199800" cy="199800"/>
            </a:xfrm>
            <a:prstGeom prst="ellipse">
              <a:avLst/>
            </a:prstGeom>
            <a:solidFill>
              <a:srgbClr val="FF7C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204" name="Google Shape;204;p6"/>
            <p:cNvSpPr/>
            <p:nvPr/>
          </p:nvSpPr>
          <p:spPr>
            <a:xfrm>
              <a:off x="9575791" y="5855236"/>
              <a:ext cx="199800" cy="199800"/>
            </a:xfrm>
            <a:prstGeom prst="ellipse">
              <a:avLst/>
            </a:prstGeom>
            <a:solidFill>
              <a:srgbClr val="FF5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205" name="Google Shape;205;p6"/>
            <p:cNvSpPr txBox="1"/>
            <p:nvPr/>
          </p:nvSpPr>
          <p:spPr>
            <a:xfrm>
              <a:off x="9878463" y="5484470"/>
              <a:ext cx="753600" cy="246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a:solidFill>
                    <a:srgbClr val="3F3F3F"/>
                  </a:solidFill>
                  <a:sym typeface="Roboto Light"/>
                </a:rPr>
                <a:t>Check</a:t>
              </a:r>
              <a:endParaRPr sz="1250">
                <a:solidFill>
                  <a:schemeClr val="dk1"/>
                </a:solidFill>
                <a:sym typeface="Roboto"/>
              </a:endParaRPr>
            </a:p>
            <a:p>
              <a:pPr marL="0" marR="0" lvl="0" indent="0" algn="l" rtl="0">
                <a:spcBef>
                  <a:spcPts val="0"/>
                </a:spcBef>
                <a:spcAft>
                  <a:spcPts val="0"/>
                </a:spcAft>
                <a:buNone/>
              </a:pPr>
              <a:r>
                <a:rPr lang="en-US" sz="700">
                  <a:solidFill>
                    <a:srgbClr val="3F3F3F"/>
                  </a:solidFill>
                  <a:sym typeface="Roboto Light"/>
                </a:rPr>
                <a:t>Integrity Job</a:t>
              </a:r>
              <a:endParaRPr sz="700">
                <a:solidFill>
                  <a:srgbClr val="3F3F3F"/>
                </a:solidFill>
                <a:sym typeface="Roboto Light"/>
              </a:endParaRPr>
            </a:p>
          </p:txBody>
        </p:sp>
        <p:sp>
          <p:nvSpPr>
            <p:cNvPr id="206" name="Google Shape;206;p6"/>
            <p:cNvSpPr txBox="1"/>
            <p:nvPr/>
          </p:nvSpPr>
          <p:spPr>
            <a:xfrm>
              <a:off x="9862982" y="5832048"/>
              <a:ext cx="753600" cy="246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a:solidFill>
                    <a:srgbClr val="3F3F3F"/>
                  </a:solidFill>
                  <a:sym typeface="Roboto Light"/>
                </a:rPr>
                <a:t>Checksum Generation Job</a:t>
              </a:r>
              <a:endParaRPr sz="700">
                <a:solidFill>
                  <a:srgbClr val="3F3F3F"/>
                </a:solidFill>
                <a:sym typeface="Roboto Light"/>
              </a:endParaRPr>
            </a:p>
          </p:txBody>
        </p:sp>
        <p:sp>
          <p:nvSpPr>
            <p:cNvPr id="207" name="Google Shape;207;p6"/>
            <p:cNvSpPr txBox="1"/>
            <p:nvPr/>
          </p:nvSpPr>
          <p:spPr>
            <a:xfrm>
              <a:off x="6613876" y="5484470"/>
              <a:ext cx="657600" cy="246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a:solidFill>
                    <a:srgbClr val="3F3F3F"/>
                  </a:solidFill>
                  <a:sym typeface="Roboto Light"/>
                </a:rPr>
                <a:t>Task flow +</a:t>
              </a:r>
              <a:endParaRPr sz="1250">
                <a:solidFill>
                  <a:schemeClr val="dk1"/>
                </a:solidFill>
                <a:sym typeface="Roboto"/>
              </a:endParaRPr>
            </a:p>
            <a:p>
              <a:pPr marL="0" marR="0" lvl="0" indent="0" algn="l" rtl="0">
                <a:spcBef>
                  <a:spcPts val="0"/>
                </a:spcBef>
                <a:spcAft>
                  <a:spcPts val="0"/>
                </a:spcAft>
                <a:buNone/>
              </a:pPr>
              <a:r>
                <a:rPr lang="en-US" sz="700">
                  <a:solidFill>
                    <a:srgbClr val="3F3F3F"/>
                  </a:solidFill>
                  <a:sym typeface="Roboto Light"/>
                </a:rPr>
                <a:t>Checksums</a:t>
              </a:r>
              <a:endParaRPr sz="700">
                <a:solidFill>
                  <a:srgbClr val="3F3F3F"/>
                </a:solidFill>
                <a:sym typeface="Roboto Light"/>
              </a:endParaRPr>
            </a:p>
          </p:txBody>
        </p:sp>
        <p:sp>
          <p:nvSpPr>
            <p:cNvPr id="208" name="Google Shape;208;p6"/>
            <p:cNvSpPr txBox="1"/>
            <p:nvPr/>
          </p:nvSpPr>
          <p:spPr>
            <a:xfrm>
              <a:off x="6608716" y="5893605"/>
              <a:ext cx="657600" cy="123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a:solidFill>
                    <a:srgbClr val="3F3F3F"/>
                  </a:solidFill>
                  <a:sym typeface="Roboto Light"/>
                </a:rPr>
                <a:t>Data Flow</a:t>
              </a:r>
              <a:endParaRPr sz="700">
                <a:solidFill>
                  <a:srgbClr val="3F3F3F"/>
                </a:solidFill>
                <a:sym typeface="Roboto Light"/>
              </a:endParaRPr>
            </a:p>
          </p:txBody>
        </p:sp>
        <p:cxnSp>
          <p:nvCxnSpPr>
            <p:cNvPr id="209" name="Google Shape;209;p6"/>
            <p:cNvCxnSpPr/>
            <p:nvPr/>
          </p:nvCxnSpPr>
          <p:spPr>
            <a:xfrm>
              <a:off x="5917813" y="5955159"/>
              <a:ext cx="537300" cy="0"/>
            </a:xfrm>
            <a:prstGeom prst="straightConnector1">
              <a:avLst/>
            </a:prstGeom>
            <a:noFill/>
            <a:ln w="12700" cap="flat" cmpd="sng">
              <a:solidFill>
                <a:srgbClr val="3F3F3F"/>
              </a:solidFill>
              <a:prstDash val="dash"/>
              <a:round/>
              <a:headEnd type="none" w="sm" len="sm"/>
              <a:tailEnd type="triangle" w="med" len="med"/>
            </a:ln>
          </p:spPr>
        </p:cxnSp>
        <p:cxnSp>
          <p:nvCxnSpPr>
            <p:cNvPr id="210" name="Google Shape;210;p6"/>
            <p:cNvCxnSpPr/>
            <p:nvPr/>
          </p:nvCxnSpPr>
          <p:spPr>
            <a:xfrm>
              <a:off x="5917813" y="5607579"/>
              <a:ext cx="537300" cy="0"/>
            </a:xfrm>
            <a:prstGeom prst="straightConnector1">
              <a:avLst/>
            </a:prstGeom>
            <a:noFill/>
            <a:ln w="12700" cap="flat" cmpd="sng">
              <a:solidFill>
                <a:srgbClr val="A5A5A5"/>
              </a:solidFill>
              <a:prstDash val="lgDash"/>
              <a:round/>
              <a:headEnd type="triangle" w="med" len="med"/>
              <a:tailEnd type="triangle" w="med" len="med"/>
            </a:ln>
          </p:spPr>
        </p:cxnSp>
        <p:sp>
          <p:nvSpPr>
            <p:cNvPr id="211" name="Google Shape;211;p6"/>
            <p:cNvSpPr txBox="1"/>
            <p:nvPr/>
          </p:nvSpPr>
          <p:spPr>
            <a:xfrm>
              <a:off x="7522318" y="3014238"/>
              <a:ext cx="993000" cy="161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950" b="1">
                  <a:solidFill>
                    <a:srgbClr val="6CAF27"/>
                  </a:solidFill>
                  <a:sym typeface="Roboto"/>
                </a:rPr>
                <a:t>Compute Site n</a:t>
              </a:r>
              <a:endParaRPr sz="950" b="1">
                <a:solidFill>
                  <a:srgbClr val="6CAF27"/>
                </a:solidFill>
                <a:sym typeface="Roboto"/>
              </a:endParaRPr>
            </a:p>
          </p:txBody>
        </p:sp>
        <p:cxnSp>
          <p:nvCxnSpPr>
            <p:cNvPr id="212" name="Google Shape;212;p6"/>
            <p:cNvCxnSpPr/>
            <p:nvPr/>
          </p:nvCxnSpPr>
          <p:spPr>
            <a:xfrm>
              <a:off x="7861399" y="4271189"/>
              <a:ext cx="572700" cy="0"/>
            </a:xfrm>
            <a:prstGeom prst="straightConnector1">
              <a:avLst/>
            </a:prstGeom>
            <a:noFill/>
            <a:ln w="12700" cap="flat" cmpd="sng">
              <a:solidFill>
                <a:srgbClr val="BFBFBF"/>
              </a:solidFill>
              <a:prstDash val="solid"/>
              <a:round/>
              <a:headEnd type="none" w="sm" len="sm"/>
              <a:tailEnd type="none" w="sm" len="sm"/>
            </a:ln>
          </p:spPr>
        </p:cxnSp>
        <p:grpSp>
          <p:nvGrpSpPr>
            <p:cNvPr id="213" name="Google Shape;213;p6"/>
            <p:cNvGrpSpPr/>
            <p:nvPr/>
          </p:nvGrpSpPr>
          <p:grpSpPr>
            <a:xfrm>
              <a:off x="7523709" y="4027615"/>
              <a:ext cx="479851" cy="571542"/>
              <a:chOff x="2700756" y="5095926"/>
              <a:chExt cx="376738" cy="448726"/>
            </a:xfrm>
          </p:grpSpPr>
          <p:grpSp>
            <p:nvGrpSpPr>
              <p:cNvPr id="214" name="Google Shape;214;p6"/>
              <p:cNvGrpSpPr/>
              <p:nvPr/>
            </p:nvGrpSpPr>
            <p:grpSpPr>
              <a:xfrm>
                <a:off x="2700756" y="5095926"/>
                <a:ext cx="376738" cy="448726"/>
                <a:chOff x="2939898" y="4395131"/>
                <a:chExt cx="376738" cy="448726"/>
              </a:xfrm>
            </p:grpSpPr>
            <p:grpSp>
              <p:nvGrpSpPr>
                <p:cNvPr id="215" name="Google Shape;215;p6"/>
                <p:cNvGrpSpPr/>
                <p:nvPr/>
              </p:nvGrpSpPr>
              <p:grpSpPr>
                <a:xfrm>
                  <a:off x="3040778" y="4395131"/>
                  <a:ext cx="275858" cy="376772"/>
                  <a:chOff x="3040778" y="4395131"/>
                  <a:chExt cx="275858" cy="376772"/>
                </a:xfrm>
              </p:grpSpPr>
              <p:sp>
                <p:nvSpPr>
                  <p:cNvPr id="216" name="Google Shape;216;p6"/>
                  <p:cNvSpPr/>
                  <p:nvPr/>
                </p:nvSpPr>
                <p:spPr>
                  <a:xfrm>
                    <a:off x="3040778" y="4395131"/>
                    <a:ext cx="275858" cy="376772"/>
                  </a:xfrm>
                  <a:custGeom>
                    <a:avLst/>
                    <a:gdLst/>
                    <a:ahLst/>
                    <a:cxnLst/>
                    <a:rect l="l" t="t" r="r" b="b"/>
                    <a:pathLst>
                      <a:path w="5235" h="7147" extrusionOk="0">
                        <a:moveTo>
                          <a:pt x="3501" y="0"/>
                        </a:moveTo>
                        <a:lnTo>
                          <a:pt x="0" y="2049"/>
                        </a:lnTo>
                        <a:lnTo>
                          <a:pt x="16" y="6095"/>
                        </a:lnTo>
                        <a:lnTo>
                          <a:pt x="1785" y="7147"/>
                        </a:lnTo>
                        <a:lnTo>
                          <a:pt x="5199" y="5045"/>
                        </a:lnTo>
                        <a:lnTo>
                          <a:pt x="5235" y="981"/>
                        </a:lnTo>
                        <a:lnTo>
                          <a:pt x="3501" y="0"/>
                        </a:lnTo>
                        <a:close/>
                      </a:path>
                    </a:pathLst>
                  </a:custGeom>
                  <a:solidFill>
                    <a:srgbClr val="9999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17" name="Google Shape;217;p6"/>
                  <p:cNvSpPr/>
                  <p:nvPr/>
                </p:nvSpPr>
                <p:spPr>
                  <a:xfrm>
                    <a:off x="3134100" y="4449542"/>
                    <a:ext cx="182527" cy="322351"/>
                  </a:xfrm>
                  <a:custGeom>
                    <a:avLst/>
                    <a:gdLst/>
                    <a:ahLst/>
                    <a:cxnLst/>
                    <a:rect l="l" t="t" r="r" b="b"/>
                    <a:pathLst>
                      <a:path w="3464" h="6117" extrusionOk="0">
                        <a:moveTo>
                          <a:pt x="0" y="6107"/>
                        </a:moveTo>
                        <a:lnTo>
                          <a:pt x="15" y="6117"/>
                        </a:lnTo>
                        <a:lnTo>
                          <a:pt x="3429" y="4015"/>
                        </a:lnTo>
                        <a:lnTo>
                          <a:pt x="3464" y="0"/>
                        </a:lnTo>
                        <a:lnTo>
                          <a:pt x="15" y="2053"/>
                        </a:lnTo>
                        <a:lnTo>
                          <a:pt x="0" y="6107"/>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18" name="Google Shape;218;p6"/>
                  <p:cNvSpPr/>
                  <p:nvPr/>
                </p:nvSpPr>
                <p:spPr>
                  <a:xfrm>
                    <a:off x="3040778" y="4495729"/>
                    <a:ext cx="108821" cy="276174"/>
                  </a:xfrm>
                  <a:custGeom>
                    <a:avLst/>
                    <a:gdLst/>
                    <a:ahLst/>
                    <a:cxnLst/>
                    <a:rect l="l" t="t" r="r" b="b"/>
                    <a:pathLst>
                      <a:path w="2066" h="5241" extrusionOk="0">
                        <a:moveTo>
                          <a:pt x="244" y="0"/>
                        </a:moveTo>
                        <a:lnTo>
                          <a:pt x="0" y="143"/>
                        </a:lnTo>
                        <a:lnTo>
                          <a:pt x="16" y="4189"/>
                        </a:lnTo>
                        <a:lnTo>
                          <a:pt x="1785" y="5241"/>
                        </a:lnTo>
                        <a:lnTo>
                          <a:pt x="2066" y="5068"/>
                        </a:lnTo>
                        <a:lnTo>
                          <a:pt x="2066" y="984"/>
                        </a:lnTo>
                        <a:lnTo>
                          <a:pt x="244" y="0"/>
                        </a:lnTo>
                        <a:close/>
                      </a:path>
                    </a:pathLst>
                  </a:custGeom>
                  <a:gradFill>
                    <a:gsLst>
                      <a:gs pos="0">
                        <a:srgbClr val="F2F2F2"/>
                      </a:gs>
                      <a:gs pos="35000">
                        <a:srgbClr val="C3C3C3"/>
                      </a:gs>
                      <a:gs pos="40000">
                        <a:srgbClr val="F2F2F2"/>
                      </a:gs>
                      <a:gs pos="100000">
                        <a:srgbClr val="D8D8D8"/>
                      </a:gs>
                    </a:gsLst>
                    <a:lin ang="360000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19" name="Google Shape;219;p6"/>
                  <p:cNvSpPr/>
                  <p:nvPr/>
                </p:nvSpPr>
                <p:spPr>
                  <a:xfrm>
                    <a:off x="3040778" y="4503005"/>
                    <a:ext cx="94905" cy="268890"/>
                  </a:xfrm>
                  <a:custGeom>
                    <a:avLst/>
                    <a:gdLst/>
                    <a:ahLst/>
                    <a:cxnLst/>
                    <a:rect l="l" t="t" r="r" b="b"/>
                    <a:pathLst>
                      <a:path w="1803" h="5103" extrusionOk="0">
                        <a:moveTo>
                          <a:pt x="10" y="0"/>
                        </a:moveTo>
                        <a:lnTo>
                          <a:pt x="0" y="5"/>
                        </a:lnTo>
                        <a:lnTo>
                          <a:pt x="16" y="4051"/>
                        </a:lnTo>
                        <a:lnTo>
                          <a:pt x="1785" y="5103"/>
                        </a:lnTo>
                        <a:lnTo>
                          <a:pt x="1786" y="5102"/>
                        </a:lnTo>
                        <a:lnTo>
                          <a:pt x="1803" y="1039"/>
                        </a:lnTo>
                        <a:lnTo>
                          <a:pt x="10" y="0"/>
                        </a:lnTo>
                        <a:close/>
                      </a:path>
                    </a:pathLst>
                  </a:custGeom>
                  <a:gradFill>
                    <a:gsLst>
                      <a:gs pos="0">
                        <a:srgbClr val="7F7F7F"/>
                      </a:gs>
                      <a:gs pos="12000">
                        <a:srgbClr val="7F7F7F"/>
                      </a:gs>
                      <a:gs pos="100000">
                        <a:srgbClr val="A5A5A5"/>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20" name="Google Shape;220;p6"/>
                  <p:cNvSpPr/>
                  <p:nvPr/>
                </p:nvSpPr>
                <p:spPr>
                  <a:xfrm>
                    <a:off x="3052483" y="4534955"/>
                    <a:ext cx="68332" cy="58208"/>
                  </a:xfrm>
                  <a:custGeom>
                    <a:avLst/>
                    <a:gdLst/>
                    <a:ahLst/>
                    <a:cxnLst/>
                    <a:rect l="l" t="t" r="r" b="b"/>
                    <a:pathLst>
                      <a:path w="1296" h="1102" extrusionOk="0">
                        <a:moveTo>
                          <a:pt x="0" y="0"/>
                        </a:moveTo>
                        <a:lnTo>
                          <a:pt x="1296" y="752"/>
                        </a:lnTo>
                        <a:lnTo>
                          <a:pt x="1296" y="1102"/>
                        </a:lnTo>
                        <a:lnTo>
                          <a:pt x="0" y="351"/>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21" name="Google Shape;221;p6"/>
                  <p:cNvSpPr/>
                  <p:nvPr/>
                </p:nvSpPr>
                <p:spPr>
                  <a:xfrm>
                    <a:off x="3102782" y="4589999"/>
                    <a:ext cx="18032" cy="15501"/>
                  </a:xfrm>
                  <a:custGeom>
                    <a:avLst/>
                    <a:gdLst/>
                    <a:ahLst/>
                    <a:cxnLst/>
                    <a:rect l="l" t="t" r="r" b="b"/>
                    <a:pathLst>
                      <a:path w="346" h="294" extrusionOk="0">
                        <a:moveTo>
                          <a:pt x="0" y="0"/>
                        </a:moveTo>
                        <a:lnTo>
                          <a:pt x="346" y="201"/>
                        </a:lnTo>
                        <a:lnTo>
                          <a:pt x="346" y="294"/>
                        </a:lnTo>
                        <a:lnTo>
                          <a:pt x="0" y="93"/>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22" name="Google Shape;222;p6"/>
                  <p:cNvSpPr/>
                  <p:nvPr/>
                </p:nvSpPr>
                <p:spPr>
                  <a:xfrm>
                    <a:off x="3063238" y="4615738"/>
                    <a:ext cx="43971" cy="44921"/>
                  </a:xfrm>
                  <a:custGeom>
                    <a:avLst/>
                    <a:gdLst/>
                    <a:ahLst/>
                    <a:cxnLst/>
                    <a:rect l="l" t="t" r="r" b="b"/>
                    <a:pathLst>
                      <a:path w="832" h="853" extrusionOk="0">
                        <a:moveTo>
                          <a:pt x="416" y="10"/>
                        </a:moveTo>
                        <a:lnTo>
                          <a:pt x="438" y="15"/>
                        </a:lnTo>
                        <a:lnTo>
                          <a:pt x="459" y="22"/>
                        </a:lnTo>
                        <a:lnTo>
                          <a:pt x="479" y="30"/>
                        </a:lnTo>
                        <a:lnTo>
                          <a:pt x="500" y="37"/>
                        </a:lnTo>
                        <a:lnTo>
                          <a:pt x="520" y="47"/>
                        </a:lnTo>
                        <a:lnTo>
                          <a:pt x="540" y="57"/>
                        </a:lnTo>
                        <a:lnTo>
                          <a:pt x="559" y="68"/>
                        </a:lnTo>
                        <a:lnTo>
                          <a:pt x="577" y="79"/>
                        </a:lnTo>
                        <a:lnTo>
                          <a:pt x="596" y="93"/>
                        </a:lnTo>
                        <a:lnTo>
                          <a:pt x="614" y="106"/>
                        </a:lnTo>
                        <a:lnTo>
                          <a:pt x="632" y="119"/>
                        </a:lnTo>
                        <a:lnTo>
                          <a:pt x="648" y="135"/>
                        </a:lnTo>
                        <a:lnTo>
                          <a:pt x="665" y="149"/>
                        </a:lnTo>
                        <a:lnTo>
                          <a:pt x="680" y="166"/>
                        </a:lnTo>
                        <a:lnTo>
                          <a:pt x="696" y="182"/>
                        </a:lnTo>
                        <a:lnTo>
                          <a:pt x="710" y="199"/>
                        </a:lnTo>
                        <a:lnTo>
                          <a:pt x="724" y="217"/>
                        </a:lnTo>
                        <a:lnTo>
                          <a:pt x="737" y="235"/>
                        </a:lnTo>
                        <a:lnTo>
                          <a:pt x="749" y="253"/>
                        </a:lnTo>
                        <a:lnTo>
                          <a:pt x="760" y="272"/>
                        </a:lnTo>
                        <a:lnTo>
                          <a:pt x="771" y="292"/>
                        </a:lnTo>
                        <a:lnTo>
                          <a:pt x="781" y="311"/>
                        </a:lnTo>
                        <a:lnTo>
                          <a:pt x="791" y="332"/>
                        </a:lnTo>
                        <a:lnTo>
                          <a:pt x="799" y="352"/>
                        </a:lnTo>
                        <a:lnTo>
                          <a:pt x="807" y="373"/>
                        </a:lnTo>
                        <a:lnTo>
                          <a:pt x="813" y="393"/>
                        </a:lnTo>
                        <a:lnTo>
                          <a:pt x="819" y="414"/>
                        </a:lnTo>
                        <a:lnTo>
                          <a:pt x="823" y="435"/>
                        </a:lnTo>
                        <a:lnTo>
                          <a:pt x="827" y="457"/>
                        </a:lnTo>
                        <a:lnTo>
                          <a:pt x="830" y="478"/>
                        </a:lnTo>
                        <a:lnTo>
                          <a:pt x="831" y="499"/>
                        </a:lnTo>
                        <a:lnTo>
                          <a:pt x="832" y="522"/>
                        </a:lnTo>
                        <a:lnTo>
                          <a:pt x="831" y="543"/>
                        </a:lnTo>
                        <a:lnTo>
                          <a:pt x="830" y="564"/>
                        </a:lnTo>
                        <a:lnTo>
                          <a:pt x="827" y="584"/>
                        </a:lnTo>
                        <a:lnTo>
                          <a:pt x="823" y="604"/>
                        </a:lnTo>
                        <a:lnTo>
                          <a:pt x="819" y="622"/>
                        </a:lnTo>
                        <a:lnTo>
                          <a:pt x="813" y="641"/>
                        </a:lnTo>
                        <a:lnTo>
                          <a:pt x="807" y="659"/>
                        </a:lnTo>
                        <a:lnTo>
                          <a:pt x="799" y="676"/>
                        </a:lnTo>
                        <a:lnTo>
                          <a:pt x="791" y="692"/>
                        </a:lnTo>
                        <a:lnTo>
                          <a:pt x="781" y="708"/>
                        </a:lnTo>
                        <a:lnTo>
                          <a:pt x="771" y="723"/>
                        </a:lnTo>
                        <a:lnTo>
                          <a:pt x="760" y="738"/>
                        </a:lnTo>
                        <a:lnTo>
                          <a:pt x="749" y="751"/>
                        </a:lnTo>
                        <a:lnTo>
                          <a:pt x="737" y="764"/>
                        </a:lnTo>
                        <a:lnTo>
                          <a:pt x="724" y="777"/>
                        </a:lnTo>
                        <a:lnTo>
                          <a:pt x="710" y="788"/>
                        </a:lnTo>
                        <a:lnTo>
                          <a:pt x="696" y="798"/>
                        </a:lnTo>
                        <a:lnTo>
                          <a:pt x="680" y="808"/>
                        </a:lnTo>
                        <a:lnTo>
                          <a:pt x="665" y="816"/>
                        </a:lnTo>
                        <a:lnTo>
                          <a:pt x="648" y="824"/>
                        </a:lnTo>
                        <a:lnTo>
                          <a:pt x="632" y="831"/>
                        </a:lnTo>
                        <a:lnTo>
                          <a:pt x="614" y="837"/>
                        </a:lnTo>
                        <a:lnTo>
                          <a:pt x="596" y="842"/>
                        </a:lnTo>
                        <a:lnTo>
                          <a:pt x="577" y="846"/>
                        </a:lnTo>
                        <a:lnTo>
                          <a:pt x="559" y="850"/>
                        </a:lnTo>
                        <a:lnTo>
                          <a:pt x="540" y="852"/>
                        </a:lnTo>
                        <a:lnTo>
                          <a:pt x="520" y="853"/>
                        </a:lnTo>
                        <a:lnTo>
                          <a:pt x="500" y="853"/>
                        </a:lnTo>
                        <a:lnTo>
                          <a:pt x="479" y="852"/>
                        </a:lnTo>
                        <a:lnTo>
                          <a:pt x="459" y="850"/>
                        </a:lnTo>
                        <a:lnTo>
                          <a:pt x="438" y="846"/>
                        </a:lnTo>
                        <a:lnTo>
                          <a:pt x="416" y="842"/>
                        </a:lnTo>
                        <a:lnTo>
                          <a:pt x="395" y="836"/>
                        </a:lnTo>
                        <a:lnTo>
                          <a:pt x="374" y="830"/>
                        </a:lnTo>
                        <a:lnTo>
                          <a:pt x="353" y="823"/>
                        </a:lnTo>
                        <a:lnTo>
                          <a:pt x="333" y="814"/>
                        </a:lnTo>
                        <a:lnTo>
                          <a:pt x="312" y="805"/>
                        </a:lnTo>
                        <a:lnTo>
                          <a:pt x="293" y="795"/>
                        </a:lnTo>
                        <a:lnTo>
                          <a:pt x="273" y="784"/>
                        </a:lnTo>
                        <a:lnTo>
                          <a:pt x="254" y="772"/>
                        </a:lnTo>
                        <a:lnTo>
                          <a:pt x="235" y="760"/>
                        </a:lnTo>
                        <a:lnTo>
                          <a:pt x="217" y="747"/>
                        </a:lnTo>
                        <a:lnTo>
                          <a:pt x="201" y="732"/>
                        </a:lnTo>
                        <a:lnTo>
                          <a:pt x="183" y="718"/>
                        </a:lnTo>
                        <a:lnTo>
                          <a:pt x="168" y="702"/>
                        </a:lnTo>
                        <a:lnTo>
                          <a:pt x="151" y="687"/>
                        </a:lnTo>
                        <a:lnTo>
                          <a:pt x="137" y="670"/>
                        </a:lnTo>
                        <a:lnTo>
                          <a:pt x="122" y="652"/>
                        </a:lnTo>
                        <a:lnTo>
                          <a:pt x="108" y="635"/>
                        </a:lnTo>
                        <a:lnTo>
                          <a:pt x="96" y="617"/>
                        </a:lnTo>
                        <a:lnTo>
                          <a:pt x="82" y="598"/>
                        </a:lnTo>
                        <a:lnTo>
                          <a:pt x="71" y="579"/>
                        </a:lnTo>
                        <a:lnTo>
                          <a:pt x="60" y="560"/>
                        </a:lnTo>
                        <a:lnTo>
                          <a:pt x="50" y="540"/>
                        </a:lnTo>
                        <a:lnTo>
                          <a:pt x="41" y="521"/>
                        </a:lnTo>
                        <a:lnTo>
                          <a:pt x="32" y="499"/>
                        </a:lnTo>
                        <a:lnTo>
                          <a:pt x="26" y="479"/>
                        </a:lnTo>
                        <a:lnTo>
                          <a:pt x="19" y="458"/>
                        </a:lnTo>
                        <a:lnTo>
                          <a:pt x="14" y="437"/>
                        </a:lnTo>
                        <a:lnTo>
                          <a:pt x="8" y="416"/>
                        </a:lnTo>
                        <a:lnTo>
                          <a:pt x="5" y="395"/>
                        </a:lnTo>
                        <a:lnTo>
                          <a:pt x="2" y="373"/>
                        </a:lnTo>
                        <a:lnTo>
                          <a:pt x="0" y="352"/>
                        </a:lnTo>
                        <a:lnTo>
                          <a:pt x="0" y="331"/>
                        </a:lnTo>
                        <a:lnTo>
                          <a:pt x="0" y="309"/>
                        </a:lnTo>
                        <a:lnTo>
                          <a:pt x="2" y="289"/>
                        </a:lnTo>
                        <a:lnTo>
                          <a:pt x="5" y="268"/>
                        </a:lnTo>
                        <a:lnTo>
                          <a:pt x="8" y="249"/>
                        </a:lnTo>
                        <a:lnTo>
                          <a:pt x="14" y="230"/>
                        </a:lnTo>
                        <a:lnTo>
                          <a:pt x="19" y="211"/>
                        </a:lnTo>
                        <a:lnTo>
                          <a:pt x="26" y="194"/>
                        </a:lnTo>
                        <a:lnTo>
                          <a:pt x="32" y="176"/>
                        </a:lnTo>
                        <a:lnTo>
                          <a:pt x="41" y="159"/>
                        </a:lnTo>
                        <a:lnTo>
                          <a:pt x="50" y="144"/>
                        </a:lnTo>
                        <a:lnTo>
                          <a:pt x="60" y="128"/>
                        </a:lnTo>
                        <a:lnTo>
                          <a:pt x="71" y="114"/>
                        </a:lnTo>
                        <a:lnTo>
                          <a:pt x="82" y="100"/>
                        </a:lnTo>
                        <a:lnTo>
                          <a:pt x="96" y="87"/>
                        </a:lnTo>
                        <a:lnTo>
                          <a:pt x="108" y="76"/>
                        </a:lnTo>
                        <a:lnTo>
                          <a:pt x="122" y="64"/>
                        </a:lnTo>
                        <a:lnTo>
                          <a:pt x="137" y="54"/>
                        </a:lnTo>
                        <a:lnTo>
                          <a:pt x="151" y="44"/>
                        </a:lnTo>
                        <a:lnTo>
                          <a:pt x="168" y="35"/>
                        </a:lnTo>
                        <a:lnTo>
                          <a:pt x="183" y="27"/>
                        </a:lnTo>
                        <a:lnTo>
                          <a:pt x="201" y="21"/>
                        </a:lnTo>
                        <a:lnTo>
                          <a:pt x="217" y="15"/>
                        </a:lnTo>
                        <a:lnTo>
                          <a:pt x="235" y="10"/>
                        </a:lnTo>
                        <a:lnTo>
                          <a:pt x="254" y="5"/>
                        </a:lnTo>
                        <a:lnTo>
                          <a:pt x="273" y="2"/>
                        </a:lnTo>
                        <a:lnTo>
                          <a:pt x="293" y="1"/>
                        </a:lnTo>
                        <a:lnTo>
                          <a:pt x="312" y="0"/>
                        </a:lnTo>
                        <a:lnTo>
                          <a:pt x="333" y="0"/>
                        </a:lnTo>
                        <a:lnTo>
                          <a:pt x="353" y="1"/>
                        </a:lnTo>
                        <a:lnTo>
                          <a:pt x="374" y="2"/>
                        </a:lnTo>
                        <a:lnTo>
                          <a:pt x="395" y="5"/>
                        </a:lnTo>
                        <a:lnTo>
                          <a:pt x="416" y="10"/>
                        </a:lnTo>
                        <a:close/>
                      </a:path>
                    </a:pathLst>
                  </a:custGeom>
                  <a:solidFill>
                    <a:srgbClr val="F2F2F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23" name="Google Shape;223;p6"/>
                  <p:cNvSpPr/>
                  <p:nvPr/>
                </p:nvSpPr>
                <p:spPr>
                  <a:xfrm>
                    <a:off x="3073994" y="4626493"/>
                    <a:ext cx="22461" cy="23410"/>
                  </a:xfrm>
                  <a:custGeom>
                    <a:avLst/>
                    <a:gdLst/>
                    <a:ahLst/>
                    <a:cxnLst/>
                    <a:rect l="l" t="t" r="r" b="b"/>
                    <a:pathLst>
                      <a:path w="429" h="440" extrusionOk="0">
                        <a:moveTo>
                          <a:pt x="214" y="5"/>
                        </a:moveTo>
                        <a:lnTo>
                          <a:pt x="236" y="12"/>
                        </a:lnTo>
                        <a:lnTo>
                          <a:pt x="257" y="20"/>
                        </a:lnTo>
                        <a:lnTo>
                          <a:pt x="278" y="30"/>
                        </a:lnTo>
                        <a:lnTo>
                          <a:pt x="297" y="42"/>
                        </a:lnTo>
                        <a:lnTo>
                          <a:pt x="316" y="55"/>
                        </a:lnTo>
                        <a:lnTo>
                          <a:pt x="333" y="70"/>
                        </a:lnTo>
                        <a:lnTo>
                          <a:pt x="350" y="86"/>
                        </a:lnTo>
                        <a:lnTo>
                          <a:pt x="365" y="103"/>
                        </a:lnTo>
                        <a:lnTo>
                          <a:pt x="379" y="122"/>
                        </a:lnTo>
                        <a:lnTo>
                          <a:pt x="392" y="141"/>
                        </a:lnTo>
                        <a:lnTo>
                          <a:pt x="402" y="162"/>
                        </a:lnTo>
                        <a:lnTo>
                          <a:pt x="411" y="182"/>
                        </a:lnTo>
                        <a:lnTo>
                          <a:pt x="419" y="204"/>
                        </a:lnTo>
                        <a:lnTo>
                          <a:pt x="424" y="225"/>
                        </a:lnTo>
                        <a:lnTo>
                          <a:pt x="427" y="247"/>
                        </a:lnTo>
                        <a:lnTo>
                          <a:pt x="429" y="269"/>
                        </a:lnTo>
                        <a:lnTo>
                          <a:pt x="427" y="280"/>
                        </a:lnTo>
                        <a:lnTo>
                          <a:pt x="427" y="291"/>
                        </a:lnTo>
                        <a:lnTo>
                          <a:pt x="425" y="301"/>
                        </a:lnTo>
                        <a:lnTo>
                          <a:pt x="424" y="311"/>
                        </a:lnTo>
                        <a:lnTo>
                          <a:pt x="421" y="321"/>
                        </a:lnTo>
                        <a:lnTo>
                          <a:pt x="419" y="331"/>
                        </a:lnTo>
                        <a:lnTo>
                          <a:pt x="415" y="340"/>
                        </a:lnTo>
                        <a:lnTo>
                          <a:pt x="411" y="349"/>
                        </a:lnTo>
                        <a:lnTo>
                          <a:pt x="402" y="365"/>
                        </a:lnTo>
                        <a:lnTo>
                          <a:pt x="392" y="381"/>
                        </a:lnTo>
                        <a:lnTo>
                          <a:pt x="379" y="394"/>
                        </a:lnTo>
                        <a:lnTo>
                          <a:pt x="365" y="406"/>
                        </a:lnTo>
                        <a:lnTo>
                          <a:pt x="350" y="416"/>
                        </a:lnTo>
                        <a:lnTo>
                          <a:pt x="333" y="425"/>
                        </a:lnTo>
                        <a:lnTo>
                          <a:pt x="316" y="432"/>
                        </a:lnTo>
                        <a:lnTo>
                          <a:pt x="297" y="436"/>
                        </a:lnTo>
                        <a:lnTo>
                          <a:pt x="278" y="440"/>
                        </a:lnTo>
                        <a:lnTo>
                          <a:pt x="257" y="440"/>
                        </a:lnTo>
                        <a:lnTo>
                          <a:pt x="236" y="439"/>
                        </a:lnTo>
                        <a:lnTo>
                          <a:pt x="214" y="434"/>
                        </a:lnTo>
                        <a:lnTo>
                          <a:pt x="192" y="429"/>
                        </a:lnTo>
                        <a:lnTo>
                          <a:pt x="170" y="420"/>
                        </a:lnTo>
                        <a:lnTo>
                          <a:pt x="151" y="410"/>
                        </a:lnTo>
                        <a:lnTo>
                          <a:pt x="131" y="399"/>
                        </a:lnTo>
                        <a:lnTo>
                          <a:pt x="112" y="385"/>
                        </a:lnTo>
                        <a:lnTo>
                          <a:pt x="94" y="370"/>
                        </a:lnTo>
                        <a:lnTo>
                          <a:pt x="77" y="354"/>
                        </a:lnTo>
                        <a:lnTo>
                          <a:pt x="62" y="337"/>
                        </a:lnTo>
                        <a:lnTo>
                          <a:pt x="49" y="318"/>
                        </a:lnTo>
                        <a:lnTo>
                          <a:pt x="36" y="299"/>
                        </a:lnTo>
                        <a:lnTo>
                          <a:pt x="25" y="279"/>
                        </a:lnTo>
                        <a:lnTo>
                          <a:pt x="16" y="258"/>
                        </a:lnTo>
                        <a:lnTo>
                          <a:pt x="10" y="237"/>
                        </a:lnTo>
                        <a:lnTo>
                          <a:pt x="4" y="215"/>
                        </a:lnTo>
                        <a:lnTo>
                          <a:pt x="1" y="193"/>
                        </a:lnTo>
                        <a:lnTo>
                          <a:pt x="0" y="170"/>
                        </a:lnTo>
                        <a:lnTo>
                          <a:pt x="0" y="159"/>
                        </a:lnTo>
                        <a:lnTo>
                          <a:pt x="1" y="149"/>
                        </a:lnTo>
                        <a:lnTo>
                          <a:pt x="2" y="138"/>
                        </a:lnTo>
                        <a:lnTo>
                          <a:pt x="4" y="128"/>
                        </a:lnTo>
                        <a:lnTo>
                          <a:pt x="7" y="118"/>
                        </a:lnTo>
                        <a:lnTo>
                          <a:pt x="10" y="109"/>
                        </a:lnTo>
                        <a:lnTo>
                          <a:pt x="13" y="101"/>
                        </a:lnTo>
                        <a:lnTo>
                          <a:pt x="16" y="92"/>
                        </a:lnTo>
                        <a:lnTo>
                          <a:pt x="25" y="75"/>
                        </a:lnTo>
                        <a:lnTo>
                          <a:pt x="36" y="60"/>
                        </a:lnTo>
                        <a:lnTo>
                          <a:pt x="49" y="46"/>
                        </a:lnTo>
                        <a:lnTo>
                          <a:pt x="62" y="34"/>
                        </a:lnTo>
                        <a:lnTo>
                          <a:pt x="77" y="23"/>
                        </a:lnTo>
                        <a:lnTo>
                          <a:pt x="94" y="15"/>
                        </a:lnTo>
                        <a:lnTo>
                          <a:pt x="112" y="9"/>
                        </a:lnTo>
                        <a:lnTo>
                          <a:pt x="131" y="3"/>
                        </a:lnTo>
                        <a:lnTo>
                          <a:pt x="151" y="1"/>
                        </a:lnTo>
                        <a:lnTo>
                          <a:pt x="170" y="0"/>
                        </a:lnTo>
                        <a:lnTo>
                          <a:pt x="192" y="2"/>
                        </a:lnTo>
                        <a:lnTo>
                          <a:pt x="214" y="5"/>
                        </a:lnTo>
                        <a:close/>
                      </a:path>
                    </a:pathLst>
                  </a:custGeom>
                  <a:solidFill>
                    <a:srgbClr val="B3B3B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24" name="Google Shape;224;p6"/>
                  <p:cNvSpPr/>
                  <p:nvPr/>
                </p:nvSpPr>
                <p:spPr>
                  <a:xfrm>
                    <a:off x="3078106" y="4630922"/>
                    <a:ext cx="14236" cy="14552"/>
                  </a:xfrm>
                  <a:custGeom>
                    <a:avLst/>
                    <a:gdLst/>
                    <a:ahLst/>
                    <a:cxnLst/>
                    <a:rect l="l" t="t" r="r" b="b"/>
                    <a:pathLst>
                      <a:path w="271" h="278" extrusionOk="0">
                        <a:moveTo>
                          <a:pt x="135" y="3"/>
                        </a:moveTo>
                        <a:lnTo>
                          <a:pt x="149" y="7"/>
                        </a:lnTo>
                        <a:lnTo>
                          <a:pt x="162" y="12"/>
                        </a:lnTo>
                        <a:lnTo>
                          <a:pt x="176" y="18"/>
                        </a:lnTo>
                        <a:lnTo>
                          <a:pt x="188" y="26"/>
                        </a:lnTo>
                        <a:lnTo>
                          <a:pt x="200" y="34"/>
                        </a:lnTo>
                        <a:lnTo>
                          <a:pt x="211" y="44"/>
                        </a:lnTo>
                        <a:lnTo>
                          <a:pt x="221" y="54"/>
                        </a:lnTo>
                        <a:lnTo>
                          <a:pt x="231" y="65"/>
                        </a:lnTo>
                        <a:lnTo>
                          <a:pt x="240" y="76"/>
                        </a:lnTo>
                        <a:lnTo>
                          <a:pt x="248" y="89"/>
                        </a:lnTo>
                        <a:lnTo>
                          <a:pt x="254" y="102"/>
                        </a:lnTo>
                        <a:lnTo>
                          <a:pt x="260" y="115"/>
                        </a:lnTo>
                        <a:lnTo>
                          <a:pt x="264" y="128"/>
                        </a:lnTo>
                        <a:lnTo>
                          <a:pt x="268" y="143"/>
                        </a:lnTo>
                        <a:lnTo>
                          <a:pt x="270" y="156"/>
                        </a:lnTo>
                        <a:lnTo>
                          <a:pt x="271" y="170"/>
                        </a:lnTo>
                        <a:lnTo>
                          <a:pt x="270" y="184"/>
                        </a:lnTo>
                        <a:lnTo>
                          <a:pt x="268" y="197"/>
                        </a:lnTo>
                        <a:lnTo>
                          <a:pt x="264" y="209"/>
                        </a:lnTo>
                        <a:lnTo>
                          <a:pt x="260" y="220"/>
                        </a:lnTo>
                        <a:lnTo>
                          <a:pt x="254" y="231"/>
                        </a:lnTo>
                        <a:lnTo>
                          <a:pt x="248" y="241"/>
                        </a:lnTo>
                        <a:lnTo>
                          <a:pt x="240" y="249"/>
                        </a:lnTo>
                        <a:lnTo>
                          <a:pt x="231" y="257"/>
                        </a:lnTo>
                        <a:lnTo>
                          <a:pt x="221" y="263"/>
                        </a:lnTo>
                        <a:lnTo>
                          <a:pt x="211" y="269"/>
                        </a:lnTo>
                        <a:lnTo>
                          <a:pt x="200" y="273"/>
                        </a:lnTo>
                        <a:lnTo>
                          <a:pt x="188" y="277"/>
                        </a:lnTo>
                        <a:lnTo>
                          <a:pt x="176" y="278"/>
                        </a:lnTo>
                        <a:lnTo>
                          <a:pt x="162" y="278"/>
                        </a:lnTo>
                        <a:lnTo>
                          <a:pt x="149" y="277"/>
                        </a:lnTo>
                        <a:lnTo>
                          <a:pt x="135" y="275"/>
                        </a:lnTo>
                        <a:lnTo>
                          <a:pt x="121" y="271"/>
                        </a:lnTo>
                        <a:lnTo>
                          <a:pt x="107" y="266"/>
                        </a:lnTo>
                        <a:lnTo>
                          <a:pt x="95" y="259"/>
                        </a:lnTo>
                        <a:lnTo>
                          <a:pt x="83" y="252"/>
                        </a:lnTo>
                        <a:lnTo>
                          <a:pt x="70" y="243"/>
                        </a:lnTo>
                        <a:lnTo>
                          <a:pt x="59" y="235"/>
                        </a:lnTo>
                        <a:lnTo>
                          <a:pt x="48" y="224"/>
                        </a:lnTo>
                        <a:lnTo>
                          <a:pt x="39" y="212"/>
                        </a:lnTo>
                        <a:lnTo>
                          <a:pt x="31" y="201"/>
                        </a:lnTo>
                        <a:lnTo>
                          <a:pt x="23" y="189"/>
                        </a:lnTo>
                        <a:lnTo>
                          <a:pt x="15" y="176"/>
                        </a:lnTo>
                        <a:lnTo>
                          <a:pt x="9" y="164"/>
                        </a:lnTo>
                        <a:lnTo>
                          <a:pt x="5" y="149"/>
                        </a:lnTo>
                        <a:lnTo>
                          <a:pt x="2" y="136"/>
                        </a:lnTo>
                        <a:lnTo>
                          <a:pt x="0" y="122"/>
                        </a:lnTo>
                        <a:lnTo>
                          <a:pt x="0" y="108"/>
                        </a:lnTo>
                        <a:lnTo>
                          <a:pt x="0" y="94"/>
                        </a:lnTo>
                        <a:lnTo>
                          <a:pt x="2" y="81"/>
                        </a:lnTo>
                        <a:lnTo>
                          <a:pt x="5" y="68"/>
                        </a:lnTo>
                        <a:lnTo>
                          <a:pt x="9" y="57"/>
                        </a:lnTo>
                        <a:lnTo>
                          <a:pt x="15" y="47"/>
                        </a:lnTo>
                        <a:lnTo>
                          <a:pt x="23" y="37"/>
                        </a:lnTo>
                        <a:lnTo>
                          <a:pt x="31" y="28"/>
                        </a:lnTo>
                        <a:lnTo>
                          <a:pt x="39" y="21"/>
                        </a:lnTo>
                        <a:lnTo>
                          <a:pt x="48" y="14"/>
                        </a:lnTo>
                        <a:lnTo>
                          <a:pt x="59" y="9"/>
                        </a:lnTo>
                        <a:lnTo>
                          <a:pt x="70" y="5"/>
                        </a:lnTo>
                        <a:lnTo>
                          <a:pt x="83" y="2"/>
                        </a:lnTo>
                        <a:lnTo>
                          <a:pt x="95" y="0"/>
                        </a:lnTo>
                        <a:lnTo>
                          <a:pt x="107" y="0"/>
                        </a:lnTo>
                        <a:lnTo>
                          <a:pt x="121" y="1"/>
                        </a:lnTo>
                        <a:lnTo>
                          <a:pt x="135" y="3"/>
                        </a:lnTo>
                        <a:close/>
                      </a:path>
                    </a:pathLst>
                  </a:custGeom>
                  <a:gradFill>
                    <a:gsLst>
                      <a:gs pos="0">
                        <a:srgbClr val="006994"/>
                      </a:gs>
                      <a:gs pos="50000">
                        <a:srgbClr val="009AD7"/>
                      </a:gs>
                      <a:gs pos="100000">
                        <a:srgbClr val="00B8F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grpSp>
            <p:grpSp>
              <p:nvGrpSpPr>
                <p:cNvPr id="225" name="Google Shape;225;p6"/>
                <p:cNvGrpSpPr/>
                <p:nvPr/>
              </p:nvGrpSpPr>
              <p:grpSpPr>
                <a:xfrm>
                  <a:off x="2939898" y="4690008"/>
                  <a:ext cx="145198" cy="153849"/>
                  <a:chOff x="5967413" y="-3362325"/>
                  <a:chExt cx="1133478" cy="1454150"/>
                </a:xfrm>
              </p:grpSpPr>
              <p:sp>
                <p:nvSpPr>
                  <p:cNvPr id="226" name="Google Shape;226;p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27" name="Google Shape;227;p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28" name="Google Shape;228;p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29" name="Google Shape;229;p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30" name="Google Shape;230;p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31" name="Google Shape;231;p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32" name="Google Shape;232;p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33" name="Google Shape;233;p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34" name="Google Shape;234;p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35" name="Google Shape;235;p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36" name="Google Shape;236;p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37" name="Google Shape;237;p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38" name="Google Shape;238;p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39" name="Google Shape;239;p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grpSp>
          </p:grpSp>
          <p:sp>
            <p:nvSpPr>
              <p:cNvPr id="240" name="Google Shape;240;p6"/>
              <p:cNvSpPr txBox="1"/>
              <p:nvPr/>
            </p:nvSpPr>
            <p:spPr>
              <a:xfrm>
                <a:off x="2866069" y="5493356"/>
                <a:ext cx="92700" cy="48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b="1">
                    <a:solidFill>
                      <a:srgbClr val="3F3F3F"/>
                    </a:solidFill>
                    <a:sym typeface="Roboto"/>
                  </a:rPr>
                  <a:t>WN</a:t>
                </a:r>
                <a:endParaRPr sz="700" b="1">
                  <a:solidFill>
                    <a:srgbClr val="3F3F3F"/>
                  </a:solidFill>
                  <a:sym typeface="Roboto"/>
                </a:endParaRPr>
              </a:p>
            </p:txBody>
          </p:sp>
        </p:grpSp>
        <p:grpSp>
          <p:nvGrpSpPr>
            <p:cNvPr id="241" name="Google Shape;241;p6"/>
            <p:cNvGrpSpPr/>
            <p:nvPr/>
          </p:nvGrpSpPr>
          <p:grpSpPr>
            <a:xfrm>
              <a:off x="8123812" y="4027615"/>
              <a:ext cx="479851" cy="571542"/>
              <a:chOff x="2700756" y="5095926"/>
              <a:chExt cx="376738" cy="448726"/>
            </a:xfrm>
          </p:grpSpPr>
          <p:grpSp>
            <p:nvGrpSpPr>
              <p:cNvPr id="242" name="Google Shape;242;p6"/>
              <p:cNvGrpSpPr/>
              <p:nvPr/>
            </p:nvGrpSpPr>
            <p:grpSpPr>
              <a:xfrm>
                <a:off x="2700756" y="5095926"/>
                <a:ext cx="376738" cy="448726"/>
                <a:chOff x="2939898" y="4395131"/>
                <a:chExt cx="376738" cy="448726"/>
              </a:xfrm>
            </p:grpSpPr>
            <p:grpSp>
              <p:nvGrpSpPr>
                <p:cNvPr id="243" name="Google Shape;243;p6"/>
                <p:cNvGrpSpPr/>
                <p:nvPr/>
              </p:nvGrpSpPr>
              <p:grpSpPr>
                <a:xfrm>
                  <a:off x="3040778" y="4395131"/>
                  <a:ext cx="275858" cy="376772"/>
                  <a:chOff x="3040778" y="4395131"/>
                  <a:chExt cx="275858" cy="376772"/>
                </a:xfrm>
              </p:grpSpPr>
              <p:sp>
                <p:nvSpPr>
                  <p:cNvPr id="244" name="Google Shape;244;p6"/>
                  <p:cNvSpPr/>
                  <p:nvPr/>
                </p:nvSpPr>
                <p:spPr>
                  <a:xfrm>
                    <a:off x="3040778" y="4395131"/>
                    <a:ext cx="275858" cy="376772"/>
                  </a:xfrm>
                  <a:custGeom>
                    <a:avLst/>
                    <a:gdLst/>
                    <a:ahLst/>
                    <a:cxnLst/>
                    <a:rect l="l" t="t" r="r" b="b"/>
                    <a:pathLst>
                      <a:path w="5235" h="7147" extrusionOk="0">
                        <a:moveTo>
                          <a:pt x="3501" y="0"/>
                        </a:moveTo>
                        <a:lnTo>
                          <a:pt x="0" y="2049"/>
                        </a:lnTo>
                        <a:lnTo>
                          <a:pt x="16" y="6095"/>
                        </a:lnTo>
                        <a:lnTo>
                          <a:pt x="1785" y="7147"/>
                        </a:lnTo>
                        <a:lnTo>
                          <a:pt x="5199" y="5045"/>
                        </a:lnTo>
                        <a:lnTo>
                          <a:pt x="5235" y="981"/>
                        </a:lnTo>
                        <a:lnTo>
                          <a:pt x="3501" y="0"/>
                        </a:lnTo>
                        <a:close/>
                      </a:path>
                    </a:pathLst>
                  </a:custGeom>
                  <a:solidFill>
                    <a:srgbClr val="9999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45" name="Google Shape;245;p6"/>
                  <p:cNvSpPr/>
                  <p:nvPr/>
                </p:nvSpPr>
                <p:spPr>
                  <a:xfrm>
                    <a:off x="3134100" y="4449542"/>
                    <a:ext cx="182527" cy="322351"/>
                  </a:xfrm>
                  <a:custGeom>
                    <a:avLst/>
                    <a:gdLst/>
                    <a:ahLst/>
                    <a:cxnLst/>
                    <a:rect l="l" t="t" r="r" b="b"/>
                    <a:pathLst>
                      <a:path w="3464" h="6117" extrusionOk="0">
                        <a:moveTo>
                          <a:pt x="0" y="6107"/>
                        </a:moveTo>
                        <a:lnTo>
                          <a:pt x="15" y="6117"/>
                        </a:lnTo>
                        <a:lnTo>
                          <a:pt x="3429" y="4015"/>
                        </a:lnTo>
                        <a:lnTo>
                          <a:pt x="3464" y="0"/>
                        </a:lnTo>
                        <a:lnTo>
                          <a:pt x="15" y="2053"/>
                        </a:lnTo>
                        <a:lnTo>
                          <a:pt x="0" y="6107"/>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46" name="Google Shape;246;p6"/>
                  <p:cNvSpPr/>
                  <p:nvPr/>
                </p:nvSpPr>
                <p:spPr>
                  <a:xfrm>
                    <a:off x="3040778" y="4495729"/>
                    <a:ext cx="108821" cy="276174"/>
                  </a:xfrm>
                  <a:custGeom>
                    <a:avLst/>
                    <a:gdLst/>
                    <a:ahLst/>
                    <a:cxnLst/>
                    <a:rect l="l" t="t" r="r" b="b"/>
                    <a:pathLst>
                      <a:path w="2066" h="5241" extrusionOk="0">
                        <a:moveTo>
                          <a:pt x="244" y="0"/>
                        </a:moveTo>
                        <a:lnTo>
                          <a:pt x="0" y="143"/>
                        </a:lnTo>
                        <a:lnTo>
                          <a:pt x="16" y="4189"/>
                        </a:lnTo>
                        <a:lnTo>
                          <a:pt x="1785" y="5241"/>
                        </a:lnTo>
                        <a:lnTo>
                          <a:pt x="2066" y="5068"/>
                        </a:lnTo>
                        <a:lnTo>
                          <a:pt x="2066" y="984"/>
                        </a:lnTo>
                        <a:lnTo>
                          <a:pt x="244" y="0"/>
                        </a:lnTo>
                        <a:close/>
                      </a:path>
                    </a:pathLst>
                  </a:custGeom>
                  <a:gradFill>
                    <a:gsLst>
                      <a:gs pos="0">
                        <a:srgbClr val="F2F2F2"/>
                      </a:gs>
                      <a:gs pos="35000">
                        <a:srgbClr val="C3C3C3"/>
                      </a:gs>
                      <a:gs pos="40000">
                        <a:srgbClr val="F2F2F2"/>
                      </a:gs>
                      <a:gs pos="100000">
                        <a:srgbClr val="D8D8D8"/>
                      </a:gs>
                    </a:gsLst>
                    <a:lin ang="360000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47" name="Google Shape;247;p6"/>
                  <p:cNvSpPr/>
                  <p:nvPr/>
                </p:nvSpPr>
                <p:spPr>
                  <a:xfrm>
                    <a:off x="3040778" y="4503005"/>
                    <a:ext cx="94905" cy="268890"/>
                  </a:xfrm>
                  <a:custGeom>
                    <a:avLst/>
                    <a:gdLst/>
                    <a:ahLst/>
                    <a:cxnLst/>
                    <a:rect l="l" t="t" r="r" b="b"/>
                    <a:pathLst>
                      <a:path w="1803" h="5103" extrusionOk="0">
                        <a:moveTo>
                          <a:pt x="10" y="0"/>
                        </a:moveTo>
                        <a:lnTo>
                          <a:pt x="0" y="5"/>
                        </a:lnTo>
                        <a:lnTo>
                          <a:pt x="16" y="4051"/>
                        </a:lnTo>
                        <a:lnTo>
                          <a:pt x="1785" y="5103"/>
                        </a:lnTo>
                        <a:lnTo>
                          <a:pt x="1786" y="5102"/>
                        </a:lnTo>
                        <a:lnTo>
                          <a:pt x="1803" y="1039"/>
                        </a:lnTo>
                        <a:lnTo>
                          <a:pt x="10" y="0"/>
                        </a:lnTo>
                        <a:close/>
                      </a:path>
                    </a:pathLst>
                  </a:custGeom>
                  <a:gradFill>
                    <a:gsLst>
                      <a:gs pos="0">
                        <a:srgbClr val="7F7F7F"/>
                      </a:gs>
                      <a:gs pos="12000">
                        <a:srgbClr val="7F7F7F"/>
                      </a:gs>
                      <a:gs pos="100000">
                        <a:srgbClr val="A5A5A5"/>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48" name="Google Shape;248;p6"/>
                  <p:cNvSpPr/>
                  <p:nvPr/>
                </p:nvSpPr>
                <p:spPr>
                  <a:xfrm>
                    <a:off x="3052483" y="4534955"/>
                    <a:ext cx="68332" cy="58208"/>
                  </a:xfrm>
                  <a:custGeom>
                    <a:avLst/>
                    <a:gdLst/>
                    <a:ahLst/>
                    <a:cxnLst/>
                    <a:rect l="l" t="t" r="r" b="b"/>
                    <a:pathLst>
                      <a:path w="1296" h="1102" extrusionOk="0">
                        <a:moveTo>
                          <a:pt x="0" y="0"/>
                        </a:moveTo>
                        <a:lnTo>
                          <a:pt x="1296" y="752"/>
                        </a:lnTo>
                        <a:lnTo>
                          <a:pt x="1296" y="1102"/>
                        </a:lnTo>
                        <a:lnTo>
                          <a:pt x="0" y="351"/>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49" name="Google Shape;249;p6"/>
                  <p:cNvSpPr/>
                  <p:nvPr/>
                </p:nvSpPr>
                <p:spPr>
                  <a:xfrm>
                    <a:off x="3102782" y="4589999"/>
                    <a:ext cx="18032" cy="15501"/>
                  </a:xfrm>
                  <a:custGeom>
                    <a:avLst/>
                    <a:gdLst/>
                    <a:ahLst/>
                    <a:cxnLst/>
                    <a:rect l="l" t="t" r="r" b="b"/>
                    <a:pathLst>
                      <a:path w="346" h="294" extrusionOk="0">
                        <a:moveTo>
                          <a:pt x="0" y="0"/>
                        </a:moveTo>
                        <a:lnTo>
                          <a:pt x="346" y="201"/>
                        </a:lnTo>
                        <a:lnTo>
                          <a:pt x="346" y="294"/>
                        </a:lnTo>
                        <a:lnTo>
                          <a:pt x="0" y="93"/>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50" name="Google Shape;250;p6"/>
                  <p:cNvSpPr/>
                  <p:nvPr/>
                </p:nvSpPr>
                <p:spPr>
                  <a:xfrm>
                    <a:off x="3063238" y="4615738"/>
                    <a:ext cx="43971" cy="44921"/>
                  </a:xfrm>
                  <a:custGeom>
                    <a:avLst/>
                    <a:gdLst/>
                    <a:ahLst/>
                    <a:cxnLst/>
                    <a:rect l="l" t="t" r="r" b="b"/>
                    <a:pathLst>
                      <a:path w="832" h="853" extrusionOk="0">
                        <a:moveTo>
                          <a:pt x="416" y="10"/>
                        </a:moveTo>
                        <a:lnTo>
                          <a:pt x="438" y="15"/>
                        </a:lnTo>
                        <a:lnTo>
                          <a:pt x="459" y="22"/>
                        </a:lnTo>
                        <a:lnTo>
                          <a:pt x="479" y="30"/>
                        </a:lnTo>
                        <a:lnTo>
                          <a:pt x="500" y="37"/>
                        </a:lnTo>
                        <a:lnTo>
                          <a:pt x="520" y="47"/>
                        </a:lnTo>
                        <a:lnTo>
                          <a:pt x="540" y="57"/>
                        </a:lnTo>
                        <a:lnTo>
                          <a:pt x="559" y="68"/>
                        </a:lnTo>
                        <a:lnTo>
                          <a:pt x="577" y="79"/>
                        </a:lnTo>
                        <a:lnTo>
                          <a:pt x="596" y="93"/>
                        </a:lnTo>
                        <a:lnTo>
                          <a:pt x="614" y="106"/>
                        </a:lnTo>
                        <a:lnTo>
                          <a:pt x="632" y="119"/>
                        </a:lnTo>
                        <a:lnTo>
                          <a:pt x="648" y="135"/>
                        </a:lnTo>
                        <a:lnTo>
                          <a:pt x="665" y="149"/>
                        </a:lnTo>
                        <a:lnTo>
                          <a:pt x="680" y="166"/>
                        </a:lnTo>
                        <a:lnTo>
                          <a:pt x="696" y="182"/>
                        </a:lnTo>
                        <a:lnTo>
                          <a:pt x="710" y="199"/>
                        </a:lnTo>
                        <a:lnTo>
                          <a:pt x="724" y="217"/>
                        </a:lnTo>
                        <a:lnTo>
                          <a:pt x="737" y="235"/>
                        </a:lnTo>
                        <a:lnTo>
                          <a:pt x="749" y="253"/>
                        </a:lnTo>
                        <a:lnTo>
                          <a:pt x="760" y="272"/>
                        </a:lnTo>
                        <a:lnTo>
                          <a:pt x="771" y="292"/>
                        </a:lnTo>
                        <a:lnTo>
                          <a:pt x="781" y="311"/>
                        </a:lnTo>
                        <a:lnTo>
                          <a:pt x="791" y="332"/>
                        </a:lnTo>
                        <a:lnTo>
                          <a:pt x="799" y="352"/>
                        </a:lnTo>
                        <a:lnTo>
                          <a:pt x="807" y="373"/>
                        </a:lnTo>
                        <a:lnTo>
                          <a:pt x="813" y="393"/>
                        </a:lnTo>
                        <a:lnTo>
                          <a:pt x="819" y="414"/>
                        </a:lnTo>
                        <a:lnTo>
                          <a:pt x="823" y="435"/>
                        </a:lnTo>
                        <a:lnTo>
                          <a:pt x="827" y="457"/>
                        </a:lnTo>
                        <a:lnTo>
                          <a:pt x="830" y="478"/>
                        </a:lnTo>
                        <a:lnTo>
                          <a:pt x="831" y="499"/>
                        </a:lnTo>
                        <a:lnTo>
                          <a:pt x="832" y="522"/>
                        </a:lnTo>
                        <a:lnTo>
                          <a:pt x="831" y="543"/>
                        </a:lnTo>
                        <a:lnTo>
                          <a:pt x="830" y="564"/>
                        </a:lnTo>
                        <a:lnTo>
                          <a:pt x="827" y="584"/>
                        </a:lnTo>
                        <a:lnTo>
                          <a:pt x="823" y="604"/>
                        </a:lnTo>
                        <a:lnTo>
                          <a:pt x="819" y="622"/>
                        </a:lnTo>
                        <a:lnTo>
                          <a:pt x="813" y="641"/>
                        </a:lnTo>
                        <a:lnTo>
                          <a:pt x="807" y="659"/>
                        </a:lnTo>
                        <a:lnTo>
                          <a:pt x="799" y="676"/>
                        </a:lnTo>
                        <a:lnTo>
                          <a:pt x="791" y="692"/>
                        </a:lnTo>
                        <a:lnTo>
                          <a:pt x="781" y="708"/>
                        </a:lnTo>
                        <a:lnTo>
                          <a:pt x="771" y="723"/>
                        </a:lnTo>
                        <a:lnTo>
                          <a:pt x="760" y="738"/>
                        </a:lnTo>
                        <a:lnTo>
                          <a:pt x="749" y="751"/>
                        </a:lnTo>
                        <a:lnTo>
                          <a:pt x="737" y="764"/>
                        </a:lnTo>
                        <a:lnTo>
                          <a:pt x="724" y="777"/>
                        </a:lnTo>
                        <a:lnTo>
                          <a:pt x="710" y="788"/>
                        </a:lnTo>
                        <a:lnTo>
                          <a:pt x="696" y="798"/>
                        </a:lnTo>
                        <a:lnTo>
                          <a:pt x="680" y="808"/>
                        </a:lnTo>
                        <a:lnTo>
                          <a:pt x="665" y="816"/>
                        </a:lnTo>
                        <a:lnTo>
                          <a:pt x="648" y="824"/>
                        </a:lnTo>
                        <a:lnTo>
                          <a:pt x="632" y="831"/>
                        </a:lnTo>
                        <a:lnTo>
                          <a:pt x="614" y="837"/>
                        </a:lnTo>
                        <a:lnTo>
                          <a:pt x="596" y="842"/>
                        </a:lnTo>
                        <a:lnTo>
                          <a:pt x="577" y="846"/>
                        </a:lnTo>
                        <a:lnTo>
                          <a:pt x="559" y="850"/>
                        </a:lnTo>
                        <a:lnTo>
                          <a:pt x="540" y="852"/>
                        </a:lnTo>
                        <a:lnTo>
                          <a:pt x="520" y="853"/>
                        </a:lnTo>
                        <a:lnTo>
                          <a:pt x="500" y="853"/>
                        </a:lnTo>
                        <a:lnTo>
                          <a:pt x="479" y="852"/>
                        </a:lnTo>
                        <a:lnTo>
                          <a:pt x="459" y="850"/>
                        </a:lnTo>
                        <a:lnTo>
                          <a:pt x="438" y="846"/>
                        </a:lnTo>
                        <a:lnTo>
                          <a:pt x="416" y="842"/>
                        </a:lnTo>
                        <a:lnTo>
                          <a:pt x="395" y="836"/>
                        </a:lnTo>
                        <a:lnTo>
                          <a:pt x="374" y="830"/>
                        </a:lnTo>
                        <a:lnTo>
                          <a:pt x="353" y="823"/>
                        </a:lnTo>
                        <a:lnTo>
                          <a:pt x="333" y="814"/>
                        </a:lnTo>
                        <a:lnTo>
                          <a:pt x="312" y="805"/>
                        </a:lnTo>
                        <a:lnTo>
                          <a:pt x="293" y="795"/>
                        </a:lnTo>
                        <a:lnTo>
                          <a:pt x="273" y="784"/>
                        </a:lnTo>
                        <a:lnTo>
                          <a:pt x="254" y="772"/>
                        </a:lnTo>
                        <a:lnTo>
                          <a:pt x="235" y="760"/>
                        </a:lnTo>
                        <a:lnTo>
                          <a:pt x="217" y="747"/>
                        </a:lnTo>
                        <a:lnTo>
                          <a:pt x="201" y="732"/>
                        </a:lnTo>
                        <a:lnTo>
                          <a:pt x="183" y="718"/>
                        </a:lnTo>
                        <a:lnTo>
                          <a:pt x="168" y="702"/>
                        </a:lnTo>
                        <a:lnTo>
                          <a:pt x="151" y="687"/>
                        </a:lnTo>
                        <a:lnTo>
                          <a:pt x="137" y="670"/>
                        </a:lnTo>
                        <a:lnTo>
                          <a:pt x="122" y="652"/>
                        </a:lnTo>
                        <a:lnTo>
                          <a:pt x="108" y="635"/>
                        </a:lnTo>
                        <a:lnTo>
                          <a:pt x="96" y="617"/>
                        </a:lnTo>
                        <a:lnTo>
                          <a:pt x="82" y="598"/>
                        </a:lnTo>
                        <a:lnTo>
                          <a:pt x="71" y="579"/>
                        </a:lnTo>
                        <a:lnTo>
                          <a:pt x="60" y="560"/>
                        </a:lnTo>
                        <a:lnTo>
                          <a:pt x="50" y="540"/>
                        </a:lnTo>
                        <a:lnTo>
                          <a:pt x="41" y="521"/>
                        </a:lnTo>
                        <a:lnTo>
                          <a:pt x="32" y="499"/>
                        </a:lnTo>
                        <a:lnTo>
                          <a:pt x="26" y="479"/>
                        </a:lnTo>
                        <a:lnTo>
                          <a:pt x="19" y="458"/>
                        </a:lnTo>
                        <a:lnTo>
                          <a:pt x="14" y="437"/>
                        </a:lnTo>
                        <a:lnTo>
                          <a:pt x="8" y="416"/>
                        </a:lnTo>
                        <a:lnTo>
                          <a:pt x="5" y="395"/>
                        </a:lnTo>
                        <a:lnTo>
                          <a:pt x="2" y="373"/>
                        </a:lnTo>
                        <a:lnTo>
                          <a:pt x="0" y="352"/>
                        </a:lnTo>
                        <a:lnTo>
                          <a:pt x="0" y="331"/>
                        </a:lnTo>
                        <a:lnTo>
                          <a:pt x="0" y="309"/>
                        </a:lnTo>
                        <a:lnTo>
                          <a:pt x="2" y="289"/>
                        </a:lnTo>
                        <a:lnTo>
                          <a:pt x="5" y="268"/>
                        </a:lnTo>
                        <a:lnTo>
                          <a:pt x="8" y="249"/>
                        </a:lnTo>
                        <a:lnTo>
                          <a:pt x="14" y="230"/>
                        </a:lnTo>
                        <a:lnTo>
                          <a:pt x="19" y="211"/>
                        </a:lnTo>
                        <a:lnTo>
                          <a:pt x="26" y="194"/>
                        </a:lnTo>
                        <a:lnTo>
                          <a:pt x="32" y="176"/>
                        </a:lnTo>
                        <a:lnTo>
                          <a:pt x="41" y="159"/>
                        </a:lnTo>
                        <a:lnTo>
                          <a:pt x="50" y="144"/>
                        </a:lnTo>
                        <a:lnTo>
                          <a:pt x="60" y="128"/>
                        </a:lnTo>
                        <a:lnTo>
                          <a:pt x="71" y="114"/>
                        </a:lnTo>
                        <a:lnTo>
                          <a:pt x="82" y="100"/>
                        </a:lnTo>
                        <a:lnTo>
                          <a:pt x="96" y="87"/>
                        </a:lnTo>
                        <a:lnTo>
                          <a:pt x="108" y="76"/>
                        </a:lnTo>
                        <a:lnTo>
                          <a:pt x="122" y="64"/>
                        </a:lnTo>
                        <a:lnTo>
                          <a:pt x="137" y="54"/>
                        </a:lnTo>
                        <a:lnTo>
                          <a:pt x="151" y="44"/>
                        </a:lnTo>
                        <a:lnTo>
                          <a:pt x="168" y="35"/>
                        </a:lnTo>
                        <a:lnTo>
                          <a:pt x="183" y="27"/>
                        </a:lnTo>
                        <a:lnTo>
                          <a:pt x="201" y="21"/>
                        </a:lnTo>
                        <a:lnTo>
                          <a:pt x="217" y="15"/>
                        </a:lnTo>
                        <a:lnTo>
                          <a:pt x="235" y="10"/>
                        </a:lnTo>
                        <a:lnTo>
                          <a:pt x="254" y="5"/>
                        </a:lnTo>
                        <a:lnTo>
                          <a:pt x="273" y="2"/>
                        </a:lnTo>
                        <a:lnTo>
                          <a:pt x="293" y="1"/>
                        </a:lnTo>
                        <a:lnTo>
                          <a:pt x="312" y="0"/>
                        </a:lnTo>
                        <a:lnTo>
                          <a:pt x="333" y="0"/>
                        </a:lnTo>
                        <a:lnTo>
                          <a:pt x="353" y="1"/>
                        </a:lnTo>
                        <a:lnTo>
                          <a:pt x="374" y="2"/>
                        </a:lnTo>
                        <a:lnTo>
                          <a:pt x="395" y="5"/>
                        </a:lnTo>
                        <a:lnTo>
                          <a:pt x="416" y="10"/>
                        </a:lnTo>
                        <a:close/>
                      </a:path>
                    </a:pathLst>
                  </a:custGeom>
                  <a:solidFill>
                    <a:srgbClr val="F2F2F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51" name="Google Shape;251;p6"/>
                  <p:cNvSpPr/>
                  <p:nvPr/>
                </p:nvSpPr>
                <p:spPr>
                  <a:xfrm>
                    <a:off x="3073994" y="4626493"/>
                    <a:ext cx="22461" cy="23410"/>
                  </a:xfrm>
                  <a:custGeom>
                    <a:avLst/>
                    <a:gdLst/>
                    <a:ahLst/>
                    <a:cxnLst/>
                    <a:rect l="l" t="t" r="r" b="b"/>
                    <a:pathLst>
                      <a:path w="429" h="440" extrusionOk="0">
                        <a:moveTo>
                          <a:pt x="214" y="5"/>
                        </a:moveTo>
                        <a:lnTo>
                          <a:pt x="236" y="12"/>
                        </a:lnTo>
                        <a:lnTo>
                          <a:pt x="257" y="20"/>
                        </a:lnTo>
                        <a:lnTo>
                          <a:pt x="278" y="30"/>
                        </a:lnTo>
                        <a:lnTo>
                          <a:pt x="297" y="42"/>
                        </a:lnTo>
                        <a:lnTo>
                          <a:pt x="316" y="55"/>
                        </a:lnTo>
                        <a:lnTo>
                          <a:pt x="333" y="70"/>
                        </a:lnTo>
                        <a:lnTo>
                          <a:pt x="350" y="86"/>
                        </a:lnTo>
                        <a:lnTo>
                          <a:pt x="365" y="103"/>
                        </a:lnTo>
                        <a:lnTo>
                          <a:pt x="379" y="122"/>
                        </a:lnTo>
                        <a:lnTo>
                          <a:pt x="392" y="141"/>
                        </a:lnTo>
                        <a:lnTo>
                          <a:pt x="402" y="162"/>
                        </a:lnTo>
                        <a:lnTo>
                          <a:pt x="411" y="182"/>
                        </a:lnTo>
                        <a:lnTo>
                          <a:pt x="419" y="204"/>
                        </a:lnTo>
                        <a:lnTo>
                          <a:pt x="424" y="225"/>
                        </a:lnTo>
                        <a:lnTo>
                          <a:pt x="427" y="247"/>
                        </a:lnTo>
                        <a:lnTo>
                          <a:pt x="429" y="269"/>
                        </a:lnTo>
                        <a:lnTo>
                          <a:pt x="427" y="280"/>
                        </a:lnTo>
                        <a:lnTo>
                          <a:pt x="427" y="291"/>
                        </a:lnTo>
                        <a:lnTo>
                          <a:pt x="425" y="301"/>
                        </a:lnTo>
                        <a:lnTo>
                          <a:pt x="424" y="311"/>
                        </a:lnTo>
                        <a:lnTo>
                          <a:pt x="421" y="321"/>
                        </a:lnTo>
                        <a:lnTo>
                          <a:pt x="419" y="331"/>
                        </a:lnTo>
                        <a:lnTo>
                          <a:pt x="415" y="340"/>
                        </a:lnTo>
                        <a:lnTo>
                          <a:pt x="411" y="349"/>
                        </a:lnTo>
                        <a:lnTo>
                          <a:pt x="402" y="365"/>
                        </a:lnTo>
                        <a:lnTo>
                          <a:pt x="392" y="381"/>
                        </a:lnTo>
                        <a:lnTo>
                          <a:pt x="379" y="394"/>
                        </a:lnTo>
                        <a:lnTo>
                          <a:pt x="365" y="406"/>
                        </a:lnTo>
                        <a:lnTo>
                          <a:pt x="350" y="416"/>
                        </a:lnTo>
                        <a:lnTo>
                          <a:pt x="333" y="425"/>
                        </a:lnTo>
                        <a:lnTo>
                          <a:pt x="316" y="432"/>
                        </a:lnTo>
                        <a:lnTo>
                          <a:pt x="297" y="436"/>
                        </a:lnTo>
                        <a:lnTo>
                          <a:pt x="278" y="440"/>
                        </a:lnTo>
                        <a:lnTo>
                          <a:pt x="257" y="440"/>
                        </a:lnTo>
                        <a:lnTo>
                          <a:pt x="236" y="439"/>
                        </a:lnTo>
                        <a:lnTo>
                          <a:pt x="214" y="434"/>
                        </a:lnTo>
                        <a:lnTo>
                          <a:pt x="192" y="429"/>
                        </a:lnTo>
                        <a:lnTo>
                          <a:pt x="170" y="420"/>
                        </a:lnTo>
                        <a:lnTo>
                          <a:pt x="151" y="410"/>
                        </a:lnTo>
                        <a:lnTo>
                          <a:pt x="131" y="399"/>
                        </a:lnTo>
                        <a:lnTo>
                          <a:pt x="112" y="385"/>
                        </a:lnTo>
                        <a:lnTo>
                          <a:pt x="94" y="370"/>
                        </a:lnTo>
                        <a:lnTo>
                          <a:pt x="77" y="354"/>
                        </a:lnTo>
                        <a:lnTo>
                          <a:pt x="62" y="337"/>
                        </a:lnTo>
                        <a:lnTo>
                          <a:pt x="49" y="318"/>
                        </a:lnTo>
                        <a:lnTo>
                          <a:pt x="36" y="299"/>
                        </a:lnTo>
                        <a:lnTo>
                          <a:pt x="25" y="279"/>
                        </a:lnTo>
                        <a:lnTo>
                          <a:pt x="16" y="258"/>
                        </a:lnTo>
                        <a:lnTo>
                          <a:pt x="10" y="237"/>
                        </a:lnTo>
                        <a:lnTo>
                          <a:pt x="4" y="215"/>
                        </a:lnTo>
                        <a:lnTo>
                          <a:pt x="1" y="193"/>
                        </a:lnTo>
                        <a:lnTo>
                          <a:pt x="0" y="170"/>
                        </a:lnTo>
                        <a:lnTo>
                          <a:pt x="0" y="159"/>
                        </a:lnTo>
                        <a:lnTo>
                          <a:pt x="1" y="149"/>
                        </a:lnTo>
                        <a:lnTo>
                          <a:pt x="2" y="138"/>
                        </a:lnTo>
                        <a:lnTo>
                          <a:pt x="4" y="128"/>
                        </a:lnTo>
                        <a:lnTo>
                          <a:pt x="7" y="118"/>
                        </a:lnTo>
                        <a:lnTo>
                          <a:pt x="10" y="109"/>
                        </a:lnTo>
                        <a:lnTo>
                          <a:pt x="13" y="101"/>
                        </a:lnTo>
                        <a:lnTo>
                          <a:pt x="16" y="92"/>
                        </a:lnTo>
                        <a:lnTo>
                          <a:pt x="25" y="75"/>
                        </a:lnTo>
                        <a:lnTo>
                          <a:pt x="36" y="60"/>
                        </a:lnTo>
                        <a:lnTo>
                          <a:pt x="49" y="46"/>
                        </a:lnTo>
                        <a:lnTo>
                          <a:pt x="62" y="34"/>
                        </a:lnTo>
                        <a:lnTo>
                          <a:pt x="77" y="23"/>
                        </a:lnTo>
                        <a:lnTo>
                          <a:pt x="94" y="15"/>
                        </a:lnTo>
                        <a:lnTo>
                          <a:pt x="112" y="9"/>
                        </a:lnTo>
                        <a:lnTo>
                          <a:pt x="131" y="3"/>
                        </a:lnTo>
                        <a:lnTo>
                          <a:pt x="151" y="1"/>
                        </a:lnTo>
                        <a:lnTo>
                          <a:pt x="170" y="0"/>
                        </a:lnTo>
                        <a:lnTo>
                          <a:pt x="192" y="2"/>
                        </a:lnTo>
                        <a:lnTo>
                          <a:pt x="214" y="5"/>
                        </a:lnTo>
                        <a:close/>
                      </a:path>
                    </a:pathLst>
                  </a:custGeom>
                  <a:solidFill>
                    <a:srgbClr val="B3B3B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52" name="Google Shape;252;p6"/>
                  <p:cNvSpPr/>
                  <p:nvPr/>
                </p:nvSpPr>
                <p:spPr>
                  <a:xfrm>
                    <a:off x="3078106" y="4630922"/>
                    <a:ext cx="14236" cy="14552"/>
                  </a:xfrm>
                  <a:custGeom>
                    <a:avLst/>
                    <a:gdLst/>
                    <a:ahLst/>
                    <a:cxnLst/>
                    <a:rect l="l" t="t" r="r" b="b"/>
                    <a:pathLst>
                      <a:path w="271" h="278" extrusionOk="0">
                        <a:moveTo>
                          <a:pt x="135" y="3"/>
                        </a:moveTo>
                        <a:lnTo>
                          <a:pt x="149" y="7"/>
                        </a:lnTo>
                        <a:lnTo>
                          <a:pt x="162" y="12"/>
                        </a:lnTo>
                        <a:lnTo>
                          <a:pt x="176" y="18"/>
                        </a:lnTo>
                        <a:lnTo>
                          <a:pt x="188" y="26"/>
                        </a:lnTo>
                        <a:lnTo>
                          <a:pt x="200" y="34"/>
                        </a:lnTo>
                        <a:lnTo>
                          <a:pt x="211" y="44"/>
                        </a:lnTo>
                        <a:lnTo>
                          <a:pt x="221" y="54"/>
                        </a:lnTo>
                        <a:lnTo>
                          <a:pt x="231" y="65"/>
                        </a:lnTo>
                        <a:lnTo>
                          <a:pt x="240" y="76"/>
                        </a:lnTo>
                        <a:lnTo>
                          <a:pt x="248" y="89"/>
                        </a:lnTo>
                        <a:lnTo>
                          <a:pt x="254" y="102"/>
                        </a:lnTo>
                        <a:lnTo>
                          <a:pt x="260" y="115"/>
                        </a:lnTo>
                        <a:lnTo>
                          <a:pt x="264" y="128"/>
                        </a:lnTo>
                        <a:lnTo>
                          <a:pt x="268" y="143"/>
                        </a:lnTo>
                        <a:lnTo>
                          <a:pt x="270" y="156"/>
                        </a:lnTo>
                        <a:lnTo>
                          <a:pt x="271" y="170"/>
                        </a:lnTo>
                        <a:lnTo>
                          <a:pt x="270" y="184"/>
                        </a:lnTo>
                        <a:lnTo>
                          <a:pt x="268" y="197"/>
                        </a:lnTo>
                        <a:lnTo>
                          <a:pt x="264" y="209"/>
                        </a:lnTo>
                        <a:lnTo>
                          <a:pt x="260" y="220"/>
                        </a:lnTo>
                        <a:lnTo>
                          <a:pt x="254" y="231"/>
                        </a:lnTo>
                        <a:lnTo>
                          <a:pt x="248" y="241"/>
                        </a:lnTo>
                        <a:lnTo>
                          <a:pt x="240" y="249"/>
                        </a:lnTo>
                        <a:lnTo>
                          <a:pt x="231" y="257"/>
                        </a:lnTo>
                        <a:lnTo>
                          <a:pt x="221" y="263"/>
                        </a:lnTo>
                        <a:lnTo>
                          <a:pt x="211" y="269"/>
                        </a:lnTo>
                        <a:lnTo>
                          <a:pt x="200" y="273"/>
                        </a:lnTo>
                        <a:lnTo>
                          <a:pt x="188" y="277"/>
                        </a:lnTo>
                        <a:lnTo>
                          <a:pt x="176" y="278"/>
                        </a:lnTo>
                        <a:lnTo>
                          <a:pt x="162" y="278"/>
                        </a:lnTo>
                        <a:lnTo>
                          <a:pt x="149" y="277"/>
                        </a:lnTo>
                        <a:lnTo>
                          <a:pt x="135" y="275"/>
                        </a:lnTo>
                        <a:lnTo>
                          <a:pt x="121" y="271"/>
                        </a:lnTo>
                        <a:lnTo>
                          <a:pt x="107" y="266"/>
                        </a:lnTo>
                        <a:lnTo>
                          <a:pt x="95" y="259"/>
                        </a:lnTo>
                        <a:lnTo>
                          <a:pt x="83" y="252"/>
                        </a:lnTo>
                        <a:lnTo>
                          <a:pt x="70" y="243"/>
                        </a:lnTo>
                        <a:lnTo>
                          <a:pt x="59" y="235"/>
                        </a:lnTo>
                        <a:lnTo>
                          <a:pt x="48" y="224"/>
                        </a:lnTo>
                        <a:lnTo>
                          <a:pt x="39" y="212"/>
                        </a:lnTo>
                        <a:lnTo>
                          <a:pt x="31" y="201"/>
                        </a:lnTo>
                        <a:lnTo>
                          <a:pt x="23" y="189"/>
                        </a:lnTo>
                        <a:lnTo>
                          <a:pt x="15" y="176"/>
                        </a:lnTo>
                        <a:lnTo>
                          <a:pt x="9" y="164"/>
                        </a:lnTo>
                        <a:lnTo>
                          <a:pt x="5" y="149"/>
                        </a:lnTo>
                        <a:lnTo>
                          <a:pt x="2" y="136"/>
                        </a:lnTo>
                        <a:lnTo>
                          <a:pt x="0" y="122"/>
                        </a:lnTo>
                        <a:lnTo>
                          <a:pt x="0" y="108"/>
                        </a:lnTo>
                        <a:lnTo>
                          <a:pt x="0" y="94"/>
                        </a:lnTo>
                        <a:lnTo>
                          <a:pt x="2" y="81"/>
                        </a:lnTo>
                        <a:lnTo>
                          <a:pt x="5" y="68"/>
                        </a:lnTo>
                        <a:lnTo>
                          <a:pt x="9" y="57"/>
                        </a:lnTo>
                        <a:lnTo>
                          <a:pt x="15" y="47"/>
                        </a:lnTo>
                        <a:lnTo>
                          <a:pt x="23" y="37"/>
                        </a:lnTo>
                        <a:lnTo>
                          <a:pt x="31" y="28"/>
                        </a:lnTo>
                        <a:lnTo>
                          <a:pt x="39" y="21"/>
                        </a:lnTo>
                        <a:lnTo>
                          <a:pt x="48" y="14"/>
                        </a:lnTo>
                        <a:lnTo>
                          <a:pt x="59" y="9"/>
                        </a:lnTo>
                        <a:lnTo>
                          <a:pt x="70" y="5"/>
                        </a:lnTo>
                        <a:lnTo>
                          <a:pt x="83" y="2"/>
                        </a:lnTo>
                        <a:lnTo>
                          <a:pt x="95" y="0"/>
                        </a:lnTo>
                        <a:lnTo>
                          <a:pt x="107" y="0"/>
                        </a:lnTo>
                        <a:lnTo>
                          <a:pt x="121" y="1"/>
                        </a:lnTo>
                        <a:lnTo>
                          <a:pt x="135" y="3"/>
                        </a:lnTo>
                        <a:close/>
                      </a:path>
                    </a:pathLst>
                  </a:custGeom>
                  <a:gradFill>
                    <a:gsLst>
                      <a:gs pos="0">
                        <a:srgbClr val="006994"/>
                      </a:gs>
                      <a:gs pos="50000">
                        <a:srgbClr val="009AD7"/>
                      </a:gs>
                      <a:gs pos="100000">
                        <a:srgbClr val="00B8F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grpSp>
            <p:grpSp>
              <p:nvGrpSpPr>
                <p:cNvPr id="253" name="Google Shape;253;p6"/>
                <p:cNvGrpSpPr/>
                <p:nvPr/>
              </p:nvGrpSpPr>
              <p:grpSpPr>
                <a:xfrm>
                  <a:off x="2939898" y="4690008"/>
                  <a:ext cx="145198" cy="153849"/>
                  <a:chOff x="5967413" y="-3362325"/>
                  <a:chExt cx="1133478" cy="1454150"/>
                </a:xfrm>
              </p:grpSpPr>
              <p:sp>
                <p:nvSpPr>
                  <p:cNvPr id="254" name="Google Shape;254;p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55" name="Google Shape;255;p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56" name="Google Shape;256;p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57" name="Google Shape;257;p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58" name="Google Shape;258;p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59" name="Google Shape;259;p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60" name="Google Shape;260;p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61" name="Google Shape;261;p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62" name="Google Shape;262;p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63" name="Google Shape;263;p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64" name="Google Shape;264;p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65" name="Google Shape;265;p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66" name="Google Shape;266;p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67" name="Google Shape;267;p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grpSp>
          </p:grpSp>
          <p:sp>
            <p:nvSpPr>
              <p:cNvPr id="268" name="Google Shape;268;p6"/>
              <p:cNvSpPr txBox="1"/>
              <p:nvPr/>
            </p:nvSpPr>
            <p:spPr>
              <a:xfrm>
                <a:off x="2866069" y="5493356"/>
                <a:ext cx="92700" cy="48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b="1">
                    <a:solidFill>
                      <a:srgbClr val="3F3F3F"/>
                    </a:solidFill>
                    <a:sym typeface="Roboto"/>
                  </a:rPr>
                  <a:t>WN</a:t>
                </a:r>
                <a:endParaRPr sz="700" b="1">
                  <a:solidFill>
                    <a:srgbClr val="3F3F3F"/>
                  </a:solidFill>
                  <a:sym typeface="Roboto"/>
                </a:endParaRPr>
              </a:p>
            </p:txBody>
          </p:sp>
        </p:grpSp>
        <p:sp>
          <p:nvSpPr>
            <p:cNvPr id="269" name="Google Shape;269;p6"/>
            <p:cNvSpPr/>
            <p:nvPr/>
          </p:nvSpPr>
          <p:spPr>
            <a:xfrm>
              <a:off x="9560048" y="3575745"/>
              <a:ext cx="167400" cy="167400"/>
            </a:xfrm>
            <a:prstGeom prst="ellipse">
              <a:avLst/>
            </a:prstGeom>
            <a:solidFill>
              <a:srgbClr val="FF7C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270" name="Google Shape;270;p6"/>
            <p:cNvSpPr/>
            <p:nvPr/>
          </p:nvSpPr>
          <p:spPr>
            <a:xfrm>
              <a:off x="9315607" y="3158067"/>
              <a:ext cx="169200" cy="1692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271" name="Google Shape;271;p6"/>
            <p:cNvSpPr/>
            <p:nvPr/>
          </p:nvSpPr>
          <p:spPr>
            <a:xfrm>
              <a:off x="9315607" y="3424852"/>
              <a:ext cx="169200" cy="169200"/>
            </a:xfrm>
            <a:prstGeom prst="ellipse">
              <a:avLst/>
            </a:prstGeom>
            <a:solidFill>
              <a:srgbClr val="74CA2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272" name="Google Shape;272;p6"/>
            <p:cNvSpPr/>
            <p:nvPr/>
          </p:nvSpPr>
          <p:spPr>
            <a:xfrm>
              <a:off x="9551715" y="3875576"/>
              <a:ext cx="169200" cy="169200"/>
            </a:xfrm>
            <a:prstGeom prst="ellipse">
              <a:avLst/>
            </a:prstGeom>
            <a:solidFill>
              <a:srgbClr val="FF66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273" name="Google Shape;273;p6"/>
            <p:cNvSpPr/>
            <p:nvPr/>
          </p:nvSpPr>
          <p:spPr>
            <a:xfrm>
              <a:off x="9315607" y="4026385"/>
              <a:ext cx="169200" cy="169200"/>
            </a:xfrm>
            <a:prstGeom prst="ellipse">
              <a:avLst/>
            </a:prstGeom>
            <a:solidFill>
              <a:srgbClr val="119D9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274" name="Google Shape;274;p6"/>
            <p:cNvSpPr/>
            <p:nvPr/>
          </p:nvSpPr>
          <p:spPr>
            <a:xfrm>
              <a:off x="9315607" y="4289423"/>
              <a:ext cx="169200" cy="169200"/>
            </a:xfrm>
            <a:prstGeom prst="ellipse">
              <a:avLst/>
            </a:prstGeom>
            <a:solidFill>
              <a:srgbClr val="BA08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275" name="Google Shape;275;p6"/>
            <p:cNvSpPr/>
            <p:nvPr/>
          </p:nvSpPr>
          <p:spPr>
            <a:xfrm>
              <a:off x="9324359" y="3722493"/>
              <a:ext cx="153000" cy="153000"/>
            </a:xfrm>
            <a:prstGeom prst="ellipse">
              <a:avLst/>
            </a:prstGeom>
            <a:solidFill>
              <a:srgbClr val="F16D19"/>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700" b="1">
                  <a:solidFill>
                    <a:schemeClr val="lt1"/>
                  </a:solidFill>
                  <a:sym typeface="Roboto"/>
                </a:rPr>
                <a:t>T2</a:t>
              </a:r>
              <a:endParaRPr sz="1250">
                <a:solidFill>
                  <a:schemeClr val="dk1"/>
                </a:solidFill>
                <a:sym typeface="Roboto"/>
              </a:endParaRPr>
            </a:p>
          </p:txBody>
        </p:sp>
        <p:cxnSp>
          <p:nvCxnSpPr>
            <p:cNvPr id="276" name="Google Shape;276;p6"/>
            <p:cNvCxnSpPr>
              <a:stCxn id="270" idx="4"/>
              <a:endCxn id="271" idx="0"/>
            </p:cNvCxnSpPr>
            <p:nvPr/>
          </p:nvCxnSpPr>
          <p:spPr>
            <a:xfrm>
              <a:off x="9400207" y="3327267"/>
              <a:ext cx="0" cy="97500"/>
            </a:xfrm>
            <a:prstGeom prst="straightConnector1">
              <a:avLst/>
            </a:prstGeom>
            <a:noFill/>
            <a:ln w="9525" cap="flat" cmpd="sng">
              <a:solidFill>
                <a:srgbClr val="3F3F3F"/>
              </a:solidFill>
              <a:prstDash val="solid"/>
              <a:round/>
              <a:headEnd type="none" w="sm" len="sm"/>
              <a:tailEnd type="triangle" w="sm" len="sm"/>
            </a:ln>
          </p:spPr>
        </p:cxnSp>
        <p:cxnSp>
          <p:nvCxnSpPr>
            <p:cNvPr id="277" name="Google Shape;277;p6"/>
            <p:cNvCxnSpPr>
              <a:stCxn id="271" idx="6"/>
              <a:endCxn id="269" idx="1"/>
            </p:cNvCxnSpPr>
            <p:nvPr/>
          </p:nvCxnSpPr>
          <p:spPr>
            <a:xfrm>
              <a:off x="9484807" y="3509452"/>
              <a:ext cx="99900" cy="90900"/>
            </a:xfrm>
            <a:prstGeom prst="straightConnector1">
              <a:avLst/>
            </a:prstGeom>
            <a:noFill/>
            <a:ln w="9525" cap="flat" cmpd="sng">
              <a:solidFill>
                <a:srgbClr val="3F3F3F"/>
              </a:solidFill>
              <a:prstDash val="solid"/>
              <a:round/>
              <a:headEnd type="none" w="sm" len="sm"/>
              <a:tailEnd type="triangle" w="sm" len="sm"/>
            </a:ln>
          </p:spPr>
        </p:cxnSp>
        <p:cxnSp>
          <p:nvCxnSpPr>
            <p:cNvPr id="278" name="Google Shape;278;p6"/>
            <p:cNvCxnSpPr>
              <a:stCxn id="269" idx="3"/>
            </p:cNvCxnSpPr>
            <p:nvPr/>
          </p:nvCxnSpPr>
          <p:spPr>
            <a:xfrm flipH="1">
              <a:off x="9492763" y="3718630"/>
              <a:ext cx="91800" cy="80400"/>
            </a:xfrm>
            <a:prstGeom prst="straightConnector1">
              <a:avLst/>
            </a:prstGeom>
            <a:noFill/>
            <a:ln w="9525" cap="flat" cmpd="sng">
              <a:solidFill>
                <a:srgbClr val="3F3F3F"/>
              </a:solidFill>
              <a:prstDash val="solid"/>
              <a:round/>
              <a:headEnd type="none" w="sm" len="sm"/>
              <a:tailEnd type="triangle" w="sm" len="sm"/>
            </a:ln>
          </p:spPr>
        </p:cxnSp>
        <p:cxnSp>
          <p:nvCxnSpPr>
            <p:cNvPr id="279" name="Google Shape;279;p6"/>
            <p:cNvCxnSpPr>
              <a:stCxn id="272" idx="3"/>
              <a:endCxn id="273" idx="6"/>
            </p:cNvCxnSpPr>
            <p:nvPr/>
          </p:nvCxnSpPr>
          <p:spPr>
            <a:xfrm flipH="1">
              <a:off x="9484694" y="4019997"/>
              <a:ext cx="91800" cy="90900"/>
            </a:xfrm>
            <a:prstGeom prst="straightConnector1">
              <a:avLst/>
            </a:prstGeom>
            <a:noFill/>
            <a:ln w="9525" cap="flat" cmpd="sng">
              <a:solidFill>
                <a:srgbClr val="3F3F3F"/>
              </a:solidFill>
              <a:prstDash val="solid"/>
              <a:round/>
              <a:headEnd type="none" w="sm" len="sm"/>
              <a:tailEnd type="triangle" w="sm" len="sm"/>
            </a:ln>
          </p:spPr>
        </p:cxnSp>
        <p:cxnSp>
          <p:nvCxnSpPr>
            <p:cNvPr id="280" name="Google Shape;280;p6"/>
            <p:cNvCxnSpPr>
              <a:endCxn id="272" idx="2"/>
            </p:cNvCxnSpPr>
            <p:nvPr/>
          </p:nvCxnSpPr>
          <p:spPr>
            <a:xfrm>
              <a:off x="9465615" y="3864476"/>
              <a:ext cx="86100" cy="95700"/>
            </a:xfrm>
            <a:prstGeom prst="straightConnector1">
              <a:avLst/>
            </a:prstGeom>
            <a:noFill/>
            <a:ln w="9525" cap="flat" cmpd="sng">
              <a:solidFill>
                <a:srgbClr val="3F3F3F"/>
              </a:solidFill>
              <a:prstDash val="solid"/>
              <a:round/>
              <a:headEnd type="none" w="sm" len="sm"/>
              <a:tailEnd type="triangle" w="sm" len="sm"/>
            </a:ln>
          </p:spPr>
        </p:cxnSp>
        <p:cxnSp>
          <p:nvCxnSpPr>
            <p:cNvPr id="281" name="Google Shape;281;p6"/>
            <p:cNvCxnSpPr>
              <a:stCxn id="273" idx="4"/>
              <a:endCxn id="274" idx="0"/>
            </p:cNvCxnSpPr>
            <p:nvPr/>
          </p:nvCxnSpPr>
          <p:spPr>
            <a:xfrm>
              <a:off x="9400207" y="4195585"/>
              <a:ext cx="0" cy="93900"/>
            </a:xfrm>
            <a:prstGeom prst="straightConnector1">
              <a:avLst/>
            </a:prstGeom>
            <a:noFill/>
            <a:ln w="9525" cap="flat" cmpd="sng">
              <a:solidFill>
                <a:srgbClr val="3F3F3F"/>
              </a:solidFill>
              <a:prstDash val="solid"/>
              <a:round/>
              <a:headEnd type="none" w="sm" len="sm"/>
              <a:tailEnd type="triangle" w="sm" len="sm"/>
            </a:ln>
          </p:spPr>
        </p:cxnSp>
        <p:grpSp>
          <p:nvGrpSpPr>
            <p:cNvPr id="282" name="Google Shape;282;p6"/>
            <p:cNvGrpSpPr/>
            <p:nvPr/>
          </p:nvGrpSpPr>
          <p:grpSpPr>
            <a:xfrm>
              <a:off x="7635323" y="3546741"/>
              <a:ext cx="292608" cy="292608"/>
              <a:chOff x="2910293" y="4570783"/>
              <a:chExt cx="228600" cy="228600"/>
            </a:xfrm>
          </p:grpSpPr>
          <p:sp>
            <p:nvSpPr>
              <p:cNvPr id="283" name="Google Shape;283;p6"/>
              <p:cNvSpPr/>
              <p:nvPr/>
            </p:nvSpPr>
            <p:spPr>
              <a:xfrm>
                <a:off x="2910293" y="4570783"/>
                <a:ext cx="228600" cy="228600"/>
              </a:xfrm>
              <a:prstGeom prst="ellipse">
                <a:avLst/>
              </a:prstGeom>
              <a:noFill/>
              <a:ln w="9525" cap="flat" cmpd="sng">
                <a:solidFill>
                  <a:srgbClr val="A5A5A5"/>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284" name="Google Shape;284;p6"/>
              <p:cNvSpPr/>
              <p:nvPr/>
            </p:nvSpPr>
            <p:spPr>
              <a:xfrm>
                <a:off x="2931046" y="4590621"/>
                <a:ext cx="189000" cy="189000"/>
              </a:xfrm>
              <a:prstGeom prst="ellipse">
                <a:avLst/>
              </a:prstGeom>
              <a:solidFill>
                <a:srgbClr val="F16D19"/>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700" b="1">
                    <a:solidFill>
                      <a:schemeClr val="lt1"/>
                    </a:solidFill>
                    <a:sym typeface="Roboto"/>
                  </a:rPr>
                  <a:t>J2</a:t>
                </a:r>
                <a:endParaRPr sz="1250">
                  <a:solidFill>
                    <a:schemeClr val="dk1"/>
                  </a:solidFill>
                  <a:sym typeface="Roboto"/>
                </a:endParaRPr>
              </a:p>
            </p:txBody>
          </p:sp>
        </p:grpSp>
        <p:sp>
          <p:nvSpPr>
            <p:cNvPr id="285" name="Google Shape;285;p6"/>
            <p:cNvSpPr txBox="1"/>
            <p:nvPr/>
          </p:nvSpPr>
          <p:spPr>
            <a:xfrm>
              <a:off x="8099972" y="3212568"/>
              <a:ext cx="624300" cy="246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b="1">
                  <a:solidFill>
                    <a:srgbClr val="3F3F3F"/>
                  </a:solidFill>
                  <a:sym typeface="Roboto"/>
                </a:rPr>
                <a:t>Pegasus Lite </a:t>
              </a:r>
              <a:endParaRPr sz="1250">
                <a:solidFill>
                  <a:schemeClr val="dk1"/>
                </a:solidFill>
                <a:sym typeface="Roboto"/>
              </a:endParaRPr>
            </a:p>
            <a:p>
              <a:pPr marL="0" marR="0" lvl="0" indent="0" algn="l" rtl="0">
                <a:spcBef>
                  <a:spcPts val="0"/>
                </a:spcBef>
                <a:spcAft>
                  <a:spcPts val="0"/>
                </a:spcAft>
                <a:buNone/>
              </a:pPr>
              <a:r>
                <a:rPr lang="en-US" sz="700" b="1">
                  <a:solidFill>
                    <a:srgbClr val="3F3F3F"/>
                  </a:solidFill>
                  <a:sym typeface="Roboto"/>
                </a:rPr>
                <a:t>Instance</a:t>
              </a:r>
              <a:endParaRPr sz="700" b="1">
                <a:solidFill>
                  <a:srgbClr val="3F3F3F"/>
                </a:solidFill>
                <a:sym typeface="Roboto"/>
              </a:endParaRPr>
            </a:p>
          </p:txBody>
        </p:sp>
        <p:sp>
          <p:nvSpPr>
            <p:cNvPr id="286" name="Google Shape;286;p6"/>
            <p:cNvSpPr txBox="1"/>
            <p:nvPr/>
          </p:nvSpPr>
          <p:spPr>
            <a:xfrm>
              <a:off x="7522318" y="1027246"/>
              <a:ext cx="993000" cy="161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950" b="1">
                  <a:solidFill>
                    <a:srgbClr val="6CAF27"/>
                  </a:solidFill>
                  <a:sym typeface="Roboto"/>
                </a:rPr>
                <a:t>Compute Site 1</a:t>
              </a:r>
              <a:endParaRPr sz="950" b="1">
                <a:solidFill>
                  <a:srgbClr val="6CAF27"/>
                </a:solidFill>
                <a:sym typeface="Roboto"/>
              </a:endParaRPr>
            </a:p>
          </p:txBody>
        </p:sp>
        <p:cxnSp>
          <p:nvCxnSpPr>
            <p:cNvPr id="287" name="Google Shape;287;p6"/>
            <p:cNvCxnSpPr/>
            <p:nvPr/>
          </p:nvCxnSpPr>
          <p:spPr>
            <a:xfrm>
              <a:off x="7861399" y="2284197"/>
              <a:ext cx="572700" cy="0"/>
            </a:xfrm>
            <a:prstGeom prst="straightConnector1">
              <a:avLst/>
            </a:prstGeom>
            <a:noFill/>
            <a:ln w="12700" cap="flat" cmpd="sng">
              <a:solidFill>
                <a:srgbClr val="BFBFBF"/>
              </a:solidFill>
              <a:prstDash val="solid"/>
              <a:round/>
              <a:headEnd type="none" w="sm" len="sm"/>
              <a:tailEnd type="none" w="sm" len="sm"/>
            </a:ln>
          </p:spPr>
        </p:cxnSp>
        <p:grpSp>
          <p:nvGrpSpPr>
            <p:cNvPr id="288" name="Google Shape;288;p6"/>
            <p:cNvGrpSpPr/>
            <p:nvPr/>
          </p:nvGrpSpPr>
          <p:grpSpPr>
            <a:xfrm>
              <a:off x="7523709" y="2040623"/>
              <a:ext cx="479851" cy="571542"/>
              <a:chOff x="2700756" y="5095926"/>
              <a:chExt cx="376738" cy="448726"/>
            </a:xfrm>
          </p:grpSpPr>
          <p:grpSp>
            <p:nvGrpSpPr>
              <p:cNvPr id="289" name="Google Shape;289;p6"/>
              <p:cNvGrpSpPr/>
              <p:nvPr/>
            </p:nvGrpSpPr>
            <p:grpSpPr>
              <a:xfrm>
                <a:off x="2700756" y="5095926"/>
                <a:ext cx="376738" cy="448726"/>
                <a:chOff x="2939898" y="4395131"/>
                <a:chExt cx="376738" cy="448726"/>
              </a:xfrm>
            </p:grpSpPr>
            <p:grpSp>
              <p:nvGrpSpPr>
                <p:cNvPr id="290" name="Google Shape;290;p6"/>
                <p:cNvGrpSpPr/>
                <p:nvPr/>
              </p:nvGrpSpPr>
              <p:grpSpPr>
                <a:xfrm>
                  <a:off x="3040778" y="4395131"/>
                  <a:ext cx="275858" cy="376772"/>
                  <a:chOff x="3040778" y="4395131"/>
                  <a:chExt cx="275858" cy="376772"/>
                </a:xfrm>
              </p:grpSpPr>
              <p:sp>
                <p:nvSpPr>
                  <p:cNvPr id="291" name="Google Shape;291;p6"/>
                  <p:cNvSpPr/>
                  <p:nvPr/>
                </p:nvSpPr>
                <p:spPr>
                  <a:xfrm>
                    <a:off x="3040778" y="4395131"/>
                    <a:ext cx="275858" cy="376772"/>
                  </a:xfrm>
                  <a:custGeom>
                    <a:avLst/>
                    <a:gdLst/>
                    <a:ahLst/>
                    <a:cxnLst/>
                    <a:rect l="l" t="t" r="r" b="b"/>
                    <a:pathLst>
                      <a:path w="5235" h="7147" extrusionOk="0">
                        <a:moveTo>
                          <a:pt x="3501" y="0"/>
                        </a:moveTo>
                        <a:lnTo>
                          <a:pt x="0" y="2049"/>
                        </a:lnTo>
                        <a:lnTo>
                          <a:pt x="16" y="6095"/>
                        </a:lnTo>
                        <a:lnTo>
                          <a:pt x="1785" y="7147"/>
                        </a:lnTo>
                        <a:lnTo>
                          <a:pt x="5199" y="5045"/>
                        </a:lnTo>
                        <a:lnTo>
                          <a:pt x="5235" y="981"/>
                        </a:lnTo>
                        <a:lnTo>
                          <a:pt x="3501" y="0"/>
                        </a:lnTo>
                        <a:close/>
                      </a:path>
                    </a:pathLst>
                  </a:custGeom>
                  <a:solidFill>
                    <a:srgbClr val="9999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92" name="Google Shape;292;p6"/>
                  <p:cNvSpPr/>
                  <p:nvPr/>
                </p:nvSpPr>
                <p:spPr>
                  <a:xfrm>
                    <a:off x="3134100" y="4449542"/>
                    <a:ext cx="182527" cy="322351"/>
                  </a:xfrm>
                  <a:custGeom>
                    <a:avLst/>
                    <a:gdLst/>
                    <a:ahLst/>
                    <a:cxnLst/>
                    <a:rect l="l" t="t" r="r" b="b"/>
                    <a:pathLst>
                      <a:path w="3464" h="6117" extrusionOk="0">
                        <a:moveTo>
                          <a:pt x="0" y="6107"/>
                        </a:moveTo>
                        <a:lnTo>
                          <a:pt x="15" y="6117"/>
                        </a:lnTo>
                        <a:lnTo>
                          <a:pt x="3429" y="4015"/>
                        </a:lnTo>
                        <a:lnTo>
                          <a:pt x="3464" y="0"/>
                        </a:lnTo>
                        <a:lnTo>
                          <a:pt x="15" y="2053"/>
                        </a:lnTo>
                        <a:lnTo>
                          <a:pt x="0" y="6107"/>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93" name="Google Shape;293;p6"/>
                  <p:cNvSpPr/>
                  <p:nvPr/>
                </p:nvSpPr>
                <p:spPr>
                  <a:xfrm>
                    <a:off x="3040778" y="4495729"/>
                    <a:ext cx="108821" cy="276174"/>
                  </a:xfrm>
                  <a:custGeom>
                    <a:avLst/>
                    <a:gdLst/>
                    <a:ahLst/>
                    <a:cxnLst/>
                    <a:rect l="l" t="t" r="r" b="b"/>
                    <a:pathLst>
                      <a:path w="2066" h="5241" extrusionOk="0">
                        <a:moveTo>
                          <a:pt x="244" y="0"/>
                        </a:moveTo>
                        <a:lnTo>
                          <a:pt x="0" y="143"/>
                        </a:lnTo>
                        <a:lnTo>
                          <a:pt x="16" y="4189"/>
                        </a:lnTo>
                        <a:lnTo>
                          <a:pt x="1785" y="5241"/>
                        </a:lnTo>
                        <a:lnTo>
                          <a:pt x="2066" y="5068"/>
                        </a:lnTo>
                        <a:lnTo>
                          <a:pt x="2066" y="984"/>
                        </a:lnTo>
                        <a:lnTo>
                          <a:pt x="244" y="0"/>
                        </a:lnTo>
                        <a:close/>
                      </a:path>
                    </a:pathLst>
                  </a:custGeom>
                  <a:gradFill>
                    <a:gsLst>
                      <a:gs pos="0">
                        <a:srgbClr val="F2F2F2"/>
                      </a:gs>
                      <a:gs pos="35000">
                        <a:srgbClr val="C3C3C3"/>
                      </a:gs>
                      <a:gs pos="40000">
                        <a:srgbClr val="F2F2F2"/>
                      </a:gs>
                      <a:gs pos="100000">
                        <a:srgbClr val="D8D8D8"/>
                      </a:gs>
                    </a:gsLst>
                    <a:lin ang="360000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94" name="Google Shape;294;p6"/>
                  <p:cNvSpPr/>
                  <p:nvPr/>
                </p:nvSpPr>
                <p:spPr>
                  <a:xfrm>
                    <a:off x="3040778" y="4503005"/>
                    <a:ext cx="94905" cy="268890"/>
                  </a:xfrm>
                  <a:custGeom>
                    <a:avLst/>
                    <a:gdLst/>
                    <a:ahLst/>
                    <a:cxnLst/>
                    <a:rect l="l" t="t" r="r" b="b"/>
                    <a:pathLst>
                      <a:path w="1803" h="5103" extrusionOk="0">
                        <a:moveTo>
                          <a:pt x="10" y="0"/>
                        </a:moveTo>
                        <a:lnTo>
                          <a:pt x="0" y="5"/>
                        </a:lnTo>
                        <a:lnTo>
                          <a:pt x="16" y="4051"/>
                        </a:lnTo>
                        <a:lnTo>
                          <a:pt x="1785" y="5103"/>
                        </a:lnTo>
                        <a:lnTo>
                          <a:pt x="1786" y="5102"/>
                        </a:lnTo>
                        <a:lnTo>
                          <a:pt x="1803" y="1039"/>
                        </a:lnTo>
                        <a:lnTo>
                          <a:pt x="10" y="0"/>
                        </a:lnTo>
                        <a:close/>
                      </a:path>
                    </a:pathLst>
                  </a:custGeom>
                  <a:gradFill>
                    <a:gsLst>
                      <a:gs pos="0">
                        <a:srgbClr val="7F7F7F"/>
                      </a:gs>
                      <a:gs pos="12000">
                        <a:srgbClr val="7F7F7F"/>
                      </a:gs>
                      <a:gs pos="100000">
                        <a:srgbClr val="A5A5A5"/>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95" name="Google Shape;295;p6"/>
                  <p:cNvSpPr/>
                  <p:nvPr/>
                </p:nvSpPr>
                <p:spPr>
                  <a:xfrm>
                    <a:off x="3052483" y="4534955"/>
                    <a:ext cx="68332" cy="58208"/>
                  </a:xfrm>
                  <a:custGeom>
                    <a:avLst/>
                    <a:gdLst/>
                    <a:ahLst/>
                    <a:cxnLst/>
                    <a:rect l="l" t="t" r="r" b="b"/>
                    <a:pathLst>
                      <a:path w="1296" h="1102" extrusionOk="0">
                        <a:moveTo>
                          <a:pt x="0" y="0"/>
                        </a:moveTo>
                        <a:lnTo>
                          <a:pt x="1296" y="752"/>
                        </a:lnTo>
                        <a:lnTo>
                          <a:pt x="1296" y="1102"/>
                        </a:lnTo>
                        <a:lnTo>
                          <a:pt x="0" y="351"/>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96" name="Google Shape;296;p6"/>
                  <p:cNvSpPr/>
                  <p:nvPr/>
                </p:nvSpPr>
                <p:spPr>
                  <a:xfrm>
                    <a:off x="3102782" y="4589999"/>
                    <a:ext cx="18032" cy="15501"/>
                  </a:xfrm>
                  <a:custGeom>
                    <a:avLst/>
                    <a:gdLst/>
                    <a:ahLst/>
                    <a:cxnLst/>
                    <a:rect l="l" t="t" r="r" b="b"/>
                    <a:pathLst>
                      <a:path w="346" h="294" extrusionOk="0">
                        <a:moveTo>
                          <a:pt x="0" y="0"/>
                        </a:moveTo>
                        <a:lnTo>
                          <a:pt x="346" y="201"/>
                        </a:lnTo>
                        <a:lnTo>
                          <a:pt x="346" y="294"/>
                        </a:lnTo>
                        <a:lnTo>
                          <a:pt x="0" y="93"/>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97" name="Google Shape;297;p6"/>
                  <p:cNvSpPr/>
                  <p:nvPr/>
                </p:nvSpPr>
                <p:spPr>
                  <a:xfrm>
                    <a:off x="3063238" y="4615738"/>
                    <a:ext cx="43971" cy="44921"/>
                  </a:xfrm>
                  <a:custGeom>
                    <a:avLst/>
                    <a:gdLst/>
                    <a:ahLst/>
                    <a:cxnLst/>
                    <a:rect l="l" t="t" r="r" b="b"/>
                    <a:pathLst>
                      <a:path w="832" h="853" extrusionOk="0">
                        <a:moveTo>
                          <a:pt x="416" y="10"/>
                        </a:moveTo>
                        <a:lnTo>
                          <a:pt x="438" y="15"/>
                        </a:lnTo>
                        <a:lnTo>
                          <a:pt x="459" y="22"/>
                        </a:lnTo>
                        <a:lnTo>
                          <a:pt x="479" y="30"/>
                        </a:lnTo>
                        <a:lnTo>
                          <a:pt x="500" y="37"/>
                        </a:lnTo>
                        <a:lnTo>
                          <a:pt x="520" y="47"/>
                        </a:lnTo>
                        <a:lnTo>
                          <a:pt x="540" y="57"/>
                        </a:lnTo>
                        <a:lnTo>
                          <a:pt x="559" y="68"/>
                        </a:lnTo>
                        <a:lnTo>
                          <a:pt x="577" y="79"/>
                        </a:lnTo>
                        <a:lnTo>
                          <a:pt x="596" y="93"/>
                        </a:lnTo>
                        <a:lnTo>
                          <a:pt x="614" y="106"/>
                        </a:lnTo>
                        <a:lnTo>
                          <a:pt x="632" y="119"/>
                        </a:lnTo>
                        <a:lnTo>
                          <a:pt x="648" y="135"/>
                        </a:lnTo>
                        <a:lnTo>
                          <a:pt x="665" y="149"/>
                        </a:lnTo>
                        <a:lnTo>
                          <a:pt x="680" y="166"/>
                        </a:lnTo>
                        <a:lnTo>
                          <a:pt x="696" y="182"/>
                        </a:lnTo>
                        <a:lnTo>
                          <a:pt x="710" y="199"/>
                        </a:lnTo>
                        <a:lnTo>
                          <a:pt x="724" y="217"/>
                        </a:lnTo>
                        <a:lnTo>
                          <a:pt x="737" y="235"/>
                        </a:lnTo>
                        <a:lnTo>
                          <a:pt x="749" y="253"/>
                        </a:lnTo>
                        <a:lnTo>
                          <a:pt x="760" y="272"/>
                        </a:lnTo>
                        <a:lnTo>
                          <a:pt x="771" y="292"/>
                        </a:lnTo>
                        <a:lnTo>
                          <a:pt x="781" y="311"/>
                        </a:lnTo>
                        <a:lnTo>
                          <a:pt x="791" y="332"/>
                        </a:lnTo>
                        <a:lnTo>
                          <a:pt x="799" y="352"/>
                        </a:lnTo>
                        <a:lnTo>
                          <a:pt x="807" y="373"/>
                        </a:lnTo>
                        <a:lnTo>
                          <a:pt x="813" y="393"/>
                        </a:lnTo>
                        <a:lnTo>
                          <a:pt x="819" y="414"/>
                        </a:lnTo>
                        <a:lnTo>
                          <a:pt x="823" y="435"/>
                        </a:lnTo>
                        <a:lnTo>
                          <a:pt x="827" y="457"/>
                        </a:lnTo>
                        <a:lnTo>
                          <a:pt x="830" y="478"/>
                        </a:lnTo>
                        <a:lnTo>
                          <a:pt x="831" y="499"/>
                        </a:lnTo>
                        <a:lnTo>
                          <a:pt x="832" y="522"/>
                        </a:lnTo>
                        <a:lnTo>
                          <a:pt x="831" y="543"/>
                        </a:lnTo>
                        <a:lnTo>
                          <a:pt x="830" y="564"/>
                        </a:lnTo>
                        <a:lnTo>
                          <a:pt x="827" y="584"/>
                        </a:lnTo>
                        <a:lnTo>
                          <a:pt x="823" y="604"/>
                        </a:lnTo>
                        <a:lnTo>
                          <a:pt x="819" y="622"/>
                        </a:lnTo>
                        <a:lnTo>
                          <a:pt x="813" y="641"/>
                        </a:lnTo>
                        <a:lnTo>
                          <a:pt x="807" y="659"/>
                        </a:lnTo>
                        <a:lnTo>
                          <a:pt x="799" y="676"/>
                        </a:lnTo>
                        <a:lnTo>
                          <a:pt x="791" y="692"/>
                        </a:lnTo>
                        <a:lnTo>
                          <a:pt x="781" y="708"/>
                        </a:lnTo>
                        <a:lnTo>
                          <a:pt x="771" y="723"/>
                        </a:lnTo>
                        <a:lnTo>
                          <a:pt x="760" y="738"/>
                        </a:lnTo>
                        <a:lnTo>
                          <a:pt x="749" y="751"/>
                        </a:lnTo>
                        <a:lnTo>
                          <a:pt x="737" y="764"/>
                        </a:lnTo>
                        <a:lnTo>
                          <a:pt x="724" y="777"/>
                        </a:lnTo>
                        <a:lnTo>
                          <a:pt x="710" y="788"/>
                        </a:lnTo>
                        <a:lnTo>
                          <a:pt x="696" y="798"/>
                        </a:lnTo>
                        <a:lnTo>
                          <a:pt x="680" y="808"/>
                        </a:lnTo>
                        <a:lnTo>
                          <a:pt x="665" y="816"/>
                        </a:lnTo>
                        <a:lnTo>
                          <a:pt x="648" y="824"/>
                        </a:lnTo>
                        <a:lnTo>
                          <a:pt x="632" y="831"/>
                        </a:lnTo>
                        <a:lnTo>
                          <a:pt x="614" y="837"/>
                        </a:lnTo>
                        <a:lnTo>
                          <a:pt x="596" y="842"/>
                        </a:lnTo>
                        <a:lnTo>
                          <a:pt x="577" y="846"/>
                        </a:lnTo>
                        <a:lnTo>
                          <a:pt x="559" y="850"/>
                        </a:lnTo>
                        <a:lnTo>
                          <a:pt x="540" y="852"/>
                        </a:lnTo>
                        <a:lnTo>
                          <a:pt x="520" y="853"/>
                        </a:lnTo>
                        <a:lnTo>
                          <a:pt x="500" y="853"/>
                        </a:lnTo>
                        <a:lnTo>
                          <a:pt x="479" y="852"/>
                        </a:lnTo>
                        <a:lnTo>
                          <a:pt x="459" y="850"/>
                        </a:lnTo>
                        <a:lnTo>
                          <a:pt x="438" y="846"/>
                        </a:lnTo>
                        <a:lnTo>
                          <a:pt x="416" y="842"/>
                        </a:lnTo>
                        <a:lnTo>
                          <a:pt x="395" y="836"/>
                        </a:lnTo>
                        <a:lnTo>
                          <a:pt x="374" y="830"/>
                        </a:lnTo>
                        <a:lnTo>
                          <a:pt x="353" y="823"/>
                        </a:lnTo>
                        <a:lnTo>
                          <a:pt x="333" y="814"/>
                        </a:lnTo>
                        <a:lnTo>
                          <a:pt x="312" y="805"/>
                        </a:lnTo>
                        <a:lnTo>
                          <a:pt x="293" y="795"/>
                        </a:lnTo>
                        <a:lnTo>
                          <a:pt x="273" y="784"/>
                        </a:lnTo>
                        <a:lnTo>
                          <a:pt x="254" y="772"/>
                        </a:lnTo>
                        <a:lnTo>
                          <a:pt x="235" y="760"/>
                        </a:lnTo>
                        <a:lnTo>
                          <a:pt x="217" y="747"/>
                        </a:lnTo>
                        <a:lnTo>
                          <a:pt x="201" y="732"/>
                        </a:lnTo>
                        <a:lnTo>
                          <a:pt x="183" y="718"/>
                        </a:lnTo>
                        <a:lnTo>
                          <a:pt x="168" y="702"/>
                        </a:lnTo>
                        <a:lnTo>
                          <a:pt x="151" y="687"/>
                        </a:lnTo>
                        <a:lnTo>
                          <a:pt x="137" y="670"/>
                        </a:lnTo>
                        <a:lnTo>
                          <a:pt x="122" y="652"/>
                        </a:lnTo>
                        <a:lnTo>
                          <a:pt x="108" y="635"/>
                        </a:lnTo>
                        <a:lnTo>
                          <a:pt x="96" y="617"/>
                        </a:lnTo>
                        <a:lnTo>
                          <a:pt x="82" y="598"/>
                        </a:lnTo>
                        <a:lnTo>
                          <a:pt x="71" y="579"/>
                        </a:lnTo>
                        <a:lnTo>
                          <a:pt x="60" y="560"/>
                        </a:lnTo>
                        <a:lnTo>
                          <a:pt x="50" y="540"/>
                        </a:lnTo>
                        <a:lnTo>
                          <a:pt x="41" y="521"/>
                        </a:lnTo>
                        <a:lnTo>
                          <a:pt x="32" y="499"/>
                        </a:lnTo>
                        <a:lnTo>
                          <a:pt x="26" y="479"/>
                        </a:lnTo>
                        <a:lnTo>
                          <a:pt x="19" y="458"/>
                        </a:lnTo>
                        <a:lnTo>
                          <a:pt x="14" y="437"/>
                        </a:lnTo>
                        <a:lnTo>
                          <a:pt x="8" y="416"/>
                        </a:lnTo>
                        <a:lnTo>
                          <a:pt x="5" y="395"/>
                        </a:lnTo>
                        <a:lnTo>
                          <a:pt x="2" y="373"/>
                        </a:lnTo>
                        <a:lnTo>
                          <a:pt x="0" y="352"/>
                        </a:lnTo>
                        <a:lnTo>
                          <a:pt x="0" y="331"/>
                        </a:lnTo>
                        <a:lnTo>
                          <a:pt x="0" y="309"/>
                        </a:lnTo>
                        <a:lnTo>
                          <a:pt x="2" y="289"/>
                        </a:lnTo>
                        <a:lnTo>
                          <a:pt x="5" y="268"/>
                        </a:lnTo>
                        <a:lnTo>
                          <a:pt x="8" y="249"/>
                        </a:lnTo>
                        <a:lnTo>
                          <a:pt x="14" y="230"/>
                        </a:lnTo>
                        <a:lnTo>
                          <a:pt x="19" y="211"/>
                        </a:lnTo>
                        <a:lnTo>
                          <a:pt x="26" y="194"/>
                        </a:lnTo>
                        <a:lnTo>
                          <a:pt x="32" y="176"/>
                        </a:lnTo>
                        <a:lnTo>
                          <a:pt x="41" y="159"/>
                        </a:lnTo>
                        <a:lnTo>
                          <a:pt x="50" y="144"/>
                        </a:lnTo>
                        <a:lnTo>
                          <a:pt x="60" y="128"/>
                        </a:lnTo>
                        <a:lnTo>
                          <a:pt x="71" y="114"/>
                        </a:lnTo>
                        <a:lnTo>
                          <a:pt x="82" y="100"/>
                        </a:lnTo>
                        <a:lnTo>
                          <a:pt x="96" y="87"/>
                        </a:lnTo>
                        <a:lnTo>
                          <a:pt x="108" y="76"/>
                        </a:lnTo>
                        <a:lnTo>
                          <a:pt x="122" y="64"/>
                        </a:lnTo>
                        <a:lnTo>
                          <a:pt x="137" y="54"/>
                        </a:lnTo>
                        <a:lnTo>
                          <a:pt x="151" y="44"/>
                        </a:lnTo>
                        <a:lnTo>
                          <a:pt x="168" y="35"/>
                        </a:lnTo>
                        <a:lnTo>
                          <a:pt x="183" y="27"/>
                        </a:lnTo>
                        <a:lnTo>
                          <a:pt x="201" y="21"/>
                        </a:lnTo>
                        <a:lnTo>
                          <a:pt x="217" y="15"/>
                        </a:lnTo>
                        <a:lnTo>
                          <a:pt x="235" y="10"/>
                        </a:lnTo>
                        <a:lnTo>
                          <a:pt x="254" y="5"/>
                        </a:lnTo>
                        <a:lnTo>
                          <a:pt x="273" y="2"/>
                        </a:lnTo>
                        <a:lnTo>
                          <a:pt x="293" y="1"/>
                        </a:lnTo>
                        <a:lnTo>
                          <a:pt x="312" y="0"/>
                        </a:lnTo>
                        <a:lnTo>
                          <a:pt x="333" y="0"/>
                        </a:lnTo>
                        <a:lnTo>
                          <a:pt x="353" y="1"/>
                        </a:lnTo>
                        <a:lnTo>
                          <a:pt x="374" y="2"/>
                        </a:lnTo>
                        <a:lnTo>
                          <a:pt x="395" y="5"/>
                        </a:lnTo>
                        <a:lnTo>
                          <a:pt x="416" y="10"/>
                        </a:lnTo>
                        <a:close/>
                      </a:path>
                    </a:pathLst>
                  </a:custGeom>
                  <a:solidFill>
                    <a:srgbClr val="F2F2F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98" name="Google Shape;298;p6"/>
                  <p:cNvSpPr/>
                  <p:nvPr/>
                </p:nvSpPr>
                <p:spPr>
                  <a:xfrm>
                    <a:off x="3073994" y="4626493"/>
                    <a:ext cx="22461" cy="23410"/>
                  </a:xfrm>
                  <a:custGeom>
                    <a:avLst/>
                    <a:gdLst/>
                    <a:ahLst/>
                    <a:cxnLst/>
                    <a:rect l="l" t="t" r="r" b="b"/>
                    <a:pathLst>
                      <a:path w="429" h="440" extrusionOk="0">
                        <a:moveTo>
                          <a:pt x="214" y="5"/>
                        </a:moveTo>
                        <a:lnTo>
                          <a:pt x="236" y="12"/>
                        </a:lnTo>
                        <a:lnTo>
                          <a:pt x="257" y="20"/>
                        </a:lnTo>
                        <a:lnTo>
                          <a:pt x="278" y="30"/>
                        </a:lnTo>
                        <a:lnTo>
                          <a:pt x="297" y="42"/>
                        </a:lnTo>
                        <a:lnTo>
                          <a:pt x="316" y="55"/>
                        </a:lnTo>
                        <a:lnTo>
                          <a:pt x="333" y="70"/>
                        </a:lnTo>
                        <a:lnTo>
                          <a:pt x="350" y="86"/>
                        </a:lnTo>
                        <a:lnTo>
                          <a:pt x="365" y="103"/>
                        </a:lnTo>
                        <a:lnTo>
                          <a:pt x="379" y="122"/>
                        </a:lnTo>
                        <a:lnTo>
                          <a:pt x="392" y="141"/>
                        </a:lnTo>
                        <a:lnTo>
                          <a:pt x="402" y="162"/>
                        </a:lnTo>
                        <a:lnTo>
                          <a:pt x="411" y="182"/>
                        </a:lnTo>
                        <a:lnTo>
                          <a:pt x="419" y="204"/>
                        </a:lnTo>
                        <a:lnTo>
                          <a:pt x="424" y="225"/>
                        </a:lnTo>
                        <a:lnTo>
                          <a:pt x="427" y="247"/>
                        </a:lnTo>
                        <a:lnTo>
                          <a:pt x="429" y="269"/>
                        </a:lnTo>
                        <a:lnTo>
                          <a:pt x="427" y="280"/>
                        </a:lnTo>
                        <a:lnTo>
                          <a:pt x="427" y="291"/>
                        </a:lnTo>
                        <a:lnTo>
                          <a:pt x="425" y="301"/>
                        </a:lnTo>
                        <a:lnTo>
                          <a:pt x="424" y="311"/>
                        </a:lnTo>
                        <a:lnTo>
                          <a:pt x="421" y="321"/>
                        </a:lnTo>
                        <a:lnTo>
                          <a:pt x="419" y="331"/>
                        </a:lnTo>
                        <a:lnTo>
                          <a:pt x="415" y="340"/>
                        </a:lnTo>
                        <a:lnTo>
                          <a:pt x="411" y="349"/>
                        </a:lnTo>
                        <a:lnTo>
                          <a:pt x="402" y="365"/>
                        </a:lnTo>
                        <a:lnTo>
                          <a:pt x="392" y="381"/>
                        </a:lnTo>
                        <a:lnTo>
                          <a:pt x="379" y="394"/>
                        </a:lnTo>
                        <a:lnTo>
                          <a:pt x="365" y="406"/>
                        </a:lnTo>
                        <a:lnTo>
                          <a:pt x="350" y="416"/>
                        </a:lnTo>
                        <a:lnTo>
                          <a:pt x="333" y="425"/>
                        </a:lnTo>
                        <a:lnTo>
                          <a:pt x="316" y="432"/>
                        </a:lnTo>
                        <a:lnTo>
                          <a:pt x="297" y="436"/>
                        </a:lnTo>
                        <a:lnTo>
                          <a:pt x="278" y="440"/>
                        </a:lnTo>
                        <a:lnTo>
                          <a:pt x="257" y="440"/>
                        </a:lnTo>
                        <a:lnTo>
                          <a:pt x="236" y="439"/>
                        </a:lnTo>
                        <a:lnTo>
                          <a:pt x="214" y="434"/>
                        </a:lnTo>
                        <a:lnTo>
                          <a:pt x="192" y="429"/>
                        </a:lnTo>
                        <a:lnTo>
                          <a:pt x="170" y="420"/>
                        </a:lnTo>
                        <a:lnTo>
                          <a:pt x="151" y="410"/>
                        </a:lnTo>
                        <a:lnTo>
                          <a:pt x="131" y="399"/>
                        </a:lnTo>
                        <a:lnTo>
                          <a:pt x="112" y="385"/>
                        </a:lnTo>
                        <a:lnTo>
                          <a:pt x="94" y="370"/>
                        </a:lnTo>
                        <a:lnTo>
                          <a:pt x="77" y="354"/>
                        </a:lnTo>
                        <a:lnTo>
                          <a:pt x="62" y="337"/>
                        </a:lnTo>
                        <a:lnTo>
                          <a:pt x="49" y="318"/>
                        </a:lnTo>
                        <a:lnTo>
                          <a:pt x="36" y="299"/>
                        </a:lnTo>
                        <a:lnTo>
                          <a:pt x="25" y="279"/>
                        </a:lnTo>
                        <a:lnTo>
                          <a:pt x="16" y="258"/>
                        </a:lnTo>
                        <a:lnTo>
                          <a:pt x="10" y="237"/>
                        </a:lnTo>
                        <a:lnTo>
                          <a:pt x="4" y="215"/>
                        </a:lnTo>
                        <a:lnTo>
                          <a:pt x="1" y="193"/>
                        </a:lnTo>
                        <a:lnTo>
                          <a:pt x="0" y="170"/>
                        </a:lnTo>
                        <a:lnTo>
                          <a:pt x="0" y="159"/>
                        </a:lnTo>
                        <a:lnTo>
                          <a:pt x="1" y="149"/>
                        </a:lnTo>
                        <a:lnTo>
                          <a:pt x="2" y="138"/>
                        </a:lnTo>
                        <a:lnTo>
                          <a:pt x="4" y="128"/>
                        </a:lnTo>
                        <a:lnTo>
                          <a:pt x="7" y="118"/>
                        </a:lnTo>
                        <a:lnTo>
                          <a:pt x="10" y="109"/>
                        </a:lnTo>
                        <a:lnTo>
                          <a:pt x="13" y="101"/>
                        </a:lnTo>
                        <a:lnTo>
                          <a:pt x="16" y="92"/>
                        </a:lnTo>
                        <a:lnTo>
                          <a:pt x="25" y="75"/>
                        </a:lnTo>
                        <a:lnTo>
                          <a:pt x="36" y="60"/>
                        </a:lnTo>
                        <a:lnTo>
                          <a:pt x="49" y="46"/>
                        </a:lnTo>
                        <a:lnTo>
                          <a:pt x="62" y="34"/>
                        </a:lnTo>
                        <a:lnTo>
                          <a:pt x="77" y="23"/>
                        </a:lnTo>
                        <a:lnTo>
                          <a:pt x="94" y="15"/>
                        </a:lnTo>
                        <a:lnTo>
                          <a:pt x="112" y="9"/>
                        </a:lnTo>
                        <a:lnTo>
                          <a:pt x="131" y="3"/>
                        </a:lnTo>
                        <a:lnTo>
                          <a:pt x="151" y="1"/>
                        </a:lnTo>
                        <a:lnTo>
                          <a:pt x="170" y="0"/>
                        </a:lnTo>
                        <a:lnTo>
                          <a:pt x="192" y="2"/>
                        </a:lnTo>
                        <a:lnTo>
                          <a:pt x="214" y="5"/>
                        </a:lnTo>
                        <a:close/>
                      </a:path>
                    </a:pathLst>
                  </a:custGeom>
                  <a:solidFill>
                    <a:srgbClr val="B3B3B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299" name="Google Shape;299;p6"/>
                  <p:cNvSpPr/>
                  <p:nvPr/>
                </p:nvSpPr>
                <p:spPr>
                  <a:xfrm>
                    <a:off x="3078106" y="4630922"/>
                    <a:ext cx="14236" cy="14552"/>
                  </a:xfrm>
                  <a:custGeom>
                    <a:avLst/>
                    <a:gdLst/>
                    <a:ahLst/>
                    <a:cxnLst/>
                    <a:rect l="l" t="t" r="r" b="b"/>
                    <a:pathLst>
                      <a:path w="271" h="278" extrusionOk="0">
                        <a:moveTo>
                          <a:pt x="135" y="3"/>
                        </a:moveTo>
                        <a:lnTo>
                          <a:pt x="149" y="7"/>
                        </a:lnTo>
                        <a:lnTo>
                          <a:pt x="162" y="12"/>
                        </a:lnTo>
                        <a:lnTo>
                          <a:pt x="176" y="18"/>
                        </a:lnTo>
                        <a:lnTo>
                          <a:pt x="188" y="26"/>
                        </a:lnTo>
                        <a:lnTo>
                          <a:pt x="200" y="34"/>
                        </a:lnTo>
                        <a:lnTo>
                          <a:pt x="211" y="44"/>
                        </a:lnTo>
                        <a:lnTo>
                          <a:pt x="221" y="54"/>
                        </a:lnTo>
                        <a:lnTo>
                          <a:pt x="231" y="65"/>
                        </a:lnTo>
                        <a:lnTo>
                          <a:pt x="240" y="76"/>
                        </a:lnTo>
                        <a:lnTo>
                          <a:pt x="248" y="89"/>
                        </a:lnTo>
                        <a:lnTo>
                          <a:pt x="254" y="102"/>
                        </a:lnTo>
                        <a:lnTo>
                          <a:pt x="260" y="115"/>
                        </a:lnTo>
                        <a:lnTo>
                          <a:pt x="264" y="128"/>
                        </a:lnTo>
                        <a:lnTo>
                          <a:pt x="268" y="143"/>
                        </a:lnTo>
                        <a:lnTo>
                          <a:pt x="270" y="156"/>
                        </a:lnTo>
                        <a:lnTo>
                          <a:pt x="271" y="170"/>
                        </a:lnTo>
                        <a:lnTo>
                          <a:pt x="270" y="184"/>
                        </a:lnTo>
                        <a:lnTo>
                          <a:pt x="268" y="197"/>
                        </a:lnTo>
                        <a:lnTo>
                          <a:pt x="264" y="209"/>
                        </a:lnTo>
                        <a:lnTo>
                          <a:pt x="260" y="220"/>
                        </a:lnTo>
                        <a:lnTo>
                          <a:pt x="254" y="231"/>
                        </a:lnTo>
                        <a:lnTo>
                          <a:pt x="248" y="241"/>
                        </a:lnTo>
                        <a:lnTo>
                          <a:pt x="240" y="249"/>
                        </a:lnTo>
                        <a:lnTo>
                          <a:pt x="231" y="257"/>
                        </a:lnTo>
                        <a:lnTo>
                          <a:pt x="221" y="263"/>
                        </a:lnTo>
                        <a:lnTo>
                          <a:pt x="211" y="269"/>
                        </a:lnTo>
                        <a:lnTo>
                          <a:pt x="200" y="273"/>
                        </a:lnTo>
                        <a:lnTo>
                          <a:pt x="188" y="277"/>
                        </a:lnTo>
                        <a:lnTo>
                          <a:pt x="176" y="278"/>
                        </a:lnTo>
                        <a:lnTo>
                          <a:pt x="162" y="278"/>
                        </a:lnTo>
                        <a:lnTo>
                          <a:pt x="149" y="277"/>
                        </a:lnTo>
                        <a:lnTo>
                          <a:pt x="135" y="275"/>
                        </a:lnTo>
                        <a:lnTo>
                          <a:pt x="121" y="271"/>
                        </a:lnTo>
                        <a:lnTo>
                          <a:pt x="107" y="266"/>
                        </a:lnTo>
                        <a:lnTo>
                          <a:pt x="95" y="259"/>
                        </a:lnTo>
                        <a:lnTo>
                          <a:pt x="83" y="252"/>
                        </a:lnTo>
                        <a:lnTo>
                          <a:pt x="70" y="243"/>
                        </a:lnTo>
                        <a:lnTo>
                          <a:pt x="59" y="235"/>
                        </a:lnTo>
                        <a:lnTo>
                          <a:pt x="48" y="224"/>
                        </a:lnTo>
                        <a:lnTo>
                          <a:pt x="39" y="212"/>
                        </a:lnTo>
                        <a:lnTo>
                          <a:pt x="31" y="201"/>
                        </a:lnTo>
                        <a:lnTo>
                          <a:pt x="23" y="189"/>
                        </a:lnTo>
                        <a:lnTo>
                          <a:pt x="15" y="176"/>
                        </a:lnTo>
                        <a:lnTo>
                          <a:pt x="9" y="164"/>
                        </a:lnTo>
                        <a:lnTo>
                          <a:pt x="5" y="149"/>
                        </a:lnTo>
                        <a:lnTo>
                          <a:pt x="2" y="136"/>
                        </a:lnTo>
                        <a:lnTo>
                          <a:pt x="0" y="122"/>
                        </a:lnTo>
                        <a:lnTo>
                          <a:pt x="0" y="108"/>
                        </a:lnTo>
                        <a:lnTo>
                          <a:pt x="0" y="94"/>
                        </a:lnTo>
                        <a:lnTo>
                          <a:pt x="2" y="81"/>
                        </a:lnTo>
                        <a:lnTo>
                          <a:pt x="5" y="68"/>
                        </a:lnTo>
                        <a:lnTo>
                          <a:pt x="9" y="57"/>
                        </a:lnTo>
                        <a:lnTo>
                          <a:pt x="15" y="47"/>
                        </a:lnTo>
                        <a:lnTo>
                          <a:pt x="23" y="37"/>
                        </a:lnTo>
                        <a:lnTo>
                          <a:pt x="31" y="28"/>
                        </a:lnTo>
                        <a:lnTo>
                          <a:pt x="39" y="21"/>
                        </a:lnTo>
                        <a:lnTo>
                          <a:pt x="48" y="14"/>
                        </a:lnTo>
                        <a:lnTo>
                          <a:pt x="59" y="9"/>
                        </a:lnTo>
                        <a:lnTo>
                          <a:pt x="70" y="5"/>
                        </a:lnTo>
                        <a:lnTo>
                          <a:pt x="83" y="2"/>
                        </a:lnTo>
                        <a:lnTo>
                          <a:pt x="95" y="0"/>
                        </a:lnTo>
                        <a:lnTo>
                          <a:pt x="107" y="0"/>
                        </a:lnTo>
                        <a:lnTo>
                          <a:pt x="121" y="1"/>
                        </a:lnTo>
                        <a:lnTo>
                          <a:pt x="135" y="3"/>
                        </a:lnTo>
                        <a:close/>
                      </a:path>
                    </a:pathLst>
                  </a:custGeom>
                  <a:gradFill>
                    <a:gsLst>
                      <a:gs pos="0">
                        <a:srgbClr val="006994"/>
                      </a:gs>
                      <a:gs pos="50000">
                        <a:srgbClr val="009AD7"/>
                      </a:gs>
                      <a:gs pos="100000">
                        <a:srgbClr val="00B8F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grpSp>
            <p:grpSp>
              <p:nvGrpSpPr>
                <p:cNvPr id="300" name="Google Shape;300;p6"/>
                <p:cNvGrpSpPr/>
                <p:nvPr/>
              </p:nvGrpSpPr>
              <p:grpSpPr>
                <a:xfrm>
                  <a:off x="2939898" y="4690008"/>
                  <a:ext cx="145198" cy="153849"/>
                  <a:chOff x="5967413" y="-3362325"/>
                  <a:chExt cx="1133478" cy="1454150"/>
                </a:xfrm>
              </p:grpSpPr>
              <p:sp>
                <p:nvSpPr>
                  <p:cNvPr id="301" name="Google Shape;301;p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02" name="Google Shape;302;p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03" name="Google Shape;303;p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04" name="Google Shape;304;p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05" name="Google Shape;305;p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06" name="Google Shape;306;p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07" name="Google Shape;307;p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08" name="Google Shape;308;p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09" name="Google Shape;309;p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10" name="Google Shape;310;p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11" name="Google Shape;311;p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12" name="Google Shape;312;p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13" name="Google Shape;313;p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14" name="Google Shape;314;p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grpSp>
          </p:grpSp>
          <p:sp>
            <p:nvSpPr>
              <p:cNvPr id="315" name="Google Shape;315;p6"/>
              <p:cNvSpPr txBox="1"/>
              <p:nvPr/>
            </p:nvSpPr>
            <p:spPr>
              <a:xfrm>
                <a:off x="2866069" y="5493356"/>
                <a:ext cx="92700" cy="48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b="1">
                    <a:solidFill>
                      <a:srgbClr val="3F3F3F"/>
                    </a:solidFill>
                    <a:sym typeface="Roboto"/>
                  </a:rPr>
                  <a:t>WN</a:t>
                </a:r>
                <a:endParaRPr sz="700" b="1">
                  <a:solidFill>
                    <a:srgbClr val="3F3F3F"/>
                  </a:solidFill>
                  <a:sym typeface="Roboto"/>
                </a:endParaRPr>
              </a:p>
            </p:txBody>
          </p:sp>
        </p:grpSp>
        <p:grpSp>
          <p:nvGrpSpPr>
            <p:cNvPr id="316" name="Google Shape;316;p6"/>
            <p:cNvGrpSpPr/>
            <p:nvPr/>
          </p:nvGrpSpPr>
          <p:grpSpPr>
            <a:xfrm>
              <a:off x="8123812" y="2040623"/>
              <a:ext cx="479851" cy="571542"/>
              <a:chOff x="2700756" y="5095926"/>
              <a:chExt cx="376738" cy="448726"/>
            </a:xfrm>
          </p:grpSpPr>
          <p:grpSp>
            <p:nvGrpSpPr>
              <p:cNvPr id="317" name="Google Shape;317;p6"/>
              <p:cNvGrpSpPr/>
              <p:nvPr/>
            </p:nvGrpSpPr>
            <p:grpSpPr>
              <a:xfrm>
                <a:off x="2700756" y="5095926"/>
                <a:ext cx="376738" cy="448726"/>
                <a:chOff x="2939898" y="4395131"/>
                <a:chExt cx="376738" cy="448726"/>
              </a:xfrm>
            </p:grpSpPr>
            <p:grpSp>
              <p:nvGrpSpPr>
                <p:cNvPr id="318" name="Google Shape;318;p6"/>
                <p:cNvGrpSpPr/>
                <p:nvPr/>
              </p:nvGrpSpPr>
              <p:grpSpPr>
                <a:xfrm>
                  <a:off x="3040778" y="4395131"/>
                  <a:ext cx="275858" cy="376772"/>
                  <a:chOff x="3040778" y="4395131"/>
                  <a:chExt cx="275858" cy="376772"/>
                </a:xfrm>
              </p:grpSpPr>
              <p:sp>
                <p:nvSpPr>
                  <p:cNvPr id="319" name="Google Shape;319;p6"/>
                  <p:cNvSpPr/>
                  <p:nvPr/>
                </p:nvSpPr>
                <p:spPr>
                  <a:xfrm>
                    <a:off x="3040778" y="4395131"/>
                    <a:ext cx="275858" cy="376772"/>
                  </a:xfrm>
                  <a:custGeom>
                    <a:avLst/>
                    <a:gdLst/>
                    <a:ahLst/>
                    <a:cxnLst/>
                    <a:rect l="l" t="t" r="r" b="b"/>
                    <a:pathLst>
                      <a:path w="5235" h="7147" extrusionOk="0">
                        <a:moveTo>
                          <a:pt x="3501" y="0"/>
                        </a:moveTo>
                        <a:lnTo>
                          <a:pt x="0" y="2049"/>
                        </a:lnTo>
                        <a:lnTo>
                          <a:pt x="16" y="6095"/>
                        </a:lnTo>
                        <a:lnTo>
                          <a:pt x="1785" y="7147"/>
                        </a:lnTo>
                        <a:lnTo>
                          <a:pt x="5199" y="5045"/>
                        </a:lnTo>
                        <a:lnTo>
                          <a:pt x="5235" y="981"/>
                        </a:lnTo>
                        <a:lnTo>
                          <a:pt x="3501" y="0"/>
                        </a:lnTo>
                        <a:close/>
                      </a:path>
                    </a:pathLst>
                  </a:custGeom>
                  <a:solidFill>
                    <a:srgbClr val="9999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20" name="Google Shape;320;p6"/>
                  <p:cNvSpPr/>
                  <p:nvPr/>
                </p:nvSpPr>
                <p:spPr>
                  <a:xfrm>
                    <a:off x="3134100" y="4449542"/>
                    <a:ext cx="182527" cy="322351"/>
                  </a:xfrm>
                  <a:custGeom>
                    <a:avLst/>
                    <a:gdLst/>
                    <a:ahLst/>
                    <a:cxnLst/>
                    <a:rect l="l" t="t" r="r" b="b"/>
                    <a:pathLst>
                      <a:path w="3464" h="6117" extrusionOk="0">
                        <a:moveTo>
                          <a:pt x="0" y="6107"/>
                        </a:moveTo>
                        <a:lnTo>
                          <a:pt x="15" y="6117"/>
                        </a:lnTo>
                        <a:lnTo>
                          <a:pt x="3429" y="4015"/>
                        </a:lnTo>
                        <a:lnTo>
                          <a:pt x="3464" y="0"/>
                        </a:lnTo>
                        <a:lnTo>
                          <a:pt x="15" y="2053"/>
                        </a:lnTo>
                        <a:lnTo>
                          <a:pt x="0" y="6107"/>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21" name="Google Shape;321;p6"/>
                  <p:cNvSpPr/>
                  <p:nvPr/>
                </p:nvSpPr>
                <p:spPr>
                  <a:xfrm>
                    <a:off x="3040778" y="4495729"/>
                    <a:ext cx="108821" cy="276174"/>
                  </a:xfrm>
                  <a:custGeom>
                    <a:avLst/>
                    <a:gdLst/>
                    <a:ahLst/>
                    <a:cxnLst/>
                    <a:rect l="l" t="t" r="r" b="b"/>
                    <a:pathLst>
                      <a:path w="2066" h="5241" extrusionOk="0">
                        <a:moveTo>
                          <a:pt x="244" y="0"/>
                        </a:moveTo>
                        <a:lnTo>
                          <a:pt x="0" y="143"/>
                        </a:lnTo>
                        <a:lnTo>
                          <a:pt x="16" y="4189"/>
                        </a:lnTo>
                        <a:lnTo>
                          <a:pt x="1785" y="5241"/>
                        </a:lnTo>
                        <a:lnTo>
                          <a:pt x="2066" y="5068"/>
                        </a:lnTo>
                        <a:lnTo>
                          <a:pt x="2066" y="984"/>
                        </a:lnTo>
                        <a:lnTo>
                          <a:pt x="244" y="0"/>
                        </a:lnTo>
                        <a:close/>
                      </a:path>
                    </a:pathLst>
                  </a:custGeom>
                  <a:gradFill>
                    <a:gsLst>
                      <a:gs pos="0">
                        <a:srgbClr val="F2F2F2"/>
                      </a:gs>
                      <a:gs pos="35000">
                        <a:srgbClr val="C3C3C3"/>
                      </a:gs>
                      <a:gs pos="40000">
                        <a:srgbClr val="F2F2F2"/>
                      </a:gs>
                      <a:gs pos="100000">
                        <a:srgbClr val="D8D8D8"/>
                      </a:gs>
                    </a:gsLst>
                    <a:lin ang="360000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22" name="Google Shape;322;p6"/>
                  <p:cNvSpPr/>
                  <p:nvPr/>
                </p:nvSpPr>
                <p:spPr>
                  <a:xfrm>
                    <a:off x="3040778" y="4503005"/>
                    <a:ext cx="94905" cy="268890"/>
                  </a:xfrm>
                  <a:custGeom>
                    <a:avLst/>
                    <a:gdLst/>
                    <a:ahLst/>
                    <a:cxnLst/>
                    <a:rect l="l" t="t" r="r" b="b"/>
                    <a:pathLst>
                      <a:path w="1803" h="5103" extrusionOk="0">
                        <a:moveTo>
                          <a:pt x="10" y="0"/>
                        </a:moveTo>
                        <a:lnTo>
                          <a:pt x="0" y="5"/>
                        </a:lnTo>
                        <a:lnTo>
                          <a:pt x="16" y="4051"/>
                        </a:lnTo>
                        <a:lnTo>
                          <a:pt x="1785" y="5103"/>
                        </a:lnTo>
                        <a:lnTo>
                          <a:pt x="1786" y="5102"/>
                        </a:lnTo>
                        <a:lnTo>
                          <a:pt x="1803" y="1039"/>
                        </a:lnTo>
                        <a:lnTo>
                          <a:pt x="10" y="0"/>
                        </a:lnTo>
                        <a:close/>
                      </a:path>
                    </a:pathLst>
                  </a:custGeom>
                  <a:gradFill>
                    <a:gsLst>
                      <a:gs pos="0">
                        <a:srgbClr val="7F7F7F"/>
                      </a:gs>
                      <a:gs pos="12000">
                        <a:srgbClr val="7F7F7F"/>
                      </a:gs>
                      <a:gs pos="100000">
                        <a:srgbClr val="A5A5A5"/>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23" name="Google Shape;323;p6"/>
                  <p:cNvSpPr/>
                  <p:nvPr/>
                </p:nvSpPr>
                <p:spPr>
                  <a:xfrm>
                    <a:off x="3052483" y="4534955"/>
                    <a:ext cx="68332" cy="58208"/>
                  </a:xfrm>
                  <a:custGeom>
                    <a:avLst/>
                    <a:gdLst/>
                    <a:ahLst/>
                    <a:cxnLst/>
                    <a:rect l="l" t="t" r="r" b="b"/>
                    <a:pathLst>
                      <a:path w="1296" h="1102" extrusionOk="0">
                        <a:moveTo>
                          <a:pt x="0" y="0"/>
                        </a:moveTo>
                        <a:lnTo>
                          <a:pt x="1296" y="752"/>
                        </a:lnTo>
                        <a:lnTo>
                          <a:pt x="1296" y="1102"/>
                        </a:lnTo>
                        <a:lnTo>
                          <a:pt x="0" y="351"/>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24" name="Google Shape;324;p6"/>
                  <p:cNvSpPr/>
                  <p:nvPr/>
                </p:nvSpPr>
                <p:spPr>
                  <a:xfrm>
                    <a:off x="3102782" y="4589999"/>
                    <a:ext cx="18032" cy="15501"/>
                  </a:xfrm>
                  <a:custGeom>
                    <a:avLst/>
                    <a:gdLst/>
                    <a:ahLst/>
                    <a:cxnLst/>
                    <a:rect l="l" t="t" r="r" b="b"/>
                    <a:pathLst>
                      <a:path w="346" h="294" extrusionOk="0">
                        <a:moveTo>
                          <a:pt x="0" y="0"/>
                        </a:moveTo>
                        <a:lnTo>
                          <a:pt x="346" y="201"/>
                        </a:lnTo>
                        <a:lnTo>
                          <a:pt x="346" y="294"/>
                        </a:lnTo>
                        <a:lnTo>
                          <a:pt x="0" y="93"/>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25" name="Google Shape;325;p6"/>
                  <p:cNvSpPr/>
                  <p:nvPr/>
                </p:nvSpPr>
                <p:spPr>
                  <a:xfrm>
                    <a:off x="3063238" y="4615738"/>
                    <a:ext cx="43971" cy="44921"/>
                  </a:xfrm>
                  <a:custGeom>
                    <a:avLst/>
                    <a:gdLst/>
                    <a:ahLst/>
                    <a:cxnLst/>
                    <a:rect l="l" t="t" r="r" b="b"/>
                    <a:pathLst>
                      <a:path w="832" h="853" extrusionOk="0">
                        <a:moveTo>
                          <a:pt x="416" y="10"/>
                        </a:moveTo>
                        <a:lnTo>
                          <a:pt x="438" y="15"/>
                        </a:lnTo>
                        <a:lnTo>
                          <a:pt x="459" y="22"/>
                        </a:lnTo>
                        <a:lnTo>
                          <a:pt x="479" y="30"/>
                        </a:lnTo>
                        <a:lnTo>
                          <a:pt x="500" y="37"/>
                        </a:lnTo>
                        <a:lnTo>
                          <a:pt x="520" y="47"/>
                        </a:lnTo>
                        <a:lnTo>
                          <a:pt x="540" y="57"/>
                        </a:lnTo>
                        <a:lnTo>
                          <a:pt x="559" y="68"/>
                        </a:lnTo>
                        <a:lnTo>
                          <a:pt x="577" y="79"/>
                        </a:lnTo>
                        <a:lnTo>
                          <a:pt x="596" y="93"/>
                        </a:lnTo>
                        <a:lnTo>
                          <a:pt x="614" y="106"/>
                        </a:lnTo>
                        <a:lnTo>
                          <a:pt x="632" y="119"/>
                        </a:lnTo>
                        <a:lnTo>
                          <a:pt x="648" y="135"/>
                        </a:lnTo>
                        <a:lnTo>
                          <a:pt x="665" y="149"/>
                        </a:lnTo>
                        <a:lnTo>
                          <a:pt x="680" y="166"/>
                        </a:lnTo>
                        <a:lnTo>
                          <a:pt x="696" y="182"/>
                        </a:lnTo>
                        <a:lnTo>
                          <a:pt x="710" y="199"/>
                        </a:lnTo>
                        <a:lnTo>
                          <a:pt x="724" y="217"/>
                        </a:lnTo>
                        <a:lnTo>
                          <a:pt x="737" y="235"/>
                        </a:lnTo>
                        <a:lnTo>
                          <a:pt x="749" y="253"/>
                        </a:lnTo>
                        <a:lnTo>
                          <a:pt x="760" y="272"/>
                        </a:lnTo>
                        <a:lnTo>
                          <a:pt x="771" y="292"/>
                        </a:lnTo>
                        <a:lnTo>
                          <a:pt x="781" y="311"/>
                        </a:lnTo>
                        <a:lnTo>
                          <a:pt x="791" y="332"/>
                        </a:lnTo>
                        <a:lnTo>
                          <a:pt x="799" y="352"/>
                        </a:lnTo>
                        <a:lnTo>
                          <a:pt x="807" y="373"/>
                        </a:lnTo>
                        <a:lnTo>
                          <a:pt x="813" y="393"/>
                        </a:lnTo>
                        <a:lnTo>
                          <a:pt x="819" y="414"/>
                        </a:lnTo>
                        <a:lnTo>
                          <a:pt x="823" y="435"/>
                        </a:lnTo>
                        <a:lnTo>
                          <a:pt x="827" y="457"/>
                        </a:lnTo>
                        <a:lnTo>
                          <a:pt x="830" y="478"/>
                        </a:lnTo>
                        <a:lnTo>
                          <a:pt x="831" y="499"/>
                        </a:lnTo>
                        <a:lnTo>
                          <a:pt x="832" y="522"/>
                        </a:lnTo>
                        <a:lnTo>
                          <a:pt x="831" y="543"/>
                        </a:lnTo>
                        <a:lnTo>
                          <a:pt x="830" y="564"/>
                        </a:lnTo>
                        <a:lnTo>
                          <a:pt x="827" y="584"/>
                        </a:lnTo>
                        <a:lnTo>
                          <a:pt x="823" y="604"/>
                        </a:lnTo>
                        <a:lnTo>
                          <a:pt x="819" y="622"/>
                        </a:lnTo>
                        <a:lnTo>
                          <a:pt x="813" y="641"/>
                        </a:lnTo>
                        <a:lnTo>
                          <a:pt x="807" y="659"/>
                        </a:lnTo>
                        <a:lnTo>
                          <a:pt x="799" y="676"/>
                        </a:lnTo>
                        <a:lnTo>
                          <a:pt x="791" y="692"/>
                        </a:lnTo>
                        <a:lnTo>
                          <a:pt x="781" y="708"/>
                        </a:lnTo>
                        <a:lnTo>
                          <a:pt x="771" y="723"/>
                        </a:lnTo>
                        <a:lnTo>
                          <a:pt x="760" y="738"/>
                        </a:lnTo>
                        <a:lnTo>
                          <a:pt x="749" y="751"/>
                        </a:lnTo>
                        <a:lnTo>
                          <a:pt x="737" y="764"/>
                        </a:lnTo>
                        <a:lnTo>
                          <a:pt x="724" y="777"/>
                        </a:lnTo>
                        <a:lnTo>
                          <a:pt x="710" y="788"/>
                        </a:lnTo>
                        <a:lnTo>
                          <a:pt x="696" y="798"/>
                        </a:lnTo>
                        <a:lnTo>
                          <a:pt x="680" y="808"/>
                        </a:lnTo>
                        <a:lnTo>
                          <a:pt x="665" y="816"/>
                        </a:lnTo>
                        <a:lnTo>
                          <a:pt x="648" y="824"/>
                        </a:lnTo>
                        <a:lnTo>
                          <a:pt x="632" y="831"/>
                        </a:lnTo>
                        <a:lnTo>
                          <a:pt x="614" y="837"/>
                        </a:lnTo>
                        <a:lnTo>
                          <a:pt x="596" y="842"/>
                        </a:lnTo>
                        <a:lnTo>
                          <a:pt x="577" y="846"/>
                        </a:lnTo>
                        <a:lnTo>
                          <a:pt x="559" y="850"/>
                        </a:lnTo>
                        <a:lnTo>
                          <a:pt x="540" y="852"/>
                        </a:lnTo>
                        <a:lnTo>
                          <a:pt x="520" y="853"/>
                        </a:lnTo>
                        <a:lnTo>
                          <a:pt x="500" y="853"/>
                        </a:lnTo>
                        <a:lnTo>
                          <a:pt x="479" y="852"/>
                        </a:lnTo>
                        <a:lnTo>
                          <a:pt x="459" y="850"/>
                        </a:lnTo>
                        <a:lnTo>
                          <a:pt x="438" y="846"/>
                        </a:lnTo>
                        <a:lnTo>
                          <a:pt x="416" y="842"/>
                        </a:lnTo>
                        <a:lnTo>
                          <a:pt x="395" y="836"/>
                        </a:lnTo>
                        <a:lnTo>
                          <a:pt x="374" y="830"/>
                        </a:lnTo>
                        <a:lnTo>
                          <a:pt x="353" y="823"/>
                        </a:lnTo>
                        <a:lnTo>
                          <a:pt x="333" y="814"/>
                        </a:lnTo>
                        <a:lnTo>
                          <a:pt x="312" y="805"/>
                        </a:lnTo>
                        <a:lnTo>
                          <a:pt x="293" y="795"/>
                        </a:lnTo>
                        <a:lnTo>
                          <a:pt x="273" y="784"/>
                        </a:lnTo>
                        <a:lnTo>
                          <a:pt x="254" y="772"/>
                        </a:lnTo>
                        <a:lnTo>
                          <a:pt x="235" y="760"/>
                        </a:lnTo>
                        <a:lnTo>
                          <a:pt x="217" y="747"/>
                        </a:lnTo>
                        <a:lnTo>
                          <a:pt x="201" y="732"/>
                        </a:lnTo>
                        <a:lnTo>
                          <a:pt x="183" y="718"/>
                        </a:lnTo>
                        <a:lnTo>
                          <a:pt x="168" y="702"/>
                        </a:lnTo>
                        <a:lnTo>
                          <a:pt x="151" y="687"/>
                        </a:lnTo>
                        <a:lnTo>
                          <a:pt x="137" y="670"/>
                        </a:lnTo>
                        <a:lnTo>
                          <a:pt x="122" y="652"/>
                        </a:lnTo>
                        <a:lnTo>
                          <a:pt x="108" y="635"/>
                        </a:lnTo>
                        <a:lnTo>
                          <a:pt x="96" y="617"/>
                        </a:lnTo>
                        <a:lnTo>
                          <a:pt x="82" y="598"/>
                        </a:lnTo>
                        <a:lnTo>
                          <a:pt x="71" y="579"/>
                        </a:lnTo>
                        <a:lnTo>
                          <a:pt x="60" y="560"/>
                        </a:lnTo>
                        <a:lnTo>
                          <a:pt x="50" y="540"/>
                        </a:lnTo>
                        <a:lnTo>
                          <a:pt x="41" y="521"/>
                        </a:lnTo>
                        <a:lnTo>
                          <a:pt x="32" y="499"/>
                        </a:lnTo>
                        <a:lnTo>
                          <a:pt x="26" y="479"/>
                        </a:lnTo>
                        <a:lnTo>
                          <a:pt x="19" y="458"/>
                        </a:lnTo>
                        <a:lnTo>
                          <a:pt x="14" y="437"/>
                        </a:lnTo>
                        <a:lnTo>
                          <a:pt x="8" y="416"/>
                        </a:lnTo>
                        <a:lnTo>
                          <a:pt x="5" y="395"/>
                        </a:lnTo>
                        <a:lnTo>
                          <a:pt x="2" y="373"/>
                        </a:lnTo>
                        <a:lnTo>
                          <a:pt x="0" y="352"/>
                        </a:lnTo>
                        <a:lnTo>
                          <a:pt x="0" y="331"/>
                        </a:lnTo>
                        <a:lnTo>
                          <a:pt x="0" y="309"/>
                        </a:lnTo>
                        <a:lnTo>
                          <a:pt x="2" y="289"/>
                        </a:lnTo>
                        <a:lnTo>
                          <a:pt x="5" y="268"/>
                        </a:lnTo>
                        <a:lnTo>
                          <a:pt x="8" y="249"/>
                        </a:lnTo>
                        <a:lnTo>
                          <a:pt x="14" y="230"/>
                        </a:lnTo>
                        <a:lnTo>
                          <a:pt x="19" y="211"/>
                        </a:lnTo>
                        <a:lnTo>
                          <a:pt x="26" y="194"/>
                        </a:lnTo>
                        <a:lnTo>
                          <a:pt x="32" y="176"/>
                        </a:lnTo>
                        <a:lnTo>
                          <a:pt x="41" y="159"/>
                        </a:lnTo>
                        <a:lnTo>
                          <a:pt x="50" y="144"/>
                        </a:lnTo>
                        <a:lnTo>
                          <a:pt x="60" y="128"/>
                        </a:lnTo>
                        <a:lnTo>
                          <a:pt x="71" y="114"/>
                        </a:lnTo>
                        <a:lnTo>
                          <a:pt x="82" y="100"/>
                        </a:lnTo>
                        <a:lnTo>
                          <a:pt x="96" y="87"/>
                        </a:lnTo>
                        <a:lnTo>
                          <a:pt x="108" y="76"/>
                        </a:lnTo>
                        <a:lnTo>
                          <a:pt x="122" y="64"/>
                        </a:lnTo>
                        <a:lnTo>
                          <a:pt x="137" y="54"/>
                        </a:lnTo>
                        <a:lnTo>
                          <a:pt x="151" y="44"/>
                        </a:lnTo>
                        <a:lnTo>
                          <a:pt x="168" y="35"/>
                        </a:lnTo>
                        <a:lnTo>
                          <a:pt x="183" y="27"/>
                        </a:lnTo>
                        <a:lnTo>
                          <a:pt x="201" y="21"/>
                        </a:lnTo>
                        <a:lnTo>
                          <a:pt x="217" y="15"/>
                        </a:lnTo>
                        <a:lnTo>
                          <a:pt x="235" y="10"/>
                        </a:lnTo>
                        <a:lnTo>
                          <a:pt x="254" y="5"/>
                        </a:lnTo>
                        <a:lnTo>
                          <a:pt x="273" y="2"/>
                        </a:lnTo>
                        <a:lnTo>
                          <a:pt x="293" y="1"/>
                        </a:lnTo>
                        <a:lnTo>
                          <a:pt x="312" y="0"/>
                        </a:lnTo>
                        <a:lnTo>
                          <a:pt x="333" y="0"/>
                        </a:lnTo>
                        <a:lnTo>
                          <a:pt x="353" y="1"/>
                        </a:lnTo>
                        <a:lnTo>
                          <a:pt x="374" y="2"/>
                        </a:lnTo>
                        <a:lnTo>
                          <a:pt x="395" y="5"/>
                        </a:lnTo>
                        <a:lnTo>
                          <a:pt x="416" y="10"/>
                        </a:lnTo>
                        <a:close/>
                      </a:path>
                    </a:pathLst>
                  </a:custGeom>
                  <a:solidFill>
                    <a:srgbClr val="F2F2F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26" name="Google Shape;326;p6"/>
                  <p:cNvSpPr/>
                  <p:nvPr/>
                </p:nvSpPr>
                <p:spPr>
                  <a:xfrm>
                    <a:off x="3073994" y="4626493"/>
                    <a:ext cx="22461" cy="23410"/>
                  </a:xfrm>
                  <a:custGeom>
                    <a:avLst/>
                    <a:gdLst/>
                    <a:ahLst/>
                    <a:cxnLst/>
                    <a:rect l="l" t="t" r="r" b="b"/>
                    <a:pathLst>
                      <a:path w="429" h="440" extrusionOk="0">
                        <a:moveTo>
                          <a:pt x="214" y="5"/>
                        </a:moveTo>
                        <a:lnTo>
                          <a:pt x="236" y="12"/>
                        </a:lnTo>
                        <a:lnTo>
                          <a:pt x="257" y="20"/>
                        </a:lnTo>
                        <a:lnTo>
                          <a:pt x="278" y="30"/>
                        </a:lnTo>
                        <a:lnTo>
                          <a:pt x="297" y="42"/>
                        </a:lnTo>
                        <a:lnTo>
                          <a:pt x="316" y="55"/>
                        </a:lnTo>
                        <a:lnTo>
                          <a:pt x="333" y="70"/>
                        </a:lnTo>
                        <a:lnTo>
                          <a:pt x="350" y="86"/>
                        </a:lnTo>
                        <a:lnTo>
                          <a:pt x="365" y="103"/>
                        </a:lnTo>
                        <a:lnTo>
                          <a:pt x="379" y="122"/>
                        </a:lnTo>
                        <a:lnTo>
                          <a:pt x="392" y="141"/>
                        </a:lnTo>
                        <a:lnTo>
                          <a:pt x="402" y="162"/>
                        </a:lnTo>
                        <a:lnTo>
                          <a:pt x="411" y="182"/>
                        </a:lnTo>
                        <a:lnTo>
                          <a:pt x="419" y="204"/>
                        </a:lnTo>
                        <a:lnTo>
                          <a:pt x="424" y="225"/>
                        </a:lnTo>
                        <a:lnTo>
                          <a:pt x="427" y="247"/>
                        </a:lnTo>
                        <a:lnTo>
                          <a:pt x="429" y="269"/>
                        </a:lnTo>
                        <a:lnTo>
                          <a:pt x="427" y="280"/>
                        </a:lnTo>
                        <a:lnTo>
                          <a:pt x="427" y="291"/>
                        </a:lnTo>
                        <a:lnTo>
                          <a:pt x="425" y="301"/>
                        </a:lnTo>
                        <a:lnTo>
                          <a:pt x="424" y="311"/>
                        </a:lnTo>
                        <a:lnTo>
                          <a:pt x="421" y="321"/>
                        </a:lnTo>
                        <a:lnTo>
                          <a:pt x="419" y="331"/>
                        </a:lnTo>
                        <a:lnTo>
                          <a:pt x="415" y="340"/>
                        </a:lnTo>
                        <a:lnTo>
                          <a:pt x="411" y="349"/>
                        </a:lnTo>
                        <a:lnTo>
                          <a:pt x="402" y="365"/>
                        </a:lnTo>
                        <a:lnTo>
                          <a:pt x="392" y="381"/>
                        </a:lnTo>
                        <a:lnTo>
                          <a:pt x="379" y="394"/>
                        </a:lnTo>
                        <a:lnTo>
                          <a:pt x="365" y="406"/>
                        </a:lnTo>
                        <a:lnTo>
                          <a:pt x="350" y="416"/>
                        </a:lnTo>
                        <a:lnTo>
                          <a:pt x="333" y="425"/>
                        </a:lnTo>
                        <a:lnTo>
                          <a:pt x="316" y="432"/>
                        </a:lnTo>
                        <a:lnTo>
                          <a:pt x="297" y="436"/>
                        </a:lnTo>
                        <a:lnTo>
                          <a:pt x="278" y="440"/>
                        </a:lnTo>
                        <a:lnTo>
                          <a:pt x="257" y="440"/>
                        </a:lnTo>
                        <a:lnTo>
                          <a:pt x="236" y="439"/>
                        </a:lnTo>
                        <a:lnTo>
                          <a:pt x="214" y="434"/>
                        </a:lnTo>
                        <a:lnTo>
                          <a:pt x="192" y="429"/>
                        </a:lnTo>
                        <a:lnTo>
                          <a:pt x="170" y="420"/>
                        </a:lnTo>
                        <a:lnTo>
                          <a:pt x="151" y="410"/>
                        </a:lnTo>
                        <a:lnTo>
                          <a:pt x="131" y="399"/>
                        </a:lnTo>
                        <a:lnTo>
                          <a:pt x="112" y="385"/>
                        </a:lnTo>
                        <a:lnTo>
                          <a:pt x="94" y="370"/>
                        </a:lnTo>
                        <a:lnTo>
                          <a:pt x="77" y="354"/>
                        </a:lnTo>
                        <a:lnTo>
                          <a:pt x="62" y="337"/>
                        </a:lnTo>
                        <a:lnTo>
                          <a:pt x="49" y="318"/>
                        </a:lnTo>
                        <a:lnTo>
                          <a:pt x="36" y="299"/>
                        </a:lnTo>
                        <a:lnTo>
                          <a:pt x="25" y="279"/>
                        </a:lnTo>
                        <a:lnTo>
                          <a:pt x="16" y="258"/>
                        </a:lnTo>
                        <a:lnTo>
                          <a:pt x="10" y="237"/>
                        </a:lnTo>
                        <a:lnTo>
                          <a:pt x="4" y="215"/>
                        </a:lnTo>
                        <a:lnTo>
                          <a:pt x="1" y="193"/>
                        </a:lnTo>
                        <a:lnTo>
                          <a:pt x="0" y="170"/>
                        </a:lnTo>
                        <a:lnTo>
                          <a:pt x="0" y="159"/>
                        </a:lnTo>
                        <a:lnTo>
                          <a:pt x="1" y="149"/>
                        </a:lnTo>
                        <a:lnTo>
                          <a:pt x="2" y="138"/>
                        </a:lnTo>
                        <a:lnTo>
                          <a:pt x="4" y="128"/>
                        </a:lnTo>
                        <a:lnTo>
                          <a:pt x="7" y="118"/>
                        </a:lnTo>
                        <a:lnTo>
                          <a:pt x="10" y="109"/>
                        </a:lnTo>
                        <a:lnTo>
                          <a:pt x="13" y="101"/>
                        </a:lnTo>
                        <a:lnTo>
                          <a:pt x="16" y="92"/>
                        </a:lnTo>
                        <a:lnTo>
                          <a:pt x="25" y="75"/>
                        </a:lnTo>
                        <a:lnTo>
                          <a:pt x="36" y="60"/>
                        </a:lnTo>
                        <a:lnTo>
                          <a:pt x="49" y="46"/>
                        </a:lnTo>
                        <a:lnTo>
                          <a:pt x="62" y="34"/>
                        </a:lnTo>
                        <a:lnTo>
                          <a:pt x="77" y="23"/>
                        </a:lnTo>
                        <a:lnTo>
                          <a:pt x="94" y="15"/>
                        </a:lnTo>
                        <a:lnTo>
                          <a:pt x="112" y="9"/>
                        </a:lnTo>
                        <a:lnTo>
                          <a:pt x="131" y="3"/>
                        </a:lnTo>
                        <a:lnTo>
                          <a:pt x="151" y="1"/>
                        </a:lnTo>
                        <a:lnTo>
                          <a:pt x="170" y="0"/>
                        </a:lnTo>
                        <a:lnTo>
                          <a:pt x="192" y="2"/>
                        </a:lnTo>
                        <a:lnTo>
                          <a:pt x="214" y="5"/>
                        </a:lnTo>
                        <a:close/>
                      </a:path>
                    </a:pathLst>
                  </a:custGeom>
                  <a:solidFill>
                    <a:srgbClr val="B3B3B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27" name="Google Shape;327;p6"/>
                  <p:cNvSpPr/>
                  <p:nvPr/>
                </p:nvSpPr>
                <p:spPr>
                  <a:xfrm>
                    <a:off x="3078106" y="4630922"/>
                    <a:ext cx="14236" cy="14552"/>
                  </a:xfrm>
                  <a:custGeom>
                    <a:avLst/>
                    <a:gdLst/>
                    <a:ahLst/>
                    <a:cxnLst/>
                    <a:rect l="l" t="t" r="r" b="b"/>
                    <a:pathLst>
                      <a:path w="271" h="278" extrusionOk="0">
                        <a:moveTo>
                          <a:pt x="135" y="3"/>
                        </a:moveTo>
                        <a:lnTo>
                          <a:pt x="149" y="7"/>
                        </a:lnTo>
                        <a:lnTo>
                          <a:pt x="162" y="12"/>
                        </a:lnTo>
                        <a:lnTo>
                          <a:pt x="176" y="18"/>
                        </a:lnTo>
                        <a:lnTo>
                          <a:pt x="188" y="26"/>
                        </a:lnTo>
                        <a:lnTo>
                          <a:pt x="200" y="34"/>
                        </a:lnTo>
                        <a:lnTo>
                          <a:pt x="211" y="44"/>
                        </a:lnTo>
                        <a:lnTo>
                          <a:pt x="221" y="54"/>
                        </a:lnTo>
                        <a:lnTo>
                          <a:pt x="231" y="65"/>
                        </a:lnTo>
                        <a:lnTo>
                          <a:pt x="240" y="76"/>
                        </a:lnTo>
                        <a:lnTo>
                          <a:pt x="248" y="89"/>
                        </a:lnTo>
                        <a:lnTo>
                          <a:pt x="254" y="102"/>
                        </a:lnTo>
                        <a:lnTo>
                          <a:pt x="260" y="115"/>
                        </a:lnTo>
                        <a:lnTo>
                          <a:pt x="264" y="128"/>
                        </a:lnTo>
                        <a:lnTo>
                          <a:pt x="268" y="143"/>
                        </a:lnTo>
                        <a:lnTo>
                          <a:pt x="270" y="156"/>
                        </a:lnTo>
                        <a:lnTo>
                          <a:pt x="271" y="170"/>
                        </a:lnTo>
                        <a:lnTo>
                          <a:pt x="270" y="184"/>
                        </a:lnTo>
                        <a:lnTo>
                          <a:pt x="268" y="197"/>
                        </a:lnTo>
                        <a:lnTo>
                          <a:pt x="264" y="209"/>
                        </a:lnTo>
                        <a:lnTo>
                          <a:pt x="260" y="220"/>
                        </a:lnTo>
                        <a:lnTo>
                          <a:pt x="254" y="231"/>
                        </a:lnTo>
                        <a:lnTo>
                          <a:pt x="248" y="241"/>
                        </a:lnTo>
                        <a:lnTo>
                          <a:pt x="240" y="249"/>
                        </a:lnTo>
                        <a:lnTo>
                          <a:pt x="231" y="257"/>
                        </a:lnTo>
                        <a:lnTo>
                          <a:pt x="221" y="263"/>
                        </a:lnTo>
                        <a:lnTo>
                          <a:pt x="211" y="269"/>
                        </a:lnTo>
                        <a:lnTo>
                          <a:pt x="200" y="273"/>
                        </a:lnTo>
                        <a:lnTo>
                          <a:pt x="188" y="277"/>
                        </a:lnTo>
                        <a:lnTo>
                          <a:pt x="176" y="278"/>
                        </a:lnTo>
                        <a:lnTo>
                          <a:pt x="162" y="278"/>
                        </a:lnTo>
                        <a:lnTo>
                          <a:pt x="149" y="277"/>
                        </a:lnTo>
                        <a:lnTo>
                          <a:pt x="135" y="275"/>
                        </a:lnTo>
                        <a:lnTo>
                          <a:pt x="121" y="271"/>
                        </a:lnTo>
                        <a:lnTo>
                          <a:pt x="107" y="266"/>
                        </a:lnTo>
                        <a:lnTo>
                          <a:pt x="95" y="259"/>
                        </a:lnTo>
                        <a:lnTo>
                          <a:pt x="83" y="252"/>
                        </a:lnTo>
                        <a:lnTo>
                          <a:pt x="70" y="243"/>
                        </a:lnTo>
                        <a:lnTo>
                          <a:pt x="59" y="235"/>
                        </a:lnTo>
                        <a:lnTo>
                          <a:pt x="48" y="224"/>
                        </a:lnTo>
                        <a:lnTo>
                          <a:pt x="39" y="212"/>
                        </a:lnTo>
                        <a:lnTo>
                          <a:pt x="31" y="201"/>
                        </a:lnTo>
                        <a:lnTo>
                          <a:pt x="23" y="189"/>
                        </a:lnTo>
                        <a:lnTo>
                          <a:pt x="15" y="176"/>
                        </a:lnTo>
                        <a:lnTo>
                          <a:pt x="9" y="164"/>
                        </a:lnTo>
                        <a:lnTo>
                          <a:pt x="5" y="149"/>
                        </a:lnTo>
                        <a:lnTo>
                          <a:pt x="2" y="136"/>
                        </a:lnTo>
                        <a:lnTo>
                          <a:pt x="0" y="122"/>
                        </a:lnTo>
                        <a:lnTo>
                          <a:pt x="0" y="108"/>
                        </a:lnTo>
                        <a:lnTo>
                          <a:pt x="0" y="94"/>
                        </a:lnTo>
                        <a:lnTo>
                          <a:pt x="2" y="81"/>
                        </a:lnTo>
                        <a:lnTo>
                          <a:pt x="5" y="68"/>
                        </a:lnTo>
                        <a:lnTo>
                          <a:pt x="9" y="57"/>
                        </a:lnTo>
                        <a:lnTo>
                          <a:pt x="15" y="47"/>
                        </a:lnTo>
                        <a:lnTo>
                          <a:pt x="23" y="37"/>
                        </a:lnTo>
                        <a:lnTo>
                          <a:pt x="31" y="28"/>
                        </a:lnTo>
                        <a:lnTo>
                          <a:pt x="39" y="21"/>
                        </a:lnTo>
                        <a:lnTo>
                          <a:pt x="48" y="14"/>
                        </a:lnTo>
                        <a:lnTo>
                          <a:pt x="59" y="9"/>
                        </a:lnTo>
                        <a:lnTo>
                          <a:pt x="70" y="5"/>
                        </a:lnTo>
                        <a:lnTo>
                          <a:pt x="83" y="2"/>
                        </a:lnTo>
                        <a:lnTo>
                          <a:pt x="95" y="0"/>
                        </a:lnTo>
                        <a:lnTo>
                          <a:pt x="107" y="0"/>
                        </a:lnTo>
                        <a:lnTo>
                          <a:pt x="121" y="1"/>
                        </a:lnTo>
                        <a:lnTo>
                          <a:pt x="135" y="3"/>
                        </a:lnTo>
                        <a:close/>
                      </a:path>
                    </a:pathLst>
                  </a:custGeom>
                  <a:gradFill>
                    <a:gsLst>
                      <a:gs pos="0">
                        <a:srgbClr val="006994"/>
                      </a:gs>
                      <a:gs pos="50000">
                        <a:srgbClr val="009AD7"/>
                      </a:gs>
                      <a:gs pos="100000">
                        <a:srgbClr val="00B8F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grpSp>
            <p:grpSp>
              <p:nvGrpSpPr>
                <p:cNvPr id="328" name="Google Shape;328;p6"/>
                <p:cNvGrpSpPr/>
                <p:nvPr/>
              </p:nvGrpSpPr>
              <p:grpSpPr>
                <a:xfrm>
                  <a:off x="2939898" y="4690008"/>
                  <a:ext cx="145198" cy="153849"/>
                  <a:chOff x="5967413" y="-3362325"/>
                  <a:chExt cx="1133478" cy="1454150"/>
                </a:xfrm>
              </p:grpSpPr>
              <p:sp>
                <p:nvSpPr>
                  <p:cNvPr id="329" name="Google Shape;329;p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30" name="Google Shape;330;p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31" name="Google Shape;331;p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32" name="Google Shape;332;p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33" name="Google Shape;333;p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34" name="Google Shape;334;p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35" name="Google Shape;335;p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36" name="Google Shape;336;p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37" name="Google Shape;337;p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38" name="Google Shape;338;p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39" name="Google Shape;339;p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40" name="Google Shape;340;p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41" name="Google Shape;341;p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42" name="Google Shape;342;p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grpSp>
          </p:grpSp>
          <p:sp>
            <p:nvSpPr>
              <p:cNvPr id="343" name="Google Shape;343;p6"/>
              <p:cNvSpPr txBox="1"/>
              <p:nvPr/>
            </p:nvSpPr>
            <p:spPr>
              <a:xfrm>
                <a:off x="2866069" y="5493356"/>
                <a:ext cx="92700" cy="48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b="1">
                    <a:solidFill>
                      <a:srgbClr val="3F3F3F"/>
                    </a:solidFill>
                    <a:sym typeface="Roboto"/>
                  </a:rPr>
                  <a:t>WN</a:t>
                </a:r>
                <a:endParaRPr sz="700" b="1">
                  <a:solidFill>
                    <a:srgbClr val="3F3F3F"/>
                  </a:solidFill>
                  <a:sym typeface="Roboto"/>
                </a:endParaRPr>
              </a:p>
            </p:txBody>
          </p:sp>
        </p:grpSp>
        <p:sp>
          <p:nvSpPr>
            <p:cNvPr id="344" name="Google Shape;344;p6"/>
            <p:cNvSpPr/>
            <p:nvPr/>
          </p:nvSpPr>
          <p:spPr>
            <a:xfrm>
              <a:off x="9560048" y="1588753"/>
              <a:ext cx="167400" cy="167400"/>
            </a:xfrm>
            <a:prstGeom prst="ellipse">
              <a:avLst/>
            </a:prstGeom>
            <a:solidFill>
              <a:srgbClr val="FF7C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345" name="Google Shape;345;p6"/>
            <p:cNvSpPr/>
            <p:nvPr/>
          </p:nvSpPr>
          <p:spPr>
            <a:xfrm>
              <a:off x="9315607" y="1171075"/>
              <a:ext cx="169200" cy="1692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346" name="Google Shape;346;p6"/>
            <p:cNvSpPr/>
            <p:nvPr/>
          </p:nvSpPr>
          <p:spPr>
            <a:xfrm>
              <a:off x="9315607" y="1437860"/>
              <a:ext cx="169200" cy="169200"/>
            </a:xfrm>
            <a:prstGeom prst="ellipse">
              <a:avLst/>
            </a:prstGeom>
            <a:solidFill>
              <a:srgbClr val="74CA2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347" name="Google Shape;347;p6"/>
            <p:cNvSpPr/>
            <p:nvPr/>
          </p:nvSpPr>
          <p:spPr>
            <a:xfrm>
              <a:off x="9551715" y="1888584"/>
              <a:ext cx="169200" cy="169200"/>
            </a:xfrm>
            <a:prstGeom prst="ellipse">
              <a:avLst/>
            </a:prstGeom>
            <a:solidFill>
              <a:srgbClr val="FF66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348" name="Google Shape;348;p6"/>
            <p:cNvSpPr/>
            <p:nvPr/>
          </p:nvSpPr>
          <p:spPr>
            <a:xfrm>
              <a:off x="9315607" y="2039393"/>
              <a:ext cx="169200" cy="169200"/>
            </a:xfrm>
            <a:prstGeom prst="ellipse">
              <a:avLst/>
            </a:prstGeom>
            <a:solidFill>
              <a:srgbClr val="119D9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349" name="Google Shape;349;p6"/>
            <p:cNvSpPr/>
            <p:nvPr/>
          </p:nvSpPr>
          <p:spPr>
            <a:xfrm>
              <a:off x="9315607" y="2302431"/>
              <a:ext cx="169200" cy="169200"/>
            </a:xfrm>
            <a:prstGeom prst="ellipse">
              <a:avLst/>
            </a:prstGeom>
            <a:solidFill>
              <a:srgbClr val="BA08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350" name="Google Shape;350;p6"/>
            <p:cNvSpPr/>
            <p:nvPr/>
          </p:nvSpPr>
          <p:spPr>
            <a:xfrm>
              <a:off x="9324359" y="1735501"/>
              <a:ext cx="153000" cy="153000"/>
            </a:xfrm>
            <a:prstGeom prst="ellipse">
              <a:avLst/>
            </a:prstGeom>
            <a:solidFill>
              <a:srgbClr val="F16D19"/>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700" b="1" dirty="0">
                  <a:solidFill>
                    <a:schemeClr val="lt1"/>
                  </a:solidFill>
                  <a:sym typeface="Roboto"/>
                </a:rPr>
                <a:t>T1</a:t>
              </a:r>
              <a:endParaRPr sz="1250" dirty="0">
                <a:solidFill>
                  <a:schemeClr val="dk1"/>
                </a:solidFill>
                <a:sym typeface="Roboto"/>
              </a:endParaRPr>
            </a:p>
          </p:txBody>
        </p:sp>
        <p:cxnSp>
          <p:nvCxnSpPr>
            <p:cNvPr id="351" name="Google Shape;351;p6"/>
            <p:cNvCxnSpPr>
              <a:stCxn id="345" idx="4"/>
              <a:endCxn id="346" idx="0"/>
            </p:cNvCxnSpPr>
            <p:nvPr/>
          </p:nvCxnSpPr>
          <p:spPr>
            <a:xfrm>
              <a:off x="9400207" y="1340275"/>
              <a:ext cx="0" cy="97500"/>
            </a:xfrm>
            <a:prstGeom prst="straightConnector1">
              <a:avLst/>
            </a:prstGeom>
            <a:noFill/>
            <a:ln w="9525" cap="flat" cmpd="sng">
              <a:solidFill>
                <a:srgbClr val="3F3F3F"/>
              </a:solidFill>
              <a:prstDash val="solid"/>
              <a:round/>
              <a:headEnd type="none" w="sm" len="sm"/>
              <a:tailEnd type="triangle" w="sm" len="sm"/>
            </a:ln>
          </p:spPr>
        </p:cxnSp>
        <p:cxnSp>
          <p:nvCxnSpPr>
            <p:cNvPr id="352" name="Google Shape;352;p6"/>
            <p:cNvCxnSpPr>
              <a:stCxn id="346" idx="6"/>
              <a:endCxn id="344" idx="1"/>
            </p:cNvCxnSpPr>
            <p:nvPr/>
          </p:nvCxnSpPr>
          <p:spPr>
            <a:xfrm>
              <a:off x="9484807" y="1522460"/>
              <a:ext cx="99900" cy="90900"/>
            </a:xfrm>
            <a:prstGeom prst="straightConnector1">
              <a:avLst/>
            </a:prstGeom>
            <a:noFill/>
            <a:ln w="9525" cap="flat" cmpd="sng">
              <a:solidFill>
                <a:srgbClr val="3F3F3F"/>
              </a:solidFill>
              <a:prstDash val="solid"/>
              <a:round/>
              <a:headEnd type="none" w="sm" len="sm"/>
              <a:tailEnd type="triangle" w="sm" len="sm"/>
            </a:ln>
          </p:spPr>
        </p:cxnSp>
        <p:cxnSp>
          <p:nvCxnSpPr>
            <p:cNvPr id="353" name="Google Shape;353;p6"/>
            <p:cNvCxnSpPr>
              <a:stCxn id="344" idx="3"/>
            </p:cNvCxnSpPr>
            <p:nvPr/>
          </p:nvCxnSpPr>
          <p:spPr>
            <a:xfrm flipH="1">
              <a:off x="9492763" y="1731638"/>
              <a:ext cx="91800" cy="80400"/>
            </a:xfrm>
            <a:prstGeom prst="straightConnector1">
              <a:avLst/>
            </a:prstGeom>
            <a:noFill/>
            <a:ln w="9525" cap="flat" cmpd="sng">
              <a:solidFill>
                <a:srgbClr val="3F3F3F"/>
              </a:solidFill>
              <a:prstDash val="solid"/>
              <a:round/>
              <a:headEnd type="none" w="sm" len="sm"/>
              <a:tailEnd type="triangle" w="sm" len="sm"/>
            </a:ln>
          </p:spPr>
        </p:cxnSp>
        <p:cxnSp>
          <p:nvCxnSpPr>
            <p:cNvPr id="354" name="Google Shape;354;p6"/>
            <p:cNvCxnSpPr>
              <a:stCxn id="347" idx="3"/>
              <a:endCxn id="348" idx="6"/>
            </p:cNvCxnSpPr>
            <p:nvPr/>
          </p:nvCxnSpPr>
          <p:spPr>
            <a:xfrm flipH="1">
              <a:off x="9484694" y="2033005"/>
              <a:ext cx="91800" cy="90900"/>
            </a:xfrm>
            <a:prstGeom prst="straightConnector1">
              <a:avLst/>
            </a:prstGeom>
            <a:noFill/>
            <a:ln w="9525" cap="flat" cmpd="sng">
              <a:solidFill>
                <a:srgbClr val="3F3F3F"/>
              </a:solidFill>
              <a:prstDash val="solid"/>
              <a:round/>
              <a:headEnd type="none" w="sm" len="sm"/>
              <a:tailEnd type="triangle" w="sm" len="sm"/>
            </a:ln>
          </p:spPr>
        </p:cxnSp>
        <p:cxnSp>
          <p:nvCxnSpPr>
            <p:cNvPr id="355" name="Google Shape;355;p6"/>
            <p:cNvCxnSpPr>
              <a:endCxn id="347" idx="2"/>
            </p:cNvCxnSpPr>
            <p:nvPr/>
          </p:nvCxnSpPr>
          <p:spPr>
            <a:xfrm>
              <a:off x="9465615" y="1877484"/>
              <a:ext cx="86100" cy="95700"/>
            </a:xfrm>
            <a:prstGeom prst="straightConnector1">
              <a:avLst/>
            </a:prstGeom>
            <a:noFill/>
            <a:ln w="9525" cap="flat" cmpd="sng">
              <a:solidFill>
                <a:srgbClr val="3F3F3F"/>
              </a:solidFill>
              <a:prstDash val="solid"/>
              <a:round/>
              <a:headEnd type="none" w="sm" len="sm"/>
              <a:tailEnd type="triangle" w="sm" len="sm"/>
            </a:ln>
          </p:spPr>
        </p:cxnSp>
        <p:cxnSp>
          <p:nvCxnSpPr>
            <p:cNvPr id="356" name="Google Shape;356;p6"/>
            <p:cNvCxnSpPr>
              <a:stCxn id="348" idx="4"/>
              <a:endCxn id="349" idx="0"/>
            </p:cNvCxnSpPr>
            <p:nvPr/>
          </p:nvCxnSpPr>
          <p:spPr>
            <a:xfrm>
              <a:off x="9400207" y="2208593"/>
              <a:ext cx="0" cy="93900"/>
            </a:xfrm>
            <a:prstGeom prst="straightConnector1">
              <a:avLst/>
            </a:prstGeom>
            <a:noFill/>
            <a:ln w="9525" cap="flat" cmpd="sng">
              <a:solidFill>
                <a:srgbClr val="3F3F3F"/>
              </a:solidFill>
              <a:prstDash val="solid"/>
              <a:round/>
              <a:headEnd type="none" w="sm" len="sm"/>
              <a:tailEnd type="triangle" w="sm" len="sm"/>
            </a:ln>
          </p:spPr>
        </p:cxnSp>
        <p:grpSp>
          <p:nvGrpSpPr>
            <p:cNvPr id="357" name="Google Shape;357;p6"/>
            <p:cNvGrpSpPr/>
            <p:nvPr/>
          </p:nvGrpSpPr>
          <p:grpSpPr>
            <a:xfrm>
              <a:off x="7635314" y="1529036"/>
              <a:ext cx="292608" cy="292608"/>
              <a:chOff x="2628544" y="4570783"/>
              <a:chExt cx="228600" cy="228600"/>
            </a:xfrm>
          </p:grpSpPr>
          <p:sp>
            <p:nvSpPr>
              <p:cNvPr id="358" name="Google Shape;358;p6"/>
              <p:cNvSpPr/>
              <p:nvPr/>
            </p:nvSpPr>
            <p:spPr>
              <a:xfrm>
                <a:off x="2628544" y="4570783"/>
                <a:ext cx="228600" cy="228600"/>
              </a:xfrm>
              <a:prstGeom prst="ellipse">
                <a:avLst/>
              </a:prstGeom>
              <a:noFill/>
              <a:ln w="9525" cap="flat" cmpd="sng">
                <a:solidFill>
                  <a:srgbClr val="A5A5A5"/>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endParaRPr sz="700" b="1">
                  <a:solidFill>
                    <a:schemeClr val="lt1"/>
                  </a:solidFill>
                  <a:sym typeface="Roboto"/>
                </a:endParaRPr>
              </a:p>
            </p:txBody>
          </p:sp>
          <p:sp>
            <p:nvSpPr>
              <p:cNvPr id="359" name="Google Shape;359;p6"/>
              <p:cNvSpPr/>
              <p:nvPr/>
            </p:nvSpPr>
            <p:spPr>
              <a:xfrm>
                <a:off x="2649298" y="4590621"/>
                <a:ext cx="189000" cy="189000"/>
              </a:xfrm>
              <a:prstGeom prst="ellipse">
                <a:avLst/>
              </a:prstGeom>
              <a:solidFill>
                <a:srgbClr val="F16D19"/>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700" b="1" dirty="0">
                    <a:solidFill>
                      <a:schemeClr val="lt1"/>
                    </a:solidFill>
                    <a:sym typeface="Roboto"/>
                  </a:rPr>
                  <a:t>J1</a:t>
                </a:r>
                <a:endParaRPr sz="1250" dirty="0">
                  <a:solidFill>
                    <a:schemeClr val="dk1"/>
                  </a:solidFill>
                  <a:sym typeface="Roboto"/>
                </a:endParaRPr>
              </a:p>
            </p:txBody>
          </p:sp>
        </p:grpSp>
        <p:sp>
          <p:nvSpPr>
            <p:cNvPr id="360" name="Google Shape;360;p6"/>
            <p:cNvSpPr txBox="1"/>
            <p:nvPr/>
          </p:nvSpPr>
          <p:spPr>
            <a:xfrm>
              <a:off x="8099972" y="1213176"/>
              <a:ext cx="624300" cy="246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b="1">
                  <a:solidFill>
                    <a:srgbClr val="3F3F3F"/>
                  </a:solidFill>
                  <a:sym typeface="Roboto"/>
                </a:rPr>
                <a:t>Pegasus Lite </a:t>
              </a:r>
              <a:endParaRPr sz="1250">
                <a:solidFill>
                  <a:schemeClr val="dk1"/>
                </a:solidFill>
                <a:sym typeface="Roboto"/>
              </a:endParaRPr>
            </a:p>
            <a:p>
              <a:pPr marL="0" marR="0" lvl="0" indent="0" algn="l" rtl="0">
                <a:spcBef>
                  <a:spcPts val="0"/>
                </a:spcBef>
                <a:spcAft>
                  <a:spcPts val="0"/>
                </a:spcAft>
                <a:buNone/>
              </a:pPr>
              <a:r>
                <a:rPr lang="en-US" sz="700" b="1">
                  <a:solidFill>
                    <a:srgbClr val="3F3F3F"/>
                  </a:solidFill>
                  <a:sym typeface="Roboto"/>
                </a:rPr>
                <a:t>Instance</a:t>
              </a:r>
              <a:endParaRPr sz="700" b="1">
                <a:solidFill>
                  <a:srgbClr val="3F3F3F"/>
                </a:solidFill>
                <a:sym typeface="Roboto"/>
              </a:endParaRPr>
            </a:p>
          </p:txBody>
        </p:sp>
        <p:sp>
          <p:nvSpPr>
            <p:cNvPr id="361" name="Google Shape;361;p6"/>
            <p:cNvSpPr txBox="1"/>
            <p:nvPr/>
          </p:nvSpPr>
          <p:spPr>
            <a:xfrm>
              <a:off x="11127749" y="1400929"/>
              <a:ext cx="856800" cy="250800"/>
            </a:xfrm>
            <a:prstGeom prst="rect">
              <a:avLst/>
            </a:prstGeom>
            <a:solidFill>
              <a:srgbClr val="BBD6EE"/>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800" b="1">
                  <a:solidFill>
                    <a:srgbClr val="3F3F3F"/>
                  </a:solidFill>
                  <a:sym typeface="Roboto"/>
                </a:rPr>
                <a:t>F.in</a:t>
              </a:r>
              <a:endParaRPr sz="800" b="1">
                <a:solidFill>
                  <a:srgbClr val="3F3F3F"/>
                </a:solidFill>
                <a:sym typeface="Roboto"/>
              </a:endParaRPr>
            </a:p>
          </p:txBody>
        </p:sp>
        <p:sp>
          <p:nvSpPr>
            <p:cNvPr id="362" name="Google Shape;362;p6"/>
            <p:cNvSpPr txBox="1"/>
            <p:nvPr/>
          </p:nvSpPr>
          <p:spPr>
            <a:xfrm>
              <a:off x="11127749" y="3199199"/>
              <a:ext cx="856800" cy="250800"/>
            </a:xfrm>
            <a:prstGeom prst="rect">
              <a:avLst/>
            </a:prstGeom>
            <a:solidFill>
              <a:srgbClr val="BBD6EE"/>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800" b="1">
                  <a:solidFill>
                    <a:srgbClr val="3F3F3F"/>
                  </a:solidFill>
                  <a:sym typeface="Roboto"/>
                </a:rPr>
                <a:t>F.int</a:t>
              </a:r>
              <a:endParaRPr sz="800" b="1">
                <a:solidFill>
                  <a:srgbClr val="3F3F3F"/>
                </a:solidFill>
                <a:sym typeface="Roboto"/>
              </a:endParaRPr>
            </a:p>
          </p:txBody>
        </p:sp>
        <p:sp>
          <p:nvSpPr>
            <p:cNvPr id="363" name="Google Shape;363;p6"/>
            <p:cNvSpPr txBox="1"/>
            <p:nvPr/>
          </p:nvSpPr>
          <p:spPr>
            <a:xfrm>
              <a:off x="11127749" y="4003831"/>
              <a:ext cx="856800" cy="250800"/>
            </a:xfrm>
            <a:prstGeom prst="rect">
              <a:avLst/>
            </a:prstGeom>
            <a:solidFill>
              <a:srgbClr val="BBD6EE"/>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800" b="1">
                  <a:solidFill>
                    <a:srgbClr val="3F3F3F"/>
                  </a:solidFill>
                  <a:sym typeface="Roboto"/>
                </a:rPr>
                <a:t>F.out</a:t>
              </a:r>
              <a:endParaRPr sz="800" b="1">
                <a:solidFill>
                  <a:srgbClr val="3F3F3F"/>
                </a:solidFill>
                <a:sym typeface="Roboto"/>
              </a:endParaRPr>
            </a:p>
          </p:txBody>
        </p:sp>
        <p:sp>
          <p:nvSpPr>
            <p:cNvPr id="364" name="Google Shape;364;p6"/>
            <p:cNvSpPr/>
            <p:nvPr/>
          </p:nvSpPr>
          <p:spPr>
            <a:xfrm>
              <a:off x="11127749" y="1154469"/>
              <a:ext cx="856800" cy="250800"/>
            </a:xfrm>
            <a:prstGeom prst="round2SameRect">
              <a:avLst>
                <a:gd name="adj1" fmla="val 16667"/>
                <a:gd name="adj2" fmla="val 0"/>
              </a:avLst>
            </a:prstGeom>
            <a:solidFill>
              <a:srgbClr val="F2F2F2"/>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700" b="1">
                  <a:solidFill>
                    <a:srgbClr val="3F3F3F"/>
                  </a:solidFill>
                  <a:sym typeface="Roboto"/>
                </a:rPr>
                <a:t>Input Data Site</a:t>
              </a:r>
              <a:endParaRPr sz="700" b="1">
                <a:solidFill>
                  <a:srgbClr val="3F3F3F"/>
                </a:solidFill>
                <a:sym typeface="Roboto"/>
              </a:endParaRPr>
            </a:p>
          </p:txBody>
        </p:sp>
        <p:sp>
          <p:nvSpPr>
            <p:cNvPr id="365" name="Google Shape;365;p6"/>
            <p:cNvSpPr/>
            <p:nvPr/>
          </p:nvSpPr>
          <p:spPr>
            <a:xfrm>
              <a:off x="11127749" y="2952737"/>
              <a:ext cx="856800" cy="250800"/>
            </a:xfrm>
            <a:prstGeom prst="round2SameRect">
              <a:avLst>
                <a:gd name="adj1" fmla="val 16667"/>
                <a:gd name="adj2" fmla="val 0"/>
              </a:avLst>
            </a:prstGeom>
            <a:solidFill>
              <a:srgbClr val="F2F2F2"/>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700" b="1">
                  <a:solidFill>
                    <a:srgbClr val="3F3F3F"/>
                  </a:solidFill>
                  <a:sym typeface="Roboto"/>
                </a:rPr>
                <a:t>Staging Site</a:t>
              </a:r>
              <a:endParaRPr sz="700" b="1">
                <a:solidFill>
                  <a:srgbClr val="3F3F3F"/>
                </a:solidFill>
                <a:sym typeface="Roboto"/>
              </a:endParaRPr>
            </a:p>
          </p:txBody>
        </p:sp>
        <p:sp>
          <p:nvSpPr>
            <p:cNvPr id="366" name="Google Shape;366;p6"/>
            <p:cNvSpPr/>
            <p:nvPr/>
          </p:nvSpPr>
          <p:spPr>
            <a:xfrm>
              <a:off x="11127749" y="3757369"/>
              <a:ext cx="856800" cy="250800"/>
            </a:xfrm>
            <a:prstGeom prst="round2SameRect">
              <a:avLst>
                <a:gd name="adj1" fmla="val 16667"/>
                <a:gd name="adj2" fmla="val 0"/>
              </a:avLst>
            </a:prstGeom>
            <a:solidFill>
              <a:srgbClr val="F2F2F2"/>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700" b="1">
                  <a:solidFill>
                    <a:srgbClr val="3F3F3F"/>
                  </a:solidFill>
                  <a:sym typeface="Roboto"/>
                </a:rPr>
                <a:t>Output Data Site</a:t>
              </a:r>
              <a:endParaRPr sz="700" b="1">
                <a:solidFill>
                  <a:srgbClr val="3F3F3F"/>
                </a:solidFill>
                <a:sym typeface="Roboto"/>
              </a:endParaRPr>
            </a:p>
          </p:txBody>
        </p:sp>
        <p:cxnSp>
          <p:nvCxnSpPr>
            <p:cNvPr id="367" name="Google Shape;367;p6"/>
            <p:cNvCxnSpPr/>
            <p:nvPr/>
          </p:nvCxnSpPr>
          <p:spPr>
            <a:xfrm rot="10800000">
              <a:off x="9584673" y="1487088"/>
              <a:ext cx="1428900" cy="0"/>
            </a:xfrm>
            <a:prstGeom prst="straightConnector1">
              <a:avLst/>
            </a:prstGeom>
            <a:noFill/>
            <a:ln w="12700" cap="flat" cmpd="sng">
              <a:solidFill>
                <a:srgbClr val="3F3F3F"/>
              </a:solidFill>
              <a:prstDash val="dash"/>
              <a:round/>
              <a:headEnd type="none" w="sm" len="sm"/>
              <a:tailEnd type="triangle" w="med" len="med"/>
            </a:ln>
          </p:spPr>
        </p:cxnSp>
        <p:cxnSp>
          <p:nvCxnSpPr>
            <p:cNvPr id="368" name="Google Shape;368;p6"/>
            <p:cNvCxnSpPr/>
            <p:nvPr/>
          </p:nvCxnSpPr>
          <p:spPr>
            <a:xfrm rot="10800000" flipH="1">
              <a:off x="6724561" y="1888620"/>
              <a:ext cx="867300" cy="2112000"/>
            </a:xfrm>
            <a:prstGeom prst="straightConnector1">
              <a:avLst/>
            </a:prstGeom>
            <a:noFill/>
            <a:ln w="12700" cap="flat" cmpd="sng">
              <a:solidFill>
                <a:srgbClr val="B7B7B7"/>
              </a:solidFill>
              <a:prstDash val="lgDash"/>
              <a:round/>
              <a:headEnd type="triangle" w="med" len="med"/>
              <a:tailEnd type="triangle" w="med" len="med"/>
            </a:ln>
          </p:spPr>
        </p:cxnSp>
        <p:cxnSp>
          <p:nvCxnSpPr>
            <p:cNvPr id="369" name="Google Shape;369;p6"/>
            <p:cNvCxnSpPr/>
            <p:nvPr/>
          </p:nvCxnSpPr>
          <p:spPr>
            <a:xfrm>
              <a:off x="9551716" y="2208529"/>
              <a:ext cx="1461900" cy="967500"/>
            </a:xfrm>
            <a:prstGeom prst="straightConnector1">
              <a:avLst/>
            </a:prstGeom>
            <a:noFill/>
            <a:ln w="12700" cap="flat" cmpd="sng">
              <a:solidFill>
                <a:srgbClr val="3F3F3F"/>
              </a:solidFill>
              <a:prstDash val="dash"/>
              <a:round/>
              <a:headEnd type="none" w="sm" len="sm"/>
              <a:tailEnd type="triangle" w="med" len="med"/>
            </a:ln>
          </p:spPr>
        </p:cxnSp>
        <p:cxnSp>
          <p:nvCxnSpPr>
            <p:cNvPr id="370" name="Google Shape;370;p6"/>
            <p:cNvCxnSpPr/>
            <p:nvPr/>
          </p:nvCxnSpPr>
          <p:spPr>
            <a:xfrm flipH="1">
              <a:off x="9551849" y="3199199"/>
              <a:ext cx="1575900" cy="261000"/>
            </a:xfrm>
            <a:prstGeom prst="straightConnector1">
              <a:avLst/>
            </a:prstGeom>
            <a:noFill/>
            <a:ln w="12700" cap="flat" cmpd="sng">
              <a:solidFill>
                <a:srgbClr val="3F3F3F"/>
              </a:solidFill>
              <a:prstDash val="dash"/>
              <a:round/>
              <a:headEnd type="none" w="sm" len="sm"/>
              <a:tailEnd type="triangle" w="med" len="med"/>
            </a:ln>
          </p:spPr>
        </p:cxnSp>
        <p:cxnSp>
          <p:nvCxnSpPr>
            <p:cNvPr id="371" name="Google Shape;371;p6"/>
            <p:cNvCxnSpPr/>
            <p:nvPr/>
          </p:nvCxnSpPr>
          <p:spPr>
            <a:xfrm>
              <a:off x="9584545" y="4123869"/>
              <a:ext cx="1437000" cy="10800"/>
            </a:xfrm>
            <a:prstGeom prst="straightConnector1">
              <a:avLst/>
            </a:prstGeom>
            <a:noFill/>
            <a:ln w="12700" cap="flat" cmpd="sng">
              <a:solidFill>
                <a:srgbClr val="3F3F3F"/>
              </a:solidFill>
              <a:prstDash val="dash"/>
              <a:round/>
              <a:headEnd type="none" w="sm" len="sm"/>
              <a:tailEnd type="triangle" w="med" len="med"/>
            </a:ln>
          </p:spPr>
        </p:cxnSp>
        <p:cxnSp>
          <p:nvCxnSpPr>
            <p:cNvPr id="372" name="Google Shape;372;p6"/>
            <p:cNvCxnSpPr/>
            <p:nvPr/>
          </p:nvCxnSpPr>
          <p:spPr>
            <a:xfrm rot="10800000" flipH="1">
              <a:off x="6618424" y="3813386"/>
              <a:ext cx="970800" cy="517500"/>
            </a:xfrm>
            <a:prstGeom prst="straightConnector1">
              <a:avLst/>
            </a:prstGeom>
            <a:noFill/>
            <a:ln w="12700" cap="flat" cmpd="sng">
              <a:solidFill>
                <a:srgbClr val="B7B7B7"/>
              </a:solidFill>
              <a:prstDash val="lgDash"/>
              <a:round/>
              <a:headEnd type="triangle" w="med" len="med"/>
              <a:tailEnd type="triangle" w="med" len="med"/>
            </a:ln>
          </p:spPr>
        </p:cxnSp>
        <p:grpSp>
          <p:nvGrpSpPr>
            <p:cNvPr id="373" name="Google Shape;373;p6"/>
            <p:cNvGrpSpPr/>
            <p:nvPr/>
          </p:nvGrpSpPr>
          <p:grpSpPr>
            <a:xfrm>
              <a:off x="10753682" y="5805946"/>
              <a:ext cx="268012" cy="323387"/>
              <a:chOff x="2700756" y="5095926"/>
              <a:chExt cx="376738" cy="454578"/>
            </a:xfrm>
          </p:grpSpPr>
          <p:grpSp>
            <p:nvGrpSpPr>
              <p:cNvPr id="374" name="Google Shape;374;p6"/>
              <p:cNvGrpSpPr/>
              <p:nvPr/>
            </p:nvGrpSpPr>
            <p:grpSpPr>
              <a:xfrm>
                <a:off x="2700756" y="5095926"/>
                <a:ext cx="376738" cy="448726"/>
                <a:chOff x="2939898" y="4395131"/>
                <a:chExt cx="376738" cy="448726"/>
              </a:xfrm>
            </p:grpSpPr>
            <p:grpSp>
              <p:nvGrpSpPr>
                <p:cNvPr id="375" name="Google Shape;375;p6"/>
                <p:cNvGrpSpPr/>
                <p:nvPr/>
              </p:nvGrpSpPr>
              <p:grpSpPr>
                <a:xfrm>
                  <a:off x="3040778" y="4395131"/>
                  <a:ext cx="275858" cy="376772"/>
                  <a:chOff x="3040778" y="4395131"/>
                  <a:chExt cx="275858" cy="376772"/>
                </a:xfrm>
              </p:grpSpPr>
              <p:sp>
                <p:nvSpPr>
                  <p:cNvPr id="376" name="Google Shape;376;p6"/>
                  <p:cNvSpPr/>
                  <p:nvPr/>
                </p:nvSpPr>
                <p:spPr>
                  <a:xfrm>
                    <a:off x="3040778" y="4395131"/>
                    <a:ext cx="275858" cy="376772"/>
                  </a:xfrm>
                  <a:custGeom>
                    <a:avLst/>
                    <a:gdLst/>
                    <a:ahLst/>
                    <a:cxnLst/>
                    <a:rect l="l" t="t" r="r" b="b"/>
                    <a:pathLst>
                      <a:path w="5235" h="7147" extrusionOk="0">
                        <a:moveTo>
                          <a:pt x="3501" y="0"/>
                        </a:moveTo>
                        <a:lnTo>
                          <a:pt x="0" y="2049"/>
                        </a:lnTo>
                        <a:lnTo>
                          <a:pt x="16" y="6095"/>
                        </a:lnTo>
                        <a:lnTo>
                          <a:pt x="1785" y="7147"/>
                        </a:lnTo>
                        <a:lnTo>
                          <a:pt x="5199" y="5045"/>
                        </a:lnTo>
                        <a:lnTo>
                          <a:pt x="5235" y="981"/>
                        </a:lnTo>
                        <a:lnTo>
                          <a:pt x="3501" y="0"/>
                        </a:lnTo>
                        <a:close/>
                      </a:path>
                    </a:pathLst>
                  </a:custGeom>
                  <a:solidFill>
                    <a:srgbClr val="9999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77" name="Google Shape;377;p6"/>
                  <p:cNvSpPr/>
                  <p:nvPr/>
                </p:nvSpPr>
                <p:spPr>
                  <a:xfrm>
                    <a:off x="3134100" y="4449542"/>
                    <a:ext cx="182527" cy="322351"/>
                  </a:xfrm>
                  <a:custGeom>
                    <a:avLst/>
                    <a:gdLst/>
                    <a:ahLst/>
                    <a:cxnLst/>
                    <a:rect l="l" t="t" r="r" b="b"/>
                    <a:pathLst>
                      <a:path w="3464" h="6117" extrusionOk="0">
                        <a:moveTo>
                          <a:pt x="0" y="6107"/>
                        </a:moveTo>
                        <a:lnTo>
                          <a:pt x="15" y="6117"/>
                        </a:lnTo>
                        <a:lnTo>
                          <a:pt x="3429" y="4015"/>
                        </a:lnTo>
                        <a:lnTo>
                          <a:pt x="3464" y="0"/>
                        </a:lnTo>
                        <a:lnTo>
                          <a:pt x="15" y="2053"/>
                        </a:lnTo>
                        <a:lnTo>
                          <a:pt x="0" y="6107"/>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78" name="Google Shape;378;p6"/>
                  <p:cNvSpPr/>
                  <p:nvPr/>
                </p:nvSpPr>
                <p:spPr>
                  <a:xfrm>
                    <a:off x="3040778" y="4495729"/>
                    <a:ext cx="108821" cy="276174"/>
                  </a:xfrm>
                  <a:custGeom>
                    <a:avLst/>
                    <a:gdLst/>
                    <a:ahLst/>
                    <a:cxnLst/>
                    <a:rect l="l" t="t" r="r" b="b"/>
                    <a:pathLst>
                      <a:path w="2066" h="5241" extrusionOk="0">
                        <a:moveTo>
                          <a:pt x="244" y="0"/>
                        </a:moveTo>
                        <a:lnTo>
                          <a:pt x="0" y="143"/>
                        </a:lnTo>
                        <a:lnTo>
                          <a:pt x="16" y="4189"/>
                        </a:lnTo>
                        <a:lnTo>
                          <a:pt x="1785" y="5241"/>
                        </a:lnTo>
                        <a:lnTo>
                          <a:pt x="2066" y="5068"/>
                        </a:lnTo>
                        <a:lnTo>
                          <a:pt x="2066" y="984"/>
                        </a:lnTo>
                        <a:lnTo>
                          <a:pt x="244" y="0"/>
                        </a:lnTo>
                        <a:close/>
                      </a:path>
                    </a:pathLst>
                  </a:custGeom>
                  <a:gradFill>
                    <a:gsLst>
                      <a:gs pos="0">
                        <a:srgbClr val="F2F2F2"/>
                      </a:gs>
                      <a:gs pos="35000">
                        <a:srgbClr val="C3C3C3"/>
                      </a:gs>
                      <a:gs pos="40000">
                        <a:srgbClr val="F2F2F2"/>
                      </a:gs>
                      <a:gs pos="100000">
                        <a:srgbClr val="D8D8D8"/>
                      </a:gs>
                    </a:gsLst>
                    <a:lin ang="360000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79" name="Google Shape;379;p6"/>
                  <p:cNvSpPr/>
                  <p:nvPr/>
                </p:nvSpPr>
                <p:spPr>
                  <a:xfrm>
                    <a:off x="3040778" y="4503005"/>
                    <a:ext cx="94905" cy="268890"/>
                  </a:xfrm>
                  <a:custGeom>
                    <a:avLst/>
                    <a:gdLst/>
                    <a:ahLst/>
                    <a:cxnLst/>
                    <a:rect l="l" t="t" r="r" b="b"/>
                    <a:pathLst>
                      <a:path w="1803" h="5103" extrusionOk="0">
                        <a:moveTo>
                          <a:pt x="10" y="0"/>
                        </a:moveTo>
                        <a:lnTo>
                          <a:pt x="0" y="5"/>
                        </a:lnTo>
                        <a:lnTo>
                          <a:pt x="16" y="4051"/>
                        </a:lnTo>
                        <a:lnTo>
                          <a:pt x="1785" y="5103"/>
                        </a:lnTo>
                        <a:lnTo>
                          <a:pt x="1786" y="5102"/>
                        </a:lnTo>
                        <a:lnTo>
                          <a:pt x="1803" y="1039"/>
                        </a:lnTo>
                        <a:lnTo>
                          <a:pt x="10" y="0"/>
                        </a:lnTo>
                        <a:close/>
                      </a:path>
                    </a:pathLst>
                  </a:custGeom>
                  <a:gradFill>
                    <a:gsLst>
                      <a:gs pos="0">
                        <a:srgbClr val="7F7F7F"/>
                      </a:gs>
                      <a:gs pos="12000">
                        <a:srgbClr val="7F7F7F"/>
                      </a:gs>
                      <a:gs pos="100000">
                        <a:srgbClr val="A5A5A5"/>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80" name="Google Shape;380;p6"/>
                  <p:cNvSpPr/>
                  <p:nvPr/>
                </p:nvSpPr>
                <p:spPr>
                  <a:xfrm>
                    <a:off x="3052483" y="4534955"/>
                    <a:ext cx="68332" cy="58208"/>
                  </a:xfrm>
                  <a:custGeom>
                    <a:avLst/>
                    <a:gdLst/>
                    <a:ahLst/>
                    <a:cxnLst/>
                    <a:rect l="l" t="t" r="r" b="b"/>
                    <a:pathLst>
                      <a:path w="1296" h="1102" extrusionOk="0">
                        <a:moveTo>
                          <a:pt x="0" y="0"/>
                        </a:moveTo>
                        <a:lnTo>
                          <a:pt x="1296" y="752"/>
                        </a:lnTo>
                        <a:lnTo>
                          <a:pt x="1296" y="1102"/>
                        </a:lnTo>
                        <a:lnTo>
                          <a:pt x="0" y="351"/>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81" name="Google Shape;381;p6"/>
                  <p:cNvSpPr/>
                  <p:nvPr/>
                </p:nvSpPr>
                <p:spPr>
                  <a:xfrm>
                    <a:off x="3102782" y="4589999"/>
                    <a:ext cx="18032" cy="15501"/>
                  </a:xfrm>
                  <a:custGeom>
                    <a:avLst/>
                    <a:gdLst/>
                    <a:ahLst/>
                    <a:cxnLst/>
                    <a:rect l="l" t="t" r="r" b="b"/>
                    <a:pathLst>
                      <a:path w="346" h="294" extrusionOk="0">
                        <a:moveTo>
                          <a:pt x="0" y="0"/>
                        </a:moveTo>
                        <a:lnTo>
                          <a:pt x="346" y="201"/>
                        </a:lnTo>
                        <a:lnTo>
                          <a:pt x="346" y="294"/>
                        </a:lnTo>
                        <a:lnTo>
                          <a:pt x="0" y="93"/>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82" name="Google Shape;382;p6"/>
                  <p:cNvSpPr/>
                  <p:nvPr/>
                </p:nvSpPr>
                <p:spPr>
                  <a:xfrm>
                    <a:off x="3063238" y="4615738"/>
                    <a:ext cx="43971" cy="44921"/>
                  </a:xfrm>
                  <a:custGeom>
                    <a:avLst/>
                    <a:gdLst/>
                    <a:ahLst/>
                    <a:cxnLst/>
                    <a:rect l="l" t="t" r="r" b="b"/>
                    <a:pathLst>
                      <a:path w="832" h="853" extrusionOk="0">
                        <a:moveTo>
                          <a:pt x="416" y="10"/>
                        </a:moveTo>
                        <a:lnTo>
                          <a:pt x="438" y="15"/>
                        </a:lnTo>
                        <a:lnTo>
                          <a:pt x="459" y="22"/>
                        </a:lnTo>
                        <a:lnTo>
                          <a:pt x="479" y="30"/>
                        </a:lnTo>
                        <a:lnTo>
                          <a:pt x="500" y="37"/>
                        </a:lnTo>
                        <a:lnTo>
                          <a:pt x="520" y="47"/>
                        </a:lnTo>
                        <a:lnTo>
                          <a:pt x="540" y="57"/>
                        </a:lnTo>
                        <a:lnTo>
                          <a:pt x="559" y="68"/>
                        </a:lnTo>
                        <a:lnTo>
                          <a:pt x="577" y="79"/>
                        </a:lnTo>
                        <a:lnTo>
                          <a:pt x="596" y="93"/>
                        </a:lnTo>
                        <a:lnTo>
                          <a:pt x="614" y="106"/>
                        </a:lnTo>
                        <a:lnTo>
                          <a:pt x="632" y="119"/>
                        </a:lnTo>
                        <a:lnTo>
                          <a:pt x="648" y="135"/>
                        </a:lnTo>
                        <a:lnTo>
                          <a:pt x="665" y="149"/>
                        </a:lnTo>
                        <a:lnTo>
                          <a:pt x="680" y="166"/>
                        </a:lnTo>
                        <a:lnTo>
                          <a:pt x="696" y="182"/>
                        </a:lnTo>
                        <a:lnTo>
                          <a:pt x="710" y="199"/>
                        </a:lnTo>
                        <a:lnTo>
                          <a:pt x="724" y="217"/>
                        </a:lnTo>
                        <a:lnTo>
                          <a:pt x="737" y="235"/>
                        </a:lnTo>
                        <a:lnTo>
                          <a:pt x="749" y="253"/>
                        </a:lnTo>
                        <a:lnTo>
                          <a:pt x="760" y="272"/>
                        </a:lnTo>
                        <a:lnTo>
                          <a:pt x="771" y="292"/>
                        </a:lnTo>
                        <a:lnTo>
                          <a:pt x="781" y="311"/>
                        </a:lnTo>
                        <a:lnTo>
                          <a:pt x="791" y="332"/>
                        </a:lnTo>
                        <a:lnTo>
                          <a:pt x="799" y="352"/>
                        </a:lnTo>
                        <a:lnTo>
                          <a:pt x="807" y="373"/>
                        </a:lnTo>
                        <a:lnTo>
                          <a:pt x="813" y="393"/>
                        </a:lnTo>
                        <a:lnTo>
                          <a:pt x="819" y="414"/>
                        </a:lnTo>
                        <a:lnTo>
                          <a:pt x="823" y="435"/>
                        </a:lnTo>
                        <a:lnTo>
                          <a:pt x="827" y="457"/>
                        </a:lnTo>
                        <a:lnTo>
                          <a:pt x="830" y="478"/>
                        </a:lnTo>
                        <a:lnTo>
                          <a:pt x="831" y="499"/>
                        </a:lnTo>
                        <a:lnTo>
                          <a:pt x="832" y="522"/>
                        </a:lnTo>
                        <a:lnTo>
                          <a:pt x="831" y="543"/>
                        </a:lnTo>
                        <a:lnTo>
                          <a:pt x="830" y="564"/>
                        </a:lnTo>
                        <a:lnTo>
                          <a:pt x="827" y="584"/>
                        </a:lnTo>
                        <a:lnTo>
                          <a:pt x="823" y="604"/>
                        </a:lnTo>
                        <a:lnTo>
                          <a:pt x="819" y="622"/>
                        </a:lnTo>
                        <a:lnTo>
                          <a:pt x="813" y="641"/>
                        </a:lnTo>
                        <a:lnTo>
                          <a:pt x="807" y="659"/>
                        </a:lnTo>
                        <a:lnTo>
                          <a:pt x="799" y="676"/>
                        </a:lnTo>
                        <a:lnTo>
                          <a:pt x="791" y="692"/>
                        </a:lnTo>
                        <a:lnTo>
                          <a:pt x="781" y="708"/>
                        </a:lnTo>
                        <a:lnTo>
                          <a:pt x="771" y="723"/>
                        </a:lnTo>
                        <a:lnTo>
                          <a:pt x="760" y="738"/>
                        </a:lnTo>
                        <a:lnTo>
                          <a:pt x="749" y="751"/>
                        </a:lnTo>
                        <a:lnTo>
                          <a:pt x="737" y="764"/>
                        </a:lnTo>
                        <a:lnTo>
                          <a:pt x="724" y="777"/>
                        </a:lnTo>
                        <a:lnTo>
                          <a:pt x="710" y="788"/>
                        </a:lnTo>
                        <a:lnTo>
                          <a:pt x="696" y="798"/>
                        </a:lnTo>
                        <a:lnTo>
                          <a:pt x="680" y="808"/>
                        </a:lnTo>
                        <a:lnTo>
                          <a:pt x="665" y="816"/>
                        </a:lnTo>
                        <a:lnTo>
                          <a:pt x="648" y="824"/>
                        </a:lnTo>
                        <a:lnTo>
                          <a:pt x="632" y="831"/>
                        </a:lnTo>
                        <a:lnTo>
                          <a:pt x="614" y="837"/>
                        </a:lnTo>
                        <a:lnTo>
                          <a:pt x="596" y="842"/>
                        </a:lnTo>
                        <a:lnTo>
                          <a:pt x="577" y="846"/>
                        </a:lnTo>
                        <a:lnTo>
                          <a:pt x="559" y="850"/>
                        </a:lnTo>
                        <a:lnTo>
                          <a:pt x="540" y="852"/>
                        </a:lnTo>
                        <a:lnTo>
                          <a:pt x="520" y="853"/>
                        </a:lnTo>
                        <a:lnTo>
                          <a:pt x="500" y="853"/>
                        </a:lnTo>
                        <a:lnTo>
                          <a:pt x="479" y="852"/>
                        </a:lnTo>
                        <a:lnTo>
                          <a:pt x="459" y="850"/>
                        </a:lnTo>
                        <a:lnTo>
                          <a:pt x="438" y="846"/>
                        </a:lnTo>
                        <a:lnTo>
                          <a:pt x="416" y="842"/>
                        </a:lnTo>
                        <a:lnTo>
                          <a:pt x="395" y="836"/>
                        </a:lnTo>
                        <a:lnTo>
                          <a:pt x="374" y="830"/>
                        </a:lnTo>
                        <a:lnTo>
                          <a:pt x="353" y="823"/>
                        </a:lnTo>
                        <a:lnTo>
                          <a:pt x="333" y="814"/>
                        </a:lnTo>
                        <a:lnTo>
                          <a:pt x="312" y="805"/>
                        </a:lnTo>
                        <a:lnTo>
                          <a:pt x="293" y="795"/>
                        </a:lnTo>
                        <a:lnTo>
                          <a:pt x="273" y="784"/>
                        </a:lnTo>
                        <a:lnTo>
                          <a:pt x="254" y="772"/>
                        </a:lnTo>
                        <a:lnTo>
                          <a:pt x="235" y="760"/>
                        </a:lnTo>
                        <a:lnTo>
                          <a:pt x="217" y="747"/>
                        </a:lnTo>
                        <a:lnTo>
                          <a:pt x="201" y="732"/>
                        </a:lnTo>
                        <a:lnTo>
                          <a:pt x="183" y="718"/>
                        </a:lnTo>
                        <a:lnTo>
                          <a:pt x="168" y="702"/>
                        </a:lnTo>
                        <a:lnTo>
                          <a:pt x="151" y="687"/>
                        </a:lnTo>
                        <a:lnTo>
                          <a:pt x="137" y="670"/>
                        </a:lnTo>
                        <a:lnTo>
                          <a:pt x="122" y="652"/>
                        </a:lnTo>
                        <a:lnTo>
                          <a:pt x="108" y="635"/>
                        </a:lnTo>
                        <a:lnTo>
                          <a:pt x="96" y="617"/>
                        </a:lnTo>
                        <a:lnTo>
                          <a:pt x="82" y="598"/>
                        </a:lnTo>
                        <a:lnTo>
                          <a:pt x="71" y="579"/>
                        </a:lnTo>
                        <a:lnTo>
                          <a:pt x="60" y="560"/>
                        </a:lnTo>
                        <a:lnTo>
                          <a:pt x="50" y="540"/>
                        </a:lnTo>
                        <a:lnTo>
                          <a:pt x="41" y="521"/>
                        </a:lnTo>
                        <a:lnTo>
                          <a:pt x="32" y="499"/>
                        </a:lnTo>
                        <a:lnTo>
                          <a:pt x="26" y="479"/>
                        </a:lnTo>
                        <a:lnTo>
                          <a:pt x="19" y="458"/>
                        </a:lnTo>
                        <a:lnTo>
                          <a:pt x="14" y="437"/>
                        </a:lnTo>
                        <a:lnTo>
                          <a:pt x="8" y="416"/>
                        </a:lnTo>
                        <a:lnTo>
                          <a:pt x="5" y="395"/>
                        </a:lnTo>
                        <a:lnTo>
                          <a:pt x="2" y="373"/>
                        </a:lnTo>
                        <a:lnTo>
                          <a:pt x="0" y="352"/>
                        </a:lnTo>
                        <a:lnTo>
                          <a:pt x="0" y="331"/>
                        </a:lnTo>
                        <a:lnTo>
                          <a:pt x="0" y="309"/>
                        </a:lnTo>
                        <a:lnTo>
                          <a:pt x="2" y="289"/>
                        </a:lnTo>
                        <a:lnTo>
                          <a:pt x="5" y="268"/>
                        </a:lnTo>
                        <a:lnTo>
                          <a:pt x="8" y="249"/>
                        </a:lnTo>
                        <a:lnTo>
                          <a:pt x="14" y="230"/>
                        </a:lnTo>
                        <a:lnTo>
                          <a:pt x="19" y="211"/>
                        </a:lnTo>
                        <a:lnTo>
                          <a:pt x="26" y="194"/>
                        </a:lnTo>
                        <a:lnTo>
                          <a:pt x="32" y="176"/>
                        </a:lnTo>
                        <a:lnTo>
                          <a:pt x="41" y="159"/>
                        </a:lnTo>
                        <a:lnTo>
                          <a:pt x="50" y="144"/>
                        </a:lnTo>
                        <a:lnTo>
                          <a:pt x="60" y="128"/>
                        </a:lnTo>
                        <a:lnTo>
                          <a:pt x="71" y="114"/>
                        </a:lnTo>
                        <a:lnTo>
                          <a:pt x="82" y="100"/>
                        </a:lnTo>
                        <a:lnTo>
                          <a:pt x="96" y="87"/>
                        </a:lnTo>
                        <a:lnTo>
                          <a:pt x="108" y="76"/>
                        </a:lnTo>
                        <a:lnTo>
                          <a:pt x="122" y="64"/>
                        </a:lnTo>
                        <a:lnTo>
                          <a:pt x="137" y="54"/>
                        </a:lnTo>
                        <a:lnTo>
                          <a:pt x="151" y="44"/>
                        </a:lnTo>
                        <a:lnTo>
                          <a:pt x="168" y="35"/>
                        </a:lnTo>
                        <a:lnTo>
                          <a:pt x="183" y="27"/>
                        </a:lnTo>
                        <a:lnTo>
                          <a:pt x="201" y="21"/>
                        </a:lnTo>
                        <a:lnTo>
                          <a:pt x="217" y="15"/>
                        </a:lnTo>
                        <a:lnTo>
                          <a:pt x="235" y="10"/>
                        </a:lnTo>
                        <a:lnTo>
                          <a:pt x="254" y="5"/>
                        </a:lnTo>
                        <a:lnTo>
                          <a:pt x="273" y="2"/>
                        </a:lnTo>
                        <a:lnTo>
                          <a:pt x="293" y="1"/>
                        </a:lnTo>
                        <a:lnTo>
                          <a:pt x="312" y="0"/>
                        </a:lnTo>
                        <a:lnTo>
                          <a:pt x="333" y="0"/>
                        </a:lnTo>
                        <a:lnTo>
                          <a:pt x="353" y="1"/>
                        </a:lnTo>
                        <a:lnTo>
                          <a:pt x="374" y="2"/>
                        </a:lnTo>
                        <a:lnTo>
                          <a:pt x="395" y="5"/>
                        </a:lnTo>
                        <a:lnTo>
                          <a:pt x="416" y="10"/>
                        </a:lnTo>
                        <a:close/>
                      </a:path>
                    </a:pathLst>
                  </a:custGeom>
                  <a:solidFill>
                    <a:srgbClr val="F2F2F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83" name="Google Shape;383;p6"/>
                  <p:cNvSpPr/>
                  <p:nvPr/>
                </p:nvSpPr>
                <p:spPr>
                  <a:xfrm>
                    <a:off x="3073994" y="4626493"/>
                    <a:ext cx="22461" cy="23410"/>
                  </a:xfrm>
                  <a:custGeom>
                    <a:avLst/>
                    <a:gdLst/>
                    <a:ahLst/>
                    <a:cxnLst/>
                    <a:rect l="l" t="t" r="r" b="b"/>
                    <a:pathLst>
                      <a:path w="429" h="440" extrusionOk="0">
                        <a:moveTo>
                          <a:pt x="214" y="5"/>
                        </a:moveTo>
                        <a:lnTo>
                          <a:pt x="236" y="12"/>
                        </a:lnTo>
                        <a:lnTo>
                          <a:pt x="257" y="20"/>
                        </a:lnTo>
                        <a:lnTo>
                          <a:pt x="278" y="30"/>
                        </a:lnTo>
                        <a:lnTo>
                          <a:pt x="297" y="42"/>
                        </a:lnTo>
                        <a:lnTo>
                          <a:pt x="316" y="55"/>
                        </a:lnTo>
                        <a:lnTo>
                          <a:pt x="333" y="70"/>
                        </a:lnTo>
                        <a:lnTo>
                          <a:pt x="350" y="86"/>
                        </a:lnTo>
                        <a:lnTo>
                          <a:pt x="365" y="103"/>
                        </a:lnTo>
                        <a:lnTo>
                          <a:pt x="379" y="122"/>
                        </a:lnTo>
                        <a:lnTo>
                          <a:pt x="392" y="141"/>
                        </a:lnTo>
                        <a:lnTo>
                          <a:pt x="402" y="162"/>
                        </a:lnTo>
                        <a:lnTo>
                          <a:pt x="411" y="182"/>
                        </a:lnTo>
                        <a:lnTo>
                          <a:pt x="419" y="204"/>
                        </a:lnTo>
                        <a:lnTo>
                          <a:pt x="424" y="225"/>
                        </a:lnTo>
                        <a:lnTo>
                          <a:pt x="427" y="247"/>
                        </a:lnTo>
                        <a:lnTo>
                          <a:pt x="429" y="269"/>
                        </a:lnTo>
                        <a:lnTo>
                          <a:pt x="427" y="280"/>
                        </a:lnTo>
                        <a:lnTo>
                          <a:pt x="427" y="291"/>
                        </a:lnTo>
                        <a:lnTo>
                          <a:pt x="425" y="301"/>
                        </a:lnTo>
                        <a:lnTo>
                          <a:pt x="424" y="311"/>
                        </a:lnTo>
                        <a:lnTo>
                          <a:pt x="421" y="321"/>
                        </a:lnTo>
                        <a:lnTo>
                          <a:pt x="419" y="331"/>
                        </a:lnTo>
                        <a:lnTo>
                          <a:pt x="415" y="340"/>
                        </a:lnTo>
                        <a:lnTo>
                          <a:pt x="411" y="349"/>
                        </a:lnTo>
                        <a:lnTo>
                          <a:pt x="402" y="365"/>
                        </a:lnTo>
                        <a:lnTo>
                          <a:pt x="392" y="381"/>
                        </a:lnTo>
                        <a:lnTo>
                          <a:pt x="379" y="394"/>
                        </a:lnTo>
                        <a:lnTo>
                          <a:pt x="365" y="406"/>
                        </a:lnTo>
                        <a:lnTo>
                          <a:pt x="350" y="416"/>
                        </a:lnTo>
                        <a:lnTo>
                          <a:pt x="333" y="425"/>
                        </a:lnTo>
                        <a:lnTo>
                          <a:pt x="316" y="432"/>
                        </a:lnTo>
                        <a:lnTo>
                          <a:pt x="297" y="436"/>
                        </a:lnTo>
                        <a:lnTo>
                          <a:pt x="278" y="440"/>
                        </a:lnTo>
                        <a:lnTo>
                          <a:pt x="257" y="440"/>
                        </a:lnTo>
                        <a:lnTo>
                          <a:pt x="236" y="439"/>
                        </a:lnTo>
                        <a:lnTo>
                          <a:pt x="214" y="434"/>
                        </a:lnTo>
                        <a:lnTo>
                          <a:pt x="192" y="429"/>
                        </a:lnTo>
                        <a:lnTo>
                          <a:pt x="170" y="420"/>
                        </a:lnTo>
                        <a:lnTo>
                          <a:pt x="151" y="410"/>
                        </a:lnTo>
                        <a:lnTo>
                          <a:pt x="131" y="399"/>
                        </a:lnTo>
                        <a:lnTo>
                          <a:pt x="112" y="385"/>
                        </a:lnTo>
                        <a:lnTo>
                          <a:pt x="94" y="370"/>
                        </a:lnTo>
                        <a:lnTo>
                          <a:pt x="77" y="354"/>
                        </a:lnTo>
                        <a:lnTo>
                          <a:pt x="62" y="337"/>
                        </a:lnTo>
                        <a:lnTo>
                          <a:pt x="49" y="318"/>
                        </a:lnTo>
                        <a:lnTo>
                          <a:pt x="36" y="299"/>
                        </a:lnTo>
                        <a:lnTo>
                          <a:pt x="25" y="279"/>
                        </a:lnTo>
                        <a:lnTo>
                          <a:pt x="16" y="258"/>
                        </a:lnTo>
                        <a:lnTo>
                          <a:pt x="10" y="237"/>
                        </a:lnTo>
                        <a:lnTo>
                          <a:pt x="4" y="215"/>
                        </a:lnTo>
                        <a:lnTo>
                          <a:pt x="1" y="193"/>
                        </a:lnTo>
                        <a:lnTo>
                          <a:pt x="0" y="170"/>
                        </a:lnTo>
                        <a:lnTo>
                          <a:pt x="0" y="159"/>
                        </a:lnTo>
                        <a:lnTo>
                          <a:pt x="1" y="149"/>
                        </a:lnTo>
                        <a:lnTo>
                          <a:pt x="2" y="138"/>
                        </a:lnTo>
                        <a:lnTo>
                          <a:pt x="4" y="128"/>
                        </a:lnTo>
                        <a:lnTo>
                          <a:pt x="7" y="118"/>
                        </a:lnTo>
                        <a:lnTo>
                          <a:pt x="10" y="109"/>
                        </a:lnTo>
                        <a:lnTo>
                          <a:pt x="13" y="101"/>
                        </a:lnTo>
                        <a:lnTo>
                          <a:pt x="16" y="92"/>
                        </a:lnTo>
                        <a:lnTo>
                          <a:pt x="25" y="75"/>
                        </a:lnTo>
                        <a:lnTo>
                          <a:pt x="36" y="60"/>
                        </a:lnTo>
                        <a:lnTo>
                          <a:pt x="49" y="46"/>
                        </a:lnTo>
                        <a:lnTo>
                          <a:pt x="62" y="34"/>
                        </a:lnTo>
                        <a:lnTo>
                          <a:pt x="77" y="23"/>
                        </a:lnTo>
                        <a:lnTo>
                          <a:pt x="94" y="15"/>
                        </a:lnTo>
                        <a:lnTo>
                          <a:pt x="112" y="9"/>
                        </a:lnTo>
                        <a:lnTo>
                          <a:pt x="131" y="3"/>
                        </a:lnTo>
                        <a:lnTo>
                          <a:pt x="151" y="1"/>
                        </a:lnTo>
                        <a:lnTo>
                          <a:pt x="170" y="0"/>
                        </a:lnTo>
                        <a:lnTo>
                          <a:pt x="192" y="2"/>
                        </a:lnTo>
                        <a:lnTo>
                          <a:pt x="214" y="5"/>
                        </a:lnTo>
                        <a:close/>
                      </a:path>
                    </a:pathLst>
                  </a:custGeom>
                  <a:solidFill>
                    <a:srgbClr val="B3B3B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84" name="Google Shape;384;p6"/>
                  <p:cNvSpPr/>
                  <p:nvPr/>
                </p:nvSpPr>
                <p:spPr>
                  <a:xfrm>
                    <a:off x="3078106" y="4630922"/>
                    <a:ext cx="14236" cy="14552"/>
                  </a:xfrm>
                  <a:custGeom>
                    <a:avLst/>
                    <a:gdLst/>
                    <a:ahLst/>
                    <a:cxnLst/>
                    <a:rect l="l" t="t" r="r" b="b"/>
                    <a:pathLst>
                      <a:path w="271" h="278" extrusionOk="0">
                        <a:moveTo>
                          <a:pt x="135" y="3"/>
                        </a:moveTo>
                        <a:lnTo>
                          <a:pt x="149" y="7"/>
                        </a:lnTo>
                        <a:lnTo>
                          <a:pt x="162" y="12"/>
                        </a:lnTo>
                        <a:lnTo>
                          <a:pt x="176" y="18"/>
                        </a:lnTo>
                        <a:lnTo>
                          <a:pt x="188" y="26"/>
                        </a:lnTo>
                        <a:lnTo>
                          <a:pt x="200" y="34"/>
                        </a:lnTo>
                        <a:lnTo>
                          <a:pt x="211" y="44"/>
                        </a:lnTo>
                        <a:lnTo>
                          <a:pt x="221" y="54"/>
                        </a:lnTo>
                        <a:lnTo>
                          <a:pt x="231" y="65"/>
                        </a:lnTo>
                        <a:lnTo>
                          <a:pt x="240" y="76"/>
                        </a:lnTo>
                        <a:lnTo>
                          <a:pt x="248" y="89"/>
                        </a:lnTo>
                        <a:lnTo>
                          <a:pt x="254" y="102"/>
                        </a:lnTo>
                        <a:lnTo>
                          <a:pt x="260" y="115"/>
                        </a:lnTo>
                        <a:lnTo>
                          <a:pt x="264" y="128"/>
                        </a:lnTo>
                        <a:lnTo>
                          <a:pt x="268" y="143"/>
                        </a:lnTo>
                        <a:lnTo>
                          <a:pt x="270" y="156"/>
                        </a:lnTo>
                        <a:lnTo>
                          <a:pt x="271" y="170"/>
                        </a:lnTo>
                        <a:lnTo>
                          <a:pt x="270" y="184"/>
                        </a:lnTo>
                        <a:lnTo>
                          <a:pt x="268" y="197"/>
                        </a:lnTo>
                        <a:lnTo>
                          <a:pt x="264" y="209"/>
                        </a:lnTo>
                        <a:lnTo>
                          <a:pt x="260" y="220"/>
                        </a:lnTo>
                        <a:lnTo>
                          <a:pt x="254" y="231"/>
                        </a:lnTo>
                        <a:lnTo>
                          <a:pt x="248" y="241"/>
                        </a:lnTo>
                        <a:lnTo>
                          <a:pt x="240" y="249"/>
                        </a:lnTo>
                        <a:lnTo>
                          <a:pt x="231" y="257"/>
                        </a:lnTo>
                        <a:lnTo>
                          <a:pt x="221" y="263"/>
                        </a:lnTo>
                        <a:lnTo>
                          <a:pt x="211" y="269"/>
                        </a:lnTo>
                        <a:lnTo>
                          <a:pt x="200" y="273"/>
                        </a:lnTo>
                        <a:lnTo>
                          <a:pt x="188" y="277"/>
                        </a:lnTo>
                        <a:lnTo>
                          <a:pt x="176" y="278"/>
                        </a:lnTo>
                        <a:lnTo>
                          <a:pt x="162" y="278"/>
                        </a:lnTo>
                        <a:lnTo>
                          <a:pt x="149" y="277"/>
                        </a:lnTo>
                        <a:lnTo>
                          <a:pt x="135" y="275"/>
                        </a:lnTo>
                        <a:lnTo>
                          <a:pt x="121" y="271"/>
                        </a:lnTo>
                        <a:lnTo>
                          <a:pt x="107" y="266"/>
                        </a:lnTo>
                        <a:lnTo>
                          <a:pt x="95" y="259"/>
                        </a:lnTo>
                        <a:lnTo>
                          <a:pt x="83" y="252"/>
                        </a:lnTo>
                        <a:lnTo>
                          <a:pt x="70" y="243"/>
                        </a:lnTo>
                        <a:lnTo>
                          <a:pt x="59" y="235"/>
                        </a:lnTo>
                        <a:lnTo>
                          <a:pt x="48" y="224"/>
                        </a:lnTo>
                        <a:lnTo>
                          <a:pt x="39" y="212"/>
                        </a:lnTo>
                        <a:lnTo>
                          <a:pt x="31" y="201"/>
                        </a:lnTo>
                        <a:lnTo>
                          <a:pt x="23" y="189"/>
                        </a:lnTo>
                        <a:lnTo>
                          <a:pt x="15" y="176"/>
                        </a:lnTo>
                        <a:lnTo>
                          <a:pt x="9" y="164"/>
                        </a:lnTo>
                        <a:lnTo>
                          <a:pt x="5" y="149"/>
                        </a:lnTo>
                        <a:lnTo>
                          <a:pt x="2" y="136"/>
                        </a:lnTo>
                        <a:lnTo>
                          <a:pt x="0" y="122"/>
                        </a:lnTo>
                        <a:lnTo>
                          <a:pt x="0" y="108"/>
                        </a:lnTo>
                        <a:lnTo>
                          <a:pt x="0" y="94"/>
                        </a:lnTo>
                        <a:lnTo>
                          <a:pt x="2" y="81"/>
                        </a:lnTo>
                        <a:lnTo>
                          <a:pt x="5" y="68"/>
                        </a:lnTo>
                        <a:lnTo>
                          <a:pt x="9" y="57"/>
                        </a:lnTo>
                        <a:lnTo>
                          <a:pt x="15" y="47"/>
                        </a:lnTo>
                        <a:lnTo>
                          <a:pt x="23" y="37"/>
                        </a:lnTo>
                        <a:lnTo>
                          <a:pt x="31" y="28"/>
                        </a:lnTo>
                        <a:lnTo>
                          <a:pt x="39" y="21"/>
                        </a:lnTo>
                        <a:lnTo>
                          <a:pt x="48" y="14"/>
                        </a:lnTo>
                        <a:lnTo>
                          <a:pt x="59" y="9"/>
                        </a:lnTo>
                        <a:lnTo>
                          <a:pt x="70" y="5"/>
                        </a:lnTo>
                        <a:lnTo>
                          <a:pt x="83" y="2"/>
                        </a:lnTo>
                        <a:lnTo>
                          <a:pt x="95" y="0"/>
                        </a:lnTo>
                        <a:lnTo>
                          <a:pt x="107" y="0"/>
                        </a:lnTo>
                        <a:lnTo>
                          <a:pt x="121" y="1"/>
                        </a:lnTo>
                        <a:lnTo>
                          <a:pt x="135" y="3"/>
                        </a:lnTo>
                        <a:close/>
                      </a:path>
                    </a:pathLst>
                  </a:custGeom>
                  <a:gradFill>
                    <a:gsLst>
                      <a:gs pos="0">
                        <a:srgbClr val="006994"/>
                      </a:gs>
                      <a:gs pos="50000">
                        <a:srgbClr val="009AD7"/>
                      </a:gs>
                      <a:gs pos="100000">
                        <a:srgbClr val="00B8F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grpSp>
            <p:grpSp>
              <p:nvGrpSpPr>
                <p:cNvPr id="385" name="Google Shape;385;p6"/>
                <p:cNvGrpSpPr/>
                <p:nvPr/>
              </p:nvGrpSpPr>
              <p:grpSpPr>
                <a:xfrm>
                  <a:off x="2939898" y="4690008"/>
                  <a:ext cx="145198" cy="153849"/>
                  <a:chOff x="5967413" y="-3362325"/>
                  <a:chExt cx="1133478" cy="1454150"/>
                </a:xfrm>
              </p:grpSpPr>
              <p:sp>
                <p:nvSpPr>
                  <p:cNvPr id="386" name="Google Shape;386;p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87" name="Google Shape;387;p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88" name="Google Shape;388;p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89" name="Google Shape;389;p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90" name="Google Shape;390;p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91" name="Google Shape;391;p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92" name="Google Shape;392;p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93" name="Google Shape;393;p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94" name="Google Shape;394;p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95" name="Google Shape;395;p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96" name="Google Shape;396;p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97" name="Google Shape;397;p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98" name="Google Shape;398;p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sp>
                <p:nvSpPr>
                  <p:cNvPr id="399" name="Google Shape;399;p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50">
                      <a:solidFill>
                        <a:schemeClr val="dk1"/>
                      </a:solidFill>
                      <a:sym typeface="Roboto"/>
                    </a:endParaRPr>
                  </a:p>
                </p:txBody>
              </p:sp>
            </p:grpSp>
          </p:grpSp>
          <p:sp>
            <p:nvSpPr>
              <p:cNvPr id="400" name="Google Shape;400;p6"/>
              <p:cNvSpPr txBox="1"/>
              <p:nvPr/>
            </p:nvSpPr>
            <p:spPr>
              <a:xfrm>
                <a:off x="2866068" y="5485704"/>
                <a:ext cx="129900" cy="64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700" b="1">
                    <a:solidFill>
                      <a:srgbClr val="3F3F3F"/>
                    </a:solidFill>
                    <a:sym typeface="Roboto"/>
                  </a:rPr>
                  <a:t>WN</a:t>
                </a:r>
                <a:endParaRPr sz="700" b="1">
                  <a:solidFill>
                    <a:srgbClr val="3F3F3F"/>
                  </a:solidFill>
                  <a:sym typeface="Roboto"/>
                </a:endParaRPr>
              </a:p>
            </p:txBody>
          </p:sp>
        </p:grpSp>
        <p:grpSp>
          <p:nvGrpSpPr>
            <p:cNvPr id="401" name="Google Shape;401;p6"/>
            <p:cNvGrpSpPr/>
            <p:nvPr/>
          </p:nvGrpSpPr>
          <p:grpSpPr>
            <a:xfrm>
              <a:off x="5360740" y="881646"/>
              <a:ext cx="1454100" cy="3832608"/>
              <a:chOff x="5360738" y="881644"/>
              <a:chExt cx="1454100" cy="3832608"/>
            </a:xfrm>
          </p:grpSpPr>
          <p:sp>
            <p:nvSpPr>
              <p:cNvPr id="402" name="Google Shape;402;p6"/>
              <p:cNvSpPr/>
              <p:nvPr/>
            </p:nvSpPr>
            <p:spPr>
              <a:xfrm>
                <a:off x="5421566" y="1203650"/>
                <a:ext cx="1332300" cy="2578200"/>
              </a:xfrm>
              <a:prstGeom prst="rect">
                <a:avLst/>
              </a:prstGeom>
              <a:gradFill>
                <a:gsLst>
                  <a:gs pos="0">
                    <a:srgbClr val="BFBFBF"/>
                  </a:gs>
                  <a:gs pos="100000">
                    <a:srgbClr val="7F7F7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50">
                  <a:solidFill>
                    <a:schemeClr val="lt1"/>
                  </a:solidFill>
                  <a:sym typeface="Roboto"/>
                </a:endParaRPr>
              </a:p>
            </p:txBody>
          </p:sp>
          <p:grpSp>
            <p:nvGrpSpPr>
              <p:cNvPr id="403" name="Google Shape;403;p6"/>
              <p:cNvGrpSpPr/>
              <p:nvPr/>
            </p:nvGrpSpPr>
            <p:grpSpPr>
              <a:xfrm>
                <a:off x="5360738" y="881644"/>
                <a:ext cx="1454100" cy="3832608"/>
                <a:chOff x="5360738" y="881644"/>
                <a:chExt cx="1454100" cy="3832608"/>
              </a:xfrm>
            </p:grpSpPr>
            <p:sp>
              <p:nvSpPr>
                <p:cNvPr id="404" name="Google Shape;404;p6"/>
                <p:cNvSpPr/>
                <p:nvPr/>
              </p:nvSpPr>
              <p:spPr>
                <a:xfrm>
                  <a:off x="5360738" y="1143952"/>
                  <a:ext cx="1454100" cy="3570300"/>
                </a:xfrm>
                <a:prstGeom prst="round2SameRect">
                  <a:avLst>
                    <a:gd name="adj1" fmla="val 0"/>
                    <a:gd name="adj2" fmla="val 0"/>
                  </a:avLst>
                </a:prstGeom>
                <a:solidFill>
                  <a:srgbClr val="D8E2F3">
                    <a:alpha val="23140"/>
                  </a:srgbClr>
                </a:solidFill>
                <a:ln w="12700" cap="flat" cmpd="sng">
                  <a:solidFill>
                    <a:srgbClr val="2D75B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50">
                    <a:solidFill>
                      <a:schemeClr val="lt1"/>
                    </a:solidFill>
                    <a:sym typeface="Roboto"/>
                  </a:endParaRPr>
                </a:p>
              </p:txBody>
            </p:sp>
            <p:sp>
              <p:nvSpPr>
                <p:cNvPr id="405" name="Google Shape;405;p6"/>
                <p:cNvSpPr/>
                <p:nvPr/>
              </p:nvSpPr>
              <p:spPr>
                <a:xfrm>
                  <a:off x="5360738" y="881644"/>
                  <a:ext cx="1454100" cy="262200"/>
                </a:xfrm>
                <a:prstGeom prst="round2SameRect">
                  <a:avLst>
                    <a:gd name="adj1" fmla="val 21992"/>
                    <a:gd name="adj2" fmla="val 0"/>
                  </a:avLst>
                </a:prstGeom>
                <a:solidFill>
                  <a:srgbClr val="2D75B6"/>
                </a:solidFill>
                <a:ln>
                  <a:noFill/>
                </a:ln>
              </p:spPr>
              <p:txBody>
                <a:bodyPr spcFirstLastPara="1" wrap="square" lIns="72000" tIns="36000" rIns="72000" bIns="36000" anchor="ctr" anchorCtr="0">
                  <a:noAutofit/>
                </a:bodyPr>
                <a:lstStyle/>
                <a:p>
                  <a:pPr marL="0" marR="0" lvl="0" indent="0" algn="ctr" rtl="0">
                    <a:lnSpc>
                      <a:spcPct val="90000"/>
                    </a:lnSpc>
                    <a:spcBef>
                      <a:spcPts val="0"/>
                    </a:spcBef>
                    <a:spcAft>
                      <a:spcPts val="0"/>
                    </a:spcAft>
                    <a:buNone/>
                  </a:pPr>
                  <a:r>
                    <a:rPr lang="en-US" sz="800" b="1">
                      <a:solidFill>
                        <a:schemeClr val="lt1"/>
                      </a:solidFill>
                      <a:sym typeface="Roboto"/>
                    </a:rPr>
                    <a:t>SUBMIT HOST</a:t>
                  </a:r>
                  <a:endParaRPr sz="1250">
                    <a:solidFill>
                      <a:schemeClr val="dk1"/>
                    </a:solidFill>
                    <a:sym typeface="Roboto"/>
                  </a:endParaRPr>
                </a:p>
              </p:txBody>
            </p:sp>
          </p:grpSp>
          <p:sp>
            <p:nvSpPr>
              <p:cNvPr id="406" name="Google Shape;406;p6"/>
              <p:cNvSpPr txBox="1"/>
              <p:nvPr/>
            </p:nvSpPr>
            <p:spPr>
              <a:xfrm>
                <a:off x="5824237" y="1297340"/>
                <a:ext cx="527100" cy="250800"/>
              </a:xfrm>
              <a:prstGeom prst="rect">
                <a:avLst/>
              </a:prstGeom>
              <a:solidFill>
                <a:srgbClr val="BBD6EE"/>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800" b="1">
                    <a:solidFill>
                      <a:srgbClr val="3F3F3F"/>
                    </a:solidFill>
                    <a:sym typeface="Roboto"/>
                  </a:rPr>
                  <a:t>F.in</a:t>
                </a:r>
                <a:endParaRPr sz="800" b="1">
                  <a:solidFill>
                    <a:srgbClr val="3F3F3F"/>
                  </a:solidFill>
                  <a:sym typeface="Roboto"/>
                </a:endParaRPr>
              </a:p>
            </p:txBody>
          </p:sp>
          <p:sp>
            <p:nvSpPr>
              <p:cNvPr id="407" name="Google Shape;407;p6"/>
              <p:cNvSpPr/>
              <p:nvPr/>
            </p:nvSpPr>
            <p:spPr>
              <a:xfrm>
                <a:off x="5956019" y="1823472"/>
                <a:ext cx="266100" cy="266100"/>
              </a:xfrm>
              <a:prstGeom prst="ellipse">
                <a:avLst/>
              </a:prstGeom>
              <a:solidFill>
                <a:srgbClr val="F16D19"/>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700" b="1">
                    <a:solidFill>
                      <a:schemeClr val="lt1"/>
                    </a:solidFill>
                    <a:sym typeface="Roboto"/>
                  </a:rPr>
                  <a:t>T1</a:t>
                </a:r>
                <a:endParaRPr sz="1250">
                  <a:solidFill>
                    <a:schemeClr val="dk1"/>
                  </a:solidFill>
                  <a:sym typeface="Roboto"/>
                </a:endParaRPr>
              </a:p>
            </p:txBody>
          </p:sp>
          <p:sp>
            <p:nvSpPr>
              <p:cNvPr id="408" name="Google Shape;408;p6"/>
              <p:cNvSpPr txBox="1"/>
              <p:nvPr/>
            </p:nvSpPr>
            <p:spPr>
              <a:xfrm>
                <a:off x="5824237" y="2364757"/>
                <a:ext cx="527100" cy="250800"/>
              </a:xfrm>
              <a:prstGeom prst="rect">
                <a:avLst/>
              </a:prstGeom>
              <a:solidFill>
                <a:srgbClr val="BBD6EE"/>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800" b="1">
                    <a:solidFill>
                      <a:srgbClr val="3F3F3F"/>
                    </a:solidFill>
                    <a:sym typeface="Roboto"/>
                  </a:rPr>
                  <a:t>F.int</a:t>
                </a:r>
                <a:endParaRPr sz="800" b="1">
                  <a:solidFill>
                    <a:srgbClr val="3F3F3F"/>
                  </a:solidFill>
                  <a:sym typeface="Roboto"/>
                </a:endParaRPr>
              </a:p>
            </p:txBody>
          </p:sp>
          <p:sp>
            <p:nvSpPr>
              <p:cNvPr id="409" name="Google Shape;409;p6"/>
              <p:cNvSpPr/>
              <p:nvPr/>
            </p:nvSpPr>
            <p:spPr>
              <a:xfrm>
                <a:off x="5956019" y="2890887"/>
                <a:ext cx="266100" cy="266100"/>
              </a:xfrm>
              <a:prstGeom prst="ellipse">
                <a:avLst/>
              </a:prstGeom>
              <a:solidFill>
                <a:srgbClr val="F16D19"/>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n-US" sz="700" b="1">
                    <a:solidFill>
                      <a:schemeClr val="lt1"/>
                    </a:solidFill>
                    <a:sym typeface="Roboto"/>
                  </a:rPr>
                  <a:t>T2</a:t>
                </a:r>
                <a:endParaRPr sz="1250">
                  <a:solidFill>
                    <a:schemeClr val="dk1"/>
                  </a:solidFill>
                  <a:sym typeface="Roboto"/>
                </a:endParaRPr>
              </a:p>
            </p:txBody>
          </p:sp>
          <p:sp>
            <p:nvSpPr>
              <p:cNvPr id="410" name="Google Shape;410;p6"/>
              <p:cNvSpPr txBox="1"/>
              <p:nvPr/>
            </p:nvSpPr>
            <p:spPr>
              <a:xfrm>
                <a:off x="5824237" y="3432174"/>
                <a:ext cx="527100" cy="250800"/>
              </a:xfrm>
              <a:prstGeom prst="rect">
                <a:avLst/>
              </a:prstGeom>
              <a:solidFill>
                <a:srgbClr val="BBD6EE"/>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800" b="1">
                    <a:solidFill>
                      <a:srgbClr val="3F3F3F"/>
                    </a:solidFill>
                    <a:sym typeface="Roboto"/>
                  </a:rPr>
                  <a:t>F.out</a:t>
                </a:r>
                <a:endParaRPr sz="800" b="1">
                  <a:solidFill>
                    <a:srgbClr val="3F3F3F"/>
                  </a:solidFill>
                  <a:sym typeface="Roboto"/>
                </a:endParaRPr>
              </a:p>
            </p:txBody>
          </p:sp>
          <p:cxnSp>
            <p:nvCxnSpPr>
              <p:cNvPr id="411" name="Google Shape;411;p6"/>
              <p:cNvCxnSpPr/>
              <p:nvPr/>
            </p:nvCxnSpPr>
            <p:spPr>
              <a:xfrm>
                <a:off x="6087730" y="1587992"/>
                <a:ext cx="0" cy="167700"/>
              </a:xfrm>
              <a:prstGeom prst="straightConnector1">
                <a:avLst/>
              </a:prstGeom>
              <a:noFill/>
              <a:ln w="12700" cap="flat" cmpd="sng">
                <a:solidFill>
                  <a:srgbClr val="3F3F3F"/>
                </a:solidFill>
                <a:prstDash val="solid"/>
                <a:round/>
                <a:headEnd type="none" w="sm" len="sm"/>
                <a:tailEnd type="triangle" w="med" len="med"/>
              </a:ln>
            </p:spPr>
          </p:cxnSp>
          <p:cxnSp>
            <p:nvCxnSpPr>
              <p:cNvPr id="412" name="Google Shape;412;p6"/>
              <p:cNvCxnSpPr/>
              <p:nvPr/>
            </p:nvCxnSpPr>
            <p:spPr>
              <a:xfrm>
                <a:off x="6087730" y="2157209"/>
                <a:ext cx="0" cy="167700"/>
              </a:xfrm>
              <a:prstGeom prst="straightConnector1">
                <a:avLst/>
              </a:prstGeom>
              <a:noFill/>
              <a:ln w="12700" cap="flat" cmpd="sng">
                <a:solidFill>
                  <a:srgbClr val="3F3F3F"/>
                </a:solidFill>
                <a:prstDash val="solid"/>
                <a:round/>
                <a:headEnd type="none" w="sm" len="sm"/>
                <a:tailEnd type="triangle" w="med" len="med"/>
              </a:ln>
            </p:spPr>
          </p:cxnSp>
          <p:cxnSp>
            <p:nvCxnSpPr>
              <p:cNvPr id="413" name="Google Shape;413;p6"/>
              <p:cNvCxnSpPr/>
              <p:nvPr/>
            </p:nvCxnSpPr>
            <p:spPr>
              <a:xfrm>
                <a:off x="6087730" y="2655409"/>
                <a:ext cx="0" cy="167700"/>
              </a:xfrm>
              <a:prstGeom prst="straightConnector1">
                <a:avLst/>
              </a:prstGeom>
              <a:noFill/>
              <a:ln w="12700" cap="flat" cmpd="sng">
                <a:solidFill>
                  <a:srgbClr val="3F3F3F"/>
                </a:solidFill>
                <a:prstDash val="solid"/>
                <a:round/>
                <a:headEnd type="none" w="sm" len="sm"/>
                <a:tailEnd type="triangle" w="med" len="med"/>
              </a:ln>
            </p:spPr>
          </p:cxnSp>
          <p:cxnSp>
            <p:nvCxnSpPr>
              <p:cNvPr id="414" name="Google Shape;414;p6"/>
              <p:cNvCxnSpPr/>
              <p:nvPr/>
            </p:nvCxnSpPr>
            <p:spPr>
              <a:xfrm>
                <a:off x="6087730" y="3224626"/>
                <a:ext cx="0" cy="167700"/>
              </a:xfrm>
              <a:prstGeom prst="straightConnector1">
                <a:avLst/>
              </a:prstGeom>
              <a:noFill/>
              <a:ln w="12700" cap="flat" cmpd="sng">
                <a:solidFill>
                  <a:srgbClr val="3F3F3F"/>
                </a:solidFill>
                <a:prstDash val="solid"/>
                <a:round/>
                <a:headEnd type="none" w="sm" len="sm"/>
                <a:tailEnd type="triangle" w="med" len="med"/>
              </a:ln>
            </p:spPr>
          </p:cxnSp>
          <p:cxnSp>
            <p:nvCxnSpPr>
              <p:cNvPr id="415" name="Google Shape;415;p6"/>
              <p:cNvCxnSpPr/>
              <p:nvPr/>
            </p:nvCxnSpPr>
            <p:spPr>
              <a:xfrm>
                <a:off x="6087731" y="3781832"/>
                <a:ext cx="0" cy="247500"/>
              </a:xfrm>
              <a:prstGeom prst="straightConnector1">
                <a:avLst/>
              </a:prstGeom>
              <a:noFill/>
              <a:ln w="25400" cap="flat" cmpd="sng">
                <a:solidFill>
                  <a:srgbClr val="3F3F3F"/>
                </a:solidFill>
                <a:prstDash val="solid"/>
                <a:round/>
                <a:headEnd type="none" w="sm" len="sm"/>
                <a:tailEnd type="triangle" w="lg" len="lg"/>
              </a:ln>
            </p:spPr>
          </p:cxnSp>
          <p:pic>
            <p:nvPicPr>
              <p:cNvPr id="416" name="Google Shape;416;p6"/>
              <p:cNvPicPr preferRelativeResize="0"/>
              <p:nvPr/>
            </p:nvPicPr>
            <p:blipFill rotWithShape="1">
              <a:blip r:embed="rId3">
                <a:alphaModFix/>
              </a:blip>
              <a:srcRect/>
              <a:stretch/>
            </p:blipFill>
            <p:spPr>
              <a:xfrm>
                <a:off x="5770230" y="4111356"/>
                <a:ext cx="635000" cy="531198"/>
              </a:xfrm>
              <a:prstGeom prst="rect">
                <a:avLst/>
              </a:prstGeom>
              <a:noFill/>
              <a:ln>
                <a:noFill/>
              </a:ln>
            </p:spPr>
          </p:pic>
        </p:grpSp>
        <p:cxnSp>
          <p:nvCxnSpPr>
            <p:cNvPr id="417" name="Google Shape;417;p6"/>
            <p:cNvCxnSpPr/>
            <p:nvPr/>
          </p:nvCxnSpPr>
          <p:spPr>
            <a:xfrm>
              <a:off x="7461759" y="2804973"/>
              <a:ext cx="2771400" cy="0"/>
            </a:xfrm>
            <a:prstGeom prst="straightConnector1">
              <a:avLst/>
            </a:prstGeom>
            <a:noFill/>
            <a:ln w="12700" cap="flat" cmpd="sng">
              <a:solidFill>
                <a:schemeClr val="accent6"/>
              </a:solidFill>
              <a:prstDash val="lgDash"/>
              <a:round/>
              <a:headEnd type="none" w="sm" len="sm"/>
              <a:tailEnd type="none" w="sm" len="sm"/>
            </a:ln>
          </p:spPr>
        </p:cxnSp>
        <p:cxnSp>
          <p:nvCxnSpPr>
            <p:cNvPr id="418" name="Google Shape;418;p6"/>
            <p:cNvCxnSpPr/>
            <p:nvPr/>
          </p:nvCxnSpPr>
          <p:spPr>
            <a:xfrm>
              <a:off x="1282273" y="5953991"/>
              <a:ext cx="3645300" cy="0"/>
            </a:xfrm>
            <a:prstGeom prst="straightConnector1">
              <a:avLst/>
            </a:prstGeom>
            <a:noFill/>
            <a:ln w="9525" cap="flat" cmpd="sng">
              <a:solidFill>
                <a:srgbClr val="74CA21"/>
              </a:solidFill>
              <a:prstDash val="dash"/>
              <a:miter lim="800000"/>
              <a:headEnd type="none" w="sm" len="sm"/>
              <a:tailEnd type="none" w="sm" len="sm"/>
            </a:ln>
          </p:spPr>
        </p:cxnSp>
        <p:sp>
          <p:nvSpPr>
            <p:cNvPr id="419" name="Google Shape;419;p6"/>
            <p:cNvSpPr/>
            <p:nvPr/>
          </p:nvSpPr>
          <p:spPr>
            <a:xfrm>
              <a:off x="1205621" y="5998829"/>
              <a:ext cx="7246800" cy="330630"/>
            </a:xfrm>
            <a:prstGeom prst="rect">
              <a:avLst/>
            </a:prstGeom>
            <a:noFill/>
            <a:ln>
              <a:noFill/>
            </a:ln>
          </p:spPr>
          <p:txBody>
            <a:bodyPr spcFirstLastPara="1" wrap="square" lIns="72000" tIns="36000" rIns="72000" bIns="36000" anchor="t" anchorCtr="0">
              <a:spAutoFit/>
            </a:bodyPr>
            <a:lstStyle/>
            <a:p>
              <a:pPr marL="0" marR="0" lvl="0" indent="0" algn="l" rtl="0">
                <a:spcBef>
                  <a:spcPts val="0"/>
                </a:spcBef>
                <a:spcAft>
                  <a:spcPts val="0"/>
                </a:spcAft>
                <a:buNone/>
              </a:pPr>
              <a:r>
                <a:rPr lang="en-US" sz="1450" b="1" dirty="0">
                  <a:solidFill>
                    <a:schemeClr val="accent1"/>
                  </a:solidFill>
                  <a:sym typeface="Roboto"/>
                </a:rPr>
                <a:t>Can leverage distributed and heterogeneous CI</a:t>
              </a:r>
              <a:endParaRPr sz="1250" dirty="0">
                <a:solidFill>
                  <a:schemeClr val="accent1"/>
                </a:solidFill>
                <a:sym typeface="Roboto"/>
              </a:endParaRPr>
            </a:p>
          </p:txBody>
        </p:sp>
        <p:sp>
          <p:nvSpPr>
            <p:cNvPr id="420" name="Google Shape;420;p6"/>
            <p:cNvSpPr/>
            <p:nvPr/>
          </p:nvSpPr>
          <p:spPr>
            <a:xfrm flipH="1">
              <a:off x="1042280" y="6104993"/>
              <a:ext cx="109200" cy="109200"/>
            </a:xfrm>
            <a:prstGeom prst="rtTriangle">
              <a:avLst/>
            </a:prstGeom>
            <a:solidFill>
              <a:srgbClr val="BA08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sym typeface="Roboto Light"/>
              </a:endParaRPr>
            </a:p>
          </p:txBody>
        </p:sp>
        <p:sp>
          <p:nvSpPr>
            <p:cNvPr id="422" name="Google Shape;422;p6"/>
            <p:cNvSpPr/>
            <p:nvPr/>
          </p:nvSpPr>
          <p:spPr>
            <a:xfrm>
              <a:off x="7203129" y="2779160"/>
              <a:ext cx="4887600" cy="2133600"/>
            </a:xfrm>
            <a:prstGeom prst="roundRect">
              <a:avLst>
                <a:gd name="adj" fmla="val 16667"/>
              </a:avLst>
            </a:prstGeom>
            <a:noFill/>
            <a:ln w="19050" cap="flat" cmpd="sng">
              <a:solidFill>
                <a:srgbClr val="009EB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150">
                <a:solidFill>
                  <a:schemeClr val="lt1"/>
                </a:solidFill>
                <a:sym typeface="Arial"/>
              </a:endParaRPr>
            </a:p>
          </p:txBody>
        </p:sp>
      </p:grpSp>
      <p:sp>
        <p:nvSpPr>
          <p:cNvPr id="3" name="Text Placeholder 2">
            <a:extLst>
              <a:ext uri="{FF2B5EF4-FFF2-40B4-BE49-F238E27FC236}">
                <a16:creationId xmlns:a16="http://schemas.microsoft.com/office/drawing/2014/main" id="{B236F57E-BC2D-E189-2C55-ABA036A039CC}"/>
              </a:ext>
            </a:extLst>
          </p:cNvPr>
          <p:cNvSpPr>
            <a:spLocks noGrp="1"/>
          </p:cNvSpPr>
          <p:nvPr>
            <p:ph type="body" idx="13"/>
          </p:nvPr>
        </p:nvSpPr>
        <p:spPr/>
        <p:txBody>
          <a:bodyPr/>
          <a:lstStyle/>
          <a:p>
            <a:r>
              <a:rPr lang="en-US" dirty="0"/>
              <a:t>HOW IT WORKS</a:t>
            </a:r>
          </a:p>
        </p:txBody>
      </p:sp>
      <p:sp>
        <p:nvSpPr>
          <p:cNvPr id="2" name="Title 1">
            <a:extLst>
              <a:ext uri="{FF2B5EF4-FFF2-40B4-BE49-F238E27FC236}">
                <a16:creationId xmlns:a16="http://schemas.microsoft.com/office/drawing/2014/main" id="{A694EEF0-9B8E-B5FE-E7D9-9C19B6620F1C}"/>
              </a:ext>
            </a:extLst>
          </p:cNvPr>
          <p:cNvSpPr>
            <a:spLocks noGrp="1"/>
          </p:cNvSpPr>
          <p:nvPr>
            <p:ph type="title"/>
          </p:nvPr>
        </p:nvSpPr>
        <p:spPr/>
        <p:txBody>
          <a:bodyPr/>
          <a:lstStyle/>
          <a:p>
            <a:r>
              <a:rPr lang="en-US" dirty="0"/>
              <a:t>Submit Locally, Run Globally</a:t>
            </a:r>
          </a:p>
        </p:txBody>
      </p:sp>
    </p:spTree>
    <p:extLst>
      <p:ext uri="{BB962C8B-B14F-4D97-AF65-F5344CB8AC3E}">
        <p14:creationId xmlns:p14="http://schemas.microsoft.com/office/powerpoint/2010/main" val="2531242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 name="Text Placeholder 1">
            <a:extLst>
              <a:ext uri="{FF2B5EF4-FFF2-40B4-BE49-F238E27FC236}">
                <a16:creationId xmlns:a16="http://schemas.microsoft.com/office/drawing/2014/main" id="{DF18504D-82E3-4573-1AE0-563A9E99D332}"/>
              </a:ext>
            </a:extLst>
          </p:cNvPr>
          <p:cNvSpPr>
            <a:spLocks noGrp="1"/>
          </p:cNvSpPr>
          <p:nvPr>
            <p:ph type="body" idx="13"/>
          </p:nvPr>
        </p:nvSpPr>
        <p:spPr/>
        <p:txBody>
          <a:bodyPr/>
          <a:lstStyle/>
          <a:p>
            <a:r>
              <a:rPr lang="en-US" dirty="0"/>
              <a:t>HOW IT WORKS</a:t>
            </a:r>
          </a:p>
        </p:txBody>
      </p:sp>
      <p:sp>
        <p:nvSpPr>
          <p:cNvPr id="295" name="Google Shape;295;g3f95de07730_1_183"/>
          <p:cNvSpPr txBox="1">
            <a:spLocks noGrp="1"/>
          </p:cNvSpPr>
          <p:nvPr>
            <p:ph type="title"/>
          </p:nvPr>
        </p:nvSpPr>
        <p:spPr/>
        <p:txBody>
          <a:bodyPr>
            <a:normAutofit/>
          </a:bodyPr>
          <a:lstStyle/>
          <a:p>
            <a:pPr lvl="0" rtl="0"/>
            <a:r>
              <a:rPr lang="en-US"/>
              <a:t>Key Pegasus Concepts</a:t>
            </a:r>
            <a:endParaRPr/>
          </a:p>
        </p:txBody>
      </p:sp>
      <p:grpSp>
        <p:nvGrpSpPr>
          <p:cNvPr id="340" name="Content group"/>
          <p:cNvGrpSpPr/>
          <p:nvPr/>
        </p:nvGrpSpPr>
        <p:grpSpPr>
          <a:xfrm>
            <a:off x="808148" y="1460500"/>
            <a:ext cx="10575705" cy="4697032"/>
            <a:chOff x="955195" y="1355795"/>
            <a:chExt cx="10575705" cy="4697032"/>
          </a:xfrm>
        </p:grpSpPr>
        <p:grpSp>
          <p:nvGrpSpPr>
            <p:cNvPr id="296" name="Google Shape;296;g3f95de07730_1_183"/>
            <p:cNvGrpSpPr/>
            <p:nvPr/>
          </p:nvGrpSpPr>
          <p:grpSpPr>
            <a:xfrm>
              <a:off x="1129871" y="1355795"/>
              <a:ext cx="7177072" cy="1458342"/>
              <a:chOff x="4511040" y="1264992"/>
              <a:chExt cx="7177072" cy="1458342"/>
            </a:xfrm>
          </p:grpSpPr>
          <p:sp>
            <p:nvSpPr>
              <p:cNvPr id="297" name="Google Shape;297;g3f95de07730_1_183"/>
              <p:cNvSpPr/>
              <p:nvPr/>
            </p:nvSpPr>
            <p:spPr>
              <a:xfrm>
                <a:off x="4511040" y="1264992"/>
                <a:ext cx="1767900" cy="3189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dirty="0">
                    <a:solidFill>
                      <a:schemeClr val="accent1"/>
                    </a:solidFill>
                    <a:sym typeface="Roboto"/>
                  </a:rPr>
                  <a:t>Pegasus WMS ==</a:t>
                </a:r>
                <a:endParaRPr sz="1500" b="0" i="0" u="none" strike="noStrike" cap="none" dirty="0">
                  <a:solidFill>
                    <a:schemeClr val="accent1"/>
                  </a:solidFill>
                  <a:sym typeface="Arial"/>
                </a:endParaRPr>
              </a:p>
            </p:txBody>
          </p:sp>
          <p:sp>
            <p:nvSpPr>
              <p:cNvPr id="298" name="Google Shape;298;g3f95de07730_1_183"/>
              <p:cNvSpPr/>
              <p:nvPr/>
            </p:nvSpPr>
            <p:spPr>
              <a:xfrm>
                <a:off x="6209212" y="1264992"/>
                <a:ext cx="5478900" cy="5652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3F3F3F"/>
                    </a:solidFill>
                    <a:sym typeface="Roboto"/>
                  </a:rPr>
                  <a:t>Pegasus planner (mapper) + DAGMan workflow engine + HTCondor scheduler/broker</a:t>
                </a:r>
                <a:endParaRPr sz="1500" b="0" i="0" u="none" strike="noStrike" cap="none">
                  <a:solidFill>
                    <a:srgbClr val="000000"/>
                  </a:solidFill>
                  <a:sym typeface="Arial"/>
                </a:endParaRPr>
              </a:p>
            </p:txBody>
          </p:sp>
          <p:sp>
            <p:nvSpPr>
              <p:cNvPr id="299" name="Google Shape;299;g3f95de07730_1_183"/>
              <p:cNvSpPr/>
              <p:nvPr/>
            </p:nvSpPr>
            <p:spPr>
              <a:xfrm>
                <a:off x="4511040" y="1850334"/>
                <a:ext cx="5742900" cy="873000"/>
              </a:xfrm>
              <a:prstGeom prst="rect">
                <a:avLst/>
              </a:prstGeom>
              <a:noFill/>
              <a:ln>
                <a:noFill/>
              </a:ln>
            </p:spPr>
            <p:txBody>
              <a:bodyPr spcFirstLastPara="1" wrap="square" lIns="72000" tIns="36000" rIns="72000" bIns="36000" anchor="t" anchorCtr="0">
                <a:noAutofit/>
              </a:bodyPr>
              <a:lstStyle/>
              <a:p>
                <a:pPr marL="203200" marR="0" lvl="0" indent="-209550" algn="l" rtl="0">
                  <a:lnSpc>
                    <a:spcPct val="100000"/>
                  </a:lnSpc>
                  <a:spcBef>
                    <a:spcPts val="0"/>
                  </a:spcBef>
                  <a:spcAft>
                    <a:spcPts val="0"/>
                  </a:spcAft>
                  <a:buClr>
                    <a:srgbClr val="74CA21"/>
                  </a:buClr>
                  <a:buSzPts val="1500"/>
                  <a:buFont typeface="Noto Sans Symbols"/>
                  <a:buChar char="▪"/>
                </a:pPr>
                <a:r>
                  <a:rPr lang="en-US" sz="1500" b="0" i="0" u="none" strike="noStrike" cap="none" dirty="0">
                    <a:solidFill>
                      <a:srgbClr val="3F3F3F"/>
                    </a:solidFill>
                    <a:sym typeface="Roboto"/>
                  </a:rPr>
                  <a:t>Pegasus maps workflows to infrastructure</a:t>
                </a:r>
                <a:endParaRPr sz="1500" b="0" i="0" u="none" strike="noStrike" cap="none" dirty="0">
                  <a:solidFill>
                    <a:srgbClr val="000000"/>
                  </a:solidFill>
                  <a:sym typeface="Arial"/>
                </a:endParaRPr>
              </a:p>
              <a:p>
                <a:pPr marL="203200" marR="0" lvl="0" indent="-209550" algn="l" rtl="0">
                  <a:lnSpc>
                    <a:spcPct val="100000"/>
                  </a:lnSpc>
                  <a:spcBef>
                    <a:spcPts val="700"/>
                  </a:spcBef>
                  <a:spcAft>
                    <a:spcPts val="0"/>
                  </a:spcAft>
                  <a:buClr>
                    <a:srgbClr val="74CA21"/>
                  </a:buClr>
                  <a:buSzPts val="1500"/>
                  <a:buFont typeface="Noto Sans Symbols"/>
                  <a:buChar char="▪"/>
                </a:pPr>
                <a:r>
                  <a:rPr lang="en-US" sz="1500" b="0" i="0" u="none" strike="noStrike" cap="none" dirty="0" err="1">
                    <a:solidFill>
                      <a:srgbClr val="3F3F3F"/>
                    </a:solidFill>
                    <a:sym typeface="Roboto"/>
                  </a:rPr>
                  <a:t>DAGMan</a:t>
                </a:r>
                <a:r>
                  <a:rPr lang="en-US" sz="1500" b="0" i="0" u="none" strike="noStrike" cap="none" dirty="0">
                    <a:solidFill>
                      <a:srgbClr val="3F3F3F"/>
                    </a:solidFill>
                    <a:sym typeface="Roboto"/>
                  </a:rPr>
                  <a:t> manages dependencies and reliability</a:t>
                </a:r>
                <a:endParaRPr sz="1500" b="0" i="0" u="none" strike="noStrike" cap="none" dirty="0">
                  <a:solidFill>
                    <a:srgbClr val="000000"/>
                  </a:solidFill>
                  <a:sym typeface="Arial"/>
                </a:endParaRPr>
              </a:p>
              <a:p>
                <a:pPr marL="203200" marR="0" lvl="0" indent="-209550" algn="l" rtl="0">
                  <a:lnSpc>
                    <a:spcPct val="100000"/>
                  </a:lnSpc>
                  <a:spcBef>
                    <a:spcPts val="700"/>
                  </a:spcBef>
                  <a:spcAft>
                    <a:spcPts val="0"/>
                  </a:spcAft>
                  <a:buClr>
                    <a:srgbClr val="74CA21"/>
                  </a:buClr>
                  <a:buSzPts val="1500"/>
                  <a:buFont typeface="Noto Sans Symbols"/>
                  <a:buChar char="▪"/>
                </a:pPr>
                <a:r>
                  <a:rPr lang="en-US" sz="1500" b="0" i="0" u="none" strike="noStrike" cap="none" dirty="0" err="1">
                    <a:solidFill>
                      <a:srgbClr val="3F3F3F"/>
                    </a:solidFill>
                    <a:sym typeface="Roboto"/>
                  </a:rPr>
                  <a:t>HTCondor</a:t>
                </a:r>
                <a:r>
                  <a:rPr lang="en-US" sz="1500" b="0" i="0" u="none" strike="noStrike" cap="none" dirty="0">
                    <a:solidFill>
                      <a:srgbClr val="3F3F3F"/>
                    </a:solidFill>
                    <a:sym typeface="Roboto"/>
                  </a:rPr>
                  <a:t> is used as a broker to interface with different schedulers</a:t>
                </a:r>
                <a:endParaRPr sz="1500" b="0" i="0" u="none" strike="noStrike" cap="none" dirty="0">
                  <a:solidFill>
                    <a:srgbClr val="000000"/>
                  </a:solidFill>
                  <a:sym typeface="Arial"/>
                </a:endParaRPr>
              </a:p>
            </p:txBody>
          </p:sp>
        </p:grpSp>
        <p:grpSp>
          <p:nvGrpSpPr>
            <p:cNvPr id="300" name="Google Shape;300;g3f95de07730_1_183"/>
            <p:cNvGrpSpPr/>
            <p:nvPr/>
          </p:nvGrpSpPr>
          <p:grpSpPr>
            <a:xfrm>
              <a:off x="1129871" y="3307064"/>
              <a:ext cx="5742900" cy="1216022"/>
              <a:chOff x="4511040" y="2957065"/>
              <a:chExt cx="5742900" cy="1216022"/>
            </a:xfrm>
          </p:grpSpPr>
          <p:sp>
            <p:nvSpPr>
              <p:cNvPr id="301" name="Google Shape;301;g3f95de07730_1_183"/>
              <p:cNvSpPr/>
              <p:nvPr/>
            </p:nvSpPr>
            <p:spPr>
              <a:xfrm>
                <a:off x="4511040" y="2957065"/>
                <a:ext cx="2677500" cy="349800"/>
              </a:xfrm>
              <a:prstGeom prst="rect">
                <a:avLst/>
              </a:prstGeom>
              <a:noFill/>
              <a:ln>
                <a:noFill/>
              </a:ln>
            </p:spPr>
            <p:txBody>
              <a:bodyPr spcFirstLastPara="1" wrap="square" lIns="72000" tIns="36000" rIns="72000" bIns="36000" anchor="ctr" anchorCtr="0">
                <a:noAutofit/>
              </a:bodyPr>
              <a:lstStyle/>
              <a:p>
                <a:pPr marL="0" marR="0" lvl="0" indent="0" algn="l" rtl="0">
                  <a:lnSpc>
                    <a:spcPct val="100000"/>
                  </a:lnSpc>
                  <a:spcBef>
                    <a:spcPts val="0"/>
                  </a:spcBef>
                  <a:spcAft>
                    <a:spcPts val="0"/>
                  </a:spcAft>
                  <a:buClr>
                    <a:srgbClr val="000000"/>
                  </a:buClr>
                  <a:buSzPts val="1900"/>
                  <a:buFont typeface="Arial"/>
                  <a:buNone/>
                </a:pPr>
                <a:r>
                  <a:rPr lang="en-US" sz="1900" b="1" i="0" u="none" strike="noStrike" cap="none" dirty="0">
                    <a:solidFill>
                      <a:schemeClr val="accent1"/>
                    </a:solidFill>
                    <a:sym typeface="Roboto"/>
                  </a:rPr>
                  <a:t>Workflows are DAGs</a:t>
                </a:r>
                <a:endParaRPr sz="1500" b="0" i="0" u="none" strike="noStrike" cap="none" dirty="0">
                  <a:solidFill>
                    <a:schemeClr val="accent1"/>
                  </a:solidFill>
                  <a:sym typeface="Arial"/>
                </a:endParaRPr>
              </a:p>
            </p:txBody>
          </p:sp>
          <p:sp>
            <p:nvSpPr>
              <p:cNvPr id="302" name="Google Shape;302;g3f95de07730_1_183"/>
              <p:cNvSpPr/>
              <p:nvPr/>
            </p:nvSpPr>
            <p:spPr>
              <a:xfrm>
                <a:off x="4511040" y="3300087"/>
                <a:ext cx="5742900" cy="873000"/>
              </a:xfrm>
              <a:prstGeom prst="rect">
                <a:avLst/>
              </a:prstGeom>
              <a:noFill/>
              <a:ln>
                <a:noFill/>
              </a:ln>
            </p:spPr>
            <p:txBody>
              <a:bodyPr spcFirstLastPara="1" wrap="square" lIns="72000" tIns="36000" rIns="72000" bIns="36000" anchor="t" anchorCtr="0">
                <a:noAutofit/>
              </a:bodyPr>
              <a:lstStyle/>
              <a:p>
                <a:pPr marL="203200" marR="0" lvl="0" indent="-209550" algn="l" rtl="0">
                  <a:lnSpc>
                    <a:spcPct val="100000"/>
                  </a:lnSpc>
                  <a:spcBef>
                    <a:spcPts val="0"/>
                  </a:spcBef>
                  <a:spcAft>
                    <a:spcPts val="0"/>
                  </a:spcAft>
                  <a:buClr>
                    <a:srgbClr val="74CA21"/>
                  </a:buClr>
                  <a:buSzPts val="1500"/>
                  <a:buFont typeface="Noto Sans Symbols"/>
                  <a:buChar char="▪"/>
                </a:pPr>
                <a:r>
                  <a:rPr lang="en-US" sz="1500" b="0" i="0" u="none" strike="noStrike" cap="none" dirty="0">
                    <a:solidFill>
                      <a:srgbClr val="3F3F3F"/>
                    </a:solidFill>
                    <a:sym typeface="Roboto"/>
                  </a:rPr>
                  <a:t>Nodes: jobs, edges: dependencies</a:t>
                </a:r>
                <a:endParaRPr sz="1500" b="0" i="0" u="none" strike="noStrike" cap="none" dirty="0">
                  <a:solidFill>
                    <a:srgbClr val="000000"/>
                  </a:solidFill>
                  <a:sym typeface="Arial"/>
                </a:endParaRPr>
              </a:p>
              <a:p>
                <a:pPr marL="203200" marR="0" lvl="0" indent="-209550" algn="l" rtl="0">
                  <a:lnSpc>
                    <a:spcPct val="100000"/>
                  </a:lnSpc>
                  <a:spcBef>
                    <a:spcPts val="700"/>
                  </a:spcBef>
                  <a:spcAft>
                    <a:spcPts val="0"/>
                  </a:spcAft>
                  <a:buClr>
                    <a:srgbClr val="74CA21"/>
                  </a:buClr>
                  <a:buSzPts val="1500"/>
                  <a:buFont typeface="Noto Sans Symbols"/>
                  <a:buChar char="▪"/>
                </a:pPr>
                <a:r>
                  <a:rPr lang="en-US" sz="1500" b="0" i="0" u="none" strike="noStrike" cap="none" dirty="0">
                    <a:solidFill>
                      <a:srgbClr val="3F3F3F"/>
                    </a:solidFill>
                    <a:sym typeface="Roboto"/>
                  </a:rPr>
                  <a:t>No while loops, no conditional branches</a:t>
                </a:r>
                <a:endParaRPr sz="1500" b="0" i="0" u="none" strike="noStrike" cap="none" dirty="0">
                  <a:solidFill>
                    <a:srgbClr val="000000"/>
                  </a:solidFill>
                  <a:sym typeface="Arial"/>
                </a:endParaRPr>
              </a:p>
              <a:p>
                <a:pPr marL="203200" marR="0" lvl="0" indent="-209550" algn="l" rtl="0">
                  <a:lnSpc>
                    <a:spcPct val="100000"/>
                  </a:lnSpc>
                  <a:spcBef>
                    <a:spcPts val="700"/>
                  </a:spcBef>
                  <a:spcAft>
                    <a:spcPts val="0"/>
                  </a:spcAft>
                  <a:buClr>
                    <a:srgbClr val="74CA21"/>
                  </a:buClr>
                  <a:buSzPts val="1500"/>
                  <a:buFont typeface="Noto Sans Symbols"/>
                  <a:buChar char="▪"/>
                </a:pPr>
                <a:r>
                  <a:rPr lang="en-US" sz="1500" b="0" i="0" u="none" strike="noStrike" cap="none" dirty="0">
                    <a:solidFill>
                      <a:srgbClr val="3F3F3F"/>
                    </a:solidFill>
                    <a:sym typeface="Roboto"/>
                  </a:rPr>
                  <a:t>Jobs are standalone executables</a:t>
                </a:r>
                <a:endParaRPr sz="1500" b="0" i="0" u="none" strike="noStrike" cap="none" dirty="0">
                  <a:solidFill>
                    <a:srgbClr val="000000"/>
                  </a:solidFill>
                  <a:sym typeface="Arial"/>
                </a:endParaRPr>
              </a:p>
            </p:txBody>
          </p:sp>
        </p:grpSp>
        <p:sp>
          <p:nvSpPr>
            <p:cNvPr id="303" name="Google Shape;303;g3f95de07730_1_183"/>
            <p:cNvSpPr/>
            <p:nvPr/>
          </p:nvSpPr>
          <p:spPr>
            <a:xfrm>
              <a:off x="1129871" y="4798538"/>
              <a:ext cx="4064100" cy="350100"/>
            </a:xfrm>
            <a:prstGeom prst="rect">
              <a:avLst/>
            </a:prstGeom>
            <a:noFill/>
            <a:ln>
              <a:noFill/>
            </a:ln>
          </p:spPr>
          <p:txBody>
            <a:bodyPr spcFirstLastPara="1" wrap="square" lIns="72000" tIns="36000" rIns="72000" bIns="36000" anchor="ctr" anchorCtr="0">
              <a:noAutofit/>
            </a:bodyPr>
            <a:lstStyle/>
            <a:p>
              <a:pPr marL="0" marR="0" lvl="0" indent="0" algn="l" rtl="0">
                <a:lnSpc>
                  <a:spcPct val="100000"/>
                </a:lnSpc>
                <a:spcBef>
                  <a:spcPts val="0"/>
                </a:spcBef>
                <a:spcAft>
                  <a:spcPts val="0"/>
                </a:spcAft>
                <a:buClr>
                  <a:srgbClr val="000000"/>
                </a:buClr>
                <a:buSzPts val="1900"/>
                <a:buFont typeface="Arial"/>
                <a:buNone/>
              </a:pPr>
              <a:r>
                <a:rPr lang="en-US" sz="1900" b="1" i="0" u="none" strike="noStrike" cap="none" dirty="0">
                  <a:solidFill>
                    <a:schemeClr val="accent1"/>
                  </a:solidFill>
                  <a:sym typeface="Roboto"/>
                </a:rPr>
                <a:t>Planning occurs ahead of execution</a:t>
              </a:r>
              <a:endParaRPr sz="1500" b="0" i="0" u="none" strike="noStrike" cap="none" dirty="0">
                <a:solidFill>
                  <a:schemeClr val="accent1"/>
                </a:solidFill>
                <a:sym typeface="Arial"/>
              </a:endParaRPr>
            </a:p>
          </p:txBody>
        </p:sp>
        <p:grpSp>
          <p:nvGrpSpPr>
            <p:cNvPr id="304" name="Google Shape;304;g3f95de07730_1_183"/>
            <p:cNvGrpSpPr/>
            <p:nvPr/>
          </p:nvGrpSpPr>
          <p:grpSpPr>
            <a:xfrm>
              <a:off x="1129871" y="5432489"/>
              <a:ext cx="8079304" cy="620338"/>
              <a:chOff x="4511040" y="4677983"/>
              <a:chExt cx="8079304" cy="620338"/>
            </a:xfrm>
          </p:grpSpPr>
          <p:sp>
            <p:nvSpPr>
              <p:cNvPr id="305" name="Google Shape;305;g3f95de07730_1_183"/>
              <p:cNvSpPr/>
              <p:nvPr/>
            </p:nvSpPr>
            <p:spPr>
              <a:xfrm>
                <a:off x="4511044" y="4677983"/>
                <a:ext cx="8079300" cy="3189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700" b="1" i="0" u="none" strike="noStrike" cap="none" dirty="0">
                    <a:solidFill>
                      <a:schemeClr val="accent1"/>
                    </a:solidFill>
                    <a:sym typeface="Roboto"/>
                  </a:rPr>
                  <a:t>Planning converts an abstract workflow into a concrete, executable workflow</a:t>
                </a:r>
                <a:endParaRPr sz="1500" b="0" i="0" u="none" strike="noStrike" cap="none" dirty="0">
                  <a:solidFill>
                    <a:schemeClr val="accent1"/>
                  </a:solidFill>
                  <a:sym typeface="Arial"/>
                </a:endParaRPr>
              </a:p>
            </p:txBody>
          </p:sp>
          <p:sp>
            <p:nvSpPr>
              <p:cNvPr id="306" name="Google Shape;306;g3f95de07730_1_183"/>
              <p:cNvSpPr/>
              <p:nvPr/>
            </p:nvSpPr>
            <p:spPr>
              <a:xfrm>
                <a:off x="4511040" y="5010321"/>
                <a:ext cx="5742900" cy="288000"/>
              </a:xfrm>
              <a:prstGeom prst="rect">
                <a:avLst/>
              </a:prstGeom>
              <a:noFill/>
              <a:ln>
                <a:noFill/>
              </a:ln>
            </p:spPr>
            <p:txBody>
              <a:bodyPr spcFirstLastPara="1" wrap="square" lIns="72000" tIns="36000" rIns="72000" bIns="36000" anchor="t" anchorCtr="0">
                <a:noAutofit/>
              </a:bodyPr>
              <a:lstStyle/>
              <a:p>
                <a:pPr marL="203200" marR="0" lvl="0" indent="-209550" algn="l" rtl="0">
                  <a:lnSpc>
                    <a:spcPct val="100000"/>
                  </a:lnSpc>
                  <a:spcBef>
                    <a:spcPts val="0"/>
                  </a:spcBef>
                  <a:spcAft>
                    <a:spcPts val="0"/>
                  </a:spcAft>
                  <a:buClr>
                    <a:srgbClr val="74CA21"/>
                  </a:buClr>
                  <a:buSzPts val="1500"/>
                  <a:buFont typeface="Noto Sans Symbols"/>
                  <a:buChar char="▪"/>
                </a:pPr>
                <a:r>
                  <a:rPr lang="en-US" sz="1500" b="0" i="0" u="none" strike="noStrike" cap="none" dirty="0">
                    <a:solidFill>
                      <a:srgbClr val="3F3F3F"/>
                    </a:solidFill>
                    <a:sym typeface="Roboto"/>
                  </a:rPr>
                  <a:t>Planner is like a compiler</a:t>
                </a:r>
                <a:endParaRPr sz="1500" b="0" i="0" u="none" strike="noStrike" cap="none" dirty="0">
                  <a:solidFill>
                    <a:srgbClr val="000000"/>
                  </a:solidFill>
                  <a:sym typeface="Arial"/>
                </a:endParaRPr>
              </a:p>
            </p:txBody>
          </p:sp>
        </p:grpSp>
        <p:cxnSp>
          <p:nvCxnSpPr>
            <p:cNvPr id="307" name="Google Shape;307;g3f95de07730_1_183"/>
            <p:cNvCxnSpPr/>
            <p:nvPr/>
          </p:nvCxnSpPr>
          <p:spPr>
            <a:xfrm>
              <a:off x="1129871" y="3169049"/>
              <a:ext cx="5550300" cy="0"/>
            </a:xfrm>
            <a:prstGeom prst="straightConnector1">
              <a:avLst/>
            </a:prstGeom>
            <a:noFill/>
            <a:ln w="9525" cap="flat" cmpd="sng">
              <a:solidFill>
                <a:srgbClr val="74CA21"/>
              </a:solidFill>
              <a:prstDash val="dash"/>
              <a:miter lim="800000"/>
              <a:headEnd type="none" w="sm" len="sm"/>
              <a:tailEnd type="none" w="sm" len="sm"/>
            </a:ln>
          </p:spPr>
        </p:cxnSp>
        <p:cxnSp>
          <p:nvCxnSpPr>
            <p:cNvPr id="308" name="Google Shape;308;g3f95de07730_1_183"/>
            <p:cNvCxnSpPr/>
            <p:nvPr/>
          </p:nvCxnSpPr>
          <p:spPr>
            <a:xfrm>
              <a:off x="1129871" y="4649506"/>
              <a:ext cx="3645300" cy="0"/>
            </a:xfrm>
            <a:prstGeom prst="straightConnector1">
              <a:avLst/>
            </a:prstGeom>
            <a:noFill/>
            <a:ln w="9525" cap="flat" cmpd="sng">
              <a:solidFill>
                <a:srgbClr val="74CA21"/>
              </a:solidFill>
              <a:prstDash val="dash"/>
              <a:miter lim="800000"/>
              <a:headEnd type="none" w="sm" len="sm"/>
              <a:tailEnd type="none" w="sm" len="sm"/>
            </a:ln>
          </p:spPr>
        </p:cxnSp>
        <p:cxnSp>
          <p:nvCxnSpPr>
            <p:cNvPr id="309" name="Google Shape;309;g3f95de07730_1_183"/>
            <p:cNvCxnSpPr/>
            <p:nvPr/>
          </p:nvCxnSpPr>
          <p:spPr>
            <a:xfrm>
              <a:off x="1129871" y="5293940"/>
              <a:ext cx="4064100" cy="0"/>
            </a:xfrm>
            <a:prstGeom prst="straightConnector1">
              <a:avLst/>
            </a:prstGeom>
            <a:noFill/>
            <a:ln w="9525" cap="flat" cmpd="sng">
              <a:solidFill>
                <a:srgbClr val="74CA21"/>
              </a:solidFill>
              <a:prstDash val="dash"/>
              <a:miter lim="800000"/>
              <a:headEnd type="none" w="sm" len="sm"/>
              <a:tailEnd type="none" w="sm" len="sm"/>
            </a:ln>
          </p:spPr>
        </p:cxnSp>
        <p:grpSp>
          <p:nvGrpSpPr>
            <p:cNvPr id="310" name="Google Shape;310;g3f95de07730_1_183"/>
            <p:cNvGrpSpPr/>
            <p:nvPr/>
          </p:nvGrpSpPr>
          <p:grpSpPr>
            <a:xfrm>
              <a:off x="8596198" y="1871947"/>
              <a:ext cx="2934702" cy="3517764"/>
              <a:chOff x="928409" y="2383826"/>
              <a:chExt cx="2733261" cy="3276301"/>
            </a:xfrm>
          </p:grpSpPr>
          <p:cxnSp>
            <p:nvCxnSpPr>
              <p:cNvPr id="311" name="Google Shape;311;g3f95de07730_1_183"/>
              <p:cNvCxnSpPr>
                <a:stCxn id="312" idx="3"/>
                <a:endCxn id="313" idx="0"/>
              </p:cNvCxnSpPr>
              <p:nvPr/>
            </p:nvCxnSpPr>
            <p:spPr>
              <a:xfrm flipH="1">
                <a:off x="1118920" y="2709030"/>
                <a:ext cx="1048500" cy="7110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14" name="Google Shape;314;g3f95de07730_1_183"/>
              <p:cNvCxnSpPr>
                <a:stCxn id="312" idx="3"/>
                <a:endCxn id="315" idx="0"/>
              </p:cNvCxnSpPr>
              <p:nvPr/>
            </p:nvCxnSpPr>
            <p:spPr>
              <a:xfrm flipH="1">
                <a:off x="1903120" y="2709030"/>
                <a:ext cx="264300" cy="7110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16" name="Google Shape;316;g3f95de07730_1_183"/>
              <p:cNvCxnSpPr>
                <a:stCxn id="312" idx="5"/>
                <a:endCxn id="317" idx="0"/>
              </p:cNvCxnSpPr>
              <p:nvPr/>
            </p:nvCxnSpPr>
            <p:spPr>
              <a:xfrm>
                <a:off x="2436828" y="2709030"/>
                <a:ext cx="250200" cy="7110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18" name="Google Shape;318;g3f95de07730_1_183"/>
              <p:cNvCxnSpPr>
                <a:stCxn id="312" idx="5"/>
                <a:endCxn id="319" idx="0"/>
              </p:cNvCxnSpPr>
              <p:nvPr/>
            </p:nvCxnSpPr>
            <p:spPr>
              <a:xfrm>
                <a:off x="2436828" y="2709030"/>
                <a:ext cx="1034400" cy="7110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20" name="Google Shape;320;g3f95de07730_1_183"/>
              <p:cNvCxnSpPr>
                <a:stCxn id="315" idx="4"/>
                <a:endCxn id="321" idx="1"/>
              </p:cNvCxnSpPr>
              <p:nvPr/>
            </p:nvCxnSpPr>
            <p:spPr>
              <a:xfrm>
                <a:off x="1902996" y="3801096"/>
                <a:ext cx="264300" cy="725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22" name="Google Shape;322;g3f95de07730_1_183"/>
              <p:cNvCxnSpPr>
                <a:stCxn id="313" idx="4"/>
                <a:endCxn id="321" idx="1"/>
              </p:cNvCxnSpPr>
              <p:nvPr/>
            </p:nvCxnSpPr>
            <p:spPr>
              <a:xfrm>
                <a:off x="1118909" y="3801096"/>
                <a:ext cx="1048500" cy="725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23" name="Google Shape;323;g3f95de07730_1_183"/>
              <p:cNvCxnSpPr>
                <a:stCxn id="317" idx="4"/>
                <a:endCxn id="321" idx="7"/>
              </p:cNvCxnSpPr>
              <p:nvPr/>
            </p:nvCxnSpPr>
            <p:spPr>
              <a:xfrm flipH="1">
                <a:off x="2436883" y="3801096"/>
                <a:ext cx="250200" cy="725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24" name="Google Shape;324;g3f95de07730_1_183"/>
              <p:cNvCxnSpPr>
                <a:stCxn id="319" idx="4"/>
                <a:endCxn id="321" idx="7"/>
              </p:cNvCxnSpPr>
              <p:nvPr/>
            </p:nvCxnSpPr>
            <p:spPr>
              <a:xfrm flipH="1">
                <a:off x="2436770" y="3801096"/>
                <a:ext cx="1034400" cy="725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25" name="Google Shape;325;g3f95de07730_1_183"/>
              <p:cNvCxnSpPr>
                <a:stCxn id="321" idx="4"/>
                <a:endCxn id="326" idx="0"/>
              </p:cNvCxnSpPr>
              <p:nvPr/>
            </p:nvCxnSpPr>
            <p:spPr>
              <a:xfrm>
                <a:off x="2302124" y="4851579"/>
                <a:ext cx="0" cy="427500"/>
              </a:xfrm>
              <a:prstGeom prst="straightConnector1">
                <a:avLst/>
              </a:prstGeom>
              <a:noFill/>
              <a:ln w="19075" cap="flat" cmpd="sng">
                <a:solidFill>
                  <a:srgbClr val="2D75B6">
                    <a:alpha val="80000"/>
                  </a:srgbClr>
                </a:solidFill>
                <a:prstDash val="solid"/>
                <a:miter lim="800000"/>
                <a:headEnd type="none" w="sm" len="sm"/>
                <a:tailEnd type="stealth" w="med" len="med"/>
              </a:ln>
            </p:spPr>
          </p:cxnSp>
          <p:sp>
            <p:nvSpPr>
              <p:cNvPr id="327" name="Google Shape;327;g3f95de07730_1_183"/>
              <p:cNvSpPr/>
              <p:nvPr/>
            </p:nvSpPr>
            <p:spPr>
              <a:xfrm>
                <a:off x="2148308" y="2419547"/>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28" name="Google Shape;328;g3f95de07730_1_183"/>
              <p:cNvSpPr/>
              <p:nvPr/>
            </p:nvSpPr>
            <p:spPr>
              <a:xfrm>
                <a:off x="965092" y="3456780"/>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29" name="Google Shape;329;g3f95de07730_1_183"/>
              <p:cNvSpPr/>
              <p:nvPr/>
            </p:nvSpPr>
            <p:spPr>
              <a:xfrm>
                <a:off x="1749179" y="3456780"/>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30" name="Google Shape;330;g3f95de07730_1_183"/>
              <p:cNvSpPr/>
              <p:nvPr/>
            </p:nvSpPr>
            <p:spPr>
              <a:xfrm>
                <a:off x="2533266" y="3456780"/>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31" name="Google Shape;331;g3f95de07730_1_183"/>
              <p:cNvSpPr/>
              <p:nvPr/>
            </p:nvSpPr>
            <p:spPr>
              <a:xfrm>
                <a:off x="3317353" y="3456780"/>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32" name="Google Shape;332;g3f95de07730_1_183"/>
              <p:cNvSpPr/>
              <p:nvPr/>
            </p:nvSpPr>
            <p:spPr>
              <a:xfrm>
                <a:off x="2148308" y="4507262"/>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33" name="Google Shape;333;g3f95de07730_1_183"/>
              <p:cNvSpPr/>
              <p:nvPr/>
            </p:nvSpPr>
            <p:spPr>
              <a:xfrm>
                <a:off x="2148308" y="5315811"/>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12" name="Google Shape;312;g3f95de07730_1_183"/>
              <p:cNvSpPr/>
              <p:nvPr/>
            </p:nvSpPr>
            <p:spPr>
              <a:xfrm>
                <a:off x="2111624" y="238382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13" name="Google Shape;313;g3f95de07730_1_183"/>
              <p:cNvSpPr/>
              <p:nvPr/>
            </p:nvSpPr>
            <p:spPr>
              <a:xfrm>
                <a:off x="928409" y="342009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15" name="Google Shape;315;g3f95de07730_1_183"/>
              <p:cNvSpPr/>
              <p:nvPr/>
            </p:nvSpPr>
            <p:spPr>
              <a:xfrm>
                <a:off x="1712496" y="342009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17" name="Google Shape;317;g3f95de07730_1_183"/>
              <p:cNvSpPr/>
              <p:nvPr/>
            </p:nvSpPr>
            <p:spPr>
              <a:xfrm>
                <a:off x="2496583" y="342009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19" name="Google Shape;319;g3f95de07730_1_183"/>
              <p:cNvSpPr/>
              <p:nvPr/>
            </p:nvSpPr>
            <p:spPr>
              <a:xfrm>
                <a:off x="3280670" y="342009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21" name="Google Shape;321;g3f95de07730_1_183"/>
              <p:cNvSpPr/>
              <p:nvPr/>
            </p:nvSpPr>
            <p:spPr>
              <a:xfrm>
                <a:off x="2111624" y="4470579"/>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26" name="Google Shape;326;g3f95de07730_1_183"/>
              <p:cNvSpPr/>
              <p:nvPr/>
            </p:nvSpPr>
            <p:spPr>
              <a:xfrm>
                <a:off x="2111624" y="5279127"/>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grpSp>
        <p:sp>
          <p:nvSpPr>
            <p:cNvPr id="334" name="Google Shape;334;g3f95de07730_1_183"/>
            <p:cNvSpPr/>
            <p:nvPr/>
          </p:nvSpPr>
          <p:spPr>
            <a:xfrm flipH="1">
              <a:off x="955195" y="1448107"/>
              <a:ext cx="109200" cy="109200"/>
            </a:xfrm>
            <a:prstGeom prst="rtTriangle">
              <a:avLst/>
            </a:prstGeom>
            <a:solidFill>
              <a:srgbClr val="BA083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35" name="Google Shape;335;g3f95de07730_1_183"/>
            <p:cNvSpPr/>
            <p:nvPr/>
          </p:nvSpPr>
          <p:spPr>
            <a:xfrm flipH="1">
              <a:off x="955195" y="3418808"/>
              <a:ext cx="109200" cy="109200"/>
            </a:xfrm>
            <a:prstGeom prst="rtTriangle">
              <a:avLst/>
            </a:prstGeom>
            <a:solidFill>
              <a:srgbClr val="BA083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36" name="Google Shape;336;g3f95de07730_1_183"/>
            <p:cNvSpPr/>
            <p:nvPr/>
          </p:nvSpPr>
          <p:spPr>
            <a:xfrm flipH="1">
              <a:off x="955195" y="4911366"/>
              <a:ext cx="109200" cy="109200"/>
            </a:xfrm>
            <a:prstGeom prst="rtTriangle">
              <a:avLst/>
            </a:prstGeom>
            <a:solidFill>
              <a:srgbClr val="BA083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37" name="Google Shape;337;g3f95de07730_1_183"/>
            <p:cNvSpPr/>
            <p:nvPr/>
          </p:nvSpPr>
          <p:spPr>
            <a:xfrm flipH="1">
              <a:off x="955195" y="5516784"/>
              <a:ext cx="109200" cy="109200"/>
            </a:xfrm>
            <a:prstGeom prst="rtTriangle">
              <a:avLst/>
            </a:prstGeom>
            <a:solidFill>
              <a:srgbClr val="BA083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sym typeface="Roboto Light"/>
              </a:endParaRPr>
            </a:p>
          </p:txBody>
        </p:sp>
        <p:sp>
          <p:nvSpPr>
            <p:cNvPr id="338" name="Google Shape;338;g3f95de07730_1_183"/>
            <p:cNvSpPr txBox="1"/>
            <p:nvPr/>
          </p:nvSpPr>
          <p:spPr>
            <a:xfrm>
              <a:off x="9209175" y="1807313"/>
              <a:ext cx="1319700" cy="36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500">
                  <a:solidFill>
                    <a:srgbClr val="595959"/>
                  </a:solidFill>
                  <a:sym typeface="Roboto"/>
                </a:rPr>
                <a:t>Task</a:t>
              </a:r>
              <a:endParaRPr sz="1500">
                <a:solidFill>
                  <a:srgbClr val="595959"/>
                </a:solidFill>
                <a:sym typeface="Roboto"/>
              </a:endParaRPr>
            </a:p>
          </p:txBody>
        </p:sp>
        <p:sp>
          <p:nvSpPr>
            <p:cNvPr id="339" name="Google Shape;339;g3f95de07730_1_183"/>
            <p:cNvSpPr txBox="1"/>
            <p:nvPr/>
          </p:nvSpPr>
          <p:spPr>
            <a:xfrm>
              <a:off x="7830525" y="2267524"/>
              <a:ext cx="1796700" cy="3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500">
                  <a:solidFill>
                    <a:srgbClr val="595959"/>
                  </a:solidFill>
                  <a:sym typeface="Roboto"/>
                </a:rPr>
                <a:t>Data dependency</a:t>
              </a:r>
              <a:endParaRPr sz="1500">
                <a:solidFill>
                  <a:srgbClr val="595959"/>
                </a:solidFill>
                <a:sym typeface="Roboto"/>
              </a:endParaRPr>
            </a:p>
            <a:p>
              <a:pPr marL="0" lvl="0" indent="0" algn="l" rtl="0">
                <a:spcBef>
                  <a:spcPts val="0"/>
                </a:spcBef>
                <a:spcAft>
                  <a:spcPts val="0"/>
                </a:spcAft>
                <a:buNone/>
              </a:pPr>
              <a:endParaRPr sz="1500">
                <a:solidFill>
                  <a:srgbClr val="595959"/>
                </a:solidFill>
                <a:sym typeface="Roboto"/>
              </a:endParaRPr>
            </a:p>
          </p:txBody>
        </p:sp>
      </p:grpSp>
    </p:spTree>
    <p:extLst>
      <p:ext uri="{BB962C8B-B14F-4D97-AF65-F5344CB8AC3E}">
        <p14:creationId xmlns:p14="http://schemas.microsoft.com/office/powerpoint/2010/main" val="18363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2" name="Text Placeholder 1">
            <a:extLst>
              <a:ext uri="{FF2B5EF4-FFF2-40B4-BE49-F238E27FC236}">
                <a16:creationId xmlns:a16="http://schemas.microsoft.com/office/drawing/2014/main" id="{214F0022-BBDD-A181-1566-166337D529D8}"/>
              </a:ext>
            </a:extLst>
          </p:cNvPr>
          <p:cNvSpPr>
            <a:spLocks noGrp="1"/>
          </p:cNvSpPr>
          <p:nvPr>
            <p:ph type="body" idx="13"/>
          </p:nvPr>
        </p:nvSpPr>
        <p:spPr/>
        <p:txBody>
          <a:bodyPr/>
          <a:lstStyle/>
          <a:p>
            <a:r>
              <a:rPr lang="en-US" dirty="0"/>
              <a:t>DEFINING WORKFLOWS</a:t>
            </a:r>
          </a:p>
        </p:txBody>
      </p:sp>
      <p:sp>
        <p:nvSpPr>
          <p:cNvPr id="344" name="Google Shape;344;g3f95de07730_1_231" descr="$PPTXTitle"/>
          <p:cNvSpPr txBox="1">
            <a:spLocks noGrp="1"/>
          </p:cNvSpPr>
          <p:nvPr>
            <p:ph type="title"/>
          </p:nvPr>
        </p:nvSpPr>
        <p:spPr/>
        <p:txBody>
          <a:bodyPr>
            <a:normAutofit/>
          </a:bodyPr>
          <a:lstStyle/>
          <a:p>
            <a:pPr lvl="0" rtl="0"/>
            <a:r>
              <a:rPr lang="en-US" dirty="0">
                <a:solidFill>
                  <a:schemeClr val="tx2"/>
                </a:solidFill>
              </a:rPr>
              <a:t>Defining Workflows in Python</a:t>
            </a:r>
            <a:endParaRPr dirty="0">
              <a:solidFill>
                <a:schemeClr val="tx2"/>
              </a:solidFill>
            </a:endParaRPr>
          </a:p>
        </p:txBody>
      </p:sp>
      <p:grpSp>
        <p:nvGrpSpPr>
          <p:cNvPr id="352" name="Content group"/>
          <p:cNvGrpSpPr/>
          <p:nvPr/>
        </p:nvGrpSpPr>
        <p:grpSpPr>
          <a:xfrm>
            <a:off x="883035" y="1397000"/>
            <a:ext cx="10425930" cy="4889500"/>
            <a:chOff x="542477" y="990387"/>
            <a:chExt cx="11598914" cy="5439600"/>
          </a:xfrm>
        </p:grpSpPr>
        <p:sp>
          <p:nvSpPr>
            <p:cNvPr id="345" name="Google Shape;345;g3f95de07730_1_231"/>
            <p:cNvSpPr txBox="1"/>
            <p:nvPr/>
          </p:nvSpPr>
          <p:spPr>
            <a:xfrm>
              <a:off x="8720076" y="3214688"/>
              <a:ext cx="3296100" cy="645601"/>
            </a:xfrm>
            <a:prstGeom prst="rect">
              <a:avLst/>
            </a:prstGeom>
            <a:noFill/>
            <a:ln>
              <a:noFill/>
            </a:ln>
          </p:spPr>
          <p:txBody>
            <a:bodyPr spcFirstLastPara="1" wrap="square" lIns="0" tIns="41300" rIns="0" bIns="0" anchor="t" anchorCtr="0">
              <a:spAutoFit/>
            </a:bodyPr>
            <a:lstStyle/>
            <a:p>
              <a:pPr marL="241300" lvl="0" indent="0" algn="l" rtl="0">
                <a:lnSpc>
                  <a:spcPct val="100000"/>
                </a:lnSpc>
                <a:spcBef>
                  <a:spcPts val="0"/>
                </a:spcBef>
                <a:spcAft>
                  <a:spcPts val="0"/>
                </a:spcAft>
                <a:buNone/>
              </a:pPr>
              <a:r>
                <a:rPr lang="en-US" sz="1800" b="1" dirty="0">
                  <a:solidFill>
                    <a:schemeClr val="accent1"/>
                  </a:solidFill>
                  <a:sym typeface="Arial"/>
                </a:rPr>
                <a:t>Declarative job addition</a:t>
              </a:r>
              <a:endParaRPr sz="1800" dirty="0">
                <a:solidFill>
                  <a:schemeClr val="accent1"/>
                </a:solidFill>
                <a:sym typeface="Arial"/>
              </a:endParaRPr>
            </a:p>
            <a:p>
              <a:pPr marL="0" lvl="0" indent="0" algn="l" rtl="0">
                <a:lnSpc>
                  <a:spcPct val="100000"/>
                </a:lnSpc>
                <a:spcBef>
                  <a:spcPts val="300"/>
                </a:spcBef>
                <a:spcAft>
                  <a:spcPts val="0"/>
                </a:spcAft>
                <a:buNone/>
              </a:pPr>
              <a:endParaRPr sz="1450" dirty="0">
                <a:sym typeface="Arial"/>
              </a:endParaRPr>
            </a:p>
          </p:txBody>
        </p:sp>
        <p:sp>
          <p:nvSpPr>
            <p:cNvPr id="346" name="Google Shape;346;g3f95de07730_1_231"/>
            <p:cNvSpPr txBox="1"/>
            <p:nvPr/>
          </p:nvSpPr>
          <p:spPr>
            <a:xfrm>
              <a:off x="9742291" y="4116859"/>
              <a:ext cx="2399100" cy="933900"/>
            </a:xfrm>
            <a:prstGeom prst="rect">
              <a:avLst/>
            </a:prstGeom>
            <a:noFill/>
            <a:ln>
              <a:noFill/>
            </a:ln>
          </p:spPr>
          <p:txBody>
            <a:bodyPr spcFirstLastPara="1" wrap="square" lIns="0" tIns="10225" rIns="0" bIns="0" anchor="t" anchorCtr="0">
              <a:spAutoFit/>
            </a:bodyPr>
            <a:lstStyle/>
            <a:p>
              <a:pPr marL="12700" lvl="0" indent="0" algn="l" rtl="0">
                <a:lnSpc>
                  <a:spcPct val="100000"/>
                </a:lnSpc>
                <a:spcBef>
                  <a:spcPts val="0"/>
                </a:spcBef>
                <a:spcAft>
                  <a:spcPts val="0"/>
                </a:spcAft>
                <a:buNone/>
              </a:pPr>
              <a:r>
                <a:rPr lang="en-US" sz="1800" b="1" dirty="0">
                  <a:solidFill>
                    <a:schemeClr val="accent1"/>
                  </a:solidFill>
                </a:rPr>
                <a:t>Simple dependency definition</a:t>
              </a:r>
              <a:endParaRPr sz="1800" b="1" dirty="0">
                <a:solidFill>
                  <a:schemeClr val="accent1"/>
                </a:solidFill>
              </a:endParaRPr>
            </a:p>
            <a:p>
              <a:pPr marL="0" lvl="0" indent="0" algn="l" rtl="0">
                <a:lnSpc>
                  <a:spcPct val="100000"/>
                </a:lnSpc>
                <a:spcBef>
                  <a:spcPts val="0"/>
                </a:spcBef>
                <a:spcAft>
                  <a:spcPts val="0"/>
                </a:spcAft>
                <a:buNone/>
              </a:pPr>
              <a:endParaRPr sz="1800" b="1" dirty="0">
                <a:solidFill>
                  <a:srgbClr val="0F4F75"/>
                </a:solidFill>
              </a:endParaRPr>
            </a:p>
          </p:txBody>
        </p:sp>
        <p:sp>
          <p:nvSpPr>
            <p:cNvPr id="347" name="Google Shape;347;g3f95de07730_1_231"/>
            <p:cNvSpPr txBox="1"/>
            <p:nvPr/>
          </p:nvSpPr>
          <p:spPr>
            <a:xfrm>
              <a:off x="8883073" y="5670089"/>
              <a:ext cx="2918100" cy="625800"/>
            </a:xfrm>
            <a:prstGeom prst="rect">
              <a:avLst/>
            </a:prstGeom>
            <a:noFill/>
            <a:ln>
              <a:noFill/>
            </a:ln>
          </p:spPr>
          <p:txBody>
            <a:bodyPr spcFirstLastPara="1" wrap="square" lIns="0" tIns="6675" rIns="0" bIns="0" anchor="t" anchorCtr="0">
              <a:spAutoFit/>
            </a:bodyPr>
            <a:lstStyle/>
            <a:p>
              <a:pPr marL="12700" marR="0" lvl="0" indent="0" algn="l" rtl="0">
                <a:lnSpc>
                  <a:spcPct val="101099"/>
                </a:lnSpc>
                <a:spcBef>
                  <a:spcPts val="0"/>
                </a:spcBef>
                <a:spcAft>
                  <a:spcPts val="0"/>
                </a:spcAft>
                <a:buNone/>
              </a:pPr>
              <a:r>
                <a:rPr lang="en-US" sz="1800" b="1" dirty="0">
                  <a:solidFill>
                    <a:schemeClr val="accent1"/>
                  </a:solidFill>
                  <a:sym typeface="Arial"/>
                </a:rPr>
                <a:t>Generates the abstract workflow (DAG</a:t>
              </a:r>
              <a:r>
                <a:rPr lang="en-US" sz="1800" b="1" dirty="0">
                  <a:solidFill>
                    <a:schemeClr val="accent1"/>
                  </a:solidFill>
                </a:rPr>
                <a:t>)</a:t>
              </a:r>
              <a:endParaRPr sz="1800" dirty="0">
                <a:solidFill>
                  <a:schemeClr val="accent1"/>
                </a:solidFill>
                <a:sym typeface="Arial"/>
              </a:endParaRPr>
            </a:p>
          </p:txBody>
        </p:sp>
        <p:sp>
          <p:nvSpPr>
            <p:cNvPr id="348" name="Google Shape;348;g3f95de07730_1_231"/>
            <p:cNvSpPr txBox="1"/>
            <p:nvPr/>
          </p:nvSpPr>
          <p:spPr>
            <a:xfrm>
              <a:off x="542477" y="990387"/>
              <a:ext cx="7296300" cy="5439600"/>
            </a:xfrm>
            <a:prstGeom prst="rect">
              <a:avLst/>
            </a:prstGeom>
            <a:noFill/>
            <a:ln>
              <a:noFill/>
            </a:ln>
          </p:spPr>
          <p:txBody>
            <a:bodyPr spcFirstLastPara="1" wrap="square" lIns="63975" tIns="63975" rIns="63975" bIns="63975" anchor="t" anchorCtr="0">
              <a:spAutoFit/>
            </a:bodyPr>
            <a:lstStyle/>
            <a:p>
              <a:pPr marL="0" lvl="0" indent="0" algn="l" rtl="0">
                <a:spcBef>
                  <a:spcPts val="0"/>
                </a:spcBef>
                <a:spcAft>
                  <a:spcPts val="0"/>
                </a:spcAft>
                <a:buNone/>
              </a:pPr>
              <a:r>
                <a:rPr lang="en-US" sz="1350" b="1">
                  <a:solidFill>
                    <a:srgbClr val="444444"/>
                  </a:solidFill>
                  <a:latin typeface="Courier New"/>
                  <a:ea typeface="Courier New"/>
                  <a:cs typeface="Courier New"/>
                  <a:sym typeface="Courier New"/>
                </a:rPr>
                <a:t>from</a:t>
              </a:r>
              <a:r>
                <a:rPr lang="en-US" sz="1350">
                  <a:solidFill>
                    <a:srgbClr val="444444"/>
                  </a:solidFill>
                  <a:latin typeface="Courier New"/>
                  <a:ea typeface="Courier New"/>
                  <a:cs typeface="Courier New"/>
                  <a:sym typeface="Courier New"/>
                </a:rPr>
                <a:t> Pegasus.api </a:t>
              </a:r>
              <a:r>
                <a:rPr lang="en-US" sz="1350" b="1">
                  <a:solidFill>
                    <a:srgbClr val="444444"/>
                  </a:solidFill>
                  <a:latin typeface="Courier New"/>
                  <a:ea typeface="Courier New"/>
                  <a:cs typeface="Courier New"/>
                  <a:sym typeface="Courier New"/>
                </a:rPr>
                <a:t>import</a:t>
              </a:r>
              <a:r>
                <a:rPr lang="en-US" sz="1350">
                  <a:solidFill>
                    <a:srgbClr val="444444"/>
                  </a:solidFill>
                  <a:latin typeface="Courier New"/>
                  <a:ea typeface="Courier New"/>
                  <a:cs typeface="Courier New"/>
                  <a:sym typeface="Courier New"/>
                </a:rPr>
                <a:t> *</a:t>
              </a: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350">
                  <a:solidFill>
                    <a:srgbClr val="697070"/>
                  </a:solidFill>
                  <a:latin typeface="Courier New"/>
                  <a:ea typeface="Courier New"/>
                  <a:cs typeface="Courier New"/>
                  <a:sym typeface="Courier New"/>
                </a:rPr>
                <a:t># Create abstract workflow</a:t>
              </a: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350">
                  <a:solidFill>
                    <a:srgbClr val="444444"/>
                  </a:solidFill>
                  <a:latin typeface="Courier New"/>
                  <a:ea typeface="Courier New"/>
                  <a:cs typeface="Courier New"/>
                  <a:sym typeface="Courier New"/>
                </a:rPr>
                <a:t>wf = Workflow(</a:t>
              </a:r>
              <a:r>
                <a:rPr lang="en-US" sz="1350">
                  <a:solidFill>
                    <a:srgbClr val="880000"/>
                  </a:solidFill>
                  <a:latin typeface="Courier New"/>
                  <a:ea typeface="Courier New"/>
                  <a:cs typeface="Courier New"/>
                  <a:sym typeface="Courier New"/>
                </a:rPr>
                <a:t>"pipeline"</a:t>
              </a:r>
              <a:r>
                <a:rPr lang="en-US" sz="1350">
                  <a:solidFill>
                    <a:srgbClr val="444444"/>
                  </a:solidFill>
                  <a:latin typeface="Courier New"/>
                  <a:ea typeface="Courier New"/>
                  <a:cs typeface="Courier New"/>
                  <a:sym typeface="Courier New"/>
                </a:rPr>
                <a:t>)</a:t>
              </a: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350">
                  <a:solidFill>
                    <a:srgbClr val="697070"/>
                  </a:solidFill>
                  <a:latin typeface="Courier New"/>
                  <a:ea typeface="Courier New"/>
                  <a:cs typeface="Courier New"/>
                  <a:sym typeface="Courier New"/>
                </a:rPr>
                <a:t># Track the data</a:t>
              </a: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350">
                  <a:solidFill>
                    <a:srgbClr val="444444"/>
                  </a:solidFill>
                  <a:latin typeface="Courier New"/>
                  <a:ea typeface="Courier New"/>
                  <a:cs typeface="Courier New"/>
                  <a:sym typeface="Courier New"/>
                </a:rPr>
                <a:t>page = File(</a:t>
              </a:r>
              <a:r>
                <a:rPr lang="en-US" sz="1350">
                  <a:solidFill>
                    <a:srgbClr val="880000"/>
                  </a:solidFill>
                  <a:latin typeface="Courier New"/>
                  <a:ea typeface="Courier New"/>
                  <a:cs typeface="Courier New"/>
                  <a:sym typeface="Courier New"/>
                </a:rPr>
                <a:t>"page.html"</a:t>
              </a:r>
              <a:r>
                <a:rPr lang="en-US" sz="1350">
                  <a:solidFill>
                    <a:srgbClr val="444444"/>
                  </a:solidFill>
                  <a:latin typeface="Courier New"/>
                  <a:ea typeface="Courier New"/>
                  <a:cs typeface="Courier New"/>
                  <a:sym typeface="Courier New"/>
                </a:rPr>
                <a:t>)</a:t>
              </a: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350">
                  <a:solidFill>
                    <a:srgbClr val="697070"/>
                  </a:solidFill>
                  <a:latin typeface="Courier New"/>
                  <a:ea typeface="Courier New"/>
                  <a:cs typeface="Courier New"/>
                  <a:sym typeface="Courier New"/>
                </a:rPr>
                <a:t># Create a Job</a:t>
              </a: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350">
                  <a:solidFill>
                    <a:srgbClr val="444444"/>
                  </a:solidFill>
                  <a:latin typeface="Courier New"/>
                  <a:ea typeface="Courier New"/>
                  <a:cs typeface="Courier New"/>
                  <a:sym typeface="Courier New"/>
                </a:rPr>
                <a:t>curl_job = Job(</a:t>
              </a:r>
              <a:r>
                <a:rPr lang="en-US" sz="1350">
                  <a:solidFill>
                    <a:srgbClr val="880000"/>
                  </a:solidFill>
                  <a:latin typeface="Courier New"/>
                  <a:ea typeface="Courier New"/>
                  <a:cs typeface="Courier New"/>
                  <a:sym typeface="Courier New"/>
                </a:rPr>
                <a:t>"curl"</a:t>
              </a:r>
              <a:r>
                <a:rPr lang="en-US" sz="1350">
                  <a:solidFill>
                    <a:srgbClr val="444444"/>
                  </a:solidFill>
                  <a:latin typeface="Courier New"/>
                  <a:ea typeface="Courier New"/>
                  <a:cs typeface="Courier New"/>
                  <a:sym typeface="Courier New"/>
                </a:rPr>
                <a:t>)\</a:t>
              </a: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350">
                  <a:solidFill>
                    <a:srgbClr val="444444"/>
                  </a:solidFill>
                  <a:latin typeface="Courier New"/>
                  <a:ea typeface="Courier New"/>
                  <a:cs typeface="Courier New"/>
                  <a:sym typeface="Courier New"/>
                </a:rPr>
                <a:t>           .add_args(</a:t>
              </a:r>
              <a:r>
                <a:rPr lang="en-US" sz="1350">
                  <a:solidFill>
                    <a:srgbClr val="880000"/>
                  </a:solidFill>
                  <a:latin typeface="Courier New"/>
                  <a:ea typeface="Courier New"/>
                  <a:cs typeface="Courier New"/>
                  <a:sym typeface="Courier New"/>
                </a:rPr>
                <a:t>"-o"</a:t>
              </a:r>
              <a:r>
                <a:rPr lang="en-US" sz="1350">
                  <a:solidFill>
                    <a:srgbClr val="444444"/>
                  </a:solidFill>
                  <a:latin typeface="Courier New"/>
                  <a:ea typeface="Courier New"/>
                  <a:cs typeface="Courier New"/>
                  <a:sym typeface="Courier New"/>
                </a:rPr>
                <a:t>, page, </a:t>
              </a:r>
              <a:r>
                <a:rPr lang="en-US" sz="1350">
                  <a:solidFill>
                    <a:srgbClr val="880000"/>
                  </a:solidFill>
                  <a:latin typeface="Courier New"/>
                  <a:ea typeface="Courier New"/>
                  <a:cs typeface="Courier New"/>
                  <a:sym typeface="Courier New"/>
                </a:rPr>
                <a:t>"https://pegasus.isi.edu"</a:t>
              </a:r>
              <a:r>
                <a:rPr lang="en-US" sz="1350">
                  <a:solidFill>
                    <a:srgbClr val="444444"/>
                  </a:solidFill>
                  <a:latin typeface="Courier New"/>
                  <a:ea typeface="Courier New"/>
                  <a:cs typeface="Courier New"/>
                  <a:sym typeface="Courier New"/>
                </a:rPr>
                <a:t>)\</a:t>
              </a: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350">
                  <a:solidFill>
                    <a:srgbClr val="444444"/>
                  </a:solidFill>
                  <a:latin typeface="Courier New"/>
                  <a:ea typeface="Courier New"/>
                  <a:cs typeface="Courier New"/>
                  <a:sym typeface="Courier New"/>
                </a:rPr>
                <a:t>           .add_outputs(page)</a:t>
              </a: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350">
                  <a:solidFill>
                    <a:srgbClr val="697070"/>
                  </a:solidFill>
                  <a:latin typeface="Courier New"/>
                  <a:ea typeface="Courier New"/>
                  <a:cs typeface="Courier New"/>
                  <a:sym typeface="Courier New"/>
                </a:rPr>
                <a:t># Create a Dependent Job</a:t>
              </a: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350">
                  <a:solidFill>
                    <a:srgbClr val="444444"/>
                  </a:solidFill>
                  <a:latin typeface="Courier New"/>
                  <a:ea typeface="Courier New"/>
                  <a:cs typeface="Courier New"/>
                  <a:sym typeface="Courier New"/>
                </a:rPr>
                <a:t>wc_job = Job(</a:t>
              </a:r>
              <a:r>
                <a:rPr lang="en-US" sz="1350">
                  <a:solidFill>
                    <a:srgbClr val="880000"/>
                  </a:solidFill>
                  <a:latin typeface="Courier New"/>
                  <a:ea typeface="Courier New"/>
                  <a:cs typeface="Courier New"/>
                  <a:sym typeface="Courier New"/>
                </a:rPr>
                <a:t>"wc"</a:t>
              </a:r>
              <a:r>
                <a:rPr lang="en-US" sz="1350">
                  <a:solidFill>
                    <a:srgbClr val="444444"/>
                  </a:solidFill>
                  <a:latin typeface="Courier New"/>
                  <a:ea typeface="Courier New"/>
                  <a:cs typeface="Courier New"/>
                  <a:sym typeface="Courier New"/>
                </a:rPr>
                <a:t>)\</a:t>
              </a: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350">
                  <a:solidFill>
                    <a:srgbClr val="444444"/>
                  </a:solidFill>
                  <a:latin typeface="Courier New"/>
                  <a:ea typeface="Courier New"/>
                  <a:cs typeface="Courier New"/>
                  <a:sym typeface="Courier New"/>
                </a:rPr>
                <a:t>         .add_args(</a:t>
              </a:r>
              <a:r>
                <a:rPr lang="en-US" sz="1350">
                  <a:solidFill>
                    <a:srgbClr val="880000"/>
                  </a:solidFill>
                  <a:latin typeface="Courier New"/>
                  <a:ea typeface="Courier New"/>
                  <a:cs typeface="Courier New"/>
                  <a:sym typeface="Courier New"/>
                </a:rPr>
                <a:t>"-l"</a:t>
              </a:r>
              <a:r>
                <a:rPr lang="en-US" sz="1350">
                  <a:solidFill>
                    <a:srgbClr val="444444"/>
                  </a:solidFill>
                  <a:latin typeface="Courier New"/>
                  <a:ea typeface="Courier New"/>
                  <a:cs typeface="Courier New"/>
                  <a:sym typeface="Courier New"/>
                </a:rPr>
                <a:t>, page)\</a:t>
              </a: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350">
                  <a:solidFill>
                    <a:srgbClr val="444444"/>
                  </a:solidFill>
                  <a:latin typeface="Courier New"/>
                  <a:ea typeface="Courier New"/>
                  <a:cs typeface="Courier New"/>
                  <a:sym typeface="Courier New"/>
                </a:rPr>
                <a:t>         .add_inputs(page)</a:t>
              </a: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350">
                  <a:solidFill>
                    <a:srgbClr val="697070"/>
                  </a:solidFill>
                  <a:latin typeface="Courier New"/>
                  <a:ea typeface="Courier New"/>
                  <a:cs typeface="Courier New"/>
                  <a:sym typeface="Courier New"/>
                </a:rPr>
                <a:t># Add jobs and dependencies</a:t>
              </a: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350">
                  <a:solidFill>
                    <a:srgbClr val="444444"/>
                  </a:solidFill>
                  <a:latin typeface="Courier New"/>
                  <a:ea typeface="Courier New"/>
                  <a:cs typeface="Courier New"/>
                  <a:sym typeface="Courier New"/>
                </a:rPr>
                <a:t>wf.add_jobs(curl_job, wc_job)</a:t>
              </a: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350">
                  <a:solidFill>
                    <a:srgbClr val="444444"/>
                  </a:solidFill>
                  <a:latin typeface="Courier New"/>
                  <a:ea typeface="Courier New"/>
                  <a:cs typeface="Courier New"/>
                  <a:sym typeface="Courier New"/>
                </a:rPr>
                <a:t>wf.add_dependency(wc_job, parents=[curl_job])</a:t>
              </a: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endParaRPr sz="135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350">
                  <a:solidFill>
                    <a:srgbClr val="444444"/>
                  </a:solidFill>
                  <a:latin typeface="Courier New"/>
                  <a:ea typeface="Courier New"/>
                  <a:cs typeface="Courier New"/>
                  <a:sym typeface="Courier New"/>
                </a:rPr>
                <a:t>wf.write(</a:t>
              </a:r>
              <a:r>
                <a:rPr lang="en-US" sz="1350">
                  <a:solidFill>
                    <a:srgbClr val="880000"/>
                  </a:solidFill>
                  <a:latin typeface="Courier New"/>
                  <a:ea typeface="Courier New"/>
                  <a:cs typeface="Courier New"/>
                  <a:sym typeface="Courier New"/>
                </a:rPr>
                <a:t>"pipeline.yml"</a:t>
              </a:r>
              <a:r>
                <a:rPr lang="en-US" sz="1350">
                  <a:solidFill>
                    <a:srgbClr val="444444"/>
                  </a:solidFill>
                  <a:latin typeface="Courier New"/>
                  <a:ea typeface="Courier New"/>
                  <a:cs typeface="Courier New"/>
                  <a:sym typeface="Courier New"/>
                </a:rPr>
                <a:t>)</a:t>
              </a:r>
              <a:endParaRPr sz="1350">
                <a:latin typeface="Courier New"/>
                <a:ea typeface="Courier New"/>
                <a:cs typeface="Courier New"/>
                <a:sym typeface="Courier New"/>
              </a:endParaRPr>
            </a:p>
          </p:txBody>
        </p:sp>
        <p:cxnSp>
          <p:nvCxnSpPr>
            <p:cNvPr id="349" name="Google Shape;349;g3f95de07730_1_231"/>
            <p:cNvCxnSpPr/>
            <p:nvPr/>
          </p:nvCxnSpPr>
          <p:spPr>
            <a:xfrm flipH="1">
              <a:off x="5774616" y="4547594"/>
              <a:ext cx="3664500" cy="1086000"/>
            </a:xfrm>
            <a:prstGeom prst="straightConnector1">
              <a:avLst/>
            </a:prstGeom>
            <a:noFill/>
            <a:ln w="53300" cap="flat" cmpd="sng">
              <a:solidFill>
                <a:schemeClr val="accent5"/>
              </a:solidFill>
              <a:prstDash val="solid"/>
              <a:round/>
              <a:headEnd type="none" w="med" len="med"/>
              <a:tailEnd type="triangle" w="med" len="med"/>
            </a:ln>
          </p:spPr>
        </p:cxnSp>
        <p:cxnSp>
          <p:nvCxnSpPr>
            <p:cNvPr id="350" name="Google Shape;350;g3f95de07730_1_231"/>
            <p:cNvCxnSpPr/>
            <p:nvPr/>
          </p:nvCxnSpPr>
          <p:spPr>
            <a:xfrm flipH="1">
              <a:off x="5102826" y="3722466"/>
              <a:ext cx="4198500" cy="1011900"/>
            </a:xfrm>
            <a:prstGeom prst="straightConnector1">
              <a:avLst/>
            </a:prstGeom>
            <a:noFill/>
            <a:ln w="53300" cap="flat" cmpd="sng">
              <a:solidFill>
                <a:schemeClr val="accent5"/>
              </a:solidFill>
              <a:prstDash val="solid"/>
              <a:round/>
              <a:headEnd type="none" w="med" len="med"/>
              <a:tailEnd type="triangle" w="med" len="med"/>
            </a:ln>
          </p:spPr>
        </p:cxnSp>
        <p:cxnSp>
          <p:nvCxnSpPr>
            <p:cNvPr id="351" name="Google Shape;351;g3f95de07730_1_231"/>
            <p:cNvCxnSpPr/>
            <p:nvPr/>
          </p:nvCxnSpPr>
          <p:spPr>
            <a:xfrm flipH="1">
              <a:off x="3553776" y="6063917"/>
              <a:ext cx="5166300" cy="79200"/>
            </a:xfrm>
            <a:prstGeom prst="straightConnector1">
              <a:avLst/>
            </a:prstGeom>
            <a:noFill/>
            <a:ln w="53300" cap="flat" cmpd="sng">
              <a:solidFill>
                <a:schemeClr val="accent5"/>
              </a:solidFill>
              <a:prstDash val="solid"/>
              <a:round/>
              <a:headEnd type="none" w="med" len="med"/>
              <a:tailEnd type="triangle" w="med" len="med"/>
            </a:ln>
          </p:spPr>
        </p:cxnSp>
      </p:grpSp>
    </p:spTree>
    <p:extLst>
      <p:ext uri="{BB962C8B-B14F-4D97-AF65-F5344CB8AC3E}">
        <p14:creationId xmlns:p14="http://schemas.microsoft.com/office/powerpoint/2010/main" val="1459190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grpSp>
        <p:nvGrpSpPr>
          <p:cNvPr id="358" name="Content group"/>
          <p:cNvGrpSpPr/>
          <p:nvPr/>
        </p:nvGrpSpPr>
        <p:grpSpPr>
          <a:xfrm>
            <a:off x="1228840" y="1397000"/>
            <a:ext cx="9734320" cy="4889500"/>
            <a:chOff x="0" y="692081"/>
            <a:chExt cx="12192005" cy="6123983"/>
          </a:xfrm>
        </p:grpSpPr>
        <p:pic>
          <p:nvPicPr>
            <p:cNvPr id="357" name="Google Shape;357;g3f95de07730_1_243" title="3bjm7f3bjm7f3bjm.png"/>
            <p:cNvPicPr preferRelativeResize="0"/>
            <p:nvPr/>
          </p:nvPicPr>
          <p:blipFill>
            <a:blip r:embed="rId3">
              <a:alphaModFix/>
            </a:blip>
            <a:srcRect t="10000"/>
            <a:stretch>
              <a:fillRect/>
            </a:stretch>
          </p:blipFill>
          <p:spPr>
            <a:xfrm>
              <a:off x="0" y="692081"/>
              <a:ext cx="12192005" cy="6123983"/>
            </a:xfrm>
            <a:prstGeom prst="rect">
              <a:avLst/>
            </a:prstGeom>
            <a:noFill/>
            <a:ln>
              <a:noFill/>
            </a:ln>
          </p:spPr>
        </p:pic>
      </p:grpSp>
      <p:sp>
        <p:nvSpPr>
          <p:cNvPr id="3" name="Text Placeholder 2">
            <a:extLst>
              <a:ext uri="{FF2B5EF4-FFF2-40B4-BE49-F238E27FC236}">
                <a16:creationId xmlns:a16="http://schemas.microsoft.com/office/drawing/2014/main" id="{66172F87-69FC-B29F-D863-443ECC4F2710}"/>
              </a:ext>
            </a:extLst>
          </p:cNvPr>
          <p:cNvSpPr>
            <a:spLocks noGrp="1"/>
          </p:cNvSpPr>
          <p:nvPr>
            <p:ph type="body" idx="13"/>
          </p:nvPr>
        </p:nvSpPr>
        <p:spPr/>
        <p:txBody>
          <a:bodyPr/>
          <a:lstStyle/>
          <a:p>
            <a:r>
              <a:rPr lang="en-US" dirty="0"/>
              <a:t>AI-ASSISTED DESIGN</a:t>
            </a:r>
          </a:p>
        </p:txBody>
      </p:sp>
      <p:sp>
        <p:nvSpPr>
          <p:cNvPr id="2" name="Title 1">
            <a:extLst>
              <a:ext uri="{FF2B5EF4-FFF2-40B4-BE49-F238E27FC236}">
                <a16:creationId xmlns:a16="http://schemas.microsoft.com/office/drawing/2014/main" id="{B69769F7-A4B3-D449-AD29-602DC70DE5F3}"/>
              </a:ext>
            </a:extLst>
          </p:cNvPr>
          <p:cNvSpPr>
            <a:spLocks noGrp="1"/>
          </p:cNvSpPr>
          <p:nvPr>
            <p:ph type="title"/>
          </p:nvPr>
        </p:nvSpPr>
        <p:spPr/>
        <p:txBody>
          <a:bodyPr>
            <a:normAutofit/>
          </a:bodyPr>
          <a:lstStyle/>
          <a:p>
            <a:r>
              <a:rPr lang="en-US" dirty="0"/>
              <a:t>Designing Pegasus WMS Workflows with Claude</a:t>
            </a:r>
          </a:p>
        </p:txBody>
      </p:sp>
    </p:spTree>
    <p:extLst>
      <p:ext uri="{BB962C8B-B14F-4D97-AF65-F5344CB8AC3E}">
        <p14:creationId xmlns:p14="http://schemas.microsoft.com/office/powerpoint/2010/main" val="3952348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pic>
        <p:nvPicPr>
          <p:cNvPr id="362" name="Google Shape;362;g3f95de07730_1_247" descr="napkin.png"/>
          <p:cNvPicPr preferRelativeResize="0"/>
          <p:nvPr/>
        </p:nvPicPr>
        <p:blipFill rotWithShape="1">
          <a:blip r:embed="rId3">
            <a:alphaModFix/>
          </a:blip>
          <a:srcRect/>
          <a:stretch/>
        </p:blipFill>
        <p:spPr>
          <a:xfrm>
            <a:off x="388433" y="1360731"/>
            <a:ext cx="3932434" cy="3676933"/>
          </a:xfrm>
          <a:prstGeom prst="rect">
            <a:avLst/>
          </a:prstGeom>
          <a:noFill/>
          <a:ln>
            <a:noFill/>
          </a:ln>
        </p:spPr>
      </p:pic>
      <p:sp>
        <p:nvSpPr>
          <p:cNvPr id="364" name="Google Shape;364;g3f95de07730_1_247"/>
          <p:cNvSpPr txBox="1">
            <a:spLocks noGrp="1"/>
          </p:cNvSpPr>
          <p:nvPr>
            <p:ph type="body" idx="13"/>
          </p:nvPr>
        </p:nvSpPr>
        <p:spPr>
          <a:prstGeom prst="rect">
            <a:avLst/>
          </a:prstGeom>
        </p:spPr>
        <p:txBody>
          <a:bodyPr spcFirstLastPara="1" wrap="square" lIns="91425" tIns="45700" rIns="91425" bIns="45700" anchor="t" anchorCtr="0">
            <a:normAutofit fontScale="25000" lnSpcReduction="20000"/>
          </a:bodyPr>
          <a:lstStyle/>
          <a:p>
            <a:pPr marL="0" lvl="0" indent="0" algn="l" rtl="0">
              <a:spcBef>
                <a:spcPts val="1300"/>
              </a:spcBef>
              <a:spcAft>
                <a:spcPts val="0"/>
              </a:spcAft>
              <a:buClr>
                <a:schemeClr val="dk1"/>
              </a:buClr>
              <a:buSzPct val="33333"/>
              <a:buFont typeface="Arial"/>
              <a:buNone/>
            </a:pPr>
            <a:endParaRPr b="1" dirty="0"/>
          </a:p>
        </p:txBody>
      </p:sp>
      <p:sp>
        <p:nvSpPr>
          <p:cNvPr id="363" name="Google Shape;363;g3f95de07730_1_247"/>
          <p:cNvSpPr txBox="1">
            <a:spLocks noGrp="1"/>
          </p:cNvSpPr>
          <p:nvPr>
            <p:ph type="title"/>
          </p:nvPr>
        </p:nvSpPr>
        <p:spPr>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dirty="0"/>
              <a:t>From Napkin Sketch to Executable Workflow</a:t>
            </a:r>
            <a:endParaRPr dirty="0"/>
          </a:p>
        </p:txBody>
      </p:sp>
      <p:sp>
        <p:nvSpPr>
          <p:cNvPr id="2" name="Star: 24 Points 131">
            <a:extLst>
              <a:ext uri="{FF2B5EF4-FFF2-40B4-BE49-F238E27FC236}">
                <a16:creationId xmlns:a16="http://schemas.microsoft.com/office/drawing/2014/main" id="{D76A90FB-7F5F-8377-2B58-87BBBEB9000A}"/>
              </a:ext>
            </a:extLst>
          </p:cNvPr>
          <p:cNvSpPr/>
          <p:nvPr/>
        </p:nvSpPr>
        <p:spPr>
          <a:xfrm>
            <a:off x="7196865" y="5280622"/>
            <a:ext cx="4833001" cy="1443265"/>
          </a:xfrm>
          <a:prstGeom prst="star24">
            <a:avLst/>
          </a:prstGeom>
          <a:solidFill>
            <a:schemeClr val="bg1"/>
          </a:solidFill>
          <a:ln w="69850">
            <a:solidFill>
              <a:schemeClr val="dk2"/>
            </a:solid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accent2"/>
                </a:solidFill>
              </a:rPr>
              <a:t>More on this in the poster session on</a:t>
            </a:r>
          </a:p>
          <a:p>
            <a:pPr algn="ctr"/>
            <a:r>
              <a:rPr lang="en-US" sz="1800" b="1" dirty="0">
                <a:solidFill>
                  <a:schemeClr val="accent2"/>
                </a:solidFill>
              </a:rPr>
              <a:t>Pegasus AI Studio</a:t>
            </a:r>
          </a:p>
        </p:txBody>
      </p:sp>
      <p:sp>
        <p:nvSpPr>
          <p:cNvPr id="5" name="Text Placeholder 4">
            <a:extLst>
              <a:ext uri="{FF2B5EF4-FFF2-40B4-BE49-F238E27FC236}">
                <a16:creationId xmlns:a16="http://schemas.microsoft.com/office/drawing/2014/main" id="{1DB9DF7A-C1D7-A39E-F2D9-EC67FAE30FFC}"/>
              </a:ext>
            </a:extLst>
          </p:cNvPr>
          <p:cNvSpPr>
            <a:spLocks noGrp="1"/>
          </p:cNvSpPr>
          <p:nvPr>
            <p:ph type="body" idx="14"/>
          </p:nvPr>
        </p:nvSpPr>
        <p:spPr>
          <a:xfrm>
            <a:off x="5490038" y="1289049"/>
            <a:ext cx="6003462" cy="4444777"/>
          </a:xfrm>
        </p:spPr>
        <p:txBody>
          <a:bodyPr>
            <a:normAutofit fontScale="92500" lnSpcReduction="20000"/>
          </a:bodyPr>
          <a:lstStyle/>
          <a:p>
            <a:pPr lvl="0">
              <a:spcBef>
                <a:spcPts val="1300"/>
              </a:spcBef>
              <a:buClr>
                <a:schemeClr val="dk1"/>
              </a:buClr>
              <a:buSzPct val="33333"/>
            </a:pPr>
            <a:r>
              <a:rPr lang="en-US" sz="2000" b="1" dirty="0">
                <a:solidFill>
                  <a:schemeClr val="accent1"/>
                </a:solidFill>
              </a:rPr>
              <a:t>Claude reads the image directly</a:t>
            </a:r>
          </a:p>
          <a:p>
            <a:pPr marL="381000" indent="-236855">
              <a:spcBef>
                <a:spcPts val="1300"/>
              </a:spcBef>
              <a:buSzPct val="100000"/>
              <a:buFont typeface="Arial"/>
              <a:buAutoNum type="arabicPeriod"/>
            </a:pPr>
            <a:r>
              <a:rPr lang="en-US" sz="1400" b="1" dirty="0">
                <a:solidFill>
                  <a:schemeClr val="accent1"/>
                </a:solidFill>
              </a:rPr>
              <a:t>Vision analysis</a:t>
            </a:r>
            <a:br>
              <a:rPr lang="en-US" sz="1400" dirty="0"/>
            </a:br>
            <a:r>
              <a:rPr lang="en-US" sz="1400" dirty="0"/>
              <a:t>Identifies 4 processing stages, decision diamonds, fork/join points, data-flow arrows</a:t>
            </a:r>
          </a:p>
          <a:p>
            <a:pPr marL="381000" indent="-236855">
              <a:spcBef>
                <a:spcPts val="1300"/>
              </a:spcBef>
              <a:buSzPct val="100000"/>
              <a:buFont typeface="Arial"/>
              <a:buAutoNum type="arabicPeriod"/>
            </a:pPr>
            <a:r>
              <a:rPr lang="en-US" sz="1400" b="1" dirty="0">
                <a:solidFill>
                  <a:schemeClr val="accent1"/>
                </a:solidFill>
              </a:rPr>
              <a:t>Topology extraction</a:t>
            </a:r>
            <a:br>
              <a:rPr lang="en-US" sz="1400" dirty="0"/>
            </a:br>
            <a:r>
              <a:rPr lang="en-US" sz="1400" dirty="0"/>
              <a:t>Maps fan-out/fan-in DAG: generate → 100 parallel </a:t>
            </a:r>
            <a:r>
              <a:rPr lang="en-US" sz="1400" dirty="0" err="1"/>
              <a:t>process+QA</a:t>
            </a:r>
            <a:r>
              <a:rPr lang="en-US" sz="1400" dirty="0"/>
              <a:t> branches → merge report</a:t>
            </a:r>
          </a:p>
          <a:p>
            <a:pPr marL="381000" indent="-236855">
              <a:spcBef>
                <a:spcPts val="1300"/>
              </a:spcBef>
              <a:buSzPct val="100000"/>
              <a:buFont typeface="Arial"/>
              <a:buAutoNum type="arabicPeriod"/>
            </a:pPr>
            <a:r>
              <a:rPr lang="en-US" sz="1400" b="1" dirty="0">
                <a:solidFill>
                  <a:schemeClr val="accent1"/>
                </a:solidFill>
              </a:rPr>
              <a:t>Code generation</a:t>
            </a:r>
            <a:br>
              <a:rPr lang="en-US" sz="1400" dirty="0"/>
            </a:br>
            <a:r>
              <a:rPr lang="en-US" sz="1400" dirty="0"/>
              <a:t>Produces </a:t>
            </a:r>
            <a:r>
              <a:rPr lang="en-US" sz="1400" dirty="0" err="1"/>
              <a:t>workflow_generator.py</a:t>
            </a:r>
            <a:r>
              <a:rPr lang="en-US" sz="1400" dirty="0"/>
              <a:t> with Pegasus API calls, </a:t>
            </a:r>
            <a:r>
              <a:rPr lang="en-US" sz="1400" dirty="0" err="1"/>
              <a:t>infer_dependencies</a:t>
            </a:r>
            <a:r>
              <a:rPr lang="en-US" sz="1400" dirty="0"/>
              <a:t>=True</a:t>
            </a:r>
          </a:p>
          <a:p>
            <a:pPr marL="381000" indent="-236855">
              <a:spcBef>
                <a:spcPts val="1300"/>
              </a:spcBef>
              <a:buSzPct val="100000"/>
              <a:buFont typeface="Arial"/>
              <a:buAutoNum type="arabicPeriod"/>
            </a:pPr>
            <a:r>
              <a:rPr lang="en-US" sz="1400" b="1" dirty="0">
                <a:solidFill>
                  <a:schemeClr val="accent1"/>
                </a:solidFill>
              </a:rPr>
              <a:t>Script scaffolding</a:t>
            </a:r>
            <a:br>
              <a:rPr lang="en-US" sz="1400" dirty="0"/>
            </a:br>
            <a:r>
              <a:rPr lang="en-US" sz="1400" dirty="0"/>
              <a:t>Creates 4 standalone bin/ scripts — generate, process, QA, merge for 100 stations</a:t>
            </a:r>
          </a:p>
          <a:p>
            <a:pPr marL="381000" indent="-236855">
              <a:spcBef>
                <a:spcPts val="1300"/>
              </a:spcBef>
              <a:buSzPct val="100000"/>
              <a:buFont typeface="Arial"/>
              <a:buAutoNum type="arabicPeriod"/>
            </a:pPr>
            <a:r>
              <a:rPr lang="en-US" sz="1400" b="1" dirty="0">
                <a:solidFill>
                  <a:schemeClr val="accent1"/>
                </a:solidFill>
              </a:rPr>
              <a:t>Container + tests</a:t>
            </a:r>
            <a:br>
              <a:rPr lang="en-US" sz="1400" dirty="0"/>
            </a:br>
            <a:r>
              <a:rPr lang="en-US" sz="1400" dirty="0"/>
              <a:t>Generates Docker config, </a:t>
            </a:r>
            <a:r>
              <a:rPr lang="en-US" sz="1400" dirty="0" err="1"/>
              <a:t>test_workflow.py</a:t>
            </a:r>
            <a:r>
              <a:rPr lang="en-US" sz="1400" dirty="0"/>
              <a:t>, and parameterized station count</a:t>
            </a:r>
          </a:p>
          <a:p>
            <a:pPr lvl="0">
              <a:spcBef>
                <a:spcPts val="1300"/>
              </a:spcBef>
            </a:pPr>
            <a:r>
              <a:rPr lang="en-US" sz="1400" b="1" dirty="0">
                <a:solidFill>
                  <a:schemeClr val="accent1"/>
                </a:solidFill>
              </a:rPr>
              <a:t>No manual transcription needed. The AI reads the visual spec the way a human collaborator would.</a:t>
            </a:r>
          </a:p>
          <a:p>
            <a:pPr lvl="0">
              <a:spcBef>
                <a:spcPts val="1300"/>
              </a:spcBef>
            </a:pPr>
            <a:r>
              <a:rPr lang="en-US" sz="1400" b="1" dirty="0">
                <a:solidFill>
                  <a:schemeClr val="accent1"/>
                </a:solidFill>
              </a:rPr>
              <a:t>Domain scientists draw what they know — AI translates it into executable workflow code</a:t>
            </a:r>
          </a:p>
          <a:p>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grpSp>
        <p:nvGrpSpPr>
          <p:cNvPr id="371" name="Google Shape;371;g3f5c399fe94_0_0"/>
          <p:cNvGrpSpPr/>
          <p:nvPr/>
        </p:nvGrpSpPr>
        <p:grpSpPr>
          <a:xfrm>
            <a:off x="1207601" y="2473958"/>
            <a:ext cx="2733261" cy="3276301"/>
            <a:chOff x="928409" y="2383826"/>
            <a:chExt cx="2733261" cy="3276301"/>
          </a:xfrm>
        </p:grpSpPr>
        <p:cxnSp>
          <p:nvCxnSpPr>
            <p:cNvPr id="372" name="Google Shape;372;g3f5c399fe94_0_0"/>
            <p:cNvCxnSpPr>
              <a:stCxn id="373" idx="3"/>
              <a:endCxn id="374" idx="0"/>
            </p:cNvCxnSpPr>
            <p:nvPr/>
          </p:nvCxnSpPr>
          <p:spPr>
            <a:xfrm flipH="1">
              <a:off x="1118920" y="2709030"/>
              <a:ext cx="1048500" cy="7110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75" name="Google Shape;375;g3f5c399fe94_0_0"/>
            <p:cNvCxnSpPr>
              <a:stCxn id="373" idx="3"/>
              <a:endCxn id="376" idx="0"/>
            </p:cNvCxnSpPr>
            <p:nvPr/>
          </p:nvCxnSpPr>
          <p:spPr>
            <a:xfrm flipH="1">
              <a:off x="1903120" y="2709030"/>
              <a:ext cx="264300" cy="7110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77" name="Google Shape;377;g3f5c399fe94_0_0"/>
            <p:cNvCxnSpPr>
              <a:stCxn id="373" idx="5"/>
              <a:endCxn id="378" idx="0"/>
            </p:cNvCxnSpPr>
            <p:nvPr/>
          </p:nvCxnSpPr>
          <p:spPr>
            <a:xfrm>
              <a:off x="2436828" y="2709030"/>
              <a:ext cx="250200" cy="7110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79" name="Google Shape;379;g3f5c399fe94_0_0"/>
            <p:cNvCxnSpPr>
              <a:stCxn id="373" idx="5"/>
              <a:endCxn id="380" idx="0"/>
            </p:cNvCxnSpPr>
            <p:nvPr/>
          </p:nvCxnSpPr>
          <p:spPr>
            <a:xfrm>
              <a:off x="2436828" y="2709030"/>
              <a:ext cx="1034400" cy="7110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81" name="Google Shape;381;g3f5c399fe94_0_0"/>
            <p:cNvCxnSpPr>
              <a:stCxn id="376" idx="4"/>
              <a:endCxn id="382" idx="1"/>
            </p:cNvCxnSpPr>
            <p:nvPr/>
          </p:nvCxnSpPr>
          <p:spPr>
            <a:xfrm>
              <a:off x="1902996" y="3801096"/>
              <a:ext cx="264300" cy="725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83" name="Google Shape;383;g3f5c399fe94_0_0"/>
            <p:cNvCxnSpPr>
              <a:stCxn id="374" idx="4"/>
              <a:endCxn id="382" idx="1"/>
            </p:cNvCxnSpPr>
            <p:nvPr/>
          </p:nvCxnSpPr>
          <p:spPr>
            <a:xfrm>
              <a:off x="1118909" y="3801096"/>
              <a:ext cx="1048500" cy="725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84" name="Google Shape;384;g3f5c399fe94_0_0"/>
            <p:cNvCxnSpPr>
              <a:stCxn id="378" idx="4"/>
              <a:endCxn id="382" idx="7"/>
            </p:cNvCxnSpPr>
            <p:nvPr/>
          </p:nvCxnSpPr>
          <p:spPr>
            <a:xfrm flipH="1">
              <a:off x="2436883" y="3801096"/>
              <a:ext cx="250200" cy="725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85" name="Google Shape;385;g3f5c399fe94_0_0"/>
            <p:cNvCxnSpPr>
              <a:stCxn id="380" idx="4"/>
              <a:endCxn id="382" idx="7"/>
            </p:cNvCxnSpPr>
            <p:nvPr/>
          </p:nvCxnSpPr>
          <p:spPr>
            <a:xfrm flipH="1">
              <a:off x="2436770" y="3801096"/>
              <a:ext cx="1034400" cy="725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86" name="Google Shape;386;g3f5c399fe94_0_0"/>
            <p:cNvCxnSpPr>
              <a:stCxn id="382" idx="4"/>
              <a:endCxn id="387" idx="0"/>
            </p:cNvCxnSpPr>
            <p:nvPr/>
          </p:nvCxnSpPr>
          <p:spPr>
            <a:xfrm>
              <a:off x="2302124" y="4851579"/>
              <a:ext cx="0" cy="427500"/>
            </a:xfrm>
            <a:prstGeom prst="straightConnector1">
              <a:avLst/>
            </a:prstGeom>
            <a:noFill/>
            <a:ln w="19075" cap="flat" cmpd="sng">
              <a:solidFill>
                <a:srgbClr val="2D75B6">
                  <a:alpha val="80000"/>
                </a:srgbClr>
              </a:solidFill>
              <a:prstDash val="solid"/>
              <a:miter lim="800000"/>
              <a:headEnd type="none" w="sm" len="sm"/>
              <a:tailEnd type="stealth" w="med" len="med"/>
            </a:ln>
          </p:spPr>
        </p:cxnSp>
        <p:sp>
          <p:nvSpPr>
            <p:cNvPr id="388" name="Google Shape;388;g3f5c399fe94_0_0"/>
            <p:cNvSpPr/>
            <p:nvPr/>
          </p:nvSpPr>
          <p:spPr>
            <a:xfrm>
              <a:off x="2148308" y="2419547"/>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89" name="Google Shape;389;g3f5c399fe94_0_0"/>
            <p:cNvSpPr/>
            <p:nvPr/>
          </p:nvSpPr>
          <p:spPr>
            <a:xfrm>
              <a:off x="965092" y="3456780"/>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90" name="Google Shape;390;g3f5c399fe94_0_0"/>
            <p:cNvSpPr/>
            <p:nvPr/>
          </p:nvSpPr>
          <p:spPr>
            <a:xfrm>
              <a:off x="1749179" y="3456780"/>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91" name="Google Shape;391;g3f5c399fe94_0_0"/>
            <p:cNvSpPr/>
            <p:nvPr/>
          </p:nvSpPr>
          <p:spPr>
            <a:xfrm>
              <a:off x="2533266" y="3456780"/>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92" name="Google Shape;392;g3f5c399fe94_0_0"/>
            <p:cNvSpPr/>
            <p:nvPr/>
          </p:nvSpPr>
          <p:spPr>
            <a:xfrm>
              <a:off x="3317353" y="3456780"/>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93" name="Google Shape;393;g3f5c399fe94_0_0"/>
            <p:cNvSpPr/>
            <p:nvPr/>
          </p:nvSpPr>
          <p:spPr>
            <a:xfrm>
              <a:off x="2148308" y="4507262"/>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94" name="Google Shape;394;g3f5c399fe94_0_0"/>
            <p:cNvSpPr/>
            <p:nvPr/>
          </p:nvSpPr>
          <p:spPr>
            <a:xfrm>
              <a:off x="2148308" y="5315811"/>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73" name="Google Shape;373;g3f5c399fe94_0_0"/>
            <p:cNvSpPr/>
            <p:nvPr/>
          </p:nvSpPr>
          <p:spPr>
            <a:xfrm>
              <a:off x="2111624" y="238382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74" name="Google Shape;374;g3f5c399fe94_0_0"/>
            <p:cNvSpPr/>
            <p:nvPr/>
          </p:nvSpPr>
          <p:spPr>
            <a:xfrm>
              <a:off x="928409" y="342009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76" name="Google Shape;376;g3f5c399fe94_0_0"/>
            <p:cNvSpPr/>
            <p:nvPr/>
          </p:nvSpPr>
          <p:spPr>
            <a:xfrm>
              <a:off x="1712496" y="342009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78" name="Google Shape;378;g3f5c399fe94_0_0"/>
            <p:cNvSpPr/>
            <p:nvPr/>
          </p:nvSpPr>
          <p:spPr>
            <a:xfrm>
              <a:off x="2496583" y="342009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80" name="Google Shape;380;g3f5c399fe94_0_0"/>
            <p:cNvSpPr/>
            <p:nvPr/>
          </p:nvSpPr>
          <p:spPr>
            <a:xfrm>
              <a:off x="3280670" y="342009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82" name="Google Shape;382;g3f5c399fe94_0_0"/>
            <p:cNvSpPr/>
            <p:nvPr/>
          </p:nvSpPr>
          <p:spPr>
            <a:xfrm>
              <a:off x="2111624" y="4470579"/>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87" name="Google Shape;387;g3f5c399fe94_0_0"/>
            <p:cNvSpPr/>
            <p:nvPr/>
          </p:nvSpPr>
          <p:spPr>
            <a:xfrm>
              <a:off x="2111624" y="5279127"/>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grpSp>
      <p:sp>
        <p:nvSpPr>
          <p:cNvPr id="395" name="Google Shape;395;g3f5c399fe94_0_0"/>
          <p:cNvSpPr/>
          <p:nvPr/>
        </p:nvSpPr>
        <p:spPr>
          <a:xfrm>
            <a:off x="647700" y="999673"/>
            <a:ext cx="4343700" cy="3501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US" sz="1900" b="1" i="0" u="none" strike="noStrike" cap="none">
                <a:solidFill>
                  <a:srgbClr val="74CA21"/>
                </a:solidFill>
                <a:latin typeface="Roboto"/>
                <a:ea typeface="Roboto"/>
                <a:cs typeface="Roboto"/>
                <a:sym typeface="Roboto"/>
              </a:rPr>
              <a:t>Portable Description</a:t>
            </a:r>
            <a:endParaRPr sz="1500" b="0" i="0" u="none" strike="noStrike" cap="none">
              <a:solidFill>
                <a:srgbClr val="000000"/>
              </a:solidFill>
              <a:latin typeface="Arial"/>
              <a:ea typeface="Arial"/>
              <a:cs typeface="Arial"/>
              <a:sym typeface="Arial"/>
            </a:endParaRPr>
          </a:p>
        </p:txBody>
      </p:sp>
      <p:sp>
        <p:nvSpPr>
          <p:cNvPr id="396" name="Google Shape;396;g3f5c399fe94_0_0"/>
          <p:cNvSpPr/>
          <p:nvPr/>
        </p:nvSpPr>
        <p:spPr>
          <a:xfrm>
            <a:off x="647700" y="1293531"/>
            <a:ext cx="4343700" cy="2880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7F7F7F"/>
                </a:solidFill>
                <a:latin typeface="Roboto"/>
                <a:ea typeface="Roboto"/>
                <a:cs typeface="Roboto"/>
                <a:sym typeface="Roboto"/>
              </a:rPr>
              <a:t>Users do not worry about low level execution details</a:t>
            </a:r>
            <a:endParaRPr sz="1500" b="0" i="0" u="none" strike="noStrike" cap="none">
              <a:solidFill>
                <a:srgbClr val="000000"/>
              </a:solidFill>
              <a:latin typeface="Arial"/>
              <a:ea typeface="Arial"/>
              <a:cs typeface="Arial"/>
              <a:sym typeface="Arial"/>
            </a:endParaRPr>
          </a:p>
        </p:txBody>
      </p:sp>
      <p:grpSp>
        <p:nvGrpSpPr>
          <p:cNvPr id="397" name="Google Shape;397;g3f5c399fe94_0_0"/>
          <p:cNvGrpSpPr/>
          <p:nvPr/>
        </p:nvGrpSpPr>
        <p:grpSpPr>
          <a:xfrm>
            <a:off x="1650480" y="3145605"/>
            <a:ext cx="225002" cy="225002"/>
            <a:chOff x="1360030" y="3045613"/>
            <a:chExt cx="247500" cy="247500"/>
          </a:xfrm>
        </p:grpSpPr>
        <p:sp>
          <p:nvSpPr>
            <p:cNvPr id="398" name="Google Shape;398;g3f5c399fe94_0_0"/>
            <p:cNvSpPr/>
            <p:nvPr/>
          </p:nvSpPr>
          <p:spPr>
            <a:xfrm>
              <a:off x="1360030" y="3045613"/>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99" name="Google Shape;399;g3f5c399fe94_0_0"/>
            <p:cNvSpPr/>
            <p:nvPr/>
          </p:nvSpPr>
          <p:spPr>
            <a:xfrm>
              <a:off x="1432295" y="3099181"/>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00" name="Google Shape;400;g3f5c399fe94_0_0"/>
          <p:cNvGrpSpPr/>
          <p:nvPr/>
        </p:nvGrpSpPr>
        <p:grpSpPr>
          <a:xfrm>
            <a:off x="2221525" y="3021922"/>
            <a:ext cx="225002" cy="225002"/>
            <a:chOff x="1931069" y="2921931"/>
            <a:chExt cx="247500" cy="247500"/>
          </a:xfrm>
        </p:grpSpPr>
        <p:sp>
          <p:nvSpPr>
            <p:cNvPr id="401" name="Google Shape;401;g3f5c399fe94_0_0"/>
            <p:cNvSpPr/>
            <p:nvPr/>
          </p:nvSpPr>
          <p:spPr>
            <a:xfrm>
              <a:off x="1931069" y="2921931"/>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02" name="Google Shape;402;g3f5c399fe94_0_0"/>
            <p:cNvSpPr/>
            <p:nvPr/>
          </p:nvSpPr>
          <p:spPr>
            <a:xfrm>
              <a:off x="2003334" y="2975499"/>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03" name="Google Shape;403;g3f5c399fe94_0_0"/>
          <p:cNvGrpSpPr/>
          <p:nvPr/>
        </p:nvGrpSpPr>
        <p:grpSpPr>
          <a:xfrm>
            <a:off x="2703206" y="3021922"/>
            <a:ext cx="225002" cy="225002"/>
            <a:chOff x="2412745" y="2921931"/>
            <a:chExt cx="247500" cy="247500"/>
          </a:xfrm>
        </p:grpSpPr>
        <p:sp>
          <p:nvSpPr>
            <p:cNvPr id="404" name="Google Shape;404;g3f5c399fe94_0_0"/>
            <p:cNvSpPr/>
            <p:nvPr/>
          </p:nvSpPr>
          <p:spPr>
            <a:xfrm>
              <a:off x="2412745" y="2921931"/>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05" name="Google Shape;405;g3f5c399fe94_0_0"/>
            <p:cNvSpPr/>
            <p:nvPr/>
          </p:nvSpPr>
          <p:spPr>
            <a:xfrm>
              <a:off x="2485010" y="2975499"/>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06" name="Google Shape;406;g3f5c399fe94_0_0"/>
          <p:cNvGrpSpPr/>
          <p:nvPr/>
        </p:nvGrpSpPr>
        <p:grpSpPr>
          <a:xfrm>
            <a:off x="3274252" y="3145605"/>
            <a:ext cx="225002" cy="225002"/>
            <a:chOff x="2983784" y="3045613"/>
            <a:chExt cx="247500" cy="247500"/>
          </a:xfrm>
        </p:grpSpPr>
        <p:sp>
          <p:nvSpPr>
            <p:cNvPr id="407" name="Google Shape;407;g3f5c399fe94_0_0"/>
            <p:cNvSpPr/>
            <p:nvPr/>
          </p:nvSpPr>
          <p:spPr>
            <a:xfrm>
              <a:off x="2983784" y="3045613"/>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08" name="Google Shape;408;g3f5c399fe94_0_0"/>
            <p:cNvSpPr/>
            <p:nvPr/>
          </p:nvSpPr>
          <p:spPr>
            <a:xfrm>
              <a:off x="3056049" y="3099181"/>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09" name="Google Shape;409;g3f5c399fe94_0_0"/>
          <p:cNvGrpSpPr/>
          <p:nvPr/>
        </p:nvGrpSpPr>
        <p:grpSpPr>
          <a:xfrm>
            <a:off x="1599063" y="3975130"/>
            <a:ext cx="225002" cy="225002"/>
            <a:chOff x="1308613" y="3875129"/>
            <a:chExt cx="247500" cy="247500"/>
          </a:xfrm>
        </p:grpSpPr>
        <p:sp>
          <p:nvSpPr>
            <p:cNvPr id="410" name="Google Shape;410;g3f5c399fe94_0_0"/>
            <p:cNvSpPr/>
            <p:nvPr/>
          </p:nvSpPr>
          <p:spPr>
            <a:xfrm>
              <a:off x="1308613" y="3875129"/>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11" name="Google Shape;411;g3f5c399fe94_0_0"/>
            <p:cNvSpPr/>
            <p:nvPr/>
          </p:nvSpPr>
          <p:spPr>
            <a:xfrm>
              <a:off x="1380878" y="3928697"/>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12" name="Google Shape;412;g3f5c399fe94_0_0"/>
          <p:cNvGrpSpPr/>
          <p:nvPr/>
        </p:nvGrpSpPr>
        <p:grpSpPr>
          <a:xfrm>
            <a:off x="2148145" y="4045245"/>
            <a:ext cx="225002" cy="225002"/>
            <a:chOff x="1857689" y="3945243"/>
            <a:chExt cx="247500" cy="247500"/>
          </a:xfrm>
        </p:grpSpPr>
        <p:sp>
          <p:nvSpPr>
            <p:cNvPr id="413" name="Google Shape;413;g3f5c399fe94_0_0"/>
            <p:cNvSpPr/>
            <p:nvPr/>
          </p:nvSpPr>
          <p:spPr>
            <a:xfrm>
              <a:off x="1857689" y="3945243"/>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14" name="Google Shape;414;g3f5c399fe94_0_0"/>
            <p:cNvSpPr/>
            <p:nvPr/>
          </p:nvSpPr>
          <p:spPr>
            <a:xfrm>
              <a:off x="1929954" y="3998811"/>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15" name="Google Shape;415;g3f5c399fe94_0_0"/>
          <p:cNvGrpSpPr/>
          <p:nvPr/>
        </p:nvGrpSpPr>
        <p:grpSpPr>
          <a:xfrm>
            <a:off x="2775472" y="4045245"/>
            <a:ext cx="225002" cy="225002"/>
            <a:chOff x="2485010" y="3945243"/>
            <a:chExt cx="247500" cy="247500"/>
          </a:xfrm>
        </p:grpSpPr>
        <p:sp>
          <p:nvSpPr>
            <p:cNvPr id="416" name="Google Shape;416;g3f5c399fe94_0_0"/>
            <p:cNvSpPr/>
            <p:nvPr/>
          </p:nvSpPr>
          <p:spPr>
            <a:xfrm>
              <a:off x="2485010" y="3945243"/>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17" name="Google Shape;417;g3f5c399fe94_0_0"/>
            <p:cNvSpPr/>
            <p:nvPr/>
          </p:nvSpPr>
          <p:spPr>
            <a:xfrm>
              <a:off x="2557275" y="3998811"/>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18" name="Google Shape;418;g3f5c399fe94_0_0"/>
          <p:cNvGrpSpPr/>
          <p:nvPr/>
        </p:nvGrpSpPr>
        <p:grpSpPr>
          <a:xfrm>
            <a:off x="3323774" y="3975130"/>
            <a:ext cx="225002" cy="225002"/>
            <a:chOff x="3033306" y="3875129"/>
            <a:chExt cx="247500" cy="247500"/>
          </a:xfrm>
        </p:grpSpPr>
        <p:sp>
          <p:nvSpPr>
            <p:cNvPr id="419" name="Google Shape;419;g3f5c399fe94_0_0"/>
            <p:cNvSpPr/>
            <p:nvPr/>
          </p:nvSpPr>
          <p:spPr>
            <a:xfrm>
              <a:off x="3033306" y="3875129"/>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20" name="Google Shape;420;g3f5c399fe94_0_0"/>
            <p:cNvSpPr/>
            <p:nvPr/>
          </p:nvSpPr>
          <p:spPr>
            <a:xfrm>
              <a:off x="3105571" y="3928697"/>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21" name="Google Shape;421;g3f5c399fe94_0_0"/>
          <p:cNvGrpSpPr/>
          <p:nvPr/>
        </p:nvGrpSpPr>
        <p:grpSpPr>
          <a:xfrm>
            <a:off x="2461808" y="5003951"/>
            <a:ext cx="225002" cy="225002"/>
            <a:chOff x="2171349" y="4903939"/>
            <a:chExt cx="247500" cy="247500"/>
          </a:xfrm>
        </p:grpSpPr>
        <p:sp>
          <p:nvSpPr>
            <p:cNvPr id="422" name="Google Shape;422;g3f5c399fe94_0_0"/>
            <p:cNvSpPr/>
            <p:nvPr/>
          </p:nvSpPr>
          <p:spPr>
            <a:xfrm>
              <a:off x="2171349" y="4903939"/>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23" name="Google Shape;423;g3f5c399fe94_0_0"/>
            <p:cNvSpPr/>
            <p:nvPr/>
          </p:nvSpPr>
          <p:spPr>
            <a:xfrm>
              <a:off x="2243614" y="4957507"/>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24" name="Google Shape;424;g3f5c399fe94_0_0"/>
          <p:cNvGrpSpPr/>
          <p:nvPr/>
        </p:nvGrpSpPr>
        <p:grpSpPr>
          <a:xfrm>
            <a:off x="2461808" y="5808457"/>
            <a:ext cx="225002" cy="225002"/>
            <a:chOff x="2171349" y="5708437"/>
            <a:chExt cx="247500" cy="247500"/>
          </a:xfrm>
        </p:grpSpPr>
        <p:sp>
          <p:nvSpPr>
            <p:cNvPr id="425" name="Google Shape;425;g3f5c399fe94_0_0"/>
            <p:cNvSpPr/>
            <p:nvPr/>
          </p:nvSpPr>
          <p:spPr>
            <a:xfrm>
              <a:off x="2171349" y="5708437"/>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26" name="Google Shape;426;g3f5c399fe94_0_0"/>
            <p:cNvSpPr/>
            <p:nvPr/>
          </p:nvSpPr>
          <p:spPr>
            <a:xfrm>
              <a:off x="2243614" y="5762005"/>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27" name="Google Shape;427;g3f5c399fe94_0_0"/>
          <p:cNvGrpSpPr/>
          <p:nvPr/>
        </p:nvGrpSpPr>
        <p:grpSpPr>
          <a:xfrm>
            <a:off x="2468894" y="2179059"/>
            <a:ext cx="225002" cy="225002"/>
            <a:chOff x="2412745" y="2921931"/>
            <a:chExt cx="247500" cy="247500"/>
          </a:xfrm>
        </p:grpSpPr>
        <p:sp>
          <p:nvSpPr>
            <p:cNvPr id="428" name="Google Shape;428;g3f5c399fe94_0_0"/>
            <p:cNvSpPr/>
            <p:nvPr/>
          </p:nvSpPr>
          <p:spPr>
            <a:xfrm>
              <a:off x="2412745" y="2921931"/>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29" name="Google Shape;429;g3f5c399fe94_0_0"/>
            <p:cNvSpPr/>
            <p:nvPr/>
          </p:nvSpPr>
          <p:spPr>
            <a:xfrm>
              <a:off x="2485010" y="2975499"/>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74CA2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sp>
        <p:nvSpPr>
          <p:cNvPr id="430" name="Google Shape;430;g3f5c399fe94_0_0"/>
          <p:cNvSpPr/>
          <p:nvPr/>
        </p:nvSpPr>
        <p:spPr>
          <a:xfrm>
            <a:off x="3138219" y="2485703"/>
            <a:ext cx="2183700" cy="2577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1" u="none" strike="noStrike" cap="none">
                <a:solidFill>
                  <a:srgbClr val="74CA21"/>
                </a:solidFill>
                <a:latin typeface="Roboto"/>
                <a:ea typeface="Roboto"/>
                <a:cs typeface="Roboto"/>
                <a:sym typeface="Roboto"/>
              </a:rPr>
              <a:t>Logical Filename (LFN)</a:t>
            </a:r>
            <a:endParaRPr sz="1500" b="0" i="0" u="none" strike="noStrike" cap="none">
              <a:solidFill>
                <a:srgbClr val="000000"/>
              </a:solidFill>
              <a:latin typeface="Arial"/>
              <a:ea typeface="Arial"/>
              <a:cs typeface="Arial"/>
              <a:sym typeface="Arial"/>
            </a:endParaRPr>
          </a:p>
        </p:txBody>
      </p:sp>
      <p:sp>
        <p:nvSpPr>
          <p:cNvPr id="431" name="Google Shape;431;g3f5c399fe94_0_0"/>
          <p:cNvSpPr/>
          <p:nvPr/>
        </p:nvSpPr>
        <p:spPr>
          <a:xfrm>
            <a:off x="3138219" y="2717688"/>
            <a:ext cx="2183700" cy="2265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rgbClr val="7F7F7F"/>
                </a:solidFill>
                <a:latin typeface="Roboto"/>
                <a:ea typeface="Roboto"/>
                <a:cs typeface="Roboto"/>
                <a:sym typeface="Roboto"/>
              </a:rPr>
              <a:t>platform independent (abstraction)</a:t>
            </a:r>
            <a:endParaRPr sz="1500" b="0" i="0" u="none" strike="noStrike" cap="none">
              <a:solidFill>
                <a:srgbClr val="000000"/>
              </a:solidFill>
              <a:latin typeface="Arial"/>
              <a:ea typeface="Arial"/>
              <a:cs typeface="Arial"/>
              <a:sym typeface="Arial"/>
            </a:endParaRPr>
          </a:p>
        </p:txBody>
      </p:sp>
      <p:pic>
        <p:nvPicPr>
          <p:cNvPr id="432" name="Google Shape;432;g3f5c399fe94_0_0" descr="http://www.marketingfortravelexperts.com/wp-content/uploads/2014/05/black-right-arrow.png"/>
          <p:cNvPicPr preferRelativeResize="0"/>
          <p:nvPr/>
        </p:nvPicPr>
        <p:blipFill rotWithShape="1">
          <a:blip r:embed="rId3">
            <a:alphaModFix amt="70000"/>
          </a:blip>
          <a:srcRect/>
          <a:stretch/>
        </p:blipFill>
        <p:spPr>
          <a:xfrm rot="751763" flipH="1">
            <a:off x="2829571" y="2266798"/>
            <a:ext cx="462674" cy="142676"/>
          </a:xfrm>
          <a:prstGeom prst="rect">
            <a:avLst/>
          </a:prstGeom>
          <a:noFill/>
          <a:ln>
            <a:noFill/>
          </a:ln>
        </p:spPr>
      </p:pic>
      <p:sp>
        <p:nvSpPr>
          <p:cNvPr id="433" name="Google Shape;433;g3f5c399fe94_0_0"/>
          <p:cNvSpPr/>
          <p:nvPr/>
        </p:nvSpPr>
        <p:spPr>
          <a:xfrm>
            <a:off x="3597634" y="4226058"/>
            <a:ext cx="1705200" cy="2577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1" u="none" strike="noStrike" cap="none">
                <a:solidFill>
                  <a:srgbClr val="2D75B6"/>
                </a:solidFill>
                <a:latin typeface="Roboto"/>
                <a:ea typeface="Roboto"/>
                <a:cs typeface="Roboto"/>
                <a:sym typeface="Roboto"/>
              </a:rPr>
              <a:t>Transformation</a:t>
            </a:r>
            <a:endParaRPr sz="1500" b="0" i="0" u="none" strike="noStrike" cap="none">
              <a:solidFill>
                <a:srgbClr val="000000"/>
              </a:solidFill>
              <a:latin typeface="Arial"/>
              <a:ea typeface="Arial"/>
              <a:cs typeface="Arial"/>
              <a:sym typeface="Arial"/>
            </a:endParaRPr>
          </a:p>
        </p:txBody>
      </p:sp>
      <p:sp>
        <p:nvSpPr>
          <p:cNvPr id="434" name="Google Shape;434;g3f5c399fe94_0_0"/>
          <p:cNvSpPr/>
          <p:nvPr/>
        </p:nvSpPr>
        <p:spPr>
          <a:xfrm>
            <a:off x="3597634" y="4458043"/>
            <a:ext cx="1705200" cy="3804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rgbClr val="7F7F7F"/>
                </a:solidFill>
                <a:latin typeface="Roboto"/>
                <a:ea typeface="Roboto"/>
                <a:cs typeface="Roboto"/>
                <a:sym typeface="Roboto"/>
              </a:rPr>
              <a:t>Executables (or programs)</a:t>
            </a:r>
            <a:br>
              <a:rPr lang="en-US" sz="1100" b="0" i="0" u="none" strike="noStrike" cap="none">
                <a:solidFill>
                  <a:srgbClr val="7F7F7F"/>
                </a:solidFill>
                <a:latin typeface="Roboto"/>
                <a:ea typeface="Roboto"/>
                <a:cs typeface="Roboto"/>
                <a:sym typeface="Roboto"/>
              </a:rPr>
            </a:br>
            <a:r>
              <a:rPr lang="en-US" sz="1100" b="0" i="0" u="none" strike="noStrike" cap="none">
                <a:solidFill>
                  <a:srgbClr val="7F7F7F"/>
                </a:solidFill>
                <a:latin typeface="Roboto"/>
                <a:ea typeface="Roboto"/>
                <a:cs typeface="Roboto"/>
                <a:sym typeface="Roboto"/>
              </a:rPr>
              <a:t>platform independent</a:t>
            </a:r>
            <a:endParaRPr sz="1500" b="0" i="0" u="none" strike="noStrike" cap="none">
              <a:solidFill>
                <a:srgbClr val="000000"/>
              </a:solidFill>
              <a:latin typeface="Arial"/>
              <a:ea typeface="Arial"/>
              <a:cs typeface="Arial"/>
              <a:sym typeface="Arial"/>
            </a:endParaRPr>
          </a:p>
        </p:txBody>
      </p:sp>
      <p:pic>
        <p:nvPicPr>
          <p:cNvPr id="435" name="Google Shape;435;g3f5c399fe94_0_0" descr="http://www.marketingfortravelexperts.com/wp-content/uploads/2014/05/black-right-arrow.png"/>
          <p:cNvPicPr preferRelativeResize="0"/>
          <p:nvPr/>
        </p:nvPicPr>
        <p:blipFill rotWithShape="1">
          <a:blip r:embed="rId4">
            <a:alphaModFix amt="70000"/>
          </a:blip>
          <a:srcRect/>
          <a:stretch/>
        </p:blipFill>
        <p:spPr>
          <a:xfrm rot="1800002" flipH="1">
            <a:off x="3979880" y="3892598"/>
            <a:ext cx="484496" cy="166727"/>
          </a:xfrm>
          <a:prstGeom prst="rect">
            <a:avLst/>
          </a:prstGeom>
          <a:noFill/>
          <a:ln>
            <a:noFill/>
          </a:ln>
        </p:spPr>
      </p:pic>
      <p:sp>
        <p:nvSpPr>
          <p:cNvPr id="436" name="Google Shape;436;g3f5c399fe94_0_0"/>
          <p:cNvSpPr/>
          <p:nvPr/>
        </p:nvSpPr>
        <p:spPr>
          <a:xfrm rot="-5400000">
            <a:off x="-626435" y="3584217"/>
            <a:ext cx="2862300" cy="318900"/>
          </a:xfrm>
          <a:prstGeom prst="rect">
            <a:avLst/>
          </a:prstGeom>
          <a:noFill/>
          <a:ln>
            <a:noFill/>
          </a:ln>
        </p:spPr>
        <p:txBody>
          <a:bodyPr spcFirstLastPara="1" wrap="square" lIns="72000" tIns="36000" rIns="72000" bIns="360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74CA21"/>
                </a:solidFill>
                <a:latin typeface="Roboto"/>
                <a:ea typeface="Roboto"/>
                <a:cs typeface="Roboto"/>
                <a:sym typeface="Roboto"/>
              </a:rPr>
              <a:t>ABSTRACT WORKFLOW</a:t>
            </a:r>
            <a:endParaRPr sz="1500" b="0" i="0" u="none" strike="noStrike" cap="none">
              <a:solidFill>
                <a:srgbClr val="000000"/>
              </a:solidFill>
              <a:latin typeface="Arial"/>
              <a:ea typeface="Arial"/>
              <a:cs typeface="Arial"/>
              <a:sym typeface="Arial"/>
            </a:endParaRPr>
          </a:p>
        </p:txBody>
      </p:sp>
      <p:cxnSp>
        <p:nvCxnSpPr>
          <p:cNvPr id="437" name="Google Shape;437;g3f5c399fe94_0_0"/>
          <p:cNvCxnSpPr>
            <a:stCxn id="438" idx="3"/>
            <a:endCxn id="439" idx="0"/>
          </p:cNvCxnSpPr>
          <p:nvPr/>
        </p:nvCxnSpPr>
        <p:spPr>
          <a:xfrm flipH="1">
            <a:off x="8496561" y="2183824"/>
            <a:ext cx="1048500" cy="524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440" name="Google Shape;440;g3f5c399fe94_0_0"/>
          <p:cNvCxnSpPr>
            <a:stCxn id="438" idx="3"/>
            <a:endCxn id="441" idx="0"/>
          </p:cNvCxnSpPr>
          <p:nvPr/>
        </p:nvCxnSpPr>
        <p:spPr>
          <a:xfrm flipH="1">
            <a:off x="9280761" y="2183824"/>
            <a:ext cx="264300" cy="524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442" name="Google Shape;442;g3f5c399fe94_0_0"/>
          <p:cNvCxnSpPr>
            <a:stCxn id="438" idx="5"/>
            <a:endCxn id="443" idx="0"/>
          </p:cNvCxnSpPr>
          <p:nvPr/>
        </p:nvCxnSpPr>
        <p:spPr>
          <a:xfrm>
            <a:off x="9814681" y="2183824"/>
            <a:ext cx="250200" cy="524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444" name="Google Shape;444;g3f5c399fe94_0_0"/>
          <p:cNvCxnSpPr>
            <a:stCxn id="438" idx="5"/>
            <a:endCxn id="445" idx="0"/>
          </p:cNvCxnSpPr>
          <p:nvPr/>
        </p:nvCxnSpPr>
        <p:spPr>
          <a:xfrm>
            <a:off x="9814681" y="2183824"/>
            <a:ext cx="1034100" cy="524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446" name="Google Shape;446;g3f5c399fe94_0_0"/>
          <p:cNvCxnSpPr>
            <a:stCxn id="441" idx="4"/>
            <a:endCxn id="447" idx="1"/>
          </p:cNvCxnSpPr>
          <p:nvPr/>
        </p:nvCxnSpPr>
        <p:spPr>
          <a:xfrm>
            <a:off x="9280743" y="3089570"/>
            <a:ext cx="264300" cy="5799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448" name="Google Shape;448;g3f5c399fe94_0_0"/>
          <p:cNvCxnSpPr>
            <a:stCxn id="439" idx="4"/>
            <a:endCxn id="447" idx="1"/>
          </p:cNvCxnSpPr>
          <p:nvPr/>
        </p:nvCxnSpPr>
        <p:spPr>
          <a:xfrm>
            <a:off x="8496656" y="3089570"/>
            <a:ext cx="1048500" cy="5799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449" name="Google Shape;449;g3f5c399fe94_0_0"/>
          <p:cNvCxnSpPr>
            <a:stCxn id="443" idx="4"/>
            <a:endCxn id="447" idx="7"/>
          </p:cNvCxnSpPr>
          <p:nvPr/>
        </p:nvCxnSpPr>
        <p:spPr>
          <a:xfrm flipH="1">
            <a:off x="9814630" y="3089570"/>
            <a:ext cx="250200" cy="5799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450" name="Google Shape;450;g3f5c399fe94_0_0"/>
          <p:cNvCxnSpPr>
            <a:stCxn id="445" idx="4"/>
            <a:endCxn id="447" idx="7"/>
          </p:cNvCxnSpPr>
          <p:nvPr/>
        </p:nvCxnSpPr>
        <p:spPr>
          <a:xfrm flipH="1">
            <a:off x="9814817" y="3089570"/>
            <a:ext cx="1034100" cy="5799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451" name="Google Shape;451;g3f5c399fe94_0_0"/>
          <p:cNvCxnSpPr>
            <a:stCxn id="447" idx="4"/>
            <a:endCxn id="452" idx="0"/>
          </p:cNvCxnSpPr>
          <p:nvPr/>
        </p:nvCxnSpPr>
        <p:spPr>
          <a:xfrm>
            <a:off x="9679871" y="3994930"/>
            <a:ext cx="0" cy="307500"/>
          </a:xfrm>
          <a:prstGeom prst="straightConnector1">
            <a:avLst/>
          </a:prstGeom>
          <a:noFill/>
          <a:ln w="19075" cap="flat" cmpd="sng">
            <a:solidFill>
              <a:srgbClr val="2D75B6">
                <a:alpha val="80000"/>
              </a:srgbClr>
            </a:solidFill>
            <a:prstDash val="solid"/>
            <a:miter lim="800000"/>
            <a:headEnd type="none" w="sm" len="sm"/>
            <a:tailEnd type="stealth" w="med" len="med"/>
          </a:ln>
        </p:spPr>
      </p:cxnSp>
      <p:sp>
        <p:nvSpPr>
          <p:cNvPr id="453" name="Google Shape;453;g3f5c399fe94_0_0"/>
          <p:cNvSpPr/>
          <p:nvPr/>
        </p:nvSpPr>
        <p:spPr>
          <a:xfrm>
            <a:off x="9525905" y="1894085"/>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54" name="Google Shape;454;g3f5c399fe94_0_0"/>
          <p:cNvSpPr/>
          <p:nvPr/>
        </p:nvSpPr>
        <p:spPr>
          <a:xfrm>
            <a:off x="8342689" y="2744954"/>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55" name="Google Shape;455;g3f5c399fe94_0_0"/>
          <p:cNvSpPr/>
          <p:nvPr/>
        </p:nvSpPr>
        <p:spPr>
          <a:xfrm>
            <a:off x="9126776" y="2744954"/>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56" name="Google Shape;456;g3f5c399fe94_0_0"/>
          <p:cNvSpPr/>
          <p:nvPr/>
        </p:nvSpPr>
        <p:spPr>
          <a:xfrm>
            <a:off x="9910863" y="2744954"/>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57" name="Google Shape;457;g3f5c399fe94_0_0"/>
          <p:cNvSpPr/>
          <p:nvPr/>
        </p:nvSpPr>
        <p:spPr>
          <a:xfrm>
            <a:off x="10694950" y="2744954"/>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58" name="Google Shape;458;g3f5c399fe94_0_0"/>
          <p:cNvSpPr/>
          <p:nvPr/>
        </p:nvSpPr>
        <p:spPr>
          <a:xfrm>
            <a:off x="9525905" y="3650313"/>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59" name="Google Shape;459;g3f5c399fe94_0_0"/>
          <p:cNvSpPr/>
          <p:nvPr/>
        </p:nvSpPr>
        <p:spPr>
          <a:xfrm>
            <a:off x="9525905" y="4989404"/>
            <a:ext cx="307500" cy="307500"/>
          </a:xfrm>
          <a:prstGeom prst="ellipse">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38" name="Google Shape;438;g3f5c399fe94_0_0"/>
          <p:cNvSpPr/>
          <p:nvPr/>
        </p:nvSpPr>
        <p:spPr>
          <a:xfrm>
            <a:off x="9489221" y="1858364"/>
            <a:ext cx="381300" cy="3813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39" name="Google Shape;439;g3f5c399fe94_0_0"/>
          <p:cNvSpPr/>
          <p:nvPr/>
        </p:nvSpPr>
        <p:spPr>
          <a:xfrm>
            <a:off x="8306006" y="2708270"/>
            <a:ext cx="381300" cy="3813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41" name="Google Shape;441;g3f5c399fe94_0_0"/>
          <p:cNvSpPr/>
          <p:nvPr/>
        </p:nvSpPr>
        <p:spPr>
          <a:xfrm>
            <a:off x="9090093" y="2708270"/>
            <a:ext cx="381300" cy="3813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43" name="Google Shape;443;g3f5c399fe94_0_0"/>
          <p:cNvSpPr/>
          <p:nvPr/>
        </p:nvSpPr>
        <p:spPr>
          <a:xfrm>
            <a:off x="9874180" y="2708270"/>
            <a:ext cx="381300" cy="3813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45" name="Google Shape;445;g3f5c399fe94_0_0"/>
          <p:cNvSpPr/>
          <p:nvPr/>
        </p:nvSpPr>
        <p:spPr>
          <a:xfrm>
            <a:off x="10658267" y="2708270"/>
            <a:ext cx="381300" cy="3813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47" name="Google Shape;447;g3f5c399fe94_0_0"/>
          <p:cNvSpPr/>
          <p:nvPr/>
        </p:nvSpPr>
        <p:spPr>
          <a:xfrm>
            <a:off x="9489221" y="3613630"/>
            <a:ext cx="381300" cy="3813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60" name="Google Shape;460;g3f5c399fe94_0_0"/>
          <p:cNvSpPr/>
          <p:nvPr/>
        </p:nvSpPr>
        <p:spPr>
          <a:xfrm>
            <a:off x="9489221" y="4952720"/>
            <a:ext cx="381300" cy="381300"/>
          </a:xfrm>
          <a:prstGeom prst="ellipse">
            <a:avLst/>
          </a:prstGeom>
          <a:noFill/>
          <a:ln w="19075" cap="flat" cmpd="sng">
            <a:solidFill>
              <a:srgbClr val="6CAF27">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61" name="Google Shape;461;g3f5c399fe94_0_0"/>
          <p:cNvSpPr/>
          <p:nvPr/>
        </p:nvSpPr>
        <p:spPr>
          <a:xfrm rot="5400000">
            <a:off x="9635024" y="3584120"/>
            <a:ext cx="3669600" cy="318900"/>
          </a:xfrm>
          <a:prstGeom prst="rect">
            <a:avLst/>
          </a:prstGeom>
          <a:noFill/>
          <a:ln>
            <a:noFill/>
          </a:ln>
        </p:spPr>
        <p:txBody>
          <a:bodyPr spcFirstLastPara="1" wrap="square" lIns="72000" tIns="36000" rIns="72000" bIns="360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74CA21"/>
                </a:solidFill>
                <a:latin typeface="Roboto"/>
                <a:ea typeface="Roboto"/>
                <a:cs typeface="Roboto"/>
                <a:sym typeface="Roboto"/>
              </a:rPr>
              <a:t>EXECUTABLE WORKFLOW</a:t>
            </a:r>
            <a:endParaRPr sz="1500" b="0" i="0" u="none" strike="noStrike" cap="none">
              <a:solidFill>
                <a:srgbClr val="000000"/>
              </a:solidFill>
              <a:latin typeface="Arial"/>
              <a:ea typeface="Arial"/>
              <a:cs typeface="Arial"/>
              <a:sym typeface="Arial"/>
            </a:endParaRPr>
          </a:p>
        </p:txBody>
      </p:sp>
      <p:sp>
        <p:nvSpPr>
          <p:cNvPr id="462" name="Google Shape;462;g3f5c399fe94_0_0"/>
          <p:cNvSpPr/>
          <p:nvPr/>
        </p:nvSpPr>
        <p:spPr>
          <a:xfrm>
            <a:off x="6820263" y="1694558"/>
            <a:ext cx="2301900" cy="2577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1" i="1" u="none" strike="noStrike" cap="none">
                <a:solidFill>
                  <a:srgbClr val="74CA21"/>
                </a:solidFill>
                <a:latin typeface="Roboto"/>
                <a:ea typeface="Roboto"/>
                <a:cs typeface="Roboto"/>
                <a:sym typeface="Roboto"/>
              </a:rPr>
              <a:t>Stage-in Job</a:t>
            </a:r>
            <a:endParaRPr sz="1500" b="0" i="0" u="none" strike="noStrike" cap="none">
              <a:solidFill>
                <a:srgbClr val="000000"/>
              </a:solidFill>
              <a:latin typeface="Arial"/>
              <a:ea typeface="Arial"/>
              <a:cs typeface="Arial"/>
              <a:sym typeface="Arial"/>
            </a:endParaRPr>
          </a:p>
        </p:txBody>
      </p:sp>
      <p:sp>
        <p:nvSpPr>
          <p:cNvPr id="463" name="Google Shape;463;g3f5c399fe94_0_0"/>
          <p:cNvSpPr/>
          <p:nvPr/>
        </p:nvSpPr>
        <p:spPr>
          <a:xfrm>
            <a:off x="6820263" y="1926543"/>
            <a:ext cx="2301900" cy="2265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100"/>
              <a:buFont typeface="Arial"/>
              <a:buNone/>
            </a:pPr>
            <a:r>
              <a:rPr lang="en-US" sz="1100" b="0" i="0" u="none" strike="noStrike" cap="none">
                <a:solidFill>
                  <a:srgbClr val="7F7F7F"/>
                </a:solidFill>
                <a:latin typeface="Roboto"/>
                <a:ea typeface="Roboto"/>
                <a:cs typeface="Roboto"/>
                <a:sym typeface="Roboto"/>
              </a:rPr>
              <a:t>Transfers the workflow input data</a:t>
            </a:r>
            <a:endParaRPr sz="1500" b="0" i="0" u="none" strike="noStrike" cap="none">
              <a:solidFill>
                <a:srgbClr val="000000"/>
              </a:solidFill>
              <a:latin typeface="Arial"/>
              <a:ea typeface="Arial"/>
              <a:cs typeface="Arial"/>
              <a:sym typeface="Arial"/>
            </a:endParaRPr>
          </a:p>
        </p:txBody>
      </p:sp>
      <p:sp>
        <p:nvSpPr>
          <p:cNvPr id="464" name="Google Shape;464;g3f5c399fe94_0_0"/>
          <p:cNvSpPr/>
          <p:nvPr/>
        </p:nvSpPr>
        <p:spPr>
          <a:xfrm>
            <a:off x="9525905" y="1189445"/>
            <a:ext cx="307500" cy="307500"/>
          </a:xfrm>
          <a:prstGeom prst="ellipse">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65" name="Google Shape;465;g3f5c399fe94_0_0"/>
          <p:cNvSpPr/>
          <p:nvPr/>
        </p:nvSpPr>
        <p:spPr>
          <a:xfrm>
            <a:off x="9489221" y="1153724"/>
            <a:ext cx="381300" cy="381300"/>
          </a:xfrm>
          <a:prstGeom prst="ellipse">
            <a:avLst/>
          </a:prstGeom>
          <a:noFill/>
          <a:ln w="19075" cap="flat" cmpd="sng">
            <a:solidFill>
              <a:srgbClr val="74CA21">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cxnSp>
        <p:nvCxnSpPr>
          <p:cNvPr id="466" name="Google Shape;466;g3f5c399fe94_0_0"/>
          <p:cNvCxnSpPr>
            <a:stCxn id="465" idx="4"/>
            <a:endCxn id="438" idx="0"/>
          </p:cNvCxnSpPr>
          <p:nvPr/>
        </p:nvCxnSpPr>
        <p:spPr>
          <a:xfrm>
            <a:off x="9679871" y="1535024"/>
            <a:ext cx="0" cy="323400"/>
          </a:xfrm>
          <a:prstGeom prst="straightConnector1">
            <a:avLst/>
          </a:prstGeom>
          <a:noFill/>
          <a:ln w="19075" cap="flat" cmpd="sng">
            <a:solidFill>
              <a:srgbClr val="2D75B6">
                <a:alpha val="80000"/>
              </a:srgbClr>
            </a:solidFill>
            <a:prstDash val="solid"/>
            <a:miter lim="800000"/>
            <a:headEnd type="none" w="sm" len="sm"/>
            <a:tailEnd type="stealth" w="med" len="med"/>
          </a:ln>
        </p:spPr>
      </p:cxnSp>
      <p:pic>
        <p:nvPicPr>
          <p:cNvPr id="467" name="Google Shape;467;g3f5c399fe94_0_0" descr="http://www.marketingfortravelexperts.com/wp-content/uploads/2014/05/black-right-arrow.png"/>
          <p:cNvPicPr preferRelativeResize="0"/>
          <p:nvPr/>
        </p:nvPicPr>
        <p:blipFill rotWithShape="1">
          <a:blip r:embed="rId3">
            <a:alphaModFix amt="70000"/>
          </a:blip>
          <a:srcRect/>
          <a:stretch/>
        </p:blipFill>
        <p:spPr>
          <a:xfrm rot="-1800000">
            <a:off x="8834453" y="1378495"/>
            <a:ext cx="559835" cy="172638"/>
          </a:xfrm>
          <a:prstGeom prst="rect">
            <a:avLst/>
          </a:prstGeom>
          <a:noFill/>
          <a:ln>
            <a:noFill/>
          </a:ln>
        </p:spPr>
      </p:pic>
      <p:sp>
        <p:nvSpPr>
          <p:cNvPr id="468" name="Google Shape;468;g3f5c399fe94_0_0"/>
          <p:cNvSpPr/>
          <p:nvPr/>
        </p:nvSpPr>
        <p:spPr>
          <a:xfrm>
            <a:off x="8342689" y="3395799"/>
            <a:ext cx="307500" cy="307500"/>
          </a:xfrm>
          <a:prstGeom prst="ellipse">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69" name="Google Shape;469;g3f5c399fe94_0_0"/>
          <p:cNvSpPr/>
          <p:nvPr/>
        </p:nvSpPr>
        <p:spPr>
          <a:xfrm>
            <a:off x="10694950" y="3395799"/>
            <a:ext cx="307500" cy="307500"/>
          </a:xfrm>
          <a:prstGeom prst="ellipse">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70" name="Google Shape;470;g3f5c399fe94_0_0"/>
          <p:cNvSpPr/>
          <p:nvPr/>
        </p:nvSpPr>
        <p:spPr>
          <a:xfrm>
            <a:off x="8306006" y="3359115"/>
            <a:ext cx="381300" cy="381300"/>
          </a:xfrm>
          <a:prstGeom prst="ellipse">
            <a:avLst/>
          </a:prstGeom>
          <a:noFill/>
          <a:ln w="19075" cap="flat" cmpd="sng">
            <a:solidFill>
              <a:srgbClr val="F16D19">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71" name="Google Shape;471;g3f5c399fe94_0_0"/>
          <p:cNvSpPr/>
          <p:nvPr/>
        </p:nvSpPr>
        <p:spPr>
          <a:xfrm>
            <a:off x="10658267" y="3359115"/>
            <a:ext cx="381300" cy="381300"/>
          </a:xfrm>
          <a:prstGeom prst="ellipse">
            <a:avLst/>
          </a:prstGeom>
          <a:noFill/>
          <a:ln w="19075" cap="flat" cmpd="sng">
            <a:solidFill>
              <a:srgbClr val="F16D19">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cxnSp>
        <p:nvCxnSpPr>
          <p:cNvPr id="472" name="Google Shape;472;g3f5c399fe94_0_0"/>
          <p:cNvCxnSpPr>
            <a:stCxn id="439" idx="4"/>
            <a:endCxn id="470" idx="0"/>
          </p:cNvCxnSpPr>
          <p:nvPr/>
        </p:nvCxnSpPr>
        <p:spPr>
          <a:xfrm>
            <a:off x="8496656" y="3089570"/>
            <a:ext cx="0" cy="269400"/>
          </a:xfrm>
          <a:prstGeom prst="straightConnector1">
            <a:avLst/>
          </a:prstGeom>
          <a:noFill/>
          <a:ln w="19075" cap="flat" cmpd="sng">
            <a:solidFill>
              <a:srgbClr val="F16D19">
                <a:alpha val="80000"/>
              </a:srgbClr>
            </a:solidFill>
            <a:prstDash val="solid"/>
            <a:miter lim="800000"/>
            <a:headEnd type="none" w="sm" len="sm"/>
            <a:tailEnd type="stealth" w="med" len="med"/>
          </a:ln>
        </p:spPr>
      </p:cxnSp>
      <p:cxnSp>
        <p:nvCxnSpPr>
          <p:cNvPr id="473" name="Google Shape;473;g3f5c399fe94_0_0"/>
          <p:cNvCxnSpPr>
            <a:stCxn id="445" idx="4"/>
            <a:endCxn id="471" idx="0"/>
          </p:cNvCxnSpPr>
          <p:nvPr/>
        </p:nvCxnSpPr>
        <p:spPr>
          <a:xfrm>
            <a:off x="10848917" y="3089570"/>
            <a:ext cx="0" cy="269400"/>
          </a:xfrm>
          <a:prstGeom prst="straightConnector1">
            <a:avLst/>
          </a:prstGeom>
          <a:noFill/>
          <a:ln w="19075" cap="flat" cmpd="sng">
            <a:solidFill>
              <a:srgbClr val="F16D19">
                <a:alpha val="80000"/>
              </a:srgbClr>
            </a:solidFill>
            <a:prstDash val="solid"/>
            <a:miter lim="800000"/>
            <a:headEnd type="none" w="sm" len="sm"/>
            <a:tailEnd type="stealth" w="med" len="med"/>
          </a:ln>
        </p:spPr>
      </p:cxnSp>
      <p:cxnSp>
        <p:nvCxnSpPr>
          <p:cNvPr id="474" name="Google Shape;474;g3f5c399fe94_0_0"/>
          <p:cNvCxnSpPr>
            <a:stCxn id="443" idx="4"/>
            <a:endCxn id="471" idx="1"/>
          </p:cNvCxnSpPr>
          <p:nvPr/>
        </p:nvCxnSpPr>
        <p:spPr>
          <a:xfrm>
            <a:off x="10064830" y="3089570"/>
            <a:ext cx="649200" cy="325500"/>
          </a:xfrm>
          <a:prstGeom prst="straightConnector1">
            <a:avLst/>
          </a:prstGeom>
          <a:noFill/>
          <a:ln w="19075" cap="flat" cmpd="sng">
            <a:solidFill>
              <a:srgbClr val="F16D19">
                <a:alpha val="80000"/>
              </a:srgbClr>
            </a:solidFill>
            <a:prstDash val="solid"/>
            <a:miter lim="800000"/>
            <a:headEnd type="none" w="sm" len="sm"/>
            <a:tailEnd type="stealth" w="med" len="med"/>
          </a:ln>
        </p:spPr>
      </p:cxnSp>
      <p:sp>
        <p:nvSpPr>
          <p:cNvPr id="475" name="Google Shape;475;g3f5c399fe94_0_0"/>
          <p:cNvSpPr/>
          <p:nvPr/>
        </p:nvSpPr>
        <p:spPr>
          <a:xfrm>
            <a:off x="9126776" y="5606258"/>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76" name="Google Shape;476;g3f5c399fe94_0_0"/>
          <p:cNvSpPr/>
          <p:nvPr/>
        </p:nvSpPr>
        <p:spPr>
          <a:xfrm>
            <a:off x="9910863" y="5606258"/>
            <a:ext cx="307500" cy="307500"/>
          </a:xfrm>
          <a:prstGeom prst="ellipse">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77" name="Google Shape;477;g3f5c399fe94_0_0"/>
          <p:cNvSpPr/>
          <p:nvPr/>
        </p:nvSpPr>
        <p:spPr>
          <a:xfrm>
            <a:off x="9090093" y="5569574"/>
            <a:ext cx="381300" cy="381300"/>
          </a:xfrm>
          <a:prstGeom prst="ellipse">
            <a:avLst/>
          </a:prstGeom>
          <a:noFill/>
          <a:ln w="19075" cap="flat" cmpd="sng">
            <a:solidFill>
              <a:srgbClr val="7F7F7F">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78" name="Google Shape;478;g3f5c399fe94_0_0"/>
          <p:cNvSpPr/>
          <p:nvPr/>
        </p:nvSpPr>
        <p:spPr>
          <a:xfrm>
            <a:off x="9874180" y="5569574"/>
            <a:ext cx="381300" cy="381300"/>
          </a:xfrm>
          <a:prstGeom prst="ellipse">
            <a:avLst/>
          </a:prstGeom>
          <a:noFill/>
          <a:ln w="19075" cap="flat" cmpd="sng">
            <a:solidFill>
              <a:srgbClr val="F16D19">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cxnSp>
        <p:nvCxnSpPr>
          <p:cNvPr id="479" name="Google Shape;479;g3f5c399fe94_0_0"/>
          <p:cNvCxnSpPr>
            <a:stCxn id="460" idx="3"/>
            <a:endCxn id="477" idx="0"/>
          </p:cNvCxnSpPr>
          <p:nvPr/>
        </p:nvCxnSpPr>
        <p:spPr>
          <a:xfrm flipH="1">
            <a:off x="9280761" y="5278180"/>
            <a:ext cx="264300" cy="291300"/>
          </a:xfrm>
          <a:prstGeom prst="straightConnector1">
            <a:avLst/>
          </a:prstGeom>
          <a:noFill/>
          <a:ln w="19075" cap="flat" cmpd="sng">
            <a:solidFill>
              <a:srgbClr val="7F7F7F">
                <a:alpha val="80000"/>
              </a:srgbClr>
            </a:solidFill>
            <a:prstDash val="solid"/>
            <a:miter lim="800000"/>
            <a:headEnd type="none" w="sm" len="sm"/>
            <a:tailEnd type="stealth" w="med" len="med"/>
          </a:ln>
        </p:spPr>
      </p:cxnSp>
      <p:cxnSp>
        <p:nvCxnSpPr>
          <p:cNvPr id="480" name="Google Shape;480;g3f5c399fe94_0_0"/>
          <p:cNvCxnSpPr>
            <a:stCxn id="460" idx="5"/>
            <a:endCxn id="478" idx="0"/>
          </p:cNvCxnSpPr>
          <p:nvPr/>
        </p:nvCxnSpPr>
        <p:spPr>
          <a:xfrm>
            <a:off x="9814681" y="5278180"/>
            <a:ext cx="250200" cy="291300"/>
          </a:xfrm>
          <a:prstGeom prst="straightConnector1">
            <a:avLst/>
          </a:prstGeom>
          <a:noFill/>
          <a:ln w="19075" cap="flat" cmpd="sng">
            <a:solidFill>
              <a:srgbClr val="F16D19">
                <a:alpha val="80000"/>
              </a:srgbClr>
            </a:solidFill>
            <a:prstDash val="solid"/>
            <a:miter lim="800000"/>
            <a:headEnd type="none" w="sm" len="sm"/>
            <a:tailEnd type="stealth" w="med" len="med"/>
          </a:ln>
        </p:spPr>
      </p:cxnSp>
      <p:sp>
        <p:nvSpPr>
          <p:cNvPr id="481" name="Google Shape;481;g3f5c399fe94_0_0"/>
          <p:cNvSpPr/>
          <p:nvPr/>
        </p:nvSpPr>
        <p:spPr>
          <a:xfrm>
            <a:off x="9525905" y="4339078"/>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52" name="Google Shape;452;g3f5c399fe94_0_0"/>
          <p:cNvSpPr/>
          <p:nvPr/>
        </p:nvSpPr>
        <p:spPr>
          <a:xfrm>
            <a:off x="9489221" y="4302394"/>
            <a:ext cx="381300" cy="3813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cxnSp>
        <p:nvCxnSpPr>
          <p:cNvPr id="482" name="Google Shape;482;g3f5c399fe94_0_0"/>
          <p:cNvCxnSpPr>
            <a:stCxn id="452" idx="4"/>
            <a:endCxn id="460" idx="0"/>
          </p:cNvCxnSpPr>
          <p:nvPr/>
        </p:nvCxnSpPr>
        <p:spPr>
          <a:xfrm>
            <a:off x="9679871" y="4683694"/>
            <a:ext cx="0" cy="269100"/>
          </a:xfrm>
          <a:prstGeom prst="straightConnector1">
            <a:avLst/>
          </a:prstGeom>
          <a:noFill/>
          <a:ln w="19075" cap="flat" cmpd="sng">
            <a:solidFill>
              <a:srgbClr val="548135">
                <a:alpha val="80000"/>
              </a:srgbClr>
            </a:solidFill>
            <a:prstDash val="solid"/>
            <a:miter lim="800000"/>
            <a:headEnd type="none" w="sm" len="sm"/>
            <a:tailEnd type="stealth" w="med" len="med"/>
          </a:ln>
        </p:spPr>
      </p:cxnSp>
      <p:sp>
        <p:nvSpPr>
          <p:cNvPr id="483" name="Google Shape;483;g3f5c399fe94_0_0"/>
          <p:cNvSpPr/>
          <p:nvPr/>
        </p:nvSpPr>
        <p:spPr>
          <a:xfrm>
            <a:off x="6990488" y="3934725"/>
            <a:ext cx="1649700" cy="2577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1" i="1" u="none" strike="noStrike" cap="none">
                <a:solidFill>
                  <a:srgbClr val="F16D19"/>
                </a:solidFill>
                <a:latin typeface="Roboto"/>
                <a:ea typeface="Roboto"/>
                <a:cs typeface="Roboto"/>
                <a:sym typeface="Roboto"/>
              </a:rPr>
              <a:t>Cleanup Job</a:t>
            </a:r>
            <a:endParaRPr sz="1500" b="0" i="0" u="none" strike="noStrike" cap="none">
              <a:solidFill>
                <a:srgbClr val="000000"/>
              </a:solidFill>
              <a:latin typeface="Arial"/>
              <a:ea typeface="Arial"/>
              <a:cs typeface="Arial"/>
              <a:sym typeface="Arial"/>
            </a:endParaRPr>
          </a:p>
        </p:txBody>
      </p:sp>
      <p:sp>
        <p:nvSpPr>
          <p:cNvPr id="484" name="Google Shape;484;g3f5c399fe94_0_0"/>
          <p:cNvSpPr/>
          <p:nvPr/>
        </p:nvSpPr>
        <p:spPr>
          <a:xfrm>
            <a:off x="6990488" y="4123165"/>
            <a:ext cx="1649700" cy="2265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100"/>
              <a:buFont typeface="Arial"/>
              <a:buNone/>
            </a:pPr>
            <a:r>
              <a:rPr lang="en-US" sz="1100" b="0" i="0" u="none" strike="noStrike" cap="none">
                <a:solidFill>
                  <a:srgbClr val="7F7F7F"/>
                </a:solidFill>
                <a:latin typeface="Roboto"/>
                <a:ea typeface="Roboto"/>
                <a:cs typeface="Roboto"/>
                <a:sym typeface="Roboto"/>
              </a:rPr>
              <a:t>Removes unused data</a:t>
            </a:r>
            <a:endParaRPr sz="1500" b="0" i="0" u="none" strike="noStrike" cap="none">
              <a:solidFill>
                <a:srgbClr val="000000"/>
              </a:solidFill>
              <a:latin typeface="Arial"/>
              <a:ea typeface="Arial"/>
              <a:cs typeface="Arial"/>
              <a:sym typeface="Arial"/>
            </a:endParaRPr>
          </a:p>
        </p:txBody>
      </p:sp>
      <p:pic>
        <p:nvPicPr>
          <p:cNvPr id="485" name="Google Shape;485;g3f5c399fe94_0_0" descr="http://www.marketingfortravelexperts.com/wp-content/uploads/2014/05/black-right-arrow.png"/>
          <p:cNvPicPr preferRelativeResize="0"/>
          <p:nvPr/>
        </p:nvPicPr>
        <p:blipFill rotWithShape="1">
          <a:blip r:embed="rId5">
            <a:alphaModFix amt="70000"/>
          </a:blip>
          <a:srcRect/>
          <a:stretch/>
        </p:blipFill>
        <p:spPr>
          <a:xfrm rot="-1563519">
            <a:off x="7773654" y="3690772"/>
            <a:ext cx="462674" cy="157674"/>
          </a:xfrm>
          <a:prstGeom prst="rect">
            <a:avLst/>
          </a:prstGeom>
          <a:noFill/>
          <a:ln>
            <a:noFill/>
          </a:ln>
        </p:spPr>
      </p:pic>
      <p:sp>
        <p:nvSpPr>
          <p:cNvPr id="486" name="Google Shape;486;g3f5c399fe94_0_0"/>
          <p:cNvSpPr/>
          <p:nvPr/>
        </p:nvSpPr>
        <p:spPr>
          <a:xfrm>
            <a:off x="7314492" y="4620103"/>
            <a:ext cx="1649700" cy="2577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1" i="1" u="none" strike="noStrike" cap="none">
                <a:solidFill>
                  <a:srgbClr val="6CAF27"/>
                </a:solidFill>
                <a:latin typeface="Roboto"/>
                <a:ea typeface="Roboto"/>
                <a:cs typeface="Roboto"/>
                <a:sym typeface="Roboto"/>
              </a:rPr>
              <a:t>Stage-out Job</a:t>
            </a:r>
            <a:endParaRPr sz="1500" b="0" i="0" u="none" strike="noStrike" cap="none">
              <a:solidFill>
                <a:srgbClr val="000000"/>
              </a:solidFill>
              <a:latin typeface="Arial"/>
              <a:ea typeface="Arial"/>
              <a:cs typeface="Arial"/>
              <a:sym typeface="Arial"/>
            </a:endParaRPr>
          </a:p>
        </p:txBody>
      </p:sp>
      <p:sp>
        <p:nvSpPr>
          <p:cNvPr id="487" name="Google Shape;487;g3f5c399fe94_0_0"/>
          <p:cNvSpPr/>
          <p:nvPr/>
        </p:nvSpPr>
        <p:spPr>
          <a:xfrm>
            <a:off x="6889202" y="4817252"/>
            <a:ext cx="2074800" cy="2265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100"/>
              <a:buFont typeface="Arial"/>
              <a:buNone/>
            </a:pPr>
            <a:r>
              <a:rPr lang="en-US" sz="1100" b="0" i="0" u="none" strike="noStrike" cap="none">
                <a:solidFill>
                  <a:srgbClr val="7F7F7F"/>
                </a:solidFill>
                <a:latin typeface="Roboto"/>
                <a:ea typeface="Roboto"/>
                <a:cs typeface="Roboto"/>
                <a:sym typeface="Roboto"/>
              </a:rPr>
              <a:t>Stage-out generated output data</a:t>
            </a:r>
            <a:endParaRPr sz="1500" b="0" i="0" u="none" strike="noStrike" cap="none">
              <a:solidFill>
                <a:srgbClr val="000000"/>
              </a:solidFill>
              <a:latin typeface="Arial"/>
              <a:ea typeface="Arial"/>
              <a:cs typeface="Arial"/>
              <a:sym typeface="Arial"/>
            </a:endParaRPr>
          </a:p>
        </p:txBody>
      </p:sp>
      <p:sp>
        <p:nvSpPr>
          <p:cNvPr id="488" name="Google Shape;488;g3f5c399fe94_0_0"/>
          <p:cNvSpPr/>
          <p:nvPr/>
        </p:nvSpPr>
        <p:spPr>
          <a:xfrm>
            <a:off x="6477664" y="5266754"/>
            <a:ext cx="2139900" cy="2577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1" i="1" u="none" strike="noStrike" cap="none">
                <a:solidFill>
                  <a:srgbClr val="7F7F7F"/>
                </a:solidFill>
                <a:latin typeface="Roboto"/>
                <a:ea typeface="Roboto"/>
                <a:cs typeface="Roboto"/>
                <a:sym typeface="Roboto"/>
              </a:rPr>
              <a:t>Registration Job</a:t>
            </a:r>
            <a:endParaRPr sz="1500" b="0" i="0" u="none" strike="noStrike" cap="none">
              <a:solidFill>
                <a:srgbClr val="000000"/>
              </a:solidFill>
              <a:latin typeface="Arial"/>
              <a:ea typeface="Arial"/>
              <a:cs typeface="Arial"/>
              <a:sym typeface="Arial"/>
            </a:endParaRPr>
          </a:p>
        </p:txBody>
      </p:sp>
      <p:sp>
        <p:nvSpPr>
          <p:cNvPr id="489" name="Google Shape;489;g3f5c399fe94_0_0"/>
          <p:cNvSpPr/>
          <p:nvPr/>
        </p:nvSpPr>
        <p:spPr>
          <a:xfrm>
            <a:off x="6477664" y="5498739"/>
            <a:ext cx="2139900" cy="2265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100"/>
              <a:buFont typeface="Arial"/>
              <a:buNone/>
            </a:pPr>
            <a:r>
              <a:rPr lang="en-US" sz="1100" b="0" i="0" u="none" strike="noStrike" cap="none">
                <a:solidFill>
                  <a:srgbClr val="7F7F7F"/>
                </a:solidFill>
                <a:latin typeface="Roboto"/>
                <a:ea typeface="Roboto"/>
                <a:cs typeface="Roboto"/>
                <a:sym typeface="Roboto"/>
              </a:rPr>
              <a:t>Registers the workflow output data</a:t>
            </a:r>
            <a:endParaRPr sz="1500" b="0" i="0" u="none" strike="noStrike" cap="none">
              <a:solidFill>
                <a:srgbClr val="000000"/>
              </a:solidFill>
              <a:latin typeface="Arial"/>
              <a:ea typeface="Arial"/>
              <a:cs typeface="Arial"/>
              <a:sym typeface="Arial"/>
            </a:endParaRPr>
          </a:p>
        </p:txBody>
      </p:sp>
      <p:pic>
        <p:nvPicPr>
          <p:cNvPr id="490" name="Google Shape;490;g3f5c399fe94_0_0" descr="http://www.marketingfortravelexperts.com/wp-content/uploads/2014/05/black-right-arrow.png"/>
          <p:cNvPicPr preferRelativeResize="0"/>
          <p:nvPr/>
        </p:nvPicPr>
        <p:blipFill rotWithShape="1">
          <a:blip r:embed="rId6">
            <a:alphaModFix amt="70000"/>
          </a:blip>
          <a:srcRect/>
          <a:stretch/>
        </p:blipFill>
        <p:spPr>
          <a:xfrm rot="1800000">
            <a:off x="8653262" y="5402438"/>
            <a:ext cx="427581" cy="125546"/>
          </a:xfrm>
          <a:prstGeom prst="rect">
            <a:avLst/>
          </a:prstGeom>
          <a:noFill/>
          <a:ln>
            <a:noFill/>
          </a:ln>
        </p:spPr>
      </p:pic>
      <p:pic>
        <p:nvPicPr>
          <p:cNvPr id="491" name="Google Shape;491;g3f5c399fe94_0_0" descr="http://www.marketingfortravelexperts.com/wp-content/uploads/2014/05/black-right-arrow.png"/>
          <p:cNvPicPr preferRelativeResize="0"/>
          <p:nvPr/>
        </p:nvPicPr>
        <p:blipFill rotWithShape="1">
          <a:blip r:embed="rId3">
            <a:alphaModFix amt="70000"/>
          </a:blip>
          <a:srcRect/>
          <a:stretch/>
        </p:blipFill>
        <p:spPr>
          <a:xfrm rot="1836425">
            <a:off x="8985771" y="4757997"/>
            <a:ext cx="462674" cy="142676"/>
          </a:xfrm>
          <a:prstGeom prst="rect">
            <a:avLst/>
          </a:prstGeom>
          <a:noFill/>
          <a:ln>
            <a:noFill/>
          </a:ln>
        </p:spPr>
      </p:pic>
      <p:sp>
        <p:nvSpPr>
          <p:cNvPr id="492" name="Google Shape;492;g3f5c399fe94_0_0"/>
          <p:cNvSpPr/>
          <p:nvPr/>
        </p:nvSpPr>
        <p:spPr>
          <a:xfrm>
            <a:off x="5520681" y="2529011"/>
            <a:ext cx="1326000" cy="1534500"/>
          </a:xfrm>
          <a:prstGeom prst="rightArrow">
            <a:avLst>
              <a:gd name="adj1" fmla="val 84765"/>
              <a:gd name="adj2" fmla="val 45421"/>
            </a:avLst>
          </a:prstGeom>
          <a:gradFill>
            <a:gsLst>
              <a:gs pos="0">
                <a:srgbClr val="4AB9C4">
                  <a:alpha val="0"/>
                </a:srgbClr>
              </a:gs>
              <a:gs pos="100000">
                <a:srgbClr val="4AB9C4">
                  <a:alpha val="47843"/>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93" name="Google Shape;493;g3f5c399fe94_0_0"/>
          <p:cNvSpPr/>
          <p:nvPr/>
        </p:nvSpPr>
        <p:spPr>
          <a:xfrm>
            <a:off x="4293929" y="1638308"/>
            <a:ext cx="1579500" cy="3075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500"/>
              <a:buFont typeface="Arial"/>
              <a:buNone/>
            </a:pPr>
            <a:r>
              <a:rPr lang="en-US" sz="1500" b="1" i="0" u="none" strike="noStrike" cap="none" dirty="0">
                <a:solidFill>
                  <a:srgbClr val="BA083A"/>
                </a:solidFill>
                <a:latin typeface="Roboto"/>
                <a:ea typeface="Roboto"/>
                <a:cs typeface="Roboto"/>
                <a:sym typeface="Roboto"/>
              </a:rPr>
              <a:t>YAML formatted</a:t>
            </a:r>
            <a:endParaRPr sz="1500" b="0" i="0" u="none" strike="noStrike" cap="none" dirty="0">
              <a:solidFill>
                <a:srgbClr val="000000"/>
              </a:solidFill>
              <a:latin typeface="Arial"/>
              <a:ea typeface="Arial"/>
              <a:cs typeface="Arial"/>
              <a:sym typeface="Arial"/>
            </a:endParaRPr>
          </a:p>
        </p:txBody>
      </p:sp>
      <p:sp>
        <p:nvSpPr>
          <p:cNvPr id="5" name="Google Shape;364;g3f95de07730_1_247">
            <a:extLst>
              <a:ext uri="{FF2B5EF4-FFF2-40B4-BE49-F238E27FC236}">
                <a16:creationId xmlns:a16="http://schemas.microsoft.com/office/drawing/2014/main" id="{E2C88247-E48A-C811-9AD0-CB05B9A7A5E4}"/>
              </a:ext>
            </a:extLst>
          </p:cNvPr>
          <p:cNvSpPr txBox="1">
            <a:spLocks noGrp="1"/>
          </p:cNvSpPr>
          <p:nvPr>
            <p:ph type="body" idx="13"/>
          </p:nvPr>
        </p:nvSpPr>
        <p:spPr>
          <a:xfrm>
            <a:off x="895350" y="488950"/>
            <a:ext cx="10541000" cy="254000"/>
          </a:xfrm>
          <a:prstGeom prst="rect">
            <a:avLst/>
          </a:prstGeom>
        </p:spPr>
        <p:txBody>
          <a:bodyPr spcFirstLastPara="1" wrap="square" lIns="91425" tIns="45700" rIns="91425" bIns="45700" anchor="t" anchorCtr="0">
            <a:noAutofit/>
          </a:bodyPr>
          <a:lstStyle/>
          <a:p>
            <a:pPr marL="0" lvl="0" indent="0" algn="l" rtl="0">
              <a:spcBef>
                <a:spcPts val="1300"/>
              </a:spcBef>
              <a:spcAft>
                <a:spcPts val="0"/>
              </a:spcAft>
              <a:buClr>
                <a:schemeClr val="dk1"/>
              </a:buClr>
              <a:buSzPct val="33333"/>
              <a:buFont typeface="Arial"/>
              <a:buNone/>
            </a:pPr>
            <a:r>
              <a:rPr lang="en-US" sz="2000" b="1" dirty="0"/>
              <a:t>Input Workflow Specification					OUTPUT WORKFLOW</a:t>
            </a:r>
            <a:endParaRPr sz="20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3f95de07730_1_443"/>
          <p:cNvSpPr txBox="1"/>
          <p:nvPr/>
        </p:nvSpPr>
        <p:spPr>
          <a:xfrm>
            <a:off x="1803628" y="5208684"/>
            <a:ext cx="8584800" cy="594900"/>
          </a:xfrm>
          <a:prstGeom prst="rect">
            <a:avLst/>
          </a:prstGeom>
          <a:noFill/>
          <a:ln>
            <a:noFill/>
          </a:ln>
        </p:spPr>
        <p:txBody>
          <a:bodyPr spcFirstLastPara="1" wrap="square" lIns="0" tIns="9775" rIns="0" bIns="0" anchor="t" anchorCtr="0">
            <a:spAutoFit/>
          </a:bodyPr>
          <a:lstStyle/>
          <a:p>
            <a:pPr marL="12700" lvl="0" indent="0" algn="ctr" rtl="0">
              <a:lnSpc>
                <a:spcPct val="100000"/>
              </a:lnSpc>
              <a:spcBef>
                <a:spcPts val="0"/>
              </a:spcBef>
              <a:spcAft>
                <a:spcPts val="0"/>
              </a:spcAft>
              <a:buNone/>
            </a:pPr>
            <a:r>
              <a:rPr lang="en-US" sz="1900">
                <a:solidFill>
                  <a:srgbClr val="42494B"/>
                </a:solidFill>
                <a:latin typeface="Arial"/>
                <a:ea typeface="Arial"/>
                <a:cs typeface="Arial"/>
                <a:sym typeface="Arial"/>
              </a:rPr>
              <a:t>Requirement: Any HPC/cloud/</a:t>
            </a:r>
            <a:r>
              <a:rPr lang="en-US" sz="1900">
                <a:solidFill>
                  <a:srgbClr val="42494B"/>
                </a:solidFill>
              </a:rPr>
              <a:t>…</a:t>
            </a:r>
            <a:r>
              <a:rPr lang="en-US" sz="1900">
                <a:solidFill>
                  <a:srgbClr val="42494B"/>
                </a:solidFill>
                <a:latin typeface="Arial"/>
                <a:ea typeface="Arial"/>
                <a:cs typeface="Arial"/>
                <a:sym typeface="Arial"/>
              </a:rPr>
              <a:t> system with outbound network connectivity. Includes your own campus cluster or lab </a:t>
            </a:r>
            <a:r>
              <a:rPr lang="en-US" sz="1900">
                <a:solidFill>
                  <a:srgbClr val="42494B"/>
                </a:solidFill>
              </a:rPr>
              <a:t>machines!</a:t>
            </a:r>
            <a:endParaRPr sz="1900">
              <a:latin typeface="Arial"/>
              <a:ea typeface="Arial"/>
              <a:cs typeface="Arial"/>
              <a:sym typeface="Arial"/>
            </a:endParaRPr>
          </a:p>
        </p:txBody>
      </p:sp>
      <p:sp>
        <p:nvSpPr>
          <p:cNvPr id="505" name="Google Shape;505;g3f95de07730_1_443"/>
          <p:cNvSpPr txBox="1">
            <a:spLocks noGrp="1"/>
          </p:cNvSpPr>
          <p:nvPr>
            <p:ph type="title"/>
          </p:nvPr>
        </p:nvSpPr>
        <p:spPr>
          <a:prstGeom prst="rect">
            <a:avLst/>
          </a:prstGeom>
        </p:spPr>
        <p:txBody>
          <a:bodyPr spcFirstLastPara="1" wrap="square" lIns="91425" tIns="45700" rIns="91425" bIns="45700" anchor="t" anchorCtr="0">
            <a:normAutofit/>
          </a:bodyPr>
          <a:lstStyle/>
          <a:p>
            <a:pPr marL="0" lvl="0" indent="0" algn="l" rtl="0">
              <a:spcBef>
                <a:spcPts val="0"/>
              </a:spcBef>
              <a:spcAft>
                <a:spcPts val="0"/>
              </a:spcAft>
              <a:buClr>
                <a:schemeClr val="dk1"/>
              </a:buClr>
              <a:buSzPct val="34091"/>
              <a:buFont typeface="Arial"/>
              <a:buNone/>
            </a:pPr>
            <a:endParaRPr dirty="0"/>
          </a:p>
          <a:p>
            <a:pPr marL="0" lvl="0" indent="0" algn="l" rtl="0">
              <a:spcBef>
                <a:spcPts val="0"/>
              </a:spcBef>
              <a:spcAft>
                <a:spcPts val="0"/>
              </a:spcAft>
              <a:buNone/>
            </a:pPr>
            <a:endParaRPr dirty="0"/>
          </a:p>
        </p:txBody>
      </p:sp>
      <p:sp>
        <p:nvSpPr>
          <p:cNvPr id="3" name="Text Placeholder 2">
            <a:extLst>
              <a:ext uri="{FF2B5EF4-FFF2-40B4-BE49-F238E27FC236}">
                <a16:creationId xmlns:a16="http://schemas.microsoft.com/office/drawing/2014/main" id="{178FDD27-9563-3D8F-B82B-FA70C64D2756}"/>
              </a:ext>
            </a:extLst>
          </p:cNvPr>
          <p:cNvSpPr>
            <a:spLocks noGrp="1"/>
          </p:cNvSpPr>
          <p:nvPr>
            <p:ph type="body" idx="14"/>
          </p:nvPr>
        </p:nvSpPr>
        <p:spPr>
          <a:xfrm>
            <a:off x="1080322" y="371684"/>
            <a:ext cx="10795000" cy="558800"/>
          </a:xfrm>
        </p:spPr>
        <p:txBody>
          <a:bodyPr>
            <a:normAutofit fontScale="92500" lnSpcReduction="10000"/>
          </a:bodyPr>
          <a:lstStyle/>
          <a:p>
            <a:pPr algn="ctr"/>
            <a:r>
              <a:rPr lang="en-US" sz="3600" b="1" dirty="0">
                <a:solidFill>
                  <a:schemeClr val="tx2"/>
                </a:solidFill>
              </a:rPr>
              <a:t>Write Once, Run Anywhere</a:t>
            </a:r>
          </a:p>
        </p:txBody>
      </p:sp>
      <p:sp>
        <p:nvSpPr>
          <p:cNvPr id="504" name="Google Shape;504;g3f95de07730_1_443"/>
          <p:cNvSpPr txBox="1">
            <a:spLocks noGrp="1"/>
          </p:cNvSpPr>
          <p:nvPr>
            <p:ph type="sldNum" idx="4294967295"/>
          </p:nvPr>
        </p:nvSpPr>
        <p:spPr>
          <a:xfrm>
            <a:off x="11768138" y="6235700"/>
            <a:ext cx="423862" cy="365125"/>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13</a:t>
            </a:fld>
            <a:endParaRPr/>
          </a:p>
        </p:txBody>
      </p:sp>
      <p:pic>
        <p:nvPicPr>
          <p:cNvPr id="506" name="Google Shape;506;g3f95de07730_1_443" title="Gemini_Generated_Image_soxr7lsoxr7lsoxr.png"/>
          <p:cNvPicPr preferRelativeResize="0"/>
          <p:nvPr/>
        </p:nvPicPr>
        <p:blipFill>
          <a:blip r:embed="rId3">
            <a:alphaModFix/>
          </a:blip>
          <a:stretch>
            <a:fillRect/>
          </a:stretch>
        </p:blipFill>
        <p:spPr>
          <a:xfrm>
            <a:off x="2381967" y="1149767"/>
            <a:ext cx="7428132" cy="397886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2" name="Text Placeholder 1">
            <a:extLst>
              <a:ext uri="{FF2B5EF4-FFF2-40B4-BE49-F238E27FC236}">
                <a16:creationId xmlns:a16="http://schemas.microsoft.com/office/drawing/2014/main" id="{39A0B30B-DDD1-58F0-96E4-AA611DCF78DA}"/>
              </a:ext>
            </a:extLst>
          </p:cNvPr>
          <p:cNvSpPr>
            <a:spLocks noGrp="1"/>
          </p:cNvSpPr>
          <p:nvPr>
            <p:ph type="body" idx="13"/>
          </p:nvPr>
        </p:nvSpPr>
        <p:spPr/>
        <p:txBody>
          <a:bodyPr/>
          <a:lstStyle/>
          <a:p>
            <a:endParaRPr lang="en-US"/>
          </a:p>
        </p:txBody>
      </p:sp>
      <p:sp>
        <p:nvSpPr>
          <p:cNvPr id="653" name="Google Shape;653;g3f95de07730_1_649" descr="$PPTXTitle"/>
          <p:cNvSpPr txBox="1">
            <a:spLocks noGrp="1"/>
          </p:cNvSpPr>
          <p:nvPr>
            <p:ph type="title"/>
          </p:nvPr>
        </p:nvSpPr>
        <p:spPr>
          <a:xfrm>
            <a:off x="698500" y="711200"/>
            <a:ext cx="10795000" cy="851914"/>
          </a:xfrm>
          <a:prstGeom prst="rect">
            <a:avLst/>
          </a:prstGeom>
          <a:noFill/>
          <a:ln>
            <a:noFill/>
          </a:ln>
        </p:spPr>
        <p:txBody>
          <a:bodyPr spcFirstLastPara="1" wrap="square" lIns="0" tIns="310275" rIns="0" bIns="0" anchor="t" anchorCtr="0">
            <a:spAutoFit/>
          </a:bodyPr>
          <a:lstStyle/>
          <a:p>
            <a:pPr marL="12700" lvl="0" indent="0" algn="l" rtl="0">
              <a:lnSpc>
                <a:spcPct val="100000"/>
              </a:lnSpc>
              <a:spcBef>
                <a:spcPts val="0"/>
              </a:spcBef>
              <a:spcAft>
                <a:spcPts val="0"/>
              </a:spcAft>
              <a:buNone/>
            </a:pPr>
            <a:r>
              <a:rPr lang="en-US" sz="3500" dirty="0"/>
              <a:t>Resilience: When Things Go Wrong</a:t>
            </a:r>
            <a:endParaRPr sz="3500" dirty="0"/>
          </a:p>
        </p:txBody>
      </p:sp>
      <p:sp>
        <p:nvSpPr>
          <p:cNvPr id="655" name="Google Shape;655;g3f95de07730_1_649"/>
          <p:cNvSpPr txBox="1">
            <a:spLocks noGrp="1"/>
          </p:cNvSpPr>
          <p:nvPr>
            <p:ph type="sldNum" idx="4294967295"/>
          </p:nvPr>
        </p:nvSpPr>
        <p:spPr>
          <a:xfrm>
            <a:off x="10134600" y="4767263"/>
            <a:ext cx="2057400" cy="274637"/>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pic>
        <p:nvPicPr>
          <p:cNvPr id="654" name="Google Shape;654;g3f95de07730_1_649"/>
          <p:cNvPicPr preferRelativeResize="0"/>
          <p:nvPr/>
        </p:nvPicPr>
        <p:blipFill>
          <a:blip r:embed="rId3">
            <a:alphaModFix/>
          </a:blip>
          <a:stretch>
            <a:fillRect/>
          </a:stretch>
        </p:blipFill>
        <p:spPr>
          <a:xfrm>
            <a:off x="415190" y="1588257"/>
            <a:ext cx="11331160" cy="478011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2" name="Text Placeholder 1">
            <a:extLst>
              <a:ext uri="{FF2B5EF4-FFF2-40B4-BE49-F238E27FC236}">
                <a16:creationId xmlns:a16="http://schemas.microsoft.com/office/drawing/2014/main" id="{593D4263-DECC-15DC-FE67-9925E62C2EE7}"/>
              </a:ext>
            </a:extLst>
          </p:cNvPr>
          <p:cNvSpPr>
            <a:spLocks noGrp="1"/>
          </p:cNvSpPr>
          <p:nvPr>
            <p:ph type="body" idx="13"/>
          </p:nvPr>
        </p:nvSpPr>
        <p:spPr/>
        <p:txBody>
          <a:bodyPr/>
          <a:lstStyle/>
          <a:p>
            <a:endParaRPr lang="en-US"/>
          </a:p>
        </p:txBody>
      </p:sp>
      <p:sp>
        <p:nvSpPr>
          <p:cNvPr id="660" name="Google Shape;660;g3f95de07730_1_655" descr="$PPTXTitle"/>
          <p:cNvSpPr txBox="1">
            <a:spLocks noGrp="1"/>
          </p:cNvSpPr>
          <p:nvPr>
            <p:ph type="title"/>
          </p:nvPr>
        </p:nvSpPr>
        <p:spPr>
          <a:xfrm>
            <a:off x="698500" y="711200"/>
            <a:ext cx="10795000" cy="895395"/>
          </a:xfrm>
          <a:prstGeom prst="rect">
            <a:avLst/>
          </a:prstGeom>
          <a:noFill/>
          <a:ln>
            <a:noFill/>
          </a:ln>
        </p:spPr>
        <p:txBody>
          <a:bodyPr spcFirstLastPara="1" wrap="square" lIns="0" tIns="292375" rIns="0" bIns="0" anchor="t" anchorCtr="0">
            <a:spAutoFit/>
          </a:bodyPr>
          <a:lstStyle/>
          <a:p>
            <a:pPr marL="12700" lvl="0" indent="0" algn="l" rtl="0">
              <a:lnSpc>
                <a:spcPct val="100000"/>
              </a:lnSpc>
              <a:spcBef>
                <a:spcPts val="0"/>
              </a:spcBef>
              <a:spcAft>
                <a:spcPts val="0"/>
              </a:spcAft>
              <a:buNone/>
            </a:pPr>
            <a:r>
              <a:rPr lang="en-US" sz="3900" dirty="0">
                <a:latin typeface="Arial"/>
                <a:ea typeface="Arial"/>
                <a:cs typeface="Arial"/>
                <a:sym typeface="Arial"/>
              </a:rPr>
              <a:t>Provenance &amp; Reproducibility</a:t>
            </a:r>
            <a:endParaRPr sz="3900" dirty="0">
              <a:latin typeface="Arial"/>
              <a:ea typeface="Arial"/>
              <a:cs typeface="Arial"/>
              <a:sym typeface="Arial"/>
            </a:endParaRPr>
          </a:p>
        </p:txBody>
      </p:sp>
      <p:sp>
        <p:nvSpPr>
          <p:cNvPr id="662" name="Google Shape;662;g3f95de07730_1_655"/>
          <p:cNvSpPr txBox="1"/>
          <p:nvPr/>
        </p:nvSpPr>
        <p:spPr>
          <a:xfrm>
            <a:off x="8408407" y="2926477"/>
            <a:ext cx="3434700" cy="2442300"/>
          </a:xfrm>
          <a:prstGeom prst="rect">
            <a:avLst/>
          </a:prstGeom>
          <a:noFill/>
          <a:ln>
            <a:noFill/>
          </a:ln>
        </p:spPr>
        <p:txBody>
          <a:bodyPr spcFirstLastPara="1" wrap="square" lIns="0" tIns="10225" rIns="0" bIns="0" anchor="t" anchorCtr="0">
            <a:spAutoFit/>
          </a:bodyPr>
          <a:lstStyle/>
          <a:p>
            <a:pPr marL="12700" lvl="0" indent="0" algn="l" rtl="0">
              <a:lnSpc>
                <a:spcPct val="100000"/>
              </a:lnSpc>
              <a:spcBef>
                <a:spcPts val="0"/>
              </a:spcBef>
              <a:spcAft>
                <a:spcPts val="0"/>
              </a:spcAft>
              <a:buNone/>
            </a:pPr>
            <a:r>
              <a:rPr lang="en-US" sz="2500" dirty="0">
                <a:solidFill>
                  <a:srgbClr val="2B383B"/>
                </a:solidFill>
                <a:latin typeface="Arial"/>
                <a:ea typeface="Arial"/>
                <a:cs typeface="Arial"/>
                <a:sym typeface="Arial"/>
              </a:rPr>
              <a:t>Pegasus tracks every bit of</a:t>
            </a:r>
            <a:r>
              <a:rPr lang="en-US" sz="2500" dirty="0"/>
              <a:t> </a:t>
            </a:r>
            <a:r>
              <a:rPr lang="en-US" sz="2700" b="1" dirty="0">
                <a:solidFill>
                  <a:schemeClr val="accent1"/>
                </a:solidFill>
                <a:latin typeface="Arial"/>
                <a:ea typeface="Arial"/>
                <a:cs typeface="Arial"/>
                <a:sym typeface="Arial"/>
              </a:rPr>
              <a:t>data and every compute </a:t>
            </a:r>
            <a:r>
              <a:rPr lang="en-US" sz="2500" dirty="0">
                <a:solidFill>
                  <a:srgbClr val="2B383B"/>
                </a:solidFill>
                <a:latin typeface="Arial"/>
                <a:ea typeface="Arial"/>
                <a:cs typeface="Arial"/>
                <a:sym typeface="Arial"/>
              </a:rPr>
              <a:t>step, ensuring your results are </a:t>
            </a:r>
            <a:r>
              <a:rPr lang="en-US" sz="2700" b="1" dirty="0">
                <a:solidFill>
                  <a:schemeClr val="accent1"/>
                </a:solidFill>
                <a:latin typeface="Arial"/>
                <a:ea typeface="Arial"/>
                <a:cs typeface="Arial"/>
                <a:sym typeface="Arial"/>
              </a:rPr>
              <a:t>verifiable</a:t>
            </a:r>
            <a:r>
              <a:rPr lang="en-US" sz="2700" b="1" dirty="0">
                <a:solidFill>
                  <a:srgbClr val="2B383B"/>
                </a:solidFill>
                <a:latin typeface="Arial"/>
                <a:ea typeface="Arial"/>
                <a:cs typeface="Arial"/>
                <a:sym typeface="Arial"/>
              </a:rPr>
              <a:t> </a:t>
            </a:r>
            <a:r>
              <a:rPr lang="en-US" sz="2500" dirty="0">
                <a:solidFill>
                  <a:srgbClr val="2B383B"/>
                </a:solidFill>
              </a:rPr>
              <a:t>and </a:t>
            </a:r>
            <a:r>
              <a:rPr lang="en-US" sz="2700" b="1" dirty="0">
                <a:solidFill>
                  <a:schemeClr val="accent1"/>
                </a:solidFill>
              </a:rPr>
              <a:t>reproducible</a:t>
            </a:r>
            <a:r>
              <a:rPr lang="en-US" sz="2700" b="1" dirty="0">
                <a:solidFill>
                  <a:srgbClr val="2B383B"/>
                </a:solidFill>
              </a:rPr>
              <a:t>.</a:t>
            </a:r>
            <a:endParaRPr sz="2700" dirty="0">
              <a:latin typeface="Arial"/>
              <a:ea typeface="Arial"/>
              <a:cs typeface="Arial"/>
              <a:sym typeface="Arial"/>
            </a:endParaRPr>
          </a:p>
        </p:txBody>
      </p:sp>
      <p:pic>
        <p:nvPicPr>
          <p:cNvPr id="663" name="Google Shape;663;g3f95de07730_1_655"/>
          <p:cNvPicPr preferRelativeResize="0"/>
          <p:nvPr/>
        </p:nvPicPr>
        <p:blipFill>
          <a:blip r:embed="rId3">
            <a:alphaModFix/>
          </a:blip>
          <a:stretch>
            <a:fillRect/>
          </a:stretch>
        </p:blipFill>
        <p:spPr>
          <a:xfrm>
            <a:off x="404686" y="1902565"/>
            <a:ext cx="7396275" cy="4505547"/>
          </a:xfrm>
          <a:prstGeom prst="rect">
            <a:avLst/>
          </a:prstGeom>
          <a:noFill/>
          <a:ln>
            <a:noFill/>
          </a:ln>
        </p:spPr>
      </p:pic>
      <p:sp>
        <p:nvSpPr>
          <p:cNvPr id="664" name="Google Shape;664;g3f95de07730_1_655"/>
          <p:cNvSpPr/>
          <p:nvPr/>
        </p:nvSpPr>
        <p:spPr>
          <a:xfrm>
            <a:off x="7269192" y="2760908"/>
            <a:ext cx="840900" cy="1831500"/>
          </a:xfrm>
          <a:prstGeom prst="rect">
            <a:avLst/>
          </a:prstGeom>
          <a:solidFill>
            <a:schemeClr val="lt1"/>
          </a:solidFill>
          <a:ln w="6675" cap="flat" cmpd="sng">
            <a:solidFill>
              <a:schemeClr val="lt1"/>
            </a:solidFill>
            <a:prstDash val="solid"/>
            <a:round/>
            <a:headEnd type="none" w="sm" len="sm"/>
            <a:tailEnd type="none" w="sm" len="sm"/>
          </a:ln>
        </p:spPr>
        <p:txBody>
          <a:bodyPr spcFirstLastPara="1" wrap="square" lIns="63975" tIns="63975" rIns="63975" bIns="63975" anchor="ctr" anchorCtr="0">
            <a:noAutofit/>
          </a:bodyPr>
          <a:lstStyle/>
          <a:p>
            <a:pPr marL="0" lvl="0" indent="0" algn="ctr" rtl="0">
              <a:spcBef>
                <a:spcPts val="0"/>
              </a:spcBef>
              <a:spcAft>
                <a:spcPts val="0"/>
              </a:spcAft>
              <a:buNone/>
            </a:pPr>
            <a:endParaRPr sz="1100"/>
          </a:p>
        </p:txBody>
      </p:sp>
      <p:sp>
        <p:nvSpPr>
          <p:cNvPr id="661" name="Google Shape;661;g3f95de07730_1_655"/>
          <p:cNvSpPr txBox="1"/>
          <p:nvPr/>
        </p:nvSpPr>
        <p:spPr>
          <a:xfrm>
            <a:off x="285585" y="1902565"/>
            <a:ext cx="3021141" cy="841776"/>
          </a:xfrm>
          <a:prstGeom prst="rect">
            <a:avLst/>
          </a:prstGeom>
          <a:noFill/>
          <a:ln>
            <a:noFill/>
          </a:ln>
        </p:spPr>
        <p:txBody>
          <a:bodyPr spcFirstLastPara="1" wrap="square" lIns="0" tIns="10675" rIns="0" bIns="0" anchor="t" anchorCtr="0">
            <a:spAutoFit/>
          </a:bodyPr>
          <a:lstStyle/>
          <a:p>
            <a:pPr marL="12700" lvl="0" indent="0" algn="l" rtl="0">
              <a:lnSpc>
                <a:spcPct val="100000"/>
              </a:lnSpc>
              <a:spcBef>
                <a:spcPts val="0"/>
              </a:spcBef>
              <a:spcAft>
                <a:spcPts val="0"/>
              </a:spcAft>
              <a:buNone/>
            </a:pPr>
            <a:r>
              <a:rPr lang="en-US" sz="2700" dirty="0">
                <a:solidFill>
                  <a:srgbClr val="2B383B"/>
                </a:solidFill>
                <a:latin typeface="Arial"/>
                <a:ea typeface="Arial"/>
                <a:cs typeface="Arial"/>
                <a:sym typeface="Arial"/>
              </a:rPr>
              <a:t>Good science requires proof</a:t>
            </a:r>
            <a:endParaRPr sz="2700" dirty="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78"/>
        <p:cNvGrpSpPr/>
        <p:nvPr/>
      </p:nvGrpSpPr>
      <p:grpSpPr>
        <a:xfrm>
          <a:off x="0" y="0"/>
          <a:ext cx="0" cy="0"/>
          <a:chOff x="0" y="0"/>
          <a:chExt cx="0" cy="0"/>
        </a:xfrm>
      </p:grpSpPr>
      <p:sp>
        <p:nvSpPr>
          <p:cNvPr id="3" name="Text Placeholder 2">
            <a:extLst>
              <a:ext uri="{FF2B5EF4-FFF2-40B4-BE49-F238E27FC236}">
                <a16:creationId xmlns:a16="http://schemas.microsoft.com/office/drawing/2014/main" id="{7B7069FC-D220-7A7D-61D3-A5CEF47AB2A1}"/>
              </a:ext>
            </a:extLst>
          </p:cNvPr>
          <p:cNvSpPr>
            <a:spLocks noGrp="1"/>
          </p:cNvSpPr>
          <p:nvPr>
            <p:ph type="body" idx="13"/>
          </p:nvPr>
        </p:nvSpPr>
        <p:spPr/>
        <p:txBody>
          <a:bodyPr>
            <a:normAutofit lnSpcReduction="10000"/>
          </a:bodyPr>
          <a:lstStyle/>
          <a:p>
            <a:endParaRPr lang="en-US"/>
          </a:p>
        </p:txBody>
      </p:sp>
      <p:sp>
        <p:nvSpPr>
          <p:cNvPr id="1279" name="Google Shape;1279;g3f95de07730_1_95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800"/>
              <a:buNone/>
            </a:pPr>
            <a:r>
              <a:rPr lang="en-US" dirty="0"/>
              <a:t>Success Stories</a:t>
            </a:r>
            <a:endParaRPr dirty="0"/>
          </a:p>
        </p:txBody>
      </p:sp>
      <p:sp>
        <p:nvSpPr>
          <p:cNvPr id="2" name="Text Placeholder 1">
            <a:extLst>
              <a:ext uri="{FF2B5EF4-FFF2-40B4-BE49-F238E27FC236}">
                <a16:creationId xmlns:a16="http://schemas.microsoft.com/office/drawing/2014/main" id="{159A715C-B174-511A-A815-27CF55FB2043}"/>
              </a:ext>
            </a:extLst>
          </p:cNvPr>
          <p:cNvSpPr>
            <a:spLocks noGrp="1"/>
          </p:cNvSpPr>
          <p:nvPr>
            <p:ph type="body" idx="1"/>
          </p:nvPr>
        </p:nvSpPr>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9"/>
          <p:cNvSpPr/>
          <p:nvPr/>
        </p:nvSpPr>
        <p:spPr>
          <a:xfrm>
            <a:off x="6499805" y="3582557"/>
            <a:ext cx="1810692" cy="1593409"/>
          </a:xfrm>
          <a:prstGeom prst="roundRect">
            <a:avLst>
              <a:gd name="adj" fmla="val 16667"/>
            </a:avLst>
          </a:prstGeom>
          <a:gradFill>
            <a:gsLst>
              <a:gs pos="0">
                <a:srgbClr val="1E4994"/>
              </a:gs>
              <a:gs pos="50000">
                <a:srgbClr val="2B6CD7"/>
              </a:gs>
              <a:gs pos="100000">
                <a:srgbClr val="3481FF"/>
              </a:gs>
            </a:gsLst>
            <a:lin ang="108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3F3E1"/>
              </a:solidFill>
              <a:latin typeface="Arial"/>
              <a:ea typeface="Arial"/>
              <a:cs typeface="Arial"/>
              <a:sym typeface="Arial"/>
            </a:endParaRPr>
          </a:p>
        </p:txBody>
      </p:sp>
      <p:sp>
        <p:nvSpPr>
          <p:cNvPr id="3" name="Text Placeholder 2">
            <a:extLst>
              <a:ext uri="{FF2B5EF4-FFF2-40B4-BE49-F238E27FC236}">
                <a16:creationId xmlns:a16="http://schemas.microsoft.com/office/drawing/2014/main" id="{AFC26D1F-1A66-CD06-3EBD-FCD331729967}"/>
              </a:ext>
            </a:extLst>
          </p:cNvPr>
          <p:cNvSpPr>
            <a:spLocks noGrp="1"/>
          </p:cNvSpPr>
          <p:nvPr>
            <p:ph type="body" idx="13"/>
          </p:nvPr>
        </p:nvSpPr>
        <p:spPr/>
        <p:txBody>
          <a:bodyPr/>
          <a:lstStyle/>
          <a:p>
            <a:endParaRPr lang="en-US"/>
          </a:p>
        </p:txBody>
      </p:sp>
      <p:sp>
        <p:nvSpPr>
          <p:cNvPr id="2" name="Title 1">
            <a:extLst>
              <a:ext uri="{FF2B5EF4-FFF2-40B4-BE49-F238E27FC236}">
                <a16:creationId xmlns:a16="http://schemas.microsoft.com/office/drawing/2014/main" id="{2786D2BB-977C-1A0A-0E7C-4243A84CF020}"/>
              </a:ext>
            </a:extLst>
          </p:cNvPr>
          <p:cNvSpPr>
            <a:spLocks noGrp="1"/>
          </p:cNvSpPr>
          <p:nvPr>
            <p:ph type="title"/>
          </p:nvPr>
        </p:nvSpPr>
        <p:spPr>
          <a:xfrm>
            <a:off x="3706920" y="711200"/>
            <a:ext cx="7786579" cy="571500"/>
          </a:xfrm>
        </p:spPr>
        <p:txBody>
          <a:bodyPr>
            <a:normAutofit fontScale="90000"/>
          </a:bodyPr>
          <a:lstStyle/>
          <a:p>
            <a:r>
              <a:rPr lang="en-US" dirty="0"/>
              <a:t>Pegasus for Seismic Hazard Applications </a:t>
            </a:r>
            <a:br>
              <a:rPr lang="en-US" dirty="0"/>
            </a:br>
            <a:endParaRPr lang="en-US" dirty="0"/>
          </a:p>
        </p:txBody>
      </p:sp>
      <p:sp>
        <p:nvSpPr>
          <p:cNvPr id="4" name="Text Placeholder 3">
            <a:extLst>
              <a:ext uri="{FF2B5EF4-FFF2-40B4-BE49-F238E27FC236}">
                <a16:creationId xmlns:a16="http://schemas.microsoft.com/office/drawing/2014/main" id="{9BD0C3D0-292B-FB48-9469-9A46EE8EAADC}"/>
              </a:ext>
            </a:extLst>
          </p:cNvPr>
          <p:cNvSpPr>
            <a:spLocks noGrp="1"/>
          </p:cNvSpPr>
          <p:nvPr>
            <p:ph type="body" idx="14"/>
          </p:nvPr>
        </p:nvSpPr>
        <p:spPr/>
        <p:txBody>
          <a:bodyPr/>
          <a:lstStyle/>
          <a:p>
            <a:endParaRPr lang="en-US"/>
          </a:p>
        </p:txBody>
      </p:sp>
      <p:sp>
        <p:nvSpPr>
          <p:cNvPr id="504" name="Google Shape;504;p9"/>
          <p:cNvSpPr txBox="1">
            <a:spLocks noGrp="1"/>
          </p:cNvSpPr>
          <p:nvPr>
            <p:ph type="sldNum" idx="4294967295"/>
          </p:nvPr>
        </p:nvSpPr>
        <p:spPr>
          <a:xfrm>
            <a:off x="11784013" y="6356350"/>
            <a:ext cx="407987" cy="3651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600"/>
              </a:spcAft>
              <a:buNone/>
            </a:pPr>
            <a:fld id="{00000000-1234-1234-1234-123412341234}" type="slidenum">
              <a:rPr lang="en-US" sz="1100">
                <a:solidFill>
                  <a:srgbClr val="FFFFFF"/>
                </a:solidFill>
              </a:rPr>
              <a:t>17</a:t>
            </a:fld>
            <a:endParaRPr sz="1100">
              <a:solidFill>
                <a:srgbClr val="FFFFFF"/>
              </a:solidFill>
            </a:endParaRPr>
          </a:p>
        </p:txBody>
      </p:sp>
      <p:sp>
        <p:nvSpPr>
          <p:cNvPr id="505" name="Google Shape;505;p9"/>
          <p:cNvSpPr txBox="1"/>
          <p:nvPr/>
        </p:nvSpPr>
        <p:spPr>
          <a:xfrm>
            <a:off x="1230290" y="6200359"/>
            <a:ext cx="3472425" cy="318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67" b="1">
                <a:solidFill>
                  <a:srgbClr val="5F8BC2"/>
                </a:solidFill>
                <a:latin typeface="Roboto"/>
                <a:ea typeface="Roboto"/>
                <a:cs typeface="Roboto"/>
                <a:sym typeface="Roboto"/>
              </a:rPr>
              <a:t>Slide Courtesy of Scott Callaghan, USC</a:t>
            </a:r>
            <a:endParaRPr/>
          </a:p>
        </p:txBody>
      </p:sp>
      <p:pic>
        <p:nvPicPr>
          <p:cNvPr id="506" name="Google Shape;506;p9"/>
          <p:cNvPicPr preferRelativeResize="0"/>
          <p:nvPr/>
        </p:nvPicPr>
        <p:blipFill rotWithShape="1">
          <a:blip r:embed="rId3">
            <a:alphaModFix/>
          </a:blip>
          <a:srcRect/>
          <a:stretch/>
        </p:blipFill>
        <p:spPr>
          <a:xfrm>
            <a:off x="40494" y="55326"/>
            <a:ext cx="3193743" cy="3853631"/>
          </a:xfrm>
          <a:prstGeom prst="rect">
            <a:avLst/>
          </a:prstGeom>
          <a:noFill/>
          <a:ln w="9525" cap="flat" cmpd="sng">
            <a:solidFill>
              <a:srgbClr val="119D96"/>
            </a:solidFill>
            <a:prstDash val="solid"/>
            <a:round/>
            <a:headEnd type="none" w="sm" len="sm"/>
            <a:tailEnd type="none" w="sm" len="sm"/>
          </a:ln>
        </p:spPr>
      </p:pic>
      <p:sp>
        <p:nvSpPr>
          <p:cNvPr id="507" name="Google Shape;507;p9"/>
          <p:cNvSpPr/>
          <p:nvPr/>
        </p:nvSpPr>
        <p:spPr>
          <a:xfrm>
            <a:off x="259982" y="4762586"/>
            <a:ext cx="2009775" cy="872922"/>
          </a:xfrm>
          <a:prstGeom prst="rect">
            <a:avLst/>
          </a:prstGeom>
          <a:noFill/>
          <a:ln>
            <a:noFill/>
          </a:ln>
        </p:spPr>
        <p:txBody>
          <a:bodyPr spcFirstLastPara="1" wrap="square" lIns="72000" tIns="36000" rIns="72000" bIns="36000" anchor="t" anchorCtr="0">
            <a:spAutoFit/>
          </a:bodyPr>
          <a:lstStyle/>
          <a:p>
            <a:pPr marL="285744" marR="0" lvl="0" indent="-285744" algn="l" rtl="0">
              <a:spcBef>
                <a:spcPts val="0"/>
              </a:spcBef>
              <a:spcAft>
                <a:spcPts val="0"/>
              </a:spcAft>
              <a:buClr>
                <a:srgbClr val="6CAF27"/>
              </a:buClr>
              <a:buSzPts val="1400"/>
              <a:buFont typeface="Noto Sans Symbols"/>
              <a:buChar char="✔"/>
            </a:pPr>
            <a:r>
              <a:rPr lang="en-US" sz="1400">
                <a:solidFill>
                  <a:srgbClr val="548135"/>
                </a:solidFill>
                <a:latin typeface="Roboto"/>
                <a:ea typeface="Roboto"/>
                <a:cs typeface="Roboto"/>
                <a:sym typeface="Roboto"/>
              </a:rPr>
              <a:t>Building engineers</a:t>
            </a:r>
            <a:endParaRPr/>
          </a:p>
          <a:p>
            <a:pPr marL="285744" marR="0" lvl="0" indent="-285744" algn="l" rtl="0">
              <a:spcBef>
                <a:spcPts val="600"/>
              </a:spcBef>
              <a:spcAft>
                <a:spcPts val="0"/>
              </a:spcAft>
              <a:buClr>
                <a:srgbClr val="6CAF27"/>
              </a:buClr>
              <a:buSzPts val="1400"/>
              <a:buFont typeface="Noto Sans Symbols"/>
              <a:buChar char="✔"/>
            </a:pPr>
            <a:r>
              <a:rPr lang="en-US" sz="1400">
                <a:solidFill>
                  <a:srgbClr val="548135"/>
                </a:solidFill>
                <a:latin typeface="Roboto"/>
                <a:ea typeface="Roboto"/>
                <a:cs typeface="Roboto"/>
                <a:sym typeface="Roboto"/>
              </a:rPr>
              <a:t>Disaster planners</a:t>
            </a:r>
            <a:endParaRPr/>
          </a:p>
          <a:p>
            <a:pPr marL="285744" marR="0" lvl="0" indent="-285744" algn="l" rtl="0">
              <a:spcBef>
                <a:spcPts val="600"/>
              </a:spcBef>
              <a:spcAft>
                <a:spcPts val="0"/>
              </a:spcAft>
              <a:buClr>
                <a:srgbClr val="6CAF27"/>
              </a:buClr>
              <a:buSzPts val="1400"/>
              <a:buFont typeface="Noto Sans Symbols"/>
              <a:buChar char="✔"/>
            </a:pPr>
            <a:r>
              <a:rPr lang="en-US" sz="1400">
                <a:solidFill>
                  <a:srgbClr val="548135"/>
                </a:solidFill>
                <a:latin typeface="Roboto"/>
                <a:ea typeface="Roboto"/>
                <a:cs typeface="Roboto"/>
                <a:sym typeface="Roboto"/>
              </a:rPr>
              <a:t>Insurance agencies</a:t>
            </a:r>
            <a:endParaRPr/>
          </a:p>
        </p:txBody>
      </p:sp>
      <p:sp>
        <p:nvSpPr>
          <p:cNvPr id="508" name="Google Shape;508;p9"/>
          <p:cNvSpPr/>
          <p:nvPr/>
        </p:nvSpPr>
        <p:spPr>
          <a:xfrm>
            <a:off x="384674" y="3989526"/>
            <a:ext cx="2230583" cy="642090"/>
          </a:xfrm>
          <a:prstGeom prst="rect">
            <a:avLst/>
          </a:prstGeom>
          <a:noFill/>
          <a:ln>
            <a:noFill/>
          </a:ln>
        </p:spPr>
        <p:txBody>
          <a:bodyPr spcFirstLastPara="1" wrap="square" lIns="72000" tIns="36000" rIns="72000" bIns="36000" anchor="t" anchorCtr="0">
            <a:spAutoFit/>
          </a:bodyPr>
          <a:lstStyle/>
          <a:p>
            <a:pPr marL="0" marR="0" lvl="0" indent="0" algn="l" rtl="0">
              <a:spcBef>
                <a:spcPts val="0"/>
              </a:spcBef>
              <a:spcAft>
                <a:spcPts val="0"/>
              </a:spcAft>
              <a:buNone/>
            </a:pPr>
            <a:r>
              <a:rPr lang="en-US" sz="1600" b="1" i="1">
                <a:solidFill>
                  <a:srgbClr val="6CAF27"/>
                </a:solidFill>
                <a:latin typeface="Roboto"/>
                <a:ea typeface="Roboto"/>
                <a:cs typeface="Roboto"/>
                <a:sym typeface="Roboto"/>
              </a:rPr>
              <a:t>Useful information </a:t>
            </a:r>
            <a:endParaRPr/>
          </a:p>
          <a:p>
            <a:pPr marL="0" marR="0" lvl="0" indent="0" algn="l" rtl="0">
              <a:spcBef>
                <a:spcPts val="600"/>
              </a:spcBef>
              <a:spcAft>
                <a:spcPts val="0"/>
              </a:spcAft>
              <a:buNone/>
            </a:pPr>
            <a:r>
              <a:rPr lang="en-US" sz="1600" b="1" i="1">
                <a:solidFill>
                  <a:srgbClr val="6CAF27"/>
                </a:solidFill>
                <a:latin typeface="Roboto"/>
                <a:ea typeface="Roboto"/>
                <a:cs typeface="Roboto"/>
                <a:sym typeface="Roboto"/>
              </a:rPr>
              <a:t>for:</a:t>
            </a:r>
            <a:endParaRPr/>
          </a:p>
        </p:txBody>
      </p:sp>
      <p:pic>
        <p:nvPicPr>
          <p:cNvPr id="509" name="Google Shape;509;p9" descr="Southern California Earthquake Center"/>
          <p:cNvPicPr preferRelativeResize="0"/>
          <p:nvPr/>
        </p:nvPicPr>
        <p:blipFill rotWithShape="1">
          <a:blip r:embed="rId4">
            <a:alphaModFix/>
          </a:blip>
          <a:srcRect/>
          <a:stretch/>
        </p:blipFill>
        <p:spPr>
          <a:xfrm>
            <a:off x="10399145" y="5440827"/>
            <a:ext cx="1666747" cy="957688"/>
          </a:xfrm>
          <a:prstGeom prst="roundRect">
            <a:avLst>
              <a:gd name="adj" fmla="val 16667"/>
            </a:avLst>
          </a:prstGeom>
          <a:solidFill>
            <a:schemeClr val="accent1"/>
          </a:solidFill>
          <a:ln>
            <a:noFill/>
          </a:ln>
        </p:spPr>
      </p:pic>
      <p:sp>
        <p:nvSpPr>
          <p:cNvPr id="511" name="Google Shape;511;p9"/>
          <p:cNvSpPr/>
          <p:nvPr/>
        </p:nvSpPr>
        <p:spPr>
          <a:xfrm>
            <a:off x="3706921" y="3582557"/>
            <a:ext cx="1810692" cy="1593409"/>
          </a:xfrm>
          <a:prstGeom prst="roundRect">
            <a:avLst>
              <a:gd name="adj" fmla="val 16667"/>
            </a:avLst>
          </a:prstGeom>
          <a:gradFill>
            <a:gsLst>
              <a:gs pos="0">
                <a:srgbClr val="1E4994"/>
              </a:gs>
              <a:gs pos="50000">
                <a:srgbClr val="2B6CD7"/>
              </a:gs>
              <a:gs pos="100000">
                <a:srgbClr val="3481FF"/>
              </a:gs>
            </a:gsLst>
            <a:lin ang="108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3F3E1"/>
              </a:solidFill>
              <a:latin typeface="Arial"/>
              <a:ea typeface="Arial"/>
              <a:cs typeface="Arial"/>
              <a:sym typeface="Arial"/>
            </a:endParaRPr>
          </a:p>
        </p:txBody>
      </p:sp>
      <p:sp>
        <p:nvSpPr>
          <p:cNvPr id="512" name="Google Shape;512;p9"/>
          <p:cNvSpPr/>
          <p:nvPr/>
        </p:nvSpPr>
        <p:spPr>
          <a:xfrm>
            <a:off x="4007667" y="3698111"/>
            <a:ext cx="1307301" cy="770572"/>
          </a:xfrm>
          <a:prstGeom prst="rect">
            <a:avLst/>
          </a:prstGeom>
          <a:noFill/>
          <a:ln>
            <a:noFill/>
          </a:ln>
        </p:spPr>
        <p:txBody>
          <a:bodyPr spcFirstLastPara="1" wrap="square" lIns="0" tIns="0" rIns="0" bIns="0" anchor="t" anchorCtr="0">
            <a:noAutofit/>
          </a:bodyPr>
          <a:lstStyle/>
          <a:p>
            <a:pPr marL="0" marR="0" lvl="0" indent="0" algn="ctr" rtl="0">
              <a:lnSpc>
                <a:spcPct val="162523"/>
              </a:lnSpc>
              <a:spcBef>
                <a:spcPts val="0"/>
              </a:spcBef>
              <a:spcAft>
                <a:spcPts val="0"/>
              </a:spcAft>
              <a:buNone/>
            </a:pPr>
            <a:r>
              <a:rPr lang="en-US" sz="3733" b="1">
                <a:solidFill>
                  <a:srgbClr val="F3F3E1"/>
                </a:solidFill>
                <a:latin typeface="Montserrat"/>
                <a:ea typeface="Montserrat"/>
                <a:cs typeface="Montserrat"/>
                <a:sym typeface="Montserrat"/>
              </a:rPr>
              <a:t>1 PB</a:t>
            </a:r>
            <a:endParaRPr sz="3733">
              <a:solidFill>
                <a:srgbClr val="F3F3E1"/>
              </a:solidFill>
              <a:latin typeface="Arial"/>
              <a:ea typeface="Arial"/>
              <a:cs typeface="Arial"/>
              <a:sym typeface="Arial"/>
            </a:endParaRPr>
          </a:p>
        </p:txBody>
      </p:sp>
      <p:sp>
        <p:nvSpPr>
          <p:cNvPr id="513" name="Google Shape;513;p9"/>
          <p:cNvSpPr/>
          <p:nvPr/>
        </p:nvSpPr>
        <p:spPr>
          <a:xfrm>
            <a:off x="3319510" y="4370755"/>
            <a:ext cx="2653348" cy="331471"/>
          </a:xfrm>
          <a:prstGeom prst="rect">
            <a:avLst/>
          </a:prstGeom>
          <a:noFill/>
          <a:ln>
            <a:noFill/>
          </a:ln>
        </p:spPr>
        <p:txBody>
          <a:bodyPr spcFirstLastPara="1" wrap="square" lIns="0" tIns="0" rIns="0" bIns="0" anchor="t" anchorCtr="0">
            <a:noAutofit/>
          </a:bodyPr>
          <a:lstStyle/>
          <a:p>
            <a:pPr marL="0" marR="0" lvl="0" indent="0" algn="ctr" rtl="0">
              <a:lnSpc>
                <a:spcPct val="195048"/>
              </a:lnSpc>
              <a:spcBef>
                <a:spcPts val="0"/>
              </a:spcBef>
              <a:spcAft>
                <a:spcPts val="0"/>
              </a:spcAft>
              <a:buNone/>
            </a:pPr>
            <a:r>
              <a:rPr lang="en-US" sz="1333" b="1">
                <a:solidFill>
                  <a:srgbClr val="F3F3E1"/>
                </a:solidFill>
                <a:latin typeface="Montserrat"/>
                <a:ea typeface="Montserrat"/>
                <a:cs typeface="Montserrat"/>
                <a:sym typeface="Montserrat"/>
              </a:rPr>
              <a:t>Data</a:t>
            </a:r>
            <a:endParaRPr sz="1333">
              <a:solidFill>
                <a:srgbClr val="F3F3E1"/>
              </a:solidFill>
              <a:latin typeface="Arial"/>
              <a:ea typeface="Arial"/>
              <a:cs typeface="Arial"/>
              <a:sym typeface="Arial"/>
            </a:endParaRPr>
          </a:p>
        </p:txBody>
      </p:sp>
      <p:sp>
        <p:nvSpPr>
          <p:cNvPr id="514" name="Google Shape;514;p9"/>
          <p:cNvSpPr/>
          <p:nvPr/>
        </p:nvSpPr>
        <p:spPr>
          <a:xfrm>
            <a:off x="2158394" y="4695605"/>
            <a:ext cx="5103653" cy="350203"/>
          </a:xfrm>
          <a:prstGeom prst="rect">
            <a:avLst/>
          </a:prstGeom>
          <a:noFill/>
          <a:ln>
            <a:noFill/>
          </a:ln>
        </p:spPr>
        <p:txBody>
          <a:bodyPr spcFirstLastPara="1" wrap="square" lIns="0" tIns="0" rIns="0" bIns="0" anchor="t" anchorCtr="0">
            <a:noAutofit/>
          </a:bodyPr>
          <a:lstStyle/>
          <a:p>
            <a:pPr marL="0" marR="0" lvl="0" indent="0" algn="ctr" rtl="0">
              <a:lnSpc>
                <a:spcPct val="227749"/>
              </a:lnSpc>
              <a:spcBef>
                <a:spcPts val="0"/>
              </a:spcBef>
              <a:spcAft>
                <a:spcPts val="0"/>
              </a:spcAft>
              <a:buNone/>
            </a:pPr>
            <a:r>
              <a:rPr lang="en-US" sz="1200">
                <a:solidFill>
                  <a:srgbClr val="F3F3E1"/>
                </a:solidFill>
                <a:latin typeface="Arial"/>
                <a:ea typeface="Arial"/>
                <a:cs typeface="Arial"/>
                <a:sym typeface="Arial"/>
              </a:rPr>
              <a:t>Managed by Pegasus</a:t>
            </a:r>
            <a:endParaRPr sz="1200">
              <a:solidFill>
                <a:srgbClr val="F3F3E1"/>
              </a:solidFill>
              <a:latin typeface="Arial"/>
              <a:ea typeface="Arial"/>
              <a:cs typeface="Arial"/>
              <a:sym typeface="Arial"/>
            </a:endParaRPr>
          </a:p>
        </p:txBody>
      </p:sp>
      <p:sp>
        <p:nvSpPr>
          <p:cNvPr id="515" name="Google Shape;515;p9"/>
          <p:cNvSpPr/>
          <p:nvPr/>
        </p:nvSpPr>
        <p:spPr>
          <a:xfrm>
            <a:off x="6738246" y="3698111"/>
            <a:ext cx="1333809" cy="770572"/>
          </a:xfrm>
          <a:prstGeom prst="rect">
            <a:avLst/>
          </a:prstGeom>
          <a:noFill/>
          <a:ln>
            <a:noFill/>
          </a:ln>
        </p:spPr>
        <p:txBody>
          <a:bodyPr spcFirstLastPara="1" wrap="square" lIns="0" tIns="0" rIns="0" bIns="0" anchor="t" anchorCtr="0">
            <a:noAutofit/>
          </a:bodyPr>
          <a:lstStyle/>
          <a:p>
            <a:pPr marL="0" marR="0" lvl="0" indent="0" algn="ctr" rtl="0">
              <a:lnSpc>
                <a:spcPct val="162523"/>
              </a:lnSpc>
              <a:spcBef>
                <a:spcPts val="0"/>
              </a:spcBef>
              <a:spcAft>
                <a:spcPts val="0"/>
              </a:spcAft>
              <a:buNone/>
            </a:pPr>
            <a:r>
              <a:rPr lang="en-US" sz="3733" b="1">
                <a:solidFill>
                  <a:srgbClr val="F3F3E1"/>
                </a:solidFill>
                <a:latin typeface="Montserrat"/>
                <a:ea typeface="Montserrat"/>
                <a:cs typeface="Montserrat"/>
                <a:sym typeface="Montserrat"/>
              </a:rPr>
              <a:t>9M</a:t>
            </a:r>
            <a:endParaRPr sz="3733">
              <a:solidFill>
                <a:srgbClr val="F3F3E1"/>
              </a:solidFill>
              <a:latin typeface="Arial"/>
              <a:ea typeface="Arial"/>
              <a:cs typeface="Arial"/>
              <a:sym typeface="Arial"/>
            </a:endParaRPr>
          </a:p>
        </p:txBody>
      </p:sp>
      <p:sp>
        <p:nvSpPr>
          <p:cNvPr id="516" name="Google Shape;516;p9"/>
          <p:cNvSpPr/>
          <p:nvPr/>
        </p:nvSpPr>
        <p:spPr>
          <a:xfrm>
            <a:off x="6078477" y="4370755"/>
            <a:ext cx="2653348" cy="331471"/>
          </a:xfrm>
          <a:prstGeom prst="rect">
            <a:avLst/>
          </a:prstGeom>
          <a:noFill/>
          <a:ln>
            <a:noFill/>
          </a:ln>
        </p:spPr>
        <p:txBody>
          <a:bodyPr spcFirstLastPara="1" wrap="square" lIns="0" tIns="0" rIns="0" bIns="0" anchor="t" anchorCtr="0">
            <a:noAutofit/>
          </a:bodyPr>
          <a:lstStyle/>
          <a:p>
            <a:pPr marL="0" marR="0" lvl="0" indent="0" algn="ctr" rtl="0">
              <a:lnSpc>
                <a:spcPct val="195048"/>
              </a:lnSpc>
              <a:spcBef>
                <a:spcPts val="0"/>
              </a:spcBef>
              <a:spcAft>
                <a:spcPts val="0"/>
              </a:spcAft>
              <a:buNone/>
            </a:pPr>
            <a:r>
              <a:rPr lang="en-US" sz="1333" b="1">
                <a:solidFill>
                  <a:srgbClr val="F3F3E1"/>
                </a:solidFill>
                <a:latin typeface="Montserrat"/>
                <a:ea typeface="Montserrat"/>
                <a:cs typeface="Montserrat"/>
                <a:sym typeface="Montserrat"/>
              </a:rPr>
              <a:t>Files</a:t>
            </a:r>
            <a:endParaRPr sz="1333">
              <a:solidFill>
                <a:srgbClr val="F3F3E1"/>
              </a:solidFill>
              <a:latin typeface="Arial"/>
              <a:ea typeface="Arial"/>
              <a:cs typeface="Arial"/>
              <a:sym typeface="Arial"/>
            </a:endParaRPr>
          </a:p>
        </p:txBody>
      </p:sp>
      <p:sp>
        <p:nvSpPr>
          <p:cNvPr id="517" name="Google Shape;517;p9"/>
          <p:cNvSpPr/>
          <p:nvPr/>
        </p:nvSpPr>
        <p:spPr>
          <a:xfrm>
            <a:off x="6438505" y="4695605"/>
            <a:ext cx="1933288" cy="350203"/>
          </a:xfrm>
          <a:prstGeom prst="rect">
            <a:avLst/>
          </a:prstGeom>
          <a:noFill/>
          <a:ln>
            <a:noFill/>
          </a:ln>
        </p:spPr>
        <p:txBody>
          <a:bodyPr spcFirstLastPara="1" wrap="square" lIns="0" tIns="0" rIns="0" bIns="0" anchor="t" anchorCtr="0">
            <a:noAutofit/>
          </a:bodyPr>
          <a:lstStyle/>
          <a:p>
            <a:pPr marL="0" marR="0" lvl="0" indent="0" algn="ctr" rtl="0">
              <a:lnSpc>
                <a:spcPct val="227749"/>
              </a:lnSpc>
              <a:spcBef>
                <a:spcPts val="0"/>
              </a:spcBef>
              <a:spcAft>
                <a:spcPts val="0"/>
              </a:spcAft>
              <a:buNone/>
            </a:pPr>
            <a:r>
              <a:rPr lang="en-US" sz="1200">
                <a:solidFill>
                  <a:srgbClr val="F3F3E1"/>
                </a:solidFill>
                <a:latin typeface="Arial"/>
                <a:ea typeface="Arial"/>
                <a:cs typeface="Arial"/>
                <a:sym typeface="Arial"/>
              </a:rPr>
              <a:t>Staged to USC CARC</a:t>
            </a:r>
            <a:endParaRPr sz="1200">
              <a:solidFill>
                <a:srgbClr val="F3F3E1"/>
              </a:solidFill>
              <a:latin typeface="Arial"/>
              <a:ea typeface="Arial"/>
              <a:cs typeface="Arial"/>
              <a:sym typeface="Arial"/>
            </a:endParaRPr>
          </a:p>
        </p:txBody>
      </p:sp>
      <p:sp>
        <p:nvSpPr>
          <p:cNvPr id="518" name="Google Shape;518;p9"/>
          <p:cNvSpPr/>
          <p:nvPr/>
        </p:nvSpPr>
        <p:spPr>
          <a:xfrm>
            <a:off x="2334154" y="5491959"/>
            <a:ext cx="10557511" cy="350203"/>
          </a:xfrm>
          <a:prstGeom prst="rect">
            <a:avLst/>
          </a:prstGeom>
          <a:noFill/>
          <a:ln>
            <a:noFill/>
          </a:ln>
        </p:spPr>
        <p:txBody>
          <a:bodyPr spcFirstLastPara="1" wrap="square" lIns="0" tIns="0" rIns="0" bIns="0" anchor="t" anchorCtr="0">
            <a:noAutofit/>
          </a:bodyPr>
          <a:lstStyle/>
          <a:p>
            <a:pPr marL="0" marR="0" lvl="0" indent="0" algn="l" rtl="0">
              <a:lnSpc>
                <a:spcPct val="128129"/>
              </a:lnSpc>
              <a:spcBef>
                <a:spcPts val="0"/>
              </a:spcBef>
              <a:spcAft>
                <a:spcPts val="0"/>
              </a:spcAft>
              <a:buNone/>
            </a:pPr>
            <a:r>
              <a:rPr lang="en-US" sz="2133" b="1">
                <a:solidFill>
                  <a:srgbClr val="0C213F"/>
                </a:solidFill>
                <a:latin typeface="Roboto"/>
                <a:ea typeface="Roboto"/>
                <a:cs typeface="Roboto"/>
                <a:sym typeface="Roboto"/>
              </a:rPr>
              <a:t>Two new Northern California hazard models were produced.</a:t>
            </a:r>
            <a:endParaRPr/>
          </a:p>
        </p:txBody>
      </p:sp>
      <p:grpSp>
        <p:nvGrpSpPr>
          <p:cNvPr id="519" name="Google Shape;519;p9"/>
          <p:cNvGrpSpPr/>
          <p:nvPr/>
        </p:nvGrpSpPr>
        <p:grpSpPr>
          <a:xfrm>
            <a:off x="3328968" y="1180979"/>
            <a:ext cx="9114691" cy="2388896"/>
            <a:chOff x="2496726" y="885734"/>
            <a:chExt cx="6836018" cy="1791672"/>
          </a:xfrm>
        </p:grpSpPr>
        <p:sp>
          <p:nvSpPr>
            <p:cNvPr id="520" name="Google Shape;520;p9"/>
            <p:cNvSpPr/>
            <p:nvPr/>
          </p:nvSpPr>
          <p:spPr>
            <a:xfrm>
              <a:off x="6841402" y="885734"/>
              <a:ext cx="1358019" cy="1195057"/>
            </a:xfrm>
            <a:prstGeom prst="roundRect">
              <a:avLst>
                <a:gd name="adj" fmla="val 16667"/>
              </a:avLst>
            </a:prstGeom>
            <a:gradFill>
              <a:gsLst>
                <a:gs pos="0">
                  <a:srgbClr val="1E4994"/>
                </a:gs>
                <a:gs pos="50000">
                  <a:srgbClr val="2B6CD7"/>
                </a:gs>
                <a:gs pos="100000">
                  <a:srgbClr val="3481FF"/>
                </a:gs>
              </a:gsLst>
              <a:lin ang="108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521" name="Google Shape;521;p9"/>
            <p:cNvSpPr/>
            <p:nvPr/>
          </p:nvSpPr>
          <p:spPr>
            <a:xfrm>
              <a:off x="4828515" y="885734"/>
              <a:ext cx="1358019" cy="1195057"/>
            </a:xfrm>
            <a:prstGeom prst="roundRect">
              <a:avLst>
                <a:gd name="adj" fmla="val 16667"/>
              </a:avLst>
            </a:prstGeom>
            <a:gradFill>
              <a:gsLst>
                <a:gs pos="0">
                  <a:srgbClr val="1E4994"/>
                </a:gs>
                <a:gs pos="50000">
                  <a:srgbClr val="2B6CD7"/>
                </a:gs>
                <a:gs pos="100000">
                  <a:srgbClr val="3481FF"/>
                </a:gs>
              </a:gsLst>
              <a:lin ang="108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grpSp>
          <p:nvGrpSpPr>
            <p:cNvPr id="522" name="Google Shape;522;p9"/>
            <p:cNvGrpSpPr/>
            <p:nvPr/>
          </p:nvGrpSpPr>
          <p:grpSpPr>
            <a:xfrm>
              <a:off x="4571929" y="957151"/>
              <a:ext cx="1990011" cy="1013352"/>
              <a:chOff x="4571929" y="1020523"/>
              <a:chExt cx="1990011" cy="1013352"/>
            </a:xfrm>
          </p:grpSpPr>
          <p:sp>
            <p:nvSpPr>
              <p:cNvPr id="523" name="Google Shape;523;p9"/>
              <p:cNvSpPr/>
              <p:nvPr/>
            </p:nvSpPr>
            <p:spPr>
              <a:xfrm>
                <a:off x="4986161" y="1020523"/>
                <a:ext cx="1161546" cy="577929"/>
              </a:xfrm>
              <a:prstGeom prst="rect">
                <a:avLst/>
              </a:prstGeom>
              <a:noFill/>
              <a:ln>
                <a:noFill/>
              </a:ln>
            </p:spPr>
            <p:txBody>
              <a:bodyPr spcFirstLastPara="1" wrap="square" lIns="0" tIns="0" rIns="0" bIns="0" anchor="t" anchorCtr="0">
                <a:noAutofit/>
              </a:bodyPr>
              <a:lstStyle/>
              <a:p>
                <a:pPr marL="0" marR="0" lvl="0" indent="0" algn="ctr" rtl="0">
                  <a:lnSpc>
                    <a:spcPct val="162523"/>
                  </a:lnSpc>
                  <a:spcBef>
                    <a:spcPts val="0"/>
                  </a:spcBef>
                  <a:spcAft>
                    <a:spcPts val="0"/>
                  </a:spcAft>
                  <a:buNone/>
                </a:pPr>
                <a:r>
                  <a:rPr lang="en-US" sz="3733" b="1">
                    <a:solidFill>
                      <a:srgbClr val="F3F3E1"/>
                    </a:solidFill>
                    <a:latin typeface="Montserrat"/>
                    <a:ea typeface="Montserrat"/>
                    <a:cs typeface="Montserrat"/>
                    <a:sym typeface="Montserrat"/>
                  </a:rPr>
                  <a:t>55K</a:t>
                </a:r>
                <a:endParaRPr sz="3733">
                  <a:solidFill>
                    <a:srgbClr val="F3F3E1"/>
                  </a:solidFill>
                  <a:latin typeface="Arial"/>
                  <a:ea typeface="Arial"/>
                  <a:cs typeface="Arial"/>
                  <a:sym typeface="Arial"/>
                </a:endParaRPr>
              </a:p>
            </p:txBody>
          </p:sp>
          <p:sp>
            <p:nvSpPr>
              <p:cNvPr id="524" name="Google Shape;524;p9"/>
              <p:cNvSpPr/>
              <p:nvPr/>
            </p:nvSpPr>
            <p:spPr>
              <a:xfrm>
                <a:off x="4571929" y="1517837"/>
                <a:ext cx="1990011" cy="248603"/>
              </a:xfrm>
              <a:prstGeom prst="rect">
                <a:avLst/>
              </a:prstGeom>
              <a:noFill/>
              <a:ln>
                <a:noFill/>
              </a:ln>
            </p:spPr>
            <p:txBody>
              <a:bodyPr spcFirstLastPara="1" wrap="square" lIns="0" tIns="0" rIns="0" bIns="0" anchor="t" anchorCtr="0">
                <a:noAutofit/>
              </a:bodyPr>
              <a:lstStyle/>
              <a:p>
                <a:pPr marL="0" marR="0" lvl="0" indent="0" algn="ctr" rtl="0">
                  <a:lnSpc>
                    <a:spcPct val="195048"/>
                  </a:lnSpc>
                  <a:spcBef>
                    <a:spcPts val="0"/>
                  </a:spcBef>
                  <a:spcAft>
                    <a:spcPts val="0"/>
                  </a:spcAft>
                  <a:buNone/>
                </a:pPr>
                <a:r>
                  <a:rPr lang="en-US" sz="1333" b="1">
                    <a:solidFill>
                      <a:srgbClr val="F3F3E1"/>
                    </a:solidFill>
                    <a:latin typeface="Montserrat"/>
                    <a:ea typeface="Montserrat"/>
                    <a:cs typeface="Montserrat"/>
                    <a:sym typeface="Montserrat"/>
                  </a:rPr>
                  <a:t>Frontier</a:t>
                </a:r>
                <a:endParaRPr sz="1333">
                  <a:solidFill>
                    <a:srgbClr val="F3F3E1"/>
                  </a:solidFill>
                  <a:latin typeface="Arial"/>
                  <a:ea typeface="Arial"/>
                  <a:cs typeface="Arial"/>
                  <a:sym typeface="Arial"/>
                </a:endParaRPr>
              </a:p>
            </p:txBody>
          </p:sp>
          <p:sp>
            <p:nvSpPr>
              <p:cNvPr id="525" name="Google Shape;525;p9"/>
              <p:cNvSpPr/>
              <p:nvPr/>
            </p:nvSpPr>
            <p:spPr>
              <a:xfrm>
                <a:off x="4956605" y="1771223"/>
                <a:ext cx="1220659" cy="262652"/>
              </a:xfrm>
              <a:prstGeom prst="rect">
                <a:avLst/>
              </a:prstGeom>
              <a:noFill/>
              <a:ln>
                <a:noFill/>
              </a:ln>
            </p:spPr>
            <p:txBody>
              <a:bodyPr spcFirstLastPara="1" wrap="square" lIns="0" tIns="0" rIns="0" bIns="0" anchor="t" anchorCtr="0">
                <a:noAutofit/>
              </a:bodyPr>
              <a:lstStyle/>
              <a:p>
                <a:pPr marL="0" marR="0" lvl="0" indent="0" algn="ctr" rtl="0">
                  <a:lnSpc>
                    <a:spcPct val="227749"/>
                  </a:lnSpc>
                  <a:spcBef>
                    <a:spcPts val="0"/>
                  </a:spcBef>
                  <a:spcAft>
                    <a:spcPts val="0"/>
                  </a:spcAft>
                  <a:buNone/>
                </a:pPr>
                <a:r>
                  <a:rPr lang="en-US" sz="1200">
                    <a:solidFill>
                      <a:srgbClr val="F3F3E1"/>
                    </a:solidFill>
                    <a:latin typeface="Arial"/>
                    <a:ea typeface="Arial"/>
                    <a:cs typeface="Arial"/>
                    <a:sym typeface="Arial"/>
                  </a:rPr>
                  <a:t>Node-hours</a:t>
                </a:r>
                <a:endParaRPr sz="1200">
                  <a:solidFill>
                    <a:srgbClr val="F3F3E1"/>
                  </a:solidFill>
                  <a:latin typeface="Arial"/>
                  <a:ea typeface="Arial"/>
                  <a:cs typeface="Arial"/>
                  <a:sym typeface="Arial"/>
                </a:endParaRPr>
              </a:p>
            </p:txBody>
          </p:sp>
        </p:grpSp>
        <p:grpSp>
          <p:nvGrpSpPr>
            <p:cNvPr id="526" name="Google Shape;526;p9"/>
            <p:cNvGrpSpPr/>
            <p:nvPr/>
          </p:nvGrpSpPr>
          <p:grpSpPr>
            <a:xfrm>
              <a:off x="6511145" y="957151"/>
              <a:ext cx="1990011" cy="1013352"/>
              <a:chOff x="6511145" y="1020523"/>
              <a:chExt cx="1990011" cy="1013352"/>
            </a:xfrm>
          </p:grpSpPr>
          <p:sp>
            <p:nvSpPr>
              <p:cNvPr id="527" name="Google Shape;527;p9"/>
              <p:cNvSpPr/>
              <p:nvPr/>
            </p:nvSpPr>
            <p:spPr>
              <a:xfrm>
                <a:off x="6893247" y="1020523"/>
                <a:ext cx="1225806" cy="577929"/>
              </a:xfrm>
              <a:prstGeom prst="rect">
                <a:avLst/>
              </a:prstGeom>
              <a:noFill/>
              <a:ln>
                <a:noFill/>
              </a:ln>
            </p:spPr>
            <p:txBody>
              <a:bodyPr spcFirstLastPara="1" wrap="square" lIns="0" tIns="0" rIns="0" bIns="0" anchor="t" anchorCtr="0">
                <a:noAutofit/>
              </a:bodyPr>
              <a:lstStyle/>
              <a:p>
                <a:pPr marL="0" marR="0" lvl="0" indent="0" algn="ctr" rtl="0">
                  <a:lnSpc>
                    <a:spcPct val="162523"/>
                  </a:lnSpc>
                  <a:spcBef>
                    <a:spcPts val="0"/>
                  </a:spcBef>
                  <a:spcAft>
                    <a:spcPts val="0"/>
                  </a:spcAft>
                  <a:buNone/>
                </a:pPr>
                <a:r>
                  <a:rPr lang="en-US" sz="3733" b="1">
                    <a:solidFill>
                      <a:srgbClr val="F3F3E1"/>
                    </a:solidFill>
                    <a:latin typeface="Montserrat"/>
                    <a:ea typeface="Montserrat"/>
                    <a:cs typeface="Montserrat"/>
                    <a:sym typeface="Montserrat"/>
                  </a:rPr>
                  <a:t>125K</a:t>
                </a:r>
                <a:endParaRPr sz="3733">
                  <a:solidFill>
                    <a:srgbClr val="F3F3E1"/>
                  </a:solidFill>
                  <a:latin typeface="Arial"/>
                  <a:ea typeface="Arial"/>
                  <a:cs typeface="Arial"/>
                  <a:sym typeface="Arial"/>
                </a:endParaRPr>
              </a:p>
            </p:txBody>
          </p:sp>
          <p:sp>
            <p:nvSpPr>
              <p:cNvPr id="528" name="Google Shape;528;p9"/>
              <p:cNvSpPr/>
              <p:nvPr/>
            </p:nvSpPr>
            <p:spPr>
              <a:xfrm>
                <a:off x="6511145" y="1517837"/>
                <a:ext cx="1990011" cy="248603"/>
              </a:xfrm>
              <a:prstGeom prst="rect">
                <a:avLst/>
              </a:prstGeom>
              <a:noFill/>
              <a:ln>
                <a:noFill/>
              </a:ln>
            </p:spPr>
            <p:txBody>
              <a:bodyPr spcFirstLastPara="1" wrap="square" lIns="0" tIns="0" rIns="0" bIns="0" anchor="t" anchorCtr="0">
                <a:noAutofit/>
              </a:bodyPr>
              <a:lstStyle/>
              <a:p>
                <a:pPr marL="0" marR="0" lvl="0" indent="0" algn="ctr" rtl="0">
                  <a:lnSpc>
                    <a:spcPct val="195048"/>
                  </a:lnSpc>
                  <a:spcBef>
                    <a:spcPts val="0"/>
                  </a:spcBef>
                  <a:spcAft>
                    <a:spcPts val="0"/>
                  </a:spcAft>
                  <a:buNone/>
                </a:pPr>
                <a:r>
                  <a:rPr lang="en-US" sz="1333" b="1">
                    <a:solidFill>
                      <a:srgbClr val="F3F3E1"/>
                    </a:solidFill>
                    <a:latin typeface="Montserrat"/>
                    <a:ea typeface="Montserrat"/>
                    <a:cs typeface="Montserrat"/>
                    <a:sym typeface="Montserrat"/>
                  </a:rPr>
                  <a:t>Frontera</a:t>
                </a:r>
                <a:endParaRPr sz="1333">
                  <a:solidFill>
                    <a:srgbClr val="F3F3E1"/>
                  </a:solidFill>
                  <a:latin typeface="Arial"/>
                  <a:ea typeface="Arial"/>
                  <a:cs typeface="Arial"/>
                  <a:sym typeface="Arial"/>
                </a:endParaRPr>
              </a:p>
            </p:txBody>
          </p:sp>
          <p:sp>
            <p:nvSpPr>
              <p:cNvPr id="529" name="Google Shape;529;p9"/>
              <p:cNvSpPr/>
              <p:nvPr/>
            </p:nvSpPr>
            <p:spPr>
              <a:xfrm>
                <a:off x="7012918" y="1771223"/>
                <a:ext cx="986465" cy="262652"/>
              </a:xfrm>
              <a:prstGeom prst="rect">
                <a:avLst/>
              </a:prstGeom>
              <a:noFill/>
              <a:ln>
                <a:noFill/>
              </a:ln>
            </p:spPr>
            <p:txBody>
              <a:bodyPr spcFirstLastPara="1" wrap="square" lIns="0" tIns="0" rIns="0" bIns="0" anchor="t" anchorCtr="0">
                <a:noAutofit/>
              </a:bodyPr>
              <a:lstStyle/>
              <a:p>
                <a:pPr marL="0" marR="0" lvl="0" indent="0" algn="ctr" rtl="0">
                  <a:lnSpc>
                    <a:spcPct val="227749"/>
                  </a:lnSpc>
                  <a:spcBef>
                    <a:spcPts val="0"/>
                  </a:spcBef>
                  <a:spcAft>
                    <a:spcPts val="0"/>
                  </a:spcAft>
                  <a:buNone/>
                </a:pPr>
                <a:r>
                  <a:rPr lang="en-US" sz="1200">
                    <a:solidFill>
                      <a:srgbClr val="F3F3E1"/>
                    </a:solidFill>
                    <a:latin typeface="Arial"/>
                    <a:ea typeface="Arial"/>
                    <a:cs typeface="Arial"/>
                    <a:sym typeface="Arial"/>
                  </a:rPr>
                  <a:t>Node-hours</a:t>
                </a:r>
                <a:endParaRPr sz="1200">
                  <a:solidFill>
                    <a:srgbClr val="F3F3E1"/>
                  </a:solidFill>
                  <a:latin typeface="Arial"/>
                  <a:ea typeface="Arial"/>
                  <a:cs typeface="Arial"/>
                  <a:sym typeface="Arial"/>
                </a:endParaRPr>
              </a:p>
            </p:txBody>
          </p:sp>
        </p:grpSp>
        <p:sp>
          <p:nvSpPr>
            <p:cNvPr id="530" name="Google Shape;530;p9"/>
            <p:cNvSpPr/>
            <p:nvPr/>
          </p:nvSpPr>
          <p:spPr>
            <a:xfrm>
              <a:off x="2815628" y="885734"/>
              <a:ext cx="1358019" cy="1195057"/>
            </a:xfrm>
            <a:prstGeom prst="roundRect">
              <a:avLst>
                <a:gd name="adj" fmla="val 16667"/>
              </a:avLst>
            </a:prstGeom>
            <a:gradFill>
              <a:gsLst>
                <a:gs pos="0">
                  <a:srgbClr val="1E4994"/>
                </a:gs>
                <a:gs pos="50000">
                  <a:srgbClr val="2B6CD7"/>
                </a:gs>
                <a:gs pos="100000">
                  <a:srgbClr val="3481FF"/>
                </a:gs>
              </a:gsLst>
              <a:lin ang="108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grpSp>
          <p:nvGrpSpPr>
            <p:cNvPr id="531" name="Google Shape;531;p9"/>
            <p:cNvGrpSpPr/>
            <p:nvPr/>
          </p:nvGrpSpPr>
          <p:grpSpPr>
            <a:xfrm>
              <a:off x="2682891" y="957151"/>
              <a:ext cx="1625046" cy="1013352"/>
              <a:chOff x="2682891" y="1020523"/>
              <a:chExt cx="1625046" cy="1013352"/>
            </a:xfrm>
          </p:grpSpPr>
          <p:sp>
            <p:nvSpPr>
              <p:cNvPr id="532" name="Google Shape;532;p9"/>
              <p:cNvSpPr/>
              <p:nvPr/>
            </p:nvSpPr>
            <p:spPr>
              <a:xfrm>
                <a:off x="2682891" y="1020523"/>
                <a:ext cx="1625046" cy="577929"/>
              </a:xfrm>
              <a:prstGeom prst="rect">
                <a:avLst/>
              </a:prstGeom>
              <a:noFill/>
              <a:ln>
                <a:noFill/>
              </a:ln>
            </p:spPr>
            <p:txBody>
              <a:bodyPr spcFirstLastPara="1" wrap="square" lIns="0" tIns="0" rIns="0" bIns="0" anchor="t" anchorCtr="0">
                <a:noAutofit/>
              </a:bodyPr>
              <a:lstStyle/>
              <a:p>
                <a:pPr marL="0" marR="0" lvl="0" indent="0" algn="ctr" rtl="0">
                  <a:lnSpc>
                    <a:spcPct val="162523"/>
                  </a:lnSpc>
                  <a:spcBef>
                    <a:spcPts val="0"/>
                  </a:spcBef>
                  <a:spcAft>
                    <a:spcPts val="0"/>
                  </a:spcAft>
                  <a:buNone/>
                </a:pPr>
                <a:r>
                  <a:rPr lang="en-US" sz="3733" b="1">
                    <a:solidFill>
                      <a:srgbClr val="F3F3E1"/>
                    </a:solidFill>
                    <a:latin typeface="Montserrat"/>
                    <a:ea typeface="Montserrat"/>
                    <a:cs typeface="Montserrat"/>
                    <a:sym typeface="Montserrat"/>
                  </a:rPr>
                  <a:t>45</a:t>
                </a:r>
                <a:endParaRPr sz="3733">
                  <a:solidFill>
                    <a:srgbClr val="F3F3E1"/>
                  </a:solidFill>
                  <a:latin typeface="Arial"/>
                  <a:ea typeface="Arial"/>
                  <a:cs typeface="Arial"/>
                  <a:sym typeface="Arial"/>
                </a:endParaRPr>
              </a:p>
            </p:txBody>
          </p:sp>
          <p:sp>
            <p:nvSpPr>
              <p:cNvPr id="533" name="Google Shape;533;p9"/>
              <p:cNvSpPr/>
              <p:nvPr/>
            </p:nvSpPr>
            <p:spPr>
              <a:xfrm>
                <a:off x="3072990" y="1517837"/>
                <a:ext cx="844848" cy="248603"/>
              </a:xfrm>
              <a:prstGeom prst="rect">
                <a:avLst/>
              </a:prstGeom>
              <a:noFill/>
              <a:ln>
                <a:noFill/>
              </a:ln>
            </p:spPr>
            <p:txBody>
              <a:bodyPr spcFirstLastPara="1" wrap="square" lIns="0" tIns="0" rIns="0" bIns="0" anchor="t" anchorCtr="0">
                <a:noAutofit/>
              </a:bodyPr>
              <a:lstStyle/>
              <a:p>
                <a:pPr marL="0" marR="0" lvl="0" indent="0" algn="ctr" rtl="0">
                  <a:lnSpc>
                    <a:spcPct val="195048"/>
                  </a:lnSpc>
                  <a:spcBef>
                    <a:spcPts val="0"/>
                  </a:spcBef>
                  <a:spcAft>
                    <a:spcPts val="0"/>
                  </a:spcAft>
                  <a:buNone/>
                </a:pPr>
                <a:r>
                  <a:rPr lang="en-US" sz="1333" b="1">
                    <a:solidFill>
                      <a:srgbClr val="F3F3E1"/>
                    </a:solidFill>
                    <a:latin typeface="Montserrat"/>
                    <a:ea typeface="Montserrat"/>
                    <a:cs typeface="Montserrat"/>
                    <a:sym typeface="Montserrat"/>
                  </a:rPr>
                  <a:t>Days</a:t>
                </a:r>
                <a:endParaRPr sz="1333">
                  <a:solidFill>
                    <a:srgbClr val="F3F3E1"/>
                  </a:solidFill>
                  <a:latin typeface="Arial"/>
                  <a:ea typeface="Arial"/>
                  <a:cs typeface="Arial"/>
                  <a:sym typeface="Arial"/>
                </a:endParaRPr>
              </a:p>
            </p:txBody>
          </p:sp>
          <p:sp>
            <p:nvSpPr>
              <p:cNvPr id="534" name="Google Shape;534;p9"/>
              <p:cNvSpPr/>
              <p:nvPr/>
            </p:nvSpPr>
            <p:spPr>
              <a:xfrm>
                <a:off x="2682891" y="1771223"/>
                <a:ext cx="1625046" cy="262652"/>
              </a:xfrm>
              <a:prstGeom prst="rect">
                <a:avLst/>
              </a:prstGeom>
              <a:noFill/>
              <a:ln>
                <a:noFill/>
              </a:ln>
            </p:spPr>
            <p:txBody>
              <a:bodyPr spcFirstLastPara="1" wrap="square" lIns="0" tIns="0" rIns="0" bIns="0" anchor="t" anchorCtr="0">
                <a:noAutofit/>
              </a:bodyPr>
              <a:lstStyle/>
              <a:p>
                <a:pPr marL="0" marR="0" lvl="0" indent="0" algn="ctr" rtl="0">
                  <a:lnSpc>
                    <a:spcPct val="227749"/>
                  </a:lnSpc>
                  <a:spcBef>
                    <a:spcPts val="0"/>
                  </a:spcBef>
                  <a:spcAft>
                    <a:spcPts val="0"/>
                  </a:spcAft>
                  <a:buNone/>
                </a:pPr>
                <a:r>
                  <a:rPr lang="en-US" sz="1200">
                    <a:solidFill>
                      <a:srgbClr val="F3F3E1"/>
                    </a:solidFill>
                    <a:latin typeface="Arial"/>
                    <a:ea typeface="Arial"/>
                    <a:cs typeface="Arial"/>
                    <a:sym typeface="Arial"/>
                  </a:rPr>
                  <a:t>Duration of 24/7 operation</a:t>
                </a:r>
                <a:endParaRPr sz="1200">
                  <a:solidFill>
                    <a:srgbClr val="F3F3E1"/>
                  </a:solidFill>
                  <a:latin typeface="Arial"/>
                  <a:ea typeface="Arial"/>
                  <a:cs typeface="Arial"/>
                  <a:sym typeface="Arial"/>
                </a:endParaRPr>
              </a:p>
            </p:txBody>
          </p:sp>
        </p:grpSp>
        <p:sp>
          <p:nvSpPr>
            <p:cNvPr id="535" name="Google Shape;535;p9"/>
            <p:cNvSpPr txBox="1"/>
            <p:nvPr/>
          </p:nvSpPr>
          <p:spPr>
            <a:xfrm>
              <a:off x="2496726" y="2331157"/>
              <a:ext cx="68360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i="1">
                  <a:solidFill>
                    <a:srgbClr val="0C2159"/>
                  </a:solidFill>
                  <a:latin typeface="Calibri"/>
                  <a:ea typeface="Calibri"/>
                  <a:cs typeface="Calibri"/>
                  <a:sym typeface="Calibri"/>
                </a:rPr>
                <a:t>H</a:t>
              </a:r>
              <a:r>
                <a:rPr lang="en-US" sz="1867" i="1">
                  <a:solidFill>
                    <a:srgbClr val="0C2159"/>
                  </a:solidFill>
                  <a:latin typeface="Calibri"/>
                  <a:ea typeface="Calibri"/>
                  <a:cs typeface="Calibri"/>
                  <a:sym typeface="Calibri"/>
                </a:rPr>
                <a:t>igh-water marks were 4130 nodes on Frontier (44%) and 1029 nodes on Frontera (12%)*</a:t>
              </a:r>
              <a:endParaRPr sz="2400" i="1">
                <a:solidFill>
                  <a:srgbClr val="0C2159"/>
                </a:solidFill>
                <a:latin typeface="Arial"/>
                <a:ea typeface="Arial"/>
                <a:cs typeface="Arial"/>
                <a:sym typeface="Arial"/>
              </a:endParaRPr>
            </a:p>
          </p:txBody>
        </p:sp>
      </p:grpSp>
      <p:sp>
        <p:nvSpPr>
          <p:cNvPr id="536" name="Google Shape;536;p9"/>
          <p:cNvSpPr txBox="1"/>
          <p:nvPr/>
        </p:nvSpPr>
        <p:spPr>
          <a:xfrm>
            <a:off x="5057361" y="6190101"/>
            <a:ext cx="4620817"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i="1">
                <a:solidFill>
                  <a:schemeClr val="dk1"/>
                </a:solidFill>
                <a:latin typeface="Arial"/>
                <a:ea typeface="Arial"/>
                <a:cs typeface="Arial"/>
                <a:sym typeface="Arial"/>
              </a:rPr>
              <a:t>* </a:t>
            </a:r>
            <a:r>
              <a:rPr lang="en-US" sz="1867" i="1">
                <a:solidFill>
                  <a:srgbClr val="000000"/>
                </a:solidFill>
                <a:latin typeface="Calibri"/>
                <a:ea typeface="Calibri"/>
                <a:cs typeface="Calibri"/>
                <a:sym typeface="Calibri"/>
              </a:rPr>
              <a:t>Neither used a reservation or priority bump.</a:t>
            </a:r>
            <a:endParaRPr/>
          </a:p>
          <a:p>
            <a:pPr marL="0" marR="0" lvl="0" indent="0" algn="l" rtl="0">
              <a:spcBef>
                <a:spcPts val="0"/>
              </a:spcBef>
              <a:spcAft>
                <a:spcPts val="0"/>
              </a:spcAft>
              <a:buNone/>
            </a:pPr>
            <a:endParaRPr sz="2400" i="1">
              <a:solidFill>
                <a:schemeClr val="dk1"/>
              </a:solidFill>
              <a:latin typeface="Arial"/>
              <a:ea typeface="Arial"/>
              <a:cs typeface="Arial"/>
              <a:sym typeface="Arial"/>
            </a:endParaRPr>
          </a:p>
        </p:txBody>
      </p:sp>
      <p:sp>
        <p:nvSpPr>
          <p:cNvPr id="537" name="Google Shape;537;p9"/>
          <p:cNvSpPr/>
          <p:nvPr/>
        </p:nvSpPr>
        <p:spPr>
          <a:xfrm>
            <a:off x="9163291" y="3582557"/>
            <a:ext cx="1810692" cy="1593409"/>
          </a:xfrm>
          <a:prstGeom prst="roundRect">
            <a:avLst>
              <a:gd name="adj" fmla="val 16667"/>
            </a:avLst>
          </a:prstGeom>
          <a:gradFill>
            <a:gsLst>
              <a:gs pos="0">
                <a:srgbClr val="1E4994"/>
              </a:gs>
              <a:gs pos="50000">
                <a:srgbClr val="2B6CD7"/>
              </a:gs>
              <a:gs pos="100000">
                <a:srgbClr val="3481FF"/>
              </a:gs>
            </a:gsLst>
            <a:lin ang="108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3F3E1"/>
              </a:solidFill>
              <a:latin typeface="Arial"/>
              <a:ea typeface="Arial"/>
              <a:cs typeface="Arial"/>
              <a:sym typeface="Arial"/>
            </a:endParaRPr>
          </a:p>
        </p:txBody>
      </p:sp>
      <p:sp>
        <p:nvSpPr>
          <p:cNvPr id="538" name="Google Shape;538;p9"/>
          <p:cNvSpPr/>
          <p:nvPr/>
        </p:nvSpPr>
        <p:spPr>
          <a:xfrm>
            <a:off x="9401732" y="3698111"/>
            <a:ext cx="1333809" cy="770572"/>
          </a:xfrm>
          <a:prstGeom prst="rect">
            <a:avLst/>
          </a:prstGeom>
          <a:noFill/>
          <a:ln>
            <a:noFill/>
          </a:ln>
        </p:spPr>
        <p:txBody>
          <a:bodyPr spcFirstLastPara="1" wrap="square" lIns="0" tIns="0" rIns="0" bIns="0" anchor="t" anchorCtr="0">
            <a:noAutofit/>
          </a:bodyPr>
          <a:lstStyle/>
          <a:p>
            <a:pPr marL="0" marR="0" lvl="0" indent="0" algn="ctr" rtl="0">
              <a:lnSpc>
                <a:spcPct val="162523"/>
              </a:lnSpc>
              <a:spcBef>
                <a:spcPts val="0"/>
              </a:spcBef>
              <a:spcAft>
                <a:spcPts val="0"/>
              </a:spcAft>
              <a:buNone/>
            </a:pPr>
            <a:r>
              <a:rPr lang="en-US" sz="3733" b="1">
                <a:solidFill>
                  <a:srgbClr val="F3F3E1"/>
                </a:solidFill>
                <a:latin typeface="Montserrat"/>
                <a:ea typeface="Montserrat"/>
                <a:cs typeface="Montserrat"/>
                <a:sym typeface="Montserrat"/>
              </a:rPr>
              <a:t>945</a:t>
            </a:r>
            <a:endParaRPr sz="3733">
              <a:solidFill>
                <a:srgbClr val="F3F3E1"/>
              </a:solidFill>
              <a:latin typeface="Arial"/>
              <a:ea typeface="Arial"/>
              <a:cs typeface="Arial"/>
              <a:sym typeface="Arial"/>
            </a:endParaRPr>
          </a:p>
        </p:txBody>
      </p:sp>
      <p:sp>
        <p:nvSpPr>
          <p:cNvPr id="539" name="Google Shape;539;p9"/>
          <p:cNvSpPr/>
          <p:nvPr/>
        </p:nvSpPr>
        <p:spPr>
          <a:xfrm>
            <a:off x="8741962" y="4370755"/>
            <a:ext cx="2653348" cy="331471"/>
          </a:xfrm>
          <a:prstGeom prst="rect">
            <a:avLst/>
          </a:prstGeom>
          <a:noFill/>
          <a:ln>
            <a:noFill/>
          </a:ln>
        </p:spPr>
        <p:txBody>
          <a:bodyPr spcFirstLastPara="1" wrap="square" lIns="0" tIns="0" rIns="0" bIns="0" anchor="t" anchorCtr="0">
            <a:noAutofit/>
          </a:bodyPr>
          <a:lstStyle/>
          <a:p>
            <a:pPr marL="0" marR="0" lvl="0" indent="0" algn="ctr" rtl="0">
              <a:lnSpc>
                <a:spcPct val="195048"/>
              </a:lnSpc>
              <a:spcBef>
                <a:spcPts val="0"/>
              </a:spcBef>
              <a:spcAft>
                <a:spcPts val="0"/>
              </a:spcAft>
              <a:buNone/>
            </a:pPr>
            <a:r>
              <a:rPr lang="en-US" sz="1333" b="1">
                <a:solidFill>
                  <a:srgbClr val="F3F3E1"/>
                </a:solidFill>
                <a:latin typeface="Montserrat"/>
                <a:ea typeface="Montserrat"/>
                <a:cs typeface="Montserrat"/>
                <a:sym typeface="Montserrat"/>
              </a:rPr>
              <a:t>Workflows</a:t>
            </a:r>
            <a:endParaRPr sz="1333">
              <a:solidFill>
                <a:srgbClr val="F3F3E1"/>
              </a:solidFill>
              <a:latin typeface="Arial"/>
              <a:ea typeface="Arial"/>
              <a:cs typeface="Arial"/>
              <a:sym typeface="Arial"/>
            </a:endParaRPr>
          </a:p>
        </p:txBody>
      </p:sp>
      <p:sp>
        <p:nvSpPr>
          <p:cNvPr id="540" name="Google Shape;540;p9"/>
          <p:cNvSpPr/>
          <p:nvPr/>
        </p:nvSpPr>
        <p:spPr>
          <a:xfrm>
            <a:off x="9101991" y="4695605"/>
            <a:ext cx="1933288" cy="350203"/>
          </a:xfrm>
          <a:prstGeom prst="rect">
            <a:avLst/>
          </a:prstGeom>
          <a:noFill/>
          <a:ln>
            <a:noFill/>
          </a:ln>
        </p:spPr>
        <p:txBody>
          <a:bodyPr spcFirstLastPara="1" wrap="square" lIns="0" tIns="0" rIns="0" bIns="0" anchor="t" anchorCtr="0">
            <a:noAutofit/>
          </a:bodyPr>
          <a:lstStyle/>
          <a:p>
            <a:pPr marL="0" marR="0" lvl="0" indent="0" algn="ctr" rtl="0">
              <a:lnSpc>
                <a:spcPct val="227749"/>
              </a:lnSpc>
              <a:spcBef>
                <a:spcPts val="0"/>
              </a:spcBef>
              <a:spcAft>
                <a:spcPts val="0"/>
              </a:spcAft>
              <a:buNone/>
            </a:pPr>
            <a:r>
              <a:rPr lang="en-US" sz="1200">
                <a:solidFill>
                  <a:srgbClr val="F3F3E1"/>
                </a:solidFill>
                <a:latin typeface="Arial"/>
                <a:ea typeface="Arial"/>
                <a:cs typeface="Arial"/>
                <a:sym typeface="Arial"/>
              </a:rPr>
              <a:t>27,720 jobs</a:t>
            </a:r>
            <a:endParaRPr sz="1200">
              <a:solidFill>
                <a:srgbClr val="F3F3E1"/>
              </a:solidFill>
              <a:latin typeface="Arial"/>
              <a:ea typeface="Arial"/>
              <a:cs typeface="Arial"/>
              <a:sym typeface="Arial"/>
            </a:endParaRPr>
          </a:p>
        </p:txBody>
      </p:sp>
      <p:pic>
        <p:nvPicPr>
          <p:cNvPr id="541" name="Google Shape;541;p9"/>
          <p:cNvPicPr preferRelativeResize="0"/>
          <p:nvPr/>
        </p:nvPicPr>
        <p:blipFill rotWithShape="1">
          <a:blip r:embed="rId5">
            <a:alphaModFix/>
          </a:blip>
          <a:srcRect l="3994" t="57767" r="76845" b="11602"/>
          <a:stretch/>
        </p:blipFill>
        <p:spPr>
          <a:xfrm>
            <a:off x="-120226" y="5756883"/>
            <a:ext cx="1241768" cy="1161211"/>
          </a:xfrm>
          <a:prstGeom prst="ellipse">
            <a:avLst/>
          </a:prstGeom>
          <a:solidFill>
            <a:srgbClr val="FFFFFF"/>
          </a:solidFill>
          <a:ln>
            <a:noFill/>
          </a:ln>
        </p:spPr>
      </p:pic>
      <p:sp>
        <p:nvSpPr>
          <p:cNvPr id="542" name="Google Shape;542;p9"/>
          <p:cNvSpPr txBox="1"/>
          <p:nvPr/>
        </p:nvSpPr>
        <p:spPr>
          <a:xfrm>
            <a:off x="6992634" y="2833001"/>
            <a:ext cx="75027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GPUs</a:t>
            </a:r>
            <a:endParaRPr/>
          </a:p>
        </p:txBody>
      </p:sp>
      <p:sp>
        <p:nvSpPr>
          <p:cNvPr id="543" name="Google Shape;543;p9"/>
          <p:cNvSpPr txBox="1"/>
          <p:nvPr/>
        </p:nvSpPr>
        <p:spPr>
          <a:xfrm>
            <a:off x="9652081" y="2823150"/>
            <a:ext cx="74706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CPUs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89"/>
        <p:cNvGrpSpPr/>
        <p:nvPr/>
      </p:nvGrpSpPr>
      <p:grpSpPr>
        <a:xfrm>
          <a:off x="0" y="0"/>
          <a:ext cx="0" cy="0"/>
          <a:chOff x="0" y="0"/>
          <a:chExt cx="0" cy="0"/>
        </a:xfrm>
      </p:grpSpPr>
      <p:sp>
        <p:nvSpPr>
          <p:cNvPr id="3" name="Text Placeholder 2">
            <a:extLst>
              <a:ext uri="{FF2B5EF4-FFF2-40B4-BE49-F238E27FC236}">
                <a16:creationId xmlns:a16="http://schemas.microsoft.com/office/drawing/2014/main" id="{D12DF531-1B9F-53F0-1C47-63CDD0F7FCE8}"/>
              </a:ext>
            </a:extLst>
          </p:cNvPr>
          <p:cNvSpPr>
            <a:spLocks noGrp="1"/>
          </p:cNvSpPr>
          <p:nvPr>
            <p:ph type="body" idx="13"/>
          </p:nvPr>
        </p:nvSpPr>
        <p:spPr/>
        <p:txBody>
          <a:bodyPr/>
          <a:lstStyle/>
          <a:p>
            <a:endParaRPr lang="en-US"/>
          </a:p>
        </p:txBody>
      </p:sp>
      <p:sp>
        <p:nvSpPr>
          <p:cNvPr id="2" name="Title 1">
            <a:extLst>
              <a:ext uri="{FF2B5EF4-FFF2-40B4-BE49-F238E27FC236}">
                <a16:creationId xmlns:a16="http://schemas.microsoft.com/office/drawing/2014/main" id="{197D6C3F-69B6-2C16-C6CB-07364DDD757C}"/>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E847CDCC-0A24-DA44-F233-7192289DAEA0}"/>
              </a:ext>
            </a:extLst>
          </p:cNvPr>
          <p:cNvSpPr>
            <a:spLocks noGrp="1"/>
          </p:cNvSpPr>
          <p:nvPr>
            <p:ph type="body" idx="14"/>
          </p:nvPr>
        </p:nvSpPr>
        <p:spPr/>
        <p:txBody>
          <a:bodyPr/>
          <a:lstStyle/>
          <a:p>
            <a:endParaRPr lang="en-US"/>
          </a:p>
        </p:txBody>
      </p:sp>
      <p:sp>
        <p:nvSpPr>
          <p:cNvPr id="1590" name="Google Shape;1590;g3f95de07730_1_1258"/>
          <p:cNvSpPr txBox="1">
            <a:spLocks noGrp="1"/>
          </p:cNvSpPr>
          <p:nvPr>
            <p:ph type="sldNum" idx="4294967295"/>
          </p:nvPr>
        </p:nvSpPr>
        <p:spPr>
          <a:xfrm>
            <a:off x="10134600" y="4683125"/>
            <a:ext cx="2057400" cy="27463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100"/>
              <a:buFont typeface="Arial"/>
              <a:buNone/>
            </a:pPr>
            <a:fld id="{00000000-1234-1234-1234-123412341234}" type="slidenum">
              <a:rPr lang="en-US"/>
              <a:t>18</a:t>
            </a:fld>
            <a:endParaRPr/>
          </a:p>
        </p:txBody>
      </p:sp>
      <p:pic>
        <p:nvPicPr>
          <p:cNvPr id="1591" name="Google Shape;1591;g3f95de07730_1_1258"/>
          <p:cNvPicPr preferRelativeResize="0"/>
          <p:nvPr/>
        </p:nvPicPr>
        <p:blipFill rotWithShape="1">
          <a:blip r:embed="rId3">
            <a:alphaModFix/>
          </a:blip>
          <a:srcRect/>
          <a:stretch/>
        </p:blipFill>
        <p:spPr>
          <a:xfrm>
            <a:off x="3195263" y="1157300"/>
            <a:ext cx="8701639" cy="5194604"/>
          </a:xfrm>
          <a:prstGeom prst="rect">
            <a:avLst/>
          </a:prstGeom>
          <a:noFill/>
          <a:ln>
            <a:noFill/>
          </a:ln>
        </p:spPr>
      </p:pic>
      <p:pic>
        <p:nvPicPr>
          <p:cNvPr id="1592" name="Google Shape;1592;g3f95de07730_1_1258"/>
          <p:cNvPicPr preferRelativeResize="0"/>
          <p:nvPr/>
        </p:nvPicPr>
        <p:blipFill rotWithShape="1">
          <a:blip r:embed="rId4">
            <a:alphaModFix/>
          </a:blip>
          <a:srcRect/>
          <a:stretch/>
        </p:blipFill>
        <p:spPr>
          <a:xfrm>
            <a:off x="217900" y="107675"/>
            <a:ext cx="8627701" cy="3537449"/>
          </a:xfrm>
          <a:prstGeom prst="rect">
            <a:avLst/>
          </a:prstGeom>
          <a:noFill/>
          <a:ln>
            <a:noFill/>
          </a:ln>
        </p:spPr>
      </p:pic>
      <p:sp>
        <p:nvSpPr>
          <p:cNvPr id="5" name="Text Placeholder 1">
            <a:extLst>
              <a:ext uri="{FF2B5EF4-FFF2-40B4-BE49-F238E27FC236}">
                <a16:creationId xmlns:a16="http://schemas.microsoft.com/office/drawing/2014/main" id="{0FBBC187-06F8-4B5A-42E7-29EE22512F13}"/>
              </a:ext>
            </a:extLst>
          </p:cNvPr>
          <p:cNvSpPr txBox="1">
            <a:spLocks/>
          </p:cNvSpPr>
          <p:nvPr/>
        </p:nvSpPr>
        <p:spPr>
          <a:xfrm>
            <a:off x="688798" y="125770"/>
            <a:ext cx="10541000" cy="254000"/>
          </a:xfrm>
          <a:prstGeom prst="rect">
            <a:avLst/>
          </a:prstGeom>
        </p:spPr>
        <p:txBody>
          <a:bodyPr vert="horz" lIns="16925" tIns="16925" rIns="16925" bIns="16925" rtlCol="0" anchor="t">
            <a:normAutofit/>
          </a:bodyPr>
          <a:lstStyle>
            <a:lvl1pPr marL="0" indent="0" algn="l" defTabSz="914400" rtl="0" eaLnBrk="1" latinLnBrk="0" hangingPunct="1">
              <a:lnSpc>
                <a:spcPct val="110000"/>
              </a:lnSpc>
              <a:spcBef>
                <a:spcPts val="0"/>
              </a:spcBef>
              <a:buClr>
                <a:srgbClr val="0EA5E9"/>
              </a:buClr>
              <a:buFont typeface="Arial"/>
              <a:buNone/>
              <a:defRPr sz="1200" b="0" kern="1200" cap="all">
                <a:solidFill>
                  <a:srgbClr val="0284C7"/>
                </a:solidFill>
                <a:latin typeface="JetBrains Mono"/>
                <a:ea typeface="+mn-ea"/>
                <a:cs typeface="JetBrains Mono"/>
              </a:defRPr>
            </a:lvl1pPr>
            <a:lvl2pPr marL="571500" indent="-285750" algn="l" defTabSz="914400" rtl="0" eaLnBrk="1" latinLnBrk="0" hangingPunct="1">
              <a:lnSpc>
                <a:spcPct val="110000"/>
              </a:lnSpc>
              <a:spcBef>
                <a:spcPts val="600"/>
              </a:spcBef>
              <a:buClr>
                <a:srgbClr val="0EA5E9"/>
              </a:buClr>
              <a:buFont typeface="Arial"/>
              <a:buChar char="–"/>
              <a:defRPr sz="1400" kern="1200">
                <a:solidFill>
                  <a:srgbClr val="64748B"/>
                </a:solidFill>
                <a:latin typeface="+mn-lt"/>
                <a:ea typeface="+mn-ea"/>
                <a:cs typeface="+mn-cs"/>
              </a:defRPr>
            </a:lvl2pPr>
            <a:lvl3pPr marL="857250" indent="-285750" algn="l" defTabSz="914400" rtl="0" eaLnBrk="1" latinLnBrk="0" hangingPunct="1">
              <a:lnSpc>
                <a:spcPct val="110000"/>
              </a:lnSpc>
              <a:spcBef>
                <a:spcPts val="600"/>
              </a:spcBef>
              <a:buClr>
                <a:srgbClr val="0EA5E9"/>
              </a:buClr>
              <a:buFont typeface="Arial"/>
              <a:buChar char="•"/>
              <a:defRPr sz="1400" kern="1200">
                <a:solidFill>
                  <a:srgbClr val="64748B"/>
                </a:solidFill>
                <a:latin typeface="+mn-lt"/>
                <a:ea typeface="+mn-ea"/>
                <a:cs typeface="+mn-cs"/>
              </a:defRPr>
            </a:lvl3pPr>
            <a:lvl4pPr marL="1143000" indent="-285750" algn="l" defTabSz="914400" rtl="0" eaLnBrk="1" latinLnBrk="0" hangingPunct="1">
              <a:lnSpc>
                <a:spcPct val="110000"/>
              </a:lnSpc>
              <a:spcBef>
                <a:spcPts val="600"/>
              </a:spcBef>
              <a:buClr>
                <a:srgbClr val="0EA5E9"/>
              </a:buClr>
              <a:buFont typeface="Arial"/>
              <a:buChar char="–"/>
              <a:defRPr sz="1400" kern="1200">
                <a:solidFill>
                  <a:srgbClr val="64748B"/>
                </a:solidFill>
                <a:latin typeface="+mn-lt"/>
                <a:ea typeface="+mn-ea"/>
                <a:cs typeface="+mn-cs"/>
              </a:defRPr>
            </a:lvl4pPr>
            <a:lvl5pPr marL="1428750" indent="-285750" algn="l" defTabSz="914400" rtl="0" eaLnBrk="1" latinLnBrk="0" hangingPunct="1">
              <a:lnSpc>
                <a:spcPct val="110000"/>
              </a:lnSpc>
              <a:spcBef>
                <a:spcPts val="600"/>
              </a:spcBef>
              <a:buClr>
                <a:srgbClr val="0EA5E9"/>
              </a:buClr>
              <a:buFont typeface="Arial"/>
              <a:buChar char="•"/>
              <a:defRPr sz="1400" kern="1200">
                <a:solidFill>
                  <a:srgbClr val="64748B"/>
                </a:solidFill>
                <a:latin typeface="+mn-lt"/>
                <a:ea typeface="+mn-ea"/>
                <a:cs typeface="+mn-cs"/>
              </a:defRPr>
            </a:lvl5pPr>
            <a:lvl6pPr marL="1714500" indent="-285750" algn="l" defTabSz="914400" rtl="0" eaLnBrk="1" latinLnBrk="0" hangingPunct="1">
              <a:lnSpc>
                <a:spcPct val="110000"/>
              </a:lnSpc>
              <a:spcBef>
                <a:spcPts val="600"/>
              </a:spcBef>
              <a:buClr>
                <a:srgbClr val="0EA5E9"/>
              </a:buClr>
              <a:buFont typeface="Arial"/>
              <a:buChar char="•"/>
              <a:defRPr sz="1400" kern="1200">
                <a:solidFill>
                  <a:srgbClr val="64748B"/>
                </a:solidFill>
                <a:latin typeface="+mn-lt"/>
                <a:ea typeface="+mn-ea"/>
                <a:cs typeface="+mn-cs"/>
              </a:defRPr>
            </a:lvl6pPr>
            <a:lvl7pPr marL="2000250" indent="-285750" algn="l" defTabSz="914400" rtl="0" eaLnBrk="1" latinLnBrk="0" hangingPunct="1">
              <a:lnSpc>
                <a:spcPct val="110000"/>
              </a:lnSpc>
              <a:spcBef>
                <a:spcPts val="600"/>
              </a:spcBef>
              <a:buClr>
                <a:srgbClr val="0EA5E9"/>
              </a:buClr>
              <a:buFont typeface="Arial"/>
              <a:buChar char="•"/>
              <a:defRPr sz="1400" kern="1200">
                <a:solidFill>
                  <a:srgbClr val="64748B"/>
                </a:solidFill>
                <a:latin typeface="+mn-lt"/>
                <a:ea typeface="+mn-ea"/>
                <a:cs typeface="+mn-cs"/>
              </a:defRPr>
            </a:lvl7pPr>
            <a:lvl8pPr marL="2286000" indent="-285750" algn="l" defTabSz="914400" rtl="0" eaLnBrk="1" latinLnBrk="0" hangingPunct="1">
              <a:lnSpc>
                <a:spcPct val="110000"/>
              </a:lnSpc>
              <a:spcBef>
                <a:spcPts val="600"/>
              </a:spcBef>
              <a:buClr>
                <a:srgbClr val="0EA5E9"/>
              </a:buClr>
              <a:buFont typeface="Arial"/>
              <a:buChar char="•"/>
              <a:defRPr sz="1400" kern="1200">
                <a:solidFill>
                  <a:srgbClr val="64748B"/>
                </a:solidFill>
                <a:latin typeface="+mn-lt"/>
                <a:ea typeface="+mn-ea"/>
                <a:cs typeface="+mn-cs"/>
              </a:defRPr>
            </a:lvl8pPr>
            <a:lvl9pPr marL="2571750" indent="-285750" algn="l" defTabSz="914400" rtl="0" eaLnBrk="1" latinLnBrk="0" hangingPunct="1">
              <a:lnSpc>
                <a:spcPct val="110000"/>
              </a:lnSpc>
              <a:spcBef>
                <a:spcPts val="600"/>
              </a:spcBef>
              <a:buClr>
                <a:srgbClr val="0EA5E9"/>
              </a:buClr>
              <a:buFont typeface="Arial"/>
              <a:buChar char="•"/>
              <a:defRPr sz="1400" kern="1200">
                <a:solidFill>
                  <a:srgbClr val="64748B"/>
                </a:solidFill>
                <a:latin typeface="+mn-lt"/>
                <a:ea typeface="+mn-ea"/>
                <a:cs typeface="+mn-cs"/>
              </a:defRPr>
            </a:lvl9pPr>
          </a:lstStyle>
          <a:p>
            <a:r>
              <a:rPr lang="en-US" b="1"/>
              <a:t>Applications</a:t>
            </a:r>
            <a:endParaRPr lang="en-US" b="1" dirty="0"/>
          </a:p>
        </p:txBody>
      </p:sp>
      <p:sp>
        <p:nvSpPr>
          <p:cNvPr id="6" name="Google Shape;1432;g3f95de07730_1_1103">
            <a:extLst>
              <a:ext uri="{FF2B5EF4-FFF2-40B4-BE49-F238E27FC236}">
                <a16:creationId xmlns:a16="http://schemas.microsoft.com/office/drawing/2014/main" id="{1B631AEE-B767-E8AD-D262-9EAC0BBD2144}"/>
              </a:ext>
            </a:extLst>
          </p:cNvPr>
          <p:cNvSpPr txBox="1">
            <a:spLocks/>
          </p:cNvSpPr>
          <p:nvPr/>
        </p:nvSpPr>
        <p:spPr>
          <a:xfrm>
            <a:off x="109176" y="387618"/>
            <a:ext cx="10795000" cy="523180"/>
          </a:xfrm>
          <a:prstGeom prst="rect">
            <a:avLst/>
          </a:prstGeom>
          <a:noFill/>
          <a:ln>
            <a:noFill/>
          </a:ln>
        </p:spPr>
        <p:txBody>
          <a:bodyPr spcFirstLastPara="1" vert="horz" wrap="square" lIns="91425" tIns="45700" rIns="91425" bIns="45700" rtlCol="0" anchor="t" anchorCtr="0">
            <a:spAutoFit/>
          </a:bodyPr>
          <a:lstStyle>
            <a:lvl1pPr algn="l" defTabSz="914400" rtl="0" eaLnBrk="1" latinLnBrk="0" hangingPunct="1">
              <a:lnSpc>
                <a:spcPct val="90000"/>
              </a:lnSpc>
              <a:spcBef>
                <a:spcPct val="0"/>
              </a:spcBef>
              <a:buNone/>
              <a:defRPr sz="3500" b="1" kern="1200">
                <a:solidFill>
                  <a:srgbClr val="0F172A"/>
                </a:solidFill>
                <a:latin typeface="+mj-lt"/>
                <a:ea typeface="+mj-ea"/>
                <a:cs typeface="+mj-cs"/>
              </a:defRPr>
            </a:lvl1pPr>
          </a:lstStyle>
          <a:p>
            <a:pPr>
              <a:lnSpc>
                <a:spcPct val="100000"/>
              </a:lnSpc>
              <a:spcBef>
                <a:spcPts val="0"/>
              </a:spcBef>
              <a:buClr>
                <a:srgbClr val="2D75B6"/>
              </a:buClr>
              <a:buSzPts val="3200"/>
            </a:pPr>
            <a:r>
              <a:rPr lang="en-US" sz="2800" dirty="0"/>
              <a:t>Processing Data in Realtime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1"/>
        <p:cNvGrpSpPr/>
        <p:nvPr/>
      </p:nvGrpSpPr>
      <p:grpSpPr>
        <a:xfrm>
          <a:off x="0" y="0"/>
          <a:ext cx="0" cy="0"/>
          <a:chOff x="0" y="0"/>
          <a:chExt cx="0" cy="0"/>
        </a:xfrm>
      </p:grpSpPr>
      <p:sp>
        <p:nvSpPr>
          <p:cNvPr id="2" name="Text Placeholder 1">
            <a:extLst>
              <a:ext uri="{FF2B5EF4-FFF2-40B4-BE49-F238E27FC236}">
                <a16:creationId xmlns:a16="http://schemas.microsoft.com/office/drawing/2014/main" id="{4955654D-0364-9B39-D188-CD9761507EC2}"/>
              </a:ext>
            </a:extLst>
          </p:cNvPr>
          <p:cNvSpPr>
            <a:spLocks noGrp="1"/>
          </p:cNvSpPr>
          <p:nvPr>
            <p:ph type="body" idx="13"/>
          </p:nvPr>
        </p:nvSpPr>
        <p:spPr/>
        <p:txBody>
          <a:bodyPr/>
          <a:lstStyle/>
          <a:p>
            <a:r>
              <a:rPr lang="en-US" b="1" dirty="0"/>
              <a:t>Applications</a:t>
            </a:r>
          </a:p>
        </p:txBody>
      </p:sp>
      <p:sp>
        <p:nvSpPr>
          <p:cNvPr id="1432" name="Google Shape;1432;g3f95de07730_1_1103"/>
          <p:cNvSpPr txBox="1">
            <a:spLocks noGrp="1"/>
          </p:cNvSpPr>
          <p:nvPr>
            <p:ph type="title"/>
          </p:nvPr>
        </p:nvSpPr>
        <p:spPr>
          <a:xfrm>
            <a:off x="698500" y="711200"/>
            <a:ext cx="10795000" cy="630902"/>
          </a:xfrm>
          <a:prstGeom prst="rect">
            <a:avLst/>
          </a:prstGeom>
          <a:noFill/>
          <a:ln>
            <a:noFill/>
          </a:ln>
        </p:spPr>
        <p:txBody>
          <a:bodyPr spcFirstLastPara="1" wrap="square" lIns="91425" tIns="45700" rIns="91425" bIns="45700" anchor="t" anchorCtr="0">
            <a:spAutoFit/>
          </a:bodyPr>
          <a:lstStyle/>
          <a:p>
            <a:pPr lvl="0">
              <a:lnSpc>
                <a:spcPct val="100000"/>
              </a:lnSpc>
              <a:spcBef>
                <a:spcPts val="0"/>
              </a:spcBef>
              <a:buClr>
                <a:srgbClr val="2D75B6"/>
              </a:buClr>
              <a:buSzPts val="3200"/>
            </a:pPr>
            <a:r>
              <a:rPr lang="en-US" dirty="0" err="1"/>
              <a:t>XENONnT</a:t>
            </a:r>
            <a:r>
              <a:rPr lang="en-US" dirty="0"/>
              <a:t> - Dark Matter Search</a:t>
            </a:r>
            <a:endParaRPr dirty="0"/>
          </a:p>
        </p:txBody>
      </p:sp>
      <p:sp>
        <p:nvSpPr>
          <p:cNvPr id="3" name="Text Placeholder 2">
            <a:extLst>
              <a:ext uri="{FF2B5EF4-FFF2-40B4-BE49-F238E27FC236}">
                <a16:creationId xmlns:a16="http://schemas.microsoft.com/office/drawing/2014/main" id="{76FD22A7-2455-4582-2C53-B1B654C885CF}"/>
              </a:ext>
            </a:extLst>
          </p:cNvPr>
          <p:cNvSpPr>
            <a:spLocks noGrp="1"/>
          </p:cNvSpPr>
          <p:nvPr>
            <p:ph type="body" idx="14"/>
          </p:nvPr>
        </p:nvSpPr>
        <p:spPr>
          <a:xfrm>
            <a:off x="698500" y="1682455"/>
            <a:ext cx="10795000" cy="558800"/>
          </a:xfrm>
        </p:spPr>
        <p:txBody>
          <a:bodyPr/>
          <a:lstStyle/>
          <a:p>
            <a:endParaRPr lang="en-US"/>
          </a:p>
        </p:txBody>
      </p:sp>
      <p:sp>
        <p:nvSpPr>
          <p:cNvPr id="1442" name="Google Shape;1442;g3f95de07730_1_1103"/>
          <p:cNvSpPr txBox="1">
            <a:spLocks noGrp="1"/>
          </p:cNvSpPr>
          <p:nvPr>
            <p:ph type="sldNum" idx="4294967295"/>
          </p:nvPr>
        </p:nvSpPr>
        <p:spPr>
          <a:xfrm>
            <a:off x="9448800" y="624522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100"/>
              <a:buFont typeface="Arial"/>
              <a:buNone/>
            </a:pPr>
            <a:fld id="{00000000-1234-1234-1234-123412341234}" type="slidenum">
              <a:rPr lang="en-US"/>
              <a:t>19</a:t>
            </a:fld>
            <a:endParaRPr/>
          </a:p>
        </p:txBody>
      </p:sp>
      <p:pic>
        <p:nvPicPr>
          <p:cNvPr id="1433" name="Google Shape;1433;g3f95de07730_1_1103" descr="https://www.app.uni-freiburg.de/docs/xenon-discovery-makes-nature-cover-story/image"/>
          <p:cNvPicPr preferRelativeResize="0"/>
          <p:nvPr/>
        </p:nvPicPr>
        <p:blipFill rotWithShape="1">
          <a:blip r:embed="rId3">
            <a:alphaModFix/>
          </a:blip>
          <a:srcRect/>
          <a:stretch/>
        </p:blipFill>
        <p:spPr>
          <a:xfrm>
            <a:off x="633711" y="1474142"/>
            <a:ext cx="3666213" cy="4851622"/>
          </a:xfrm>
          <a:prstGeom prst="rect">
            <a:avLst/>
          </a:prstGeom>
          <a:noFill/>
          <a:ln w="9525" cap="flat" cmpd="sng">
            <a:solidFill>
              <a:srgbClr val="D8D8D8"/>
            </a:solidFill>
            <a:prstDash val="solid"/>
            <a:round/>
            <a:headEnd type="none" w="sm" len="sm"/>
            <a:tailEnd type="none" w="sm" len="sm"/>
          </a:ln>
        </p:spPr>
      </p:pic>
      <p:sp>
        <p:nvSpPr>
          <p:cNvPr id="1434" name="Google Shape;1434;g3f95de07730_1_1103"/>
          <p:cNvSpPr/>
          <p:nvPr/>
        </p:nvSpPr>
        <p:spPr>
          <a:xfrm>
            <a:off x="4492278" y="1839851"/>
            <a:ext cx="2756100" cy="441900"/>
          </a:xfrm>
          <a:prstGeom prst="rect">
            <a:avLst/>
          </a:prstGeom>
          <a:noFill/>
          <a:ln>
            <a:noFill/>
          </a:ln>
        </p:spPr>
        <p:txBody>
          <a:bodyPr spcFirstLastPara="1" wrap="square" lIns="72000" tIns="36000" rIns="72000" bIns="3600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3F3F3F"/>
                </a:solidFill>
                <a:latin typeface="Roboto"/>
                <a:ea typeface="Roboto"/>
                <a:cs typeface="Roboto"/>
                <a:sym typeface="Roboto"/>
              </a:rPr>
              <a:t>Monte Carlo simulations and the main processing pipeline.</a:t>
            </a:r>
            <a:endParaRPr sz="1400" b="0" i="0" u="none" strike="noStrike" cap="none">
              <a:solidFill>
                <a:srgbClr val="000000"/>
              </a:solidFill>
              <a:latin typeface="Arial"/>
              <a:ea typeface="Arial"/>
              <a:cs typeface="Arial"/>
              <a:sym typeface="Arial"/>
            </a:endParaRPr>
          </a:p>
        </p:txBody>
      </p:sp>
      <p:pic>
        <p:nvPicPr>
          <p:cNvPr id="1435" name="Google Shape;1435;g3f95de07730_1_1103"/>
          <p:cNvPicPr preferRelativeResize="0"/>
          <p:nvPr/>
        </p:nvPicPr>
        <p:blipFill rotWithShape="1">
          <a:blip r:embed="rId4">
            <a:alphaModFix/>
          </a:blip>
          <a:srcRect/>
          <a:stretch/>
        </p:blipFill>
        <p:spPr>
          <a:xfrm>
            <a:off x="7479021" y="1474142"/>
            <a:ext cx="4103351" cy="2583134"/>
          </a:xfrm>
          <a:prstGeom prst="rect">
            <a:avLst/>
          </a:prstGeom>
          <a:noFill/>
          <a:ln w="9525" cap="flat" cmpd="sng">
            <a:solidFill>
              <a:srgbClr val="D8D8D8"/>
            </a:solidFill>
            <a:prstDash val="solid"/>
            <a:round/>
            <a:headEnd type="none" w="sm" len="sm"/>
            <a:tailEnd type="none" w="sm" len="sm"/>
          </a:ln>
        </p:spPr>
      </p:pic>
      <p:sp>
        <p:nvSpPr>
          <p:cNvPr id="1436" name="Google Shape;1436;g3f95de07730_1_1103"/>
          <p:cNvSpPr txBox="1"/>
          <p:nvPr/>
        </p:nvSpPr>
        <p:spPr>
          <a:xfrm>
            <a:off x="4492278" y="4139330"/>
            <a:ext cx="7090200" cy="2186400"/>
          </a:xfrm>
          <a:prstGeom prst="rect">
            <a:avLst/>
          </a:prstGeom>
          <a:solidFill>
            <a:srgbClr val="BA083A"/>
          </a:solid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Courier New"/>
                <a:ea typeface="Courier New"/>
                <a:cs typeface="Courier New"/>
                <a:sym typeface="Courier New"/>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Courier New"/>
                <a:ea typeface="Courier New"/>
                <a:cs typeface="Courier New"/>
                <a:sym typeface="Courier New"/>
              </a:rPr>
              <a:t>Type           Succeeded Failed  Incomplete  Total     Retries   Total+Retries</a:t>
            </a:r>
            <a:endParaRPr sz="1100" b="0" i="0" u="none" strike="noStrike" cap="none">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Courier New"/>
                <a:ea typeface="Courier New"/>
                <a:cs typeface="Courier New"/>
                <a:sym typeface="Courier New"/>
              </a:rPr>
              <a:t>Tasks          4000      0       0           4000      267       4267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Courier New"/>
                <a:ea typeface="Courier New"/>
                <a:cs typeface="Courier New"/>
                <a:sym typeface="Courier New"/>
              </a:rPr>
              <a:t>Jobs           4484      0       0           4484      267       4751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Courier New"/>
                <a:ea typeface="Courier New"/>
                <a:cs typeface="Courier New"/>
                <a:sym typeface="Courier New"/>
              </a:rPr>
              <a:t>Sub-Workflows  0         0       0           0         0         0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Courier New"/>
                <a:ea typeface="Courier New"/>
                <a:cs typeface="Courier New"/>
                <a:sym typeface="Courier New"/>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Courier New"/>
                <a:ea typeface="Courier New"/>
                <a:cs typeface="Courier New"/>
                <a:sym typeface="Courier New"/>
              </a:rPr>
              <a:t>Workflow wall time                                       : 5 hrs, 2 mins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Courier New"/>
                <a:ea typeface="Courier New"/>
                <a:cs typeface="Courier New"/>
                <a:sym typeface="Courier New"/>
              </a:rPr>
              <a:t>Cumulative job wall time                                 : 136 days, 9 hrs</a:t>
            </a:r>
            <a:endParaRPr sz="1100" b="0" i="0" u="none" strike="noStrike" cap="none">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Courier New"/>
                <a:ea typeface="Courier New"/>
                <a:cs typeface="Courier New"/>
                <a:sym typeface="Courier New"/>
              </a:rPr>
              <a:t>Cumulative job wall time as seen from submit side        : 141 days, 16 hrs</a:t>
            </a:r>
            <a:endParaRPr sz="1100" b="0" i="0" u="none" strike="noStrike" cap="none">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Courier New"/>
                <a:ea typeface="Courier New"/>
                <a:cs typeface="Courier New"/>
                <a:sym typeface="Courier New"/>
              </a:rPr>
              <a:t>Cumulative job badput wall time                          : 1 day, 2 hrs</a:t>
            </a:r>
            <a:endParaRPr sz="1100" b="0" i="0" u="none" strike="noStrike" cap="none">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lt1"/>
                </a:solidFill>
                <a:latin typeface="Courier New"/>
                <a:ea typeface="Courier New"/>
                <a:cs typeface="Courier New"/>
                <a:sym typeface="Courier New"/>
              </a:rPr>
              <a:t>Cumulative job badput wall time as seen from submit side : 4 days, 20 hrs</a:t>
            </a:r>
            <a:endParaRPr sz="1100" b="0" i="0" u="none" strike="noStrike" cap="none">
              <a:solidFill>
                <a:schemeClr val="lt1"/>
              </a:solidFill>
              <a:latin typeface="Courier New"/>
              <a:ea typeface="Courier New"/>
              <a:cs typeface="Courier New"/>
              <a:sym typeface="Courier New"/>
            </a:endParaRPr>
          </a:p>
        </p:txBody>
      </p:sp>
      <p:sp>
        <p:nvSpPr>
          <p:cNvPr id="1437" name="Google Shape;1437;g3f95de07730_1_1103"/>
          <p:cNvSpPr/>
          <p:nvPr/>
        </p:nvSpPr>
        <p:spPr>
          <a:xfrm>
            <a:off x="4492277" y="2446056"/>
            <a:ext cx="2756100" cy="571200"/>
          </a:xfrm>
          <a:prstGeom prst="rect">
            <a:avLst/>
          </a:prstGeom>
          <a:noFill/>
          <a:ln>
            <a:noFill/>
          </a:ln>
        </p:spPr>
        <p:txBody>
          <a:bodyPr spcFirstLastPara="1" wrap="square" lIns="72000" tIns="36000" rIns="72000" bIns="36000" anchor="t" anchorCtr="0">
            <a:noAutofit/>
          </a:bodyPr>
          <a:lstStyle/>
          <a:p>
            <a:pPr marL="200025" marR="0" lvl="0" indent="-200025" algn="l" rtl="0">
              <a:lnSpc>
                <a:spcPct val="90000"/>
              </a:lnSpc>
              <a:spcBef>
                <a:spcPts val="0"/>
              </a:spcBef>
              <a:spcAft>
                <a:spcPts val="0"/>
              </a:spcAft>
              <a:buClr>
                <a:srgbClr val="74CA21"/>
              </a:buClr>
              <a:buSzPts val="1200"/>
              <a:buFont typeface="Noto Sans Symbols"/>
              <a:buChar char="▪"/>
            </a:pPr>
            <a:r>
              <a:rPr lang="en-US" sz="1200" b="0" i="0" u="none" strike="noStrike" cap="none">
                <a:solidFill>
                  <a:srgbClr val="3F3F3F"/>
                </a:solidFill>
                <a:latin typeface="Roboto"/>
                <a:ea typeface="Roboto"/>
                <a:cs typeface="Roboto"/>
                <a:sym typeface="Roboto"/>
              </a:rPr>
              <a:t>Workflows execute across </a:t>
            </a:r>
            <a:endParaRPr sz="1400" b="0" i="0" u="none" strike="noStrike" cap="none">
              <a:solidFill>
                <a:srgbClr val="000000"/>
              </a:solidFill>
              <a:latin typeface="Arial"/>
              <a:ea typeface="Arial"/>
              <a:cs typeface="Arial"/>
              <a:sym typeface="Arial"/>
            </a:endParaRPr>
          </a:p>
          <a:p>
            <a:pPr marL="0" marR="0" lvl="0" indent="180975" algn="l" rtl="0">
              <a:lnSpc>
                <a:spcPct val="90000"/>
              </a:lnSpc>
              <a:spcBef>
                <a:spcPts val="0"/>
              </a:spcBef>
              <a:spcAft>
                <a:spcPts val="0"/>
              </a:spcAft>
              <a:buClr>
                <a:srgbClr val="000000"/>
              </a:buClr>
              <a:buSzPts val="1200"/>
              <a:buFont typeface="Arial"/>
              <a:buNone/>
            </a:pPr>
            <a:r>
              <a:rPr lang="en-US" sz="1200" b="0" i="0" u="none" strike="noStrike" cap="none">
                <a:solidFill>
                  <a:srgbClr val="3F3F3F"/>
                </a:solidFill>
                <a:latin typeface="Roboto"/>
                <a:ea typeface="Roboto"/>
                <a:cs typeface="Roboto"/>
                <a:sym typeface="Roboto"/>
              </a:rPr>
              <a:t>Open Science Grid (OSG) &amp;</a:t>
            </a:r>
            <a:endParaRPr sz="1400" b="0" i="0" u="none" strike="noStrike" cap="none">
              <a:solidFill>
                <a:srgbClr val="000000"/>
              </a:solidFill>
              <a:latin typeface="Arial"/>
              <a:ea typeface="Arial"/>
              <a:cs typeface="Arial"/>
              <a:sym typeface="Arial"/>
            </a:endParaRPr>
          </a:p>
          <a:p>
            <a:pPr marL="0" marR="0" lvl="0" indent="180975" algn="l" rtl="0">
              <a:lnSpc>
                <a:spcPct val="90000"/>
              </a:lnSpc>
              <a:spcBef>
                <a:spcPts val="0"/>
              </a:spcBef>
              <a:spcAft>
                <a:spcPts val="0"/>
              </a:spcAft>
              <a:buClr>
                <a:srgbClr val="000000"/>
              </a:buClr>
              <a:buSzPts val="1200"/>
              <a:buFont typeface="Arial"/>
              <a:buNone/>
            </a:pPr>
            <a:r>
              <a:rPr lang="en-US" sz="1200" b="1" i="0" u="none" strike="noStrike" cap="none">
                <a:solidFill>
                  <a:srgbClr val="3F3F3F"/>
                </a:solidFill>
                <a:latin typeface="Roboto"/>
                <a:ea typeface="Roboto"/>
                <a:cs typeface="Roboto"/>
                <a:sym typeface="Roboto"/>
              </a:rPr>
              <a:t>European Grid Infrastructure (EGI)</a:t>
            </a:r>
            <a:endParaRPr sz="1400" b="0" i="0" u="none" strike="noStrike" cap="none">
              <a:solidFill>
                <a:srgbClr val="000000"/>
              </a:solidFill>
              <a:latin typeface="Arial"/>
              <a:ea typeface="Arial"/>
              <a:cs typeface="Arial"/>
              <a:sym typeface="Arial"/>
            </a:endParaRPr>
          </a:p>
        </p:txBody>
      </p:sp>
      <p:sp>
        <p:nvSpPr>
          <p:cNvPr id="1438" name="Google Shape;1438;g3f95de07730_1_1103"/>
          <p:cNvSpPr/>
          <p:nvPr/>
        </p:nvSpPr>
        <p:spPr>
          <a:xfrm>
            <a:off x="4492277" y="3189245"/>
            <a:ext cx="2756100" cy="238800"/>
          </a:xfrm>
          <a:prstGeom prst="rect">
            <a:avLst/>
          </a:prstGeom>
          <a:noFill/>
          <a:ln>
            <a:noFill/>
          </a:ln>
        </p:spPr>
        <p:txBody>
          <a:bodyPr spcFirstLastPara="1" wrap="square" lIns="72000" tIns="36000" rIns="72000" bIns="36000" anchor="t" anchorCtr="0">
            <a:noAutofit/>
          </a:bodyPr>
          <a:lstStyle/>
          <a:p>
            <a:pPr marL="171450" marR="0" lvl="0" indent="-171450" algn="l" rtl="0">
              <a:lnSpc>
                <a:spcPct val="90000"/>
              </a:lnSpc>
              <a:spcBef>
                <a:spcPts val="0"/>
              </a:spcBef>
              <a:spcAft>
                <a:spcPts val="0"/>
              </a:spcAft>
              <a:buClr>
                <a:srgbClr val="74CA21"/>
              </a:buClr>
              <a:buSzPts val="1200"/>
              <a:buFont typeface="Noto Sans Symbols"/>
              <a:buChar char="▪"/>
            </a:pPr>
            <a:r>
              <a:rPr lang="en-US" sz="1200" b="0" i="0" u="none" strike="noStrike" cap="none">
                <a:solidFill>
                  <a:srgbClr val="3F3F3F"/>
                </a:solidFill>
                <a:latin typeface="Roboto"/>
                <a:ea typeface="Roboto"/>
                <a:cs typeface="Roboto"/>
                <a:sym typeface="Roboto"/>
              </a:rPr>
              <a:t>Rucio for data management</a:t>
            </a:r>
            <a:endParaRPr sz="1400" b="0" i="0" u="none" strike="noStrike" cap="none">
              <a:solidFill>
                <a:srgbClr val="000000"/>
              </a:solidFill>
              <a:latin typeface="Arial"/>
              <a:ea typeface="Arial"/>
              <a:cs typeface="Arial"/>
              <a:sym typeface="Arial"/>
            </a:endParaRPr>
          </a:p>
        </p:txBody>
      </p:sp>
      <p:sp>
        <p:nvSpPr>
          <p:cNvPr id="1439" name="Google Shape;1439;g3f95de07730_1_1103"/>
          <p:cNvSpPr/>
          <p:nvPr/>
        </p:nvSpPr>
        <p:spPr>
          <a:xfrm>
            <a:off x="4492277" y="3600034"/>
            <a:ext cx="2756100" cy="405000"/>
          </a:xfrm>
          <a:prstGeom prst="rect">
            <a:avLst/>
          </a:prstGeom>
          <a:noFill/>
          <a:ln>
            <a:noFill/>
          </a:ln>
        </p:spPr>
        <p:txBody>
          <a:bodyPr spcFirstLastPara="1" wrap="square" lIns="72000" tIns="36000" rIns="72000" bIns="36000" anchor="t" anchorCtr="0">
            <a:noAutofit/>
          </a:bodyPr>
          <a:lstStyle/>
          <a:p>
            <a:pPr marL="171450" marR="0" lvl="0" indent="-171450" algn="l" rtl="0">
              <a:lnSpc>
                <a:spcPct val="90000"/>
              </a:lnSpc>
              <a:spcBef>
                <a:spcPts val="0"/>
              </a:spcBef>
              <a:spcAft>
                <a:spcPts val="0"/>
              </a:spcAft>
              <a:buClr>
                <a:srgbClr val="74CA21"/>
              </a:buClr>
              <a:buSzPts val="1200"/>
              <a:buFont typeface="Noto Sans Symbols"/>
              <a:buChar char="▪"/>
            </a:pPr>
            <a:r>
              <a:rPr lang="en-US" sz="1200" b="0" i="0" u="none" strike="noStrike" cap="none">
                <a:solidFill>
                  <a:srgbClr val="3F3F3F"/>
                </a:solidFill>
                <a:latin typeface="Roboto"/>
                <a:ea typeface="Roboto"/>
                <a:cs typeface="Roboto"/>
                <a:sym typeface="Roboto"/>
              </a:rPr>
              <a:t>MongoDB instance to track science 	runs and data products.</a:t>
            </a:r>
            <a:endParaRPr sz="1400" b="0" i="0" u="none" strike="noStrike" cap="none">
              <a:solidFill>
                <a:srgbClr val="000000"/>
              </a:solidFill>
              <a:latin typeface="Arial"/>
              <a:ea typeface="Arial"/>
              <a:cs typeface="Arial"/>
              <a:sym typeface="Arial"/>
            </a:endParaRPr>
          </a:p>
        </p:txBody>
      </p:sp>
      <p:cxnSp>
        <p:nvCxnSpPr>
          <p:cNvPr id="1440" name="Google Shape;1440;g3f95de07730_1_1103"/>
          <p:cNvCxnSpPr/>
          <p:nvPr/>
        </p:nvCxnSpPr>
        <p:spPr>
          <a:xfrm>
            <a:off x="4492277" y="3103301"/>
            <a:ext cx="2756100" cy="0"/>
          </a:xfrm>
          <a:prstGeom prst="straightConnector1">
            <a:avLst/>
          </a:prstGeom>
          <a:noFill/>
          <a:ln w="9525" cap="flat" cmpd="sng">
            <a:solidFill>
              <a:srgbClr val="74CA21"/>
            </a:solidFill>
            <a:prstDash val="dash"/>
            <a:miter lim="8000"/>
            <a:headEnd type="none" w="sm" len="sm"/>
            <a:tailEnd type="none" w="sm" len="sm"/>
          </a:ln>
        </p:spPr>
      </p:cxnSp>
      <p:cxnSp>
        <p:nvCxnSpPr>
          <p:cNvPr id="1441" name="Google Shape;1441;g3f95de07730_1_1103"/>
          <p:cNvCxnSpPr/>
          <p:nvPr/>
        </p:nvCxnSpPr>
        <p:spPr>
          <a:xfrm>
            <a:off x="4492277" y="3514091"/>
            <a:ext cx="2756100" cy="0"/>
          </a:xfrm>
          <a:prstGeom prst="straightConnector1">
            <a:avLst/>
          </a:prstGeom>
          <a:noFill/>
          <a:ln w="9525" cap="flat" cmpd="sng">
            <a:solidFill>
              <a:srgbClr val="74CA21"/>
            </a:solidFill>
            <a:prstDash val="dash"/>
            <a:miter lim="8000"/>
            <a:headEnd type="none" w="sm" len="sm"/>
            <a:tailEnd type="none" w="sm" len="sm"/>
          </a:ln>
        </p:spPr>
      </p:cxnSp>
      <p:sp>
        <p:nvSpPr>
          <p:cNvPr id="1443" name="Google Shape;1443;g3f95de07730_1_1103"/>
          <p:cNvSpPr/>
          <p:nvPr/>
        </p:nvSpPr>
        <p:spPr>
          <a:xfrm>
            <a:off x="4492278" y="1473099"/>
            <a:ext cx="2756100" cy="343200"/>
          </a:xfrm>
          <a:prstGeom prst="round2SameRect">
            <a:avLst>
              <a:gd name="adj1" fmla="val 16667"/>
              <a:gd name="adj2" fmla="val 0"/>
            </a:avLst>
          </a:prstGeom>
          <a:solidFill>
            <a:srgbClr val="74CA21"/>
          </a:solidFill>
          <a:ln>
            <a:noFill/>
          </a:ln>
        </p:spPr>
        <p:txBody>
          <a:bodyPr spcFirstLastPara="1" wrap="square" lIns="72000" tIns="36000" rIns="72000" bIns="360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lt1"/>
                </a:solidFill>
                <a:latin typeface="Roboto"/>
                <a:ea typeface="Roboto"/>
                <a:cs typeface="Roboto"/>
                <a:sym typeface="Roboto"/>
              </a:rPr>
              <a:t>Two Workflows</a:t>
            </a:r>
            <a:endParaRPr sz="1200" b="1" i="0" u="none" strike="noStrike" cap="none">
              <a:solidFill>
                <a:schemeClr val="lt1"/>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48"/>
        <p:cNvGrpSpPr/>
        <p:nvPr/>
      </p:nvGrpSpPr>
      <p:grpSpPr>
        <a:xfrm>
          <a:off x="0" y="0"/>
          <a:ext cx="0" cy="0"/>
          <a:chOff x="0" y="0"/>
          <a:chExt cx="0" cy="0"/>
        </a:xfrm>
      </p:grpSpPr>
      <p:sp>
        <p:nvSpPr>
          <p:cNvPr id="1449" name="Google Shape;1449;g3f95de07730_1_1118"/>
          <p:cNvSpPr txBox="1"/>
          <p:nvPr/>
        </p:nvSpPr>
        <p:spPr>
          <a:xfrm>
            <a:off x="6371578" y="2613843"/>
            <a:ext cx="18711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119D96"/>
                </a:solidFill>
                <a:latin typeface="Roboto"/>
                <a:ea typeface="Roboto"/>
                <a:cs typeface="Roboto"/>
                <a:sym typeface="Roboto"/>
              </a:rPr>
              <a:t>     Pull simulated image</a:t>
            </a:r>
            <a:endParaRPr sz="14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119D96"/>
                </a:solidFill>
                <a:latin typeface="Roboto"/>
                <a:ea typeface="Roboto"/>
                <a:cs typeface="Roboto"/>
                <a:sym typeface="Roboto"/>
              </a:rPr>
              <a:t>from CyVerse Data Store</a:t>
            </a:r>
            <a:endParaRPr sz="1400" b="0" i="0" u="none" strike="noStrike" cap="none">
              <a:solidFill>
                <a:srgbClr val="000000"/>
              </a:solidFill>
              <a:latin typeface="Roboto"/>
              <a:ea typeface="Roboto"/>
              <a:cs typeface="Roboto"/>
              <a:sym typeface="Roboto"/>
            </a:endParaRPr>
          </a:p>
        </p:txBody>
      </p:sp>
      <p:sp>
        <p:nvSpPr>
          <p:cNvPr id="1450" name="Google Shape;1450;g3f95de07730_1_1118"/>
          <p:cNvSpPr txBox="1"/>
          <p:nvPr/>
        </p:nvSpPr>
        <p:spPr>
          <a:xfrm>
            <a:off x="9739211" y="3153993"/>
            <a:ext cx="13836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119D96"/>
                </a:solidFill>
                <a:latin typeface="Roboto"/>
                <a:ea typeface="Roboto"/>
                <a:cs typeface="Roboto"/>
                <a:sym typeface="Roboto"/>
              </a:rPr>
              <a:t>     Push synthetic</a:t>
            </a:r>
            <a:endParaRPr sz="14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119D96"/>
                </a:solidFill>
                <a:latin typeface="Roboto"/>
                <a:ea typeface="Roboto"/>
                <a:cs typeface="Roboto"/>
                <a:sym typeface="Roboto"/>
              </a:rPr>
              <a:t>observation data</a:t>
            </a:r>
            <a:endParaRPr sz="14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119D96"/>
                </a:solidFill>
                <a:latin typeface="Roboto"/>
                <a:ea typeface="Roboto"/>
                <a:cs typeface="Roboto"/>
                <a:sym typeface="Roboto"/>
              </a:rPr>
              <a:t>back to CyVerse</a:t>
            </a:r>
            <a:endParaRPr sz="1200" b="0" i="0" u="none" strike="noStrike" cap="none">
              <a:solidFill>
                <a:srgbClr val="119D96"/>
              </a:solidFill>
              <a:latin typeface="Roboto"/>
              <a:ea typeface="Roboto"/>
              <a:cs typeface="Roboto"/>
              <a:sym typeface="Roboto"/>
            </a:endParaRPr>
          </a:p>
        </p:txBody>
      </p:sp>
      <p:pic>
        <p:nvPicPr>
          <p:cNvPr id="1451" name="Google Shape;1451;g3f95de07730_1_1118" descr="Logo&#10;&#10;Description automatically generated"/>
          <p:cNvPicPr preferRelativeResize="0"/>
          <p:nvPr/>
        </p:nvPicPr>
        <p:blipFill rotWithShape="1">
          <a:blip r:embed="rId3">
            <a:alphaModFix/>
          </a:blip>
          <a:srcRect/>
          <a:stretch/>
        </p:blipFill>
        <p:spPr>
          <a:xfrm>
            <a:off x="6449456" y="3980310"/>
            <a:ext cx="1973248" cy="1252856"/>
          </a:xfrm>
          <a:prstGeom prst="rect">
            <a:avLst/>
          </a:prstGeom>
          <a:noFill/>
          <a:ln>
            <a:noFill/>
          </a:ln>
        </p:spPr>
      </p:pic>
      <p:sp>
        <p:nvSpPr>
          <p:cNvPr id="1452" name="Google Shape;1452;g3f95de07730_1_1118"/>
          <p:cNvSpPr txBox="1"/>
          <p:nvPr/>
        </p:nvSpPr>
        <p:spPr>
          <a:xfrm>
            <a:off x="7659052" y="3868968"/>
            <a:ext cx="2098800" cy="7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119D96"/>
                </a:solidFill>
                <a:latin typeface="Roboto"/>
                <a:ea typeface="Roboto"/>
                <a:cs typeface="Roboto"/>
                <a:sym typeface="Roboto"/>
              </a:rPr>
              <a:t>Model interstellar scattering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4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200"/>
              <a:buFont typeface="Arial"/>
              <a:buNone/>
            </a:pPr>
            <a:endParaRPr sz="1400" b="0" i="0" u="none" strike="noStrike" cap="none">
              <a:solidFill>
                <a:srgbClr val="000000"/>
              </a:solidFill>
              <a:latin typeface="Roboto"/>
              <a:ea typeface="Roboto"/>
              <a:cs typeface="Roboto"/>
              <a:sym typeface="Roboto"/>
            </a:endParaRPr>
          </a:p>
        </p:txBody>
      </p:sp>
      <p:sp>
        <p:nvSpPr>
          <p:cNvPr id="3" name="Text Placeholder 2">
            <a:extLst>
              <a:ext uri="{FF2B5EF4-FFF2-40B4-BE49-F238E27FC236}">
                <a16:creationId xmlns:a16="http://schemas.microsoft.com/office/drawing/2014/main" id="{0BB95219-676D-49A6-5BDE-FCF4493502D2}"/>
              </a:ext>
            </a:extLst>
          </p:cNvPr>
          <p:cNvSpPr>
            <a:spLocks noGrp="1"/>
          </p:cNvSpPr>
          <p:nvPr>
            <p:ph type="body" idx="13"/>
          </p:nvPr>
        </p:nvSpPr>
        <p:spPr>
          <a:xfrm>
            <a:off x="1162339" y="83770"/>
            <a:ext cx="10541000" cy="254000"/>
          </a:xfrm>
        </p:spPr>
        <p:txBody>
          <a:bodyPr/>
          <a:lstStyle/>
          <a:p>
            <a:r>
              <a:rPr lang="en-US" b="1" dirty="0"/>
              <a:t>Applications</a:t>
            </a:r>
          </a:p>
        </p:txBody>
      </p:sp>
      <p:sp>
        <p:nvSpPr>
          <p:cNvPr id="2" name="Title 1">
            <a:extLst>
              <a:ext uri="{FF2B5EF4-FFF2-40B4-BE49-F238E27FC236}">
                <a16:creationId xmlns:a16="http://schemas.microsoft.com/office/drawing/2014/main" id="{3C04B955-13D8-9C0F-A4FB-8A66139E644C}"/>
              </a:ext>
            </a:extLst>
          </p:cNvPr>
          <p:cNvSpPr>
            <a:spLocks noGrp="1"/>
          </p:cNvSpPr>
          <p:nvPr>
            <p:ph type="title"/>
          </p:nvPr>
        </p:nvSpPr>
        <p:spPr>
          <a:xfrm>
            <a:off x="965489" y="306020"/>
            <a:ext cx="10795000" cy="571500"/>
          </a:xfrm>
        </p:spPr>
        <p:txBody>
          <a:bodyPr>
            <a:normAutofit fontScale="90000"/>
          </a:bodyPr>
          <a:lstStyle/>
          <a:p>
            <a:r>
              <a:rPr lang="en-US" sz="2000" dirty="0"/>
              <a:t>Event Horizon Telescope Bringing</a:t>
            </a:r>
            <a:br>
              <a:rPr lang="en-US" sz="2000" dirty="0"/>
            </a:br>
            <a:r>
              <a:rPr lang="en-US" sz="2000" dirty="0"/>
              <a:t>Black Holes into Focus</a:t>
            </a:r>
          </a:p>
        </p:txBody>
      </p:sp>
      <p:sp>
        <p:nvSpPr>
          <p:cNvPr id="4" name="Text Placeholder 3">
            <a:extLst>
              <a:ext uri="{FF2B5EF4-FFF2-40B4-BE49-F238E27FC236}">
                <a16:creationId xmlns:a16="http://schemas.microsoft.com/office/drawing/2014/main" id="{FD9624FB-5C3F-42E5-57F3-73E1ECE27D35}"/>
              </a:ext>
            </a:extLst>
          </p:cNvPr>
          <p:cNvSpPr>
            <a:spLocks noGrp="1"/>
          </p:cNvSpPr>
          <p:nvPr>
            <p:ph type="body" idx="14"/>
          </p:nvPr>
        </p:nvSpPr>
        <p:spPr/>
        <p:txBody>
          <a:bodyPr/>
          <a:lstStyle/>
          <a:p>
            <a:endParaRPr lang="en-US"/>
          </a:p>
        </p:txBody>
      </p:sp>
      <p:sp>
        <p:nvSpPr>
          <p:cNvPr id="1453" name="Google Shape;1453;g3f95de07730_1_1118"/>
          <p:cNvSpPr txBox="1">
            <a:spLocks noGrp="1"/>
          </p:cNvSpPr>
          <p:nvPr>
            <p:ph type="sldNum" idx="4294967295"/>
          </p:nvPr>
        </p:nvSpPr>
        <p:spPr>
          <a:xfrm>
            <a:off x="9448800" y="624522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100"/>
              <a:buFont typeface="Arial"/>
              <a:buNone/>
            </a:pPr>
            <a:fld id="{00000000-1234-1234-1234-123412341234}" type="slidenum">
              <a:rPr lang="en-US" sz="1100">
                <a:solidFill>
                  <a:srgbClr val="888888"/>
                </a:solidFill>
                <a:latin typeface="Helvetica Neue Light"/>
                <a:ea typeface="Helvetica Neue Light"/>
                <a:cs typeface="Helvetica Neue Light"/>
                <a:sym typeface="Helvetica Neue Light"/>
              </a:rPr>
              <a:t>20</a:t>
            </a:fld>
            <a:endParaRPr sz="1100">
              <a:solidFill>
                <a:srgbClr val="888888"/>
              </a:solidFill>
              <a:latin typeface="Helvetica Neue Light"/>
              <a:ea typeface="Helvetica Neue Light"/>
              <a:cs typeface="Helvetica Neue Light"/>
              <a:sym typeface="Helvetica Neue Light"/>
            </a:endParaRPr>
          </a:p>
        </p:txBody>
      </p:sp>
      <p:cxnSp>
        <p:nvCxnSpPr>
          <p:cNvPr id="1455" name="Google Shape;1455;g3f95de07730_1_1118"/>
          <p:cNvCxnSpPr/>
          <p:nvPr/>
        </p:nvCxnSpPr>
        <p:spPr>
          <a:xfrm>
            <a:off x="6257319" y="56903"/>
            <a:ext cx="0" cy="1074000"/>
          </a:xfrm>
          <a:prstGeom prst="straightConnector1">
            <a:avLst/>
          </a:prstGeom>
          <a:noFill/>
          <a:ln w="12700" cap="flat" cmpd="sng">
            <a:solidFill>
              <a:srgbClr val="4AB9C4"/>
            </a:solidFill>
            <a:prstDash val="solid"/>
            <a:miter lim="8000"/>
            <a:headEnd type="none" w="sm" len="sm"/>
            <a:tailEnd type="none" w="sm" len="sm"/>
          </a:ln>
        </p:spPr>
      </p:cxnSp>
      <p:pic>
        <p:nvPicPr>
          <p:cNvPr id="1456" name="Google Shape;1456;g3f95de07730_1_1118"/>
          <p:cNvPicPr preferRelativeResize="0"/>
          <p:nvPr/>
        </p:nvPicPr>
        <p:blipFill rotWithShape="1">
          <a:blip r:embed="rId4">
            <a:alphaModFix/>
          </a:blip>
          <a:srcRect/>
          <a:stretch/>
        </p:blipFill>
        <p:spPr>
          <a:xfrm>
            <a:off x="915605" y="3830633"/>
            <a:ext cx="4966380" cy="1191259"/>
          </a:xfrm>
          <a:prstGeom prst="rect">
            <a:avLst/>
          </a:prstGeom>
          <a:noFill/>
          <a:ln>
            <a:noFill/>
          </a:ln>
        </p:spPr>
      </p:pic>
      <p:pic>
        <p:nvPicPr>
          <p:cNvPr id="1457" name="Google Shape;1457;g3f95de07730_1_1118"/>
          <p:cNvPicPr preferRelativeResize="0"/>
          <p:nvPr/>
        </p:nvPicPr>
        <p:blipFill rotWithShape="1">
          <a:blip r:embed="rId5">
            <a:alphaModFix/>
          </a:blip>
          <a:srcRect/>
          <a:stretch/>
        </p:blipFill>
        <p:spPr>
          <a:xfrm>
            <a:off x="627504" y="57029"/>
            <a:ext cx="419584" cy="419584"/>
          </a:xfrm>
          <a:prstGeom prst="rect">
            <a:avLst/>
          </a:prstGeom>
          <a:noFill/>
          <a:ln>
            <a:noFill/>
          </a:ln>
        </p:spPr>
      </p:pic>
      <p:pic>
        <p:nvPicPr>
          <p:cNvPr id="1458" name="Google Shape;1458;g3f95de07730_1_1118" descr="A picture containing keyboard&#10;&#10;Description automatically generated"/>
          <p:cNvPicPr preferRelativeResize="0"/>
          <p:nvPr/>
        </p:nvPicPr>
        <p:blipFill rotWithShape="1">
          <a:blip r:embed="rId6">
            <a:alphaModFix/>
          </a:blip>
          <a:srcRect/>
          <a:stretch/>
        </p:blipFill>
        <p:spPr>
          <a:xfrm>
            <a:off x="3425832" y="1293572"/>
            <a:ext cx="2456451" cy="2456451"/>
          </a:xfrm>
          <a:prstGeom prst="rect">
            <a:avLst/>
          </a:prstGeom>
          <a:noFill/>
          <a:ln>
            <a:noFill/>
          </a:ln>
        </p:spPr>
      </p:pic>
      <p:pic>
        <p:nvPicPr>
          <p:cNvPr id="1459" name="Google Shape;1459;g3f95de07730_1_1118" descr="A picture containing text, different&#10;&#10;Description automatically generated"/>
          <p:cNvPicPr preferRelativeResize="0"/>
          <p:nvPr/>
        </p:nvPicPr>
        <p:blipFill rotWithShape="1">
          <a:blip r:embed="rId7">
            <a:alphaModFix/>
          </a:blip>
          <a:srcRect r="-120"/>
          <a:stretch/>
        </p:blipFill>
        <p:spPr>
          <a:xfrm>
            <a:off x="915905" y="1293572"/>
            <a:ext cx="2456453" cy="2456451"/>
          </a:xfrm>
          <a:prstGeom prst="rect">
            <a:avLst/>
          </a:prstGeom>
          <a:noFill/>
          <a:ln>
            <a:noFill/>
          </a:ln>
        </p:spPr>
      </p:pic>
      <p:sp>
        <p:nvSpPr>
          <p:cNvPr id="1460" name="Google Shape;1460;g3f95de07730_1_1118"/>
          <p:cNvSpPr/>
          <p:nvPr/>
        </p:nvSpPr>
        <p:spPr>
          <a:xfrm>
            <a:off x="843353" y="988025"/>
            <a:ext cx="2601600" cy="288000"/>
          </a:xfrm>
          <a:prstGeom prst="rect">
            <a:avLst/>
          </a:prstGeom>
          <a:noFill/>
          <a:ln>
            <a:noFill/>
          </a:ln>
        </p:spPr>
        <p:txBody>
          <a:bodyPr spcFirstLastPara="1" wrap="square" lIns="72000" tIns="36000" rIns="72000" bIns="360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3F3F3F"/>
                </a:solidFill>
                <a:latin typeface="Roboto"/>
                <a:ea typeface="Roboto"/>
                <a:cs typeface="Roboto"/>
                <a:sym typeface="Roboto"/>
              </a:rPr>
              <a:t>8 telescopes: 5 PB of data</a:t>
            </a:r>
            <a:endParaRPr sz="1400" b="0" i="0" u="none" strike="noStrike" cap="none">
              <a:solidFill>
                <a:srgbClr val="000000"/>
              </a:solidFill>
              <a:latin typeface="Roboto"/>
              <a:ea typeface="Roboto"/>
              <a:cs typeface="Roboto"/>
              <a:sym typeface="Roboto"/>
            </a:endParaRPr>
          </a:p>
        </p:txBody>
      </p:sp>
      <p:sp>
        <p:nvSpPr>
          <p:cNvPr id="1461" name="Google Shape;1461;g3f95de07730_1_1118"/>
          <p:cNvSpPr/>
          <p:nvPr/>
        </p:nvSpPr>
        <p:spPr>
          <a:xfrm>
            <a:off x="3389556" y="988025"/>
            <a:ext cx="2529000" cy="288000"/>
          </a:xfrm>
          <a:prstGeom prst="rect">
            <a:avLst/>
          </a:prstGeom>
          <a:noFill/>
          <a:ln>
            <a:noFill/>
          </a:ln>
        </p:spPr>
        <p:txBody>
          <a:bodyPr spcFirstLastPara="1" wrap="square" lIns="72000" tIns="36000" rIns="72000" bIns="360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3F3F3F"/>
                </a:solidFill>
                <a:latin typeface="Roboto"/>
                <a:ea typeface="Roboto"/>
                <a:cs typeface="Roboto"/>
                <a:sym typeface="Roboto"/>
              </a:rPr>
              <a:t>60 simulations: 35 TB data</a:t>
            </a:r>
            <a:endParaRPr sz="1400" b="0" i="0" u="none" strike="noStrike" cap="none">
              <a:solidFill>
                <a:srgbClr val="000000"/>
              </a:solidFill>
              <a:latin typeface="Roboto"/>
              <a:ea typeface="Roboto"/>
              <a:cs typeface="Roboto"/>
              <a:sym typeface="Roboto"/>
            </a:endParaRPr>
          </a:p>
        </p:txBody>
      </p:sp>
      <p:sp>
        <p:nvSpPr>
          <p:cNvPr id="1462" name="Google Shape;1462;g3f95de07730_1_1118"/>
          <p:cNvSpPr/>
          <p:nvPr/>
        </p:nvSpPr>
        <p:spPr>
          <a:xfrm>
            <a:off x="1045429" y="5043315"/>
            <a:ext cx="4695900" cy="288000"/>
          </a:xfrm>
          <a:prstGeom prst="rect">
            <a:avLst/>
          </a:prstGeom>
          <a:noFill/>
          <a:ln>
            <a:noFill/>
          </a:ln>
        </p:spPr>
        <p:txBody>
          <a:bodyPr spcFirstLastPara="1" wrap="square" lIns="72000" tIns="36000" rIns="72000" bIns="360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3F3F3F"/>
                </a:solidFill>
                <a:latin typeface="Roboto"/>
                <a:ea typeface="Roboto"/>
                <a:cs typeface="Roboto"/>
                <a:sym typeface="Roboto"/>
              </a:rPr>
              <a:t>First images of black hole at the center of the M87 galaxy </a:t>
            </a:r>
            <a:endParaRPr sz="1400" b="0" i="0" u="none" strike="noStrike" cap="none">
              <a:solidFill>
                <a:srgbClr val="000000"/>
              </a:solidFill>
              <a:latin typeface="Roboto"/>
              <a:ea typeface="Roboto"/>
              <a:cs typeface="Roboto"/>
              <a:sym typeface="Roboto"/>
            </a:endParaRPr>
          </a:p>
        </p:txBody>
      </p:sp>
      <p:pic>
        <p:nvPicPr>
          <p:cNvPr id="1463" name="Google Shape;1463;g3f95de07730_1_1118"/>
          <p:cNvPicPr preferRelativeResize="0"/>
          <p:nvPr/>
        </p:nvPicPr>
        <p:blipFill rotWithShape="1">
          <a:blip r:embed="rId8">
            <a:alphaModFix/>
          </a:blip>
          <a:srcRect/>
          <a:stretch/>
        </p:blipFill>
        <p:spPr>
          <a:xfrm>
            <a:off x="9280638" y="2409097"/>
            <a:ext cx="2098563" cy="455433"/>
          </a:xfrm>
          <a:prstGeom prst="rect">
            <a:avLst/>
          </a:prstGeom>
          <a:noFill/>
          <a:ln>
            <a:noFill/>
          </a:ln>
        </p:spPr>
      </p:pic>
      <p:grpSp>
        <p:nvGrpSpPr>
          <p:cNvPr id="1464" name="Google Shape;1464;g3f95de07730_1_1118"/>
          <p:cNvGrpSpPr/>
          <p:nvPr/>
        </p:nvGrpSpPr>
        <p:grpSpPr>
          <a:xfrm>
            <a:off x="7176918" y="5161949"/>
            <a:ext cx="407757" cy="665141"/>
            <a:chOff x="1713862" y="135060"/>
            <a:chExt cx="1422738" cy="2320800"/>
          </a:xfrm>
        </p:grpSpPr>
        <p:sp>
          <p:nvSpPr>
            <p:cNvPr id="1465" name="Google Shape;1465;g3f95de07730_1_1118"/>
            <p:cNvSpPr/>
            <p:nvPr/>
          </p:nvSpPr>
          <p:spPr>
            <a:xfrm>
              <a:off x="1713862" y="135060"/>
              <a:ext cx="1273200" cy="2320800"/>
            </a:xfrm>
            <a:prstGeom prst="cube">
              <a:avLst>
                <a:gd name="adj" fmla="val 9947"/>
              </a:avLst>
            </a:prstGeom>
            <a:gradFill>
              <a:gsLst>
                <a:gs pos="0">
                  <a:srgbClr val="595959"/>
                </a:gs>
                <a:gs pos="24000">
                  <a:srgbClr val="595959"/>
                </a:gs>
                <a:gs pos="100000">
                  <a:srgbClr val="262626"/>
                </a:gs>
              </a:gsLst>
              <a:lin ang="2700006" scaled="0"/>
            </a:gradFill>
            <a:ln>
              <a:noFill/>
            </a:ln>
            <a:effectLst>
              <a:outerShdw blurRad="50800" dist="25400" dir="2700000" algn="tl" rotWithShape="0">
                <a:srgbClr val="000000">
                  <a:alpha val="223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466" name="Google Shape;1466;g3f95de07730_1_1118"/>
            <p:cNvSpPr/>
            <p:nvPr/>
          </p:nvSpPr>
          <p:spPr>
            <a:xfrm rot="5400000">
              <a:off x="2939050" y="1375061"/>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467" name="Google Shape;1467;g3f95de07730_1_1118"/>
            <p:cNvSpPr/>
            <p:nvPr/>
          </p:nvSpPr>
          <p:spPr>
            <a:xfrm rot="5400000">
              <a:off x="2939050" y="1710680"/>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468" name="Google Shape;1468;g3f95de07730_1_1118"/>
            <p:cNvSpPr/>
            <p:nvPr/>
          </p:nvSpPr>
          <p:spPr>
            <a:xfrm rot="5400000">
              <a:off x="2939050" y="2058762"/>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469" name="Google Shape;1469;g3f95de07730_1_1118"/>
            <p:cNvSpPr/>
            <p:nvPr/>
          </p:nvSpPr>
          <p:spPr>
            <a:xfrm>
              <a:off x="2785503" y="703849"/>
              <a:ext cx="67200" cy="111300"/>
            </a:xfrm>
            <a:prstGeom prst="rect">
              <a:avLst/>
            </a:prstGeom>
            <a:solidFill>
              <a:srgbClr val="74CA21"/>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470" name="Google Shape;1470;g3f95de07730_1_1118"/>
            <p:cNvSpPr/>
            <p:nvPr/>
          </p:nvSpPr>
          <p:spPr>
            <a:xfrm>
              <a:off x="2788264" y="872137"/>
              <a:ext cx="67200" cy="111300"/>
            </a:xfrm>
            <a:prstGeom prst="rect">
              <a:avLst/>
            </a:prstGeom>
            <a:solidFill>
              <a:srgbClr val="00B0F0"/>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grpSp>
      <p:grpSp>
        <p:nvGrpSpPr>
          <p:cNvPr id="1471" name="Google Shape;1471;g3f95de07730_1_1118"/>
          <p:cNvGrpSpPr/>
          <p:nvPr/>
        </p:nvGrpSpPr>
        <p:grpSpPr>
          <a:xfrm>
            <a:off x="8307621" y="2720241"/>
            <a:ext cx="610944" cy="647678"/>
            <a:chOff x="5967413" y="-3362325"/>
            <a:chExt cx="1133478" cy="1454150"/>
          </a:xfrm>
        </p:grpSpPr>
        <p:sp>
          <p:nvSpPr>
            <p:cNvPr id="1472" name="Google Shape;1472;g3f95de07730_1_1118"/>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73" name="Google Shape;1473;g3f95de07730_1_1118"/>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74" name="Google Shape;1474;g3f95de07730_1_1118"/>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75" name="Google Shape;1475;g3f95de07730_1_1118"/>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76" name="Google Shape;1476;g3f95de07730_1_1118"/>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77" name="Google Shape;1477;g3f95de07730_1_1118"/>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78" name="Google Shape;1478;g3f95de07730_1_1118"/>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79" name="Google Shape;1479;g3f95de07730_1_1118"/>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80" name="Google Shape;1480;g3f95de07730_1_1118"/>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81" name="Google Shape;1481;g3f95de07730_1_1118"/>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82" name="Google Shape;1482;g3f95de07730_1_1118"/>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83" name="Google Shape;1483;g3f95de07730_1_1118"/>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84" name="Google Shape;1484;g3f95de07730_1_1118"/>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85" name="Google Shape;1485;g3f95de07730_1_1118"/>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grpSp>
      <p:grpSp>
        <p:nvGrpSpPr>
          <p:cNvPr id="1486" name="Google Shape;1486;g3f95de07730_1_1118"/>
          <p:cNvGrpSpPr/>
          <p:nvPr/>
        </p:nvGrpSpPr>
        <p:grpSpPr>
          <a:xfrm>
            <a:off x="8678832" y="2851938"/>
            <a:ext cx="610944" cy="647678"/>
            <a:chOff x="5967413" y="-3362325"/>
            <a:chExt cx="1133478" cy="1454150"/>
          </a:xfrm>
        </p:grpSpPr>
        <p:sp>
          <p:nvSpPr>
            <p:cNvPr id="1487" name="Google Shape;1487;g3f95de07730_1_1118"/>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88" name="Google Shape;1488;g3f95de07730_1_1118"/>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89" name="Google Shape;1489;g3f95de07730_1_1118"/>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90" name="Google Shape;1490;g3f95de07730_1_1118"/>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91" name="Google Shape;1491;g3f95de07730_1_1118"/>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92" name="Google Shape;1492;g3f95de07730_1_1118"/>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93" name="Google Shape;1493;g3f95de07730_1_1118"/>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94" name="Google Shape;1494;g3f95de07730_1_1118"/>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95" name="Google Shape;1495;g3f95de07730_1_1118"/>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96" name="Google Shape;1496;g3f95de07730_1_1118"/>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97" name="Google Shape;1497;g3f95de07730_1_1118"/>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98" name="Google Shape;1498;g3f95de07730_1_1118"/>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499" name="Google Shape;1499;g3f95de07730_1_1118"/>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500" name="Google Shape;1500;g3f95de07730_1_1118"/>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grpSp>
      <p:grpSp>
        <p:nvGrpSpPr>
          <p:cNvPr id="1501" name="Google Shape;1501;g3f95de07730_1_1118"/>
          <p:cNvGrpSpPr/>
          <p:nvPr/>
        </p:nvGrpSpPr>
        <p:grpSpPr>
          <a:xfrm>
            <a:off x="9050043" y="2983635"/>
            <a:ext cx="610944" cy="647678"/>
            <a:chOff x="5967413" y="-3362325"/>
            <a:chExt cx="1133478" cy="1454150"/>
          </a:xfrm>
        </p:grpSpPr>
        <p:sp>
          <p:nvSpPr>
            <p:cNvPr id="1502" name="Google Shape;1502;g3f95de07730_1_1118"/>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503" name="Google Shape;1503;g3f95de07730_1_1118"/>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504" name="Google Shape;1504;g3f95de07730_1_1118"/>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505" name="Google Shape;1505;g3f95de07730_1_1118"/>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506" name="Google Shape;1506;g3f95de07730_1_1118"/>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507" name="Google Shape;1507;g3f95de07730_1_1118"/>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508" name="Google Shape;1508;g3f95de07730_1_1118"/>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509" name="Google Shape;1509;g3f95de07730_1_1118"/>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510" name="Google Shape;1510;g3f95de07730_1_1118"/>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511" name="Google Shape;1511;g3f95de07730_1_1118"/>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512" name="Google Shape;1512;g3f95de07730_1_1118"/>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513" name="Google Shape;1513;g3f95de07730_1_1118"/>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514" name="Google Shape;1514;g3f95de07730_1_1118"/>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sp>
          <p:nvSpPr>
            <p:cNvPr id="1515" name="Google Shape;1515;g3f95de07730_1_1118"/>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a:ea typeface="Roboto"/>
                <a:cs typeface="Roboto"/>
                <a:sym typeface="Roboto"/>
              </a:endParaRPr>
            </a:p>
          </p:txBody>
        </p:sp>
      </p:grpSp>
      <p:grpSp>
        <p:nvGrpSpPr>
          <p:cNvPr id="1516" name="Google Shape;1516;g3f95de07730_1_1118"/>
          <p:cNvGrpSpPr/>
          <p:nvPr/>
        </p:nvGrpSpPr>
        <p:grpSpPr>
          <a:xfrm>
            <a:off x="7799842" y="5161949"/>
            <a:ext cx="407757" cy="665141"/>
            <a:chOff x="1713862" y="135060"/>
            <a:chExt cx="1422738" cy="2320800"/>
          </a:xfrm>
        </p:grpSpPr>
        <p:sp>
          <p:nvSpPr>
            <p:cNvPr id="1517" name="Google Shape;1517;g3f95de07730_1_1118"/>
            <p:cNvSpPr/>
            <p:nvPr/>
          </p:nvSpPr>
          <p:spPr>
            <a:xfrm>
              <a:off x="1713862" y="135060"/>
              <a:ext cx="1273200" cy="2320800"/>
            </a:xfrm>
            <a:prstGeom prst="cube">
              <a:avLst>
                <a:gd name="adj" fmla="val 9947"/>
              </a:avLst>
            </a:prstGeom>
            <a:gradFill>
              <a:gsLst>
                <a:gs pos="0">
                  <a:srgbClr val="595959"/>
                </a:gs>
                <a:gs pos="24000">
                  <a:srgbClr val="595959"/>
                </a:gs>
                <a:gs pos="100000">
                  <a:srgbClr val="262626"/>
                </a:gs>
              </a:gsLst>
              <a:lin ang="2700006" scaled="0"/>
            </a:gradFill>
            <a:ln>
              <a:noFill/>
            </a:ln>
            <a:effectLst>
              <a:outerShdw blurRad="50800" dist="25400" dir="2700000" algn="tl" rotWithShape="0">
                <a:srgbClr val="000000">
                  <a:alpha val="223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18" name="Google Shape;1518;g3f95de07730_1_1118"/>
            <p:cNvSpPr/>
            <p:nvPr/>
          </p:nvSpPr>
          <p:spPr>
            <a:xfrm rot="5400000">
              <a:off x="2939050" y="1375061"/>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19" name="Google Shape;1519;g3f95de07730_1_1118"/>
            <p:cNvSpPr/>
            <p:nvPr/>
          </p:nvSpPr>
          <p:spPr>
            <a:xfrm rot="5400000">
              <a:off x="2939050" y="1710680"/>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20" name="Google Shape;1520;g3f95de07730_1_1118"/>
            <p:cNvSpPr/>
            <p:nvPr/>
          </p:nvSpPr>
          <p:spPr>
            <a:xfrm rot="5400000">
              <a:off x="2939050" y="2058762"/>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21" name="Google Shape;1521;g3f95de07730_1_1118"/>
            <p:cNvSpPr/>
            <p:nvPr/>
          </p:nvSpPr>
          <p:spPr>
            <a:xfrm>
              <a:off x="2785503" y="703849"/>
              <a:ext cx="67200" cy="111300"/>
            </a:xfrm>
            <a:prstGeom prst="rect">
              <a:avLst/>
            </a:prstGeom>
            <a:solidFill>
              <a:srgbClr val="74CA21"/>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22" name="Google Shape;1522;g3f95de07730_1_1118"/>
            <p:cNvSpPr/>
            <p:nvPr/>
          </p:nvSpPr>
          <p:spPr>
            <a:xfrm>
              <a:off x="2788264" y="872137"/>
              <a:ext cx="67200" cy="111300"/>
            </a:xfrm>
            <a:prstGeom prst="rect">
              <a:avLst/>
            </a:prstGeom>
            <a:solidFill>
              <a:srgbClr val="00B0F0"/>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grpSp>
      <p:grpSp>
        <p:nvGrpSpPr>
          <p:cNvPr id="1523" name="Google Shape;1523;g3f95de07730_1_1118"/>
          <p:cNvGrpSpPr/>
          <p:nvPr/>
        </p:nvGrpSpPr>
        <p:grpSpPr>
          <a:xfrm>
            <a:off x="8422766" y="5161949"/>
            <a:ext cx="407757" cy="665141"/>
            <a:chOff x="1713862" y="135060"/>
            <a:chExt cx="1422738" cy="2320800"/>
          </a:xfrm>
        </p:grpSpPr>
        <p:sp>
          <p:nvSpPr>
            <p:cNvPr id="1524" name="Google Shape;1524;g3f95de07730_1_1118"/>
            <p:cNvSpPr/>
            <p:nvPr/>
          </p:nvSpPr>
          <p:spPr>
            <a:xfrm>
              <a:off x="1713862" y="135060"/>
              <a:ext cx="1273200" cy="2320800"/>
            </a:xfrm>
            <a:prstGeom prst="cube">
              <a:avLst>
                <a:gd name="adj" fmla="val 9947"/>
              </a:avLst>
            </a:prstGeom>
            <a:gradFill>
              <a:gsLst>
                <a:gs pos="0">
                  <a:srgbClr val="595959"/>
                </a:gs>
                <a:gs pos="24000">
                  <a:srgbClr val="595959"/>
                </a:gs>
                <a:gs pos="100000">
                  <a:srgbClr val="262626"/>
                </a:gs>
              </a:gsLst>
              <a:lin ang="2700006" scaled="0"/>
            </a:gradFill>
            <a:ln>
              <a:noFill/>
            </a:ln>
            <a:effectLst>
              <a:outerShdw blurRad="50800" dist="25400" dir="2700000" algn="tl" rotWithShape="0">
                <a:srgbClr val="000000">
                  <a:alpha val="223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25" name="Google Shape;1525;g3f95de07730_1_1118"/>
            <p:cNvSpPr/>
            <p:nvPr/>
          </p:nvSpPr>
          <p:spPr>
            <a:xfrm rot="5400000">
              <a:off x="2939050" y="1375061"/>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26" name="Google Shape;1526;g3f95de07730_1_1118"/>
            <p:cNvSpPr/>
            <p:nvPr/>
          </p:nvSpPr>
          <p:spPr>
            <a:xfrm rot="5400000">
              <a:off x="2939050" y="1710680"/>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27" name="Google Shape;1527;g3f95de07730_1_1118"/>
            <p:cNvSpPr/>
            <p:nvPr/>
          </p:nvSpPr>
          <p:spPr>
            <a:xfrm rot="5400000">
              <a:off x="2939050" y="2058762"/>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28" name="Google Shape;1528;g3f95de07730_1_1118"/>
            <p:cNvSpPr/>
            <p:nvPr/>
          </p:nvSpPr>
          <p:spPr>
            <a:xfrm>
              <a:off x="2785503" y="703849"/>
              <a:ext cx="67200" cy="111300"/>
            </a:xfrm>
            <a:prstGeom prst="rect">
              <a:avLst/>
            </a:prstGeom>
            <a:solidFill>
              <a:srgbClr val="74CA21"/>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29" name="Google Shape;1529;g3f95de07730_1_1118"/>
            <p:cNvSpPr/>
            <p:nvPr/>
          </p:nvSpPr>
          <p:spPr>
            <a:xfrm>
              <a:off x="2788264" y="872137"/>
              <a:ext cx="67200" cy="111300"/>
            </a:xfrm>
            <a:prstGeom prst="rect">
              <a:avLst/>
            </a:prstGeom>
            <a:solidFill>
              <a:srgbClr val="00B0F0"/>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grpSp>
      <p:grpSp>
        <p:nvGrpSpPr>
          <p:cNvPr id="1530" name="Google Shape;1530;g3f95de07730_1_1118"/>
          <p:cNvGrpSpPr/>
          <p:nvPr/>
        </p:nvGrpSpPr>
        <p:grpSpPr>
          <a:xfrm>
            <a:off x="9045690" y="5161949"/>
            <a:ext cx="407757" cy="665141"/>
            <a:chOff x="1713862" y="135060"/>
            <a:chExt cx="1422738" cy="2320800"/>
          </a:xfrm>
        </p:grpSpPr>
        <p:sp>
          <p:nvSpPr>
            <p:cNvPr id="1531" name="Google Shape;1531;g3f95de07730_1_1118"/>
            <p:cNvSpPr/>
            <p:nvPr/>
          </p:nvSpPr>
          <p:spPr>
            <a:xfrm>
              <a:off x="1713862" y="135060"/>
              <a:ext cx="1273200" cy="2320800"/>
            </a:xfrm>
            <a:prstGeom prst="cube">
              <a:avLst>
                <a:gd name="adj" fmla="val 9947"/>
              </a:avLst>
            </a:prstGeom>
            <a:gradFill>
              <a:gsLst>
                <a:gs pos="0">
                  <a:srgbClr val="595959"/>
                </a:gs>
                <a:gs pos="24000">
                  <a:srgbClr val="595959"/>
                </a:gs>
                <a:gs pos="100000">
                  <a:srgbClr val="262626"/>
                </a:gs>
              </a:gsLst>
              <a:lin ang="2700006" scaled="0"/>
            </a:gradFill>
            <a:ln>
              <a:noFill/>
            </a:ln>
            <a:effectLst>
              <a:outerShdw blurRad="50800" dist="25400" dir="2700000" algn="tl" rotWithShape="0">
                <a:srgbClr val="000000">
                  <a:alpha val="223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32" name="Google Shape;1532;g3f95de07730_1_1118"/>
            <p:cNvSpPr/>
            <p:nvPr/>
          </p:nvSpPr>
          <p:spPr>
            <a:xfrm rot="5400000">
              <a:off x="2939050" y="1375061"/>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33" name="Google Shape;1533;g3f95de07730_1_1118"/>
            <p:cNvSpPr/>
            <p:nvPr/>
          </p:nvSpPr>
          <p:spPr>
            <a:xfrm rot="5400000">
              <a:off x="2939050" y="1710680"/>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34" name="Google Shape;1534;g3f95de07730_1_1118"/>
            <p:cNvSpPr/>
            <p:nvPr/>
          </p:nvSpPr>
          <p:spPr>
            <a:xfrm rot="5400000">
              <a:off x="2939050" y="2058762"/>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35" name="Google Shape;1535;g3f95de07730_1_1118"/>
            <p:cNvSpPr/>
            <p:nvPr/>
          </p:nvSpPr>
          <p:spPr>
            <a:xfrm>
              <a:off x="2785503" y="703849"/>
              <a:ext cx="67200" cy="111300"/>
            </a:xfrm>
            <a:prstGeom prst="rect">
              <a:avLst/>
            </a:prstGeom>
            <a:solidFill>
              <a:srgbClr val="74CA21"/>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36" name="Google Shape;1536;g3f95de07730_1_1118"/>
            <p:cNvSpPr/>
            <p:nvPr/>
          </p:nvSpPr>
          <p:spPr>
            <a:xfrm>
              <a:off x="2788264" y="872137"/>
              <a:ext cx="67200" cy="111300"/>
            </a:xfrm>
            <a:prstGeom prst="rect">
              <a:avLst/>
            </a:prstGeom>
            <a:solidFill>
              <a:srgbClr val="00B0F0"/>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grpSp>
      <p:grpSp>
        <p:nvGrpSpPr>
          <p:cNvPr id="1537" name="Google Shape;1537;g3f95de07730_1_1118"/>
          <p:cNvGrpSpPr/>
          <p:nvPr/>
        </p:nvGrpSpPr>
        <p:grpSpPr>
          <a:xfrm>
            <a:off x="9668614" y="5161949"/>
            <a:ext cx="407757" cy="665141"/>
            <a:chOff x="1713862" y="135060"/>
            <a:chExt cx="1422738" cy="2320800"/>
          </a:xfrm>
        </p:grpSpPr>
        <p:sp>
          <p:nvSpPr>
            <p:cNvPr id="1538" name="Google Shape;1538;g3f95de07730_1_1118"/>
            <p:cNvSpPr/>
            <p:nvPr/>
          </p:nvSpPr>
          <p:spPr>
            <a:xfrm>
              <a:off x="1713862" y="135060"/>
              <a:ext cx="1273200" cy="2320800"/>
            </a:xfrm>
            <a:prstGeom prst="cube">
              <a:avLst>
                <a:gd name="adj" fmla="val 9947"/>
              </a:avLst>
            </a:prstGeom>
            <a:gradFill>
              <a:gsLst>
                <a:gs pos="0">
                  <a:srgbClr val="595959"/>
                </a:gs>
                <a:gs pos="24000">
                  <a:srgbClr val="595959"/>
                </a:gs>
                <a:gs pos="100000">
                  <a:srgbClr val="262626"/>
                </a:gs>
              </a:gsLst>
              <a:lin ang="2700006" scaled="0"/>
            </a:gradFill>
            <a:ln>
              <a:noFill/>
            </a:ln>
            <a:effectLst>
              <a:outerShdw blurRad="50800" dist="25400" dir="2700000" algn="tl" rotWithShape="0">
                <a:srgbClr val="000000">
                  <a:alpha val="223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39" name="Google Shape;1539;g3f95de07730_1_1118"/>
            <p:cNvSpPr/>
            <p:nvPr/>
          </p:nvSpPr>
          <p:spPr>
            <a:xfrm rot="5400000">
              <a:off x="2939050" y="1375061"/>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40" name="Google Shape;1540;g3f95de07730_1_1118"/>
            <p:cNvSpPr/>
            <p:nvPr/>
          </p:nvSpPr>
          <p:spPr>
            <a:xfrm rot="5400000">
              <a:off x="2939050" y="1710680"/>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41" name="Google Shape;1541;g3f95de07730_1_1118"/>
            <p:cNvSpPr/>
            <p:nvPr/>
          </p:nvSpPr>
          <p:spPr>
            <a:xfrm rot="5400000">
              <a:off x="2939050" y="2058762"/>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42" name="Google Shape;1542;g3f95de07730_1_1118"/>
            <p:cNvSpPr/>
            <p:nvPr/>
          </p:nvSpPr>
          <p:spPr>
            <a:xfrm>
              <a:off x="2785503" y="703849"/>
              <a:ext cx="67200" cy="111300"/>
            </a:xfrm>
            <a:prstGeom prst="rect">
              <a:avLst/>
            </a:prstGeom>
            <a:solidFill>
              <a:srgbClr val="74CA21"/>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43" name="Google Shape;1543;g3f95de07730_1_1118"/>
            <p:cNvSpPr/>
            <p:nvPr/>
          </p:nvSpPr>
          <p:spPr>
            <a:xfrm>
              <a:off x="2788264" y="872137"/>
              <a:ext cx="67200" cy="111300"/>
            </a:xfrm>
            <a:prstGeom prst="rect">
              <a:avLst/>
            </a:prstGeom>
            <a:solidFill>
              <a:srgbClr val="00B0F0"/>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grpSp>
      <p:grpSp>
        <p:nvGrpSpPr>
          <p:cNvPr id="1544" name="Google Shape;1544;g3f95de07730_1_1118"/>
          <p:cNvGrpSpPr/>
          <p:nvPr/>
        </p:nvGrpSpPr>
        <p:grpSpPr>
          <a:xfrm>
            <a:off x="10291538" y="5161949"/>
            <a:ext cx="407757" cy="665141"/>
            <a:chOff x="1713862" y="135060"/>
            <a:chExt cx="1422738" cy="2320800"/>
          </a:xfrm>
        </p:grpSpPr>
        <p:sp>
          <p:nvSpPr>
            <p:cNvPr id="1545" name="Google Shape;1545;g3f95de07730_1_1118"/>
            <p:cNvSpPr/>
            <p:nvPr/>
          </p:nvSpPr>
          <p:spPr>
            <a:xfrm>
              <a:off x="1713862" y="135060"/>
              <a:ext cx="1273200" cy="2320800"/>
            </a:xfrm>
            <a:prstGeom prst="cube">
              <a:avLst>
                <a:gd name="adj" fmla="val 9947"/>
              </a:avLst>
            </a:prstGeom>
            <a:gradFill>
              <a:gsLst>
                <a:gs pos="0">
                  <a:srgbClr val="595959"/>
                </a:gs>
                <a:gs pos="24000">
                  <a:srgbClr val="595959"/>
                </a:gs>
                <a:gs pos="100000">
                  <a:srgbClr val="262626"/>
                </a:gs>
              </a:gsLst>
              <a:lin ang="2700006" scaled="0"/>
            </a:gradFill>
            <a:ln>
              <a:noFill/>
            </a:ln>
            <a:effectLst>
              <a:outerShdw blurRad="50800" dist="25400" dir="2700000" algn="tl" rotWithShape="0">
                <a:srgbClr val="000000">
                  <a:alpha val="223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46" name="Google Shape;1546;g3f95de07730_1_1118"/>
            <p:cNvSpPr/>
            <p:nvPr/>
          </p:nvSpPr>
          <p:spPr>
            <a:xfrm rot="5400000">
              <a:off x="2939050" y="1375061"/>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47" name="Google Shape;1547;g3f95de07730_1_1118"/>
            <p:cNvSpPr/>
            <p:nvPr/>
          </p:nvSpPr>
          <p:spPr>
            <a:xfrm rot="5400000">
              <a:off x="2939050" y="1710680"/>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48" name="Google Shape;1548;g3f95de07730_1_1118"/>
            <p:cNvSpPr/>
            <p:nvPr/>
          </p:nvSpPr>
          <p:spPr>
            <a:xfrm rot="5400000">
              <a:off x="2939050" y="2058762"/>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49" name="Google Shape;1549;g3f95de07730_1_1118"/>
            <p:cNvSpPr/>
            <p:nvPr/>
          </p:nvSpPr>
          <p:spPr>
            <a:xfrm>
              <a:off x="2785503" y="703849"/>
              <a:ext cx="67200" cy="111300"/>
            </a:xfrm>
            <a:prstGeom prst="rect">
              <a:avLst/>
            </a:prstGeom>
            <a:solidFill>
              <a:srgbClr val="74CA21"/>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50" name="Google Shape;1550;g3f95de07730_1_1118"/>
            <p:cNvSpPr/>
            <p:nvPr/>
          </p:nvSpPr>
          <p:spPr>
            <a:xfrm>
              <a:off x="2788264" y="872137"/>
              <a:ext cx="67200" cy="111300"/>
            </a:xfrm>
            <a:prstGeom prst="rect">
              <a:avLst/>
            </a:prstGeom>
            <a:solidFill>
              <a:srgbClr val="00B0F0"/>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grpSp>
      <p:grpSp>
        <p:nvGrpSpPr>
          <p:cNvPr id="1551" name="Google Shape;1551;g3f95de07730_1_1118"/>
          <p:cNvGrpSpPr/>
          <p:nvPr/>
        </p:nvGrpSpPr>
        <p:grpSpPr>
          <a:xfrm>
            <a:off x="10914459" y="5161949"/>
            <a:ext cx="407757" cy="665141"/>
            <a:chOff x="1713862" y="135060"/>
            <a:chExt cx="1422738" cy="2320800"/>
          </a:xfrm>
        </p:grpSpPr>
        <p:sp>
          <p:nvSpPr>
            <p:cNvPr id="1552" name="Google Shape;1552;g3f95de07730_1_1118"/>
            <p:cNvSpPr/>
            <p:nvPr/>
          </p:nvSpPr>
          <p:spPr>
            <a:xfrm>
              <a:off x="1713862" y="135060"/>
              <a:ext cx="1273200" cy="2320800"/>
            </a:xfrm>
            <a:prstGeom prst="cube">
              <a:avLst>
                <a:gd name="adj" fmla="val 9947"/>
              </a:avLst>
            </a:prstGeom>
            <a:gradFill>
              <a:gsLst>
                <a:gs pos="0">
                  <a:srgbClr val="595959"/>
                </a:gs>
                <a:gs pos="24000">
                  <a:srgbClr val="595959"/>
                </a:gs>
                <a:gs pos="100000">
                  <a:srgbClr val="262626"/>
                </a:gs>
              </a:gsLst>
              <a:lin ang="2700006" scaled="0"/>
            </a:gradFill>
            <a:ln>
              <a:noFill/>
            </a:ln>
            <a:effectLst>
              <a:outerShdw blurRad="50800" dist="25400" dir="2700000" algn="tl" rotWithShape="0">
                <a:srgbClr val="000000">
                  <a:alpha val="223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53" name="Google Shape;1553;g3f95de07730_1_1118"/>
            <p:cNvSpPr/>
            <p:nvPr/>
          </p:nvSpPr>
          <p:spPr>
            <a:xfrm rot="5400000">
              <a:off x="2939050" y="1375061"/>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54" name="Google Shape;1554;g3f95de07730_1_1118"/>
            <p:cNvSpPr/>
            <p:nvPr/>
          </p:nvSpPr>
          <p:spPr>
            <a:xfrm rot="5400000">
              <a:off x="2939050" y="1710680"/>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55" name="Google Shape;1555;g3f95de07730_1_1118"/>
            <p:cNvSpPr/>
            <p:nvPr/>
          </p:nvSpPr>
          <p:spPr>
            <a:xfrm rot="5400000">
              <a:off x="2939050" y="2058762"/>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56" name="Google Shape;1556;g3f95de07730_1_1118"/>
            <p:cNvSpPr/>
            <p:nvPr/>
          </p:nvSpPr>
          <p:spPr>
            <a:xfrm>
              <a:off x="2785503" y="703849"/>
              <a:ext cx="67200" cy="111300"/>
            </a:xfrm>
            <a:prstGeom prst="rect">
              <a:avLst/>
            </a:prstGeom>
            <a:solidFill>
              <a:srgbClr val="74CA21"/>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57" name="Google Shape;1557;g3f95de07730_1_1118"/>
            <p:cNvSpPr/>
            <p:nvPr/>
          </p:nvSpPr>
          <p:spPr>
            <a:xfrm>
              <a:off x="2788264" y="872137"/>
              <a:ext cx="67200" cy="111300"/>
            </a:xfrm>
            <a:prstGeom prst="rect">
              <a:avLst/>
            </a:prstGeom>
            <a:solidFill>
              <a:srgbClr val="00B0F0"/>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grpSp>
      <p:grpSp>
        <p:nvGrpSpPr>
          <p:cNvPr id="1558" name="Google Shape;1558;g3f95de07730_1_1118"/>
          <p:cNvGrpSpPr/>
          <p:nvPr/>
        </p:nvGrpSpPr>
        <p:grpSpPr>
          <a:xfrm>
            <a:off x="6553994" y="5161949"/>
            <a:ext cx="407757" cy="665141"/>
            <a:chOff x="1713862" y="135060"/>
            <a:chExt cx="1422738" cy="2320800"/>
          </a:xfrm>
        </p:grpSpPr>
        <p:sp>
          <p:nvSpPr>
            <p:cNvPr id="1559" name="Google Shape;1559;g3f95de07730_1_1118"/>
            <p:cNvSpPr/>
            <p:nvPr/>
          </p:nvSpPr>
          <p:spPr>
            <a:xfrm>
              <a:off x="1713862" y="135060"/>
              <a:ext cx="1273200" cy="2320800"/>
            </a:xfrm>
            <a:prstGeom prst="cube">
              <a:avLst>
                <a:gd name="adj" fmla="val 9947"/>
              </a:avLst>
            </a:prstGeom>
            <a:gradFill>
              <a:gsLst>
                <a:gs pos="0">
                  <a:srgbClr val="595959"/>
                </a:gs>
                <a:gs pos="24000">
                  <a:srgbClr val="595959"/>
                </a:gs>
                <a:gs pos="100000">
                  <a:srgbClr val="262626"/>
                </a:gs>
              </a:gsLst>
              <a:lin ang="2700006" scaled="0"/>
            </a:gradFill>
            <a:ln>
              <a:noFill/>
            </a:ln>
            <a:effectLst>
              <a:outerShdw blurRad="50800" dist="25400" dir="2700000" algn="tl" rotWithShape="0">
                <a:srgbClr val="000000">
                  <a:alpha val="223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60" name="Google Shape;1560;g3f95de07730_1_1118"/>
            <p:cNvSpPr/>
            <p:nvPr/>
          </p:nvSpPr>
          <p:spPr>
            <a:xfrm rot="5400000">
              <a:off x="2939050" y="1375061"/>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61" name="Google Shape;1561;g3f95de07730_1_1118"/>
            <p:cNvSpPr/>
            <p:nvPr/>
          </p:nvSpPr>
          <p:spPr>
            <a:xfrm rot="5400000">
              <a:off x="2939050" y="1710680"/>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62" name="Google Shape;1562;g3f95de07730_1_1118"/>
            <p:cNvSpPr/>
            <p:nvPr/>
          </p:nvSpPr>
          <p:spPr>
            <a:xfrm rot="5400000">
              <a:off x="2939050" y="2058762"/>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63" name="Google Shape;1563;g3f95de07730_1_1118"/>
            <p:cNvSpPr/>
            <p:nvPr/>
          </p:nvSpPr>
          <p:spPr>
            <a:xfrm>
              <a:off x="2785503" y="703849"/>
              <a:ext cx="67200" cy="111300"/>
            </a:xfrm>
            <a:prstGeom prst="rect">
              <a:avLst/>
            </a:prstGeom>
            <a:solidFill>
              <a:srgbClr val="74CA21"/>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sp>
          <p:nvSpPr>
            <p:cNvPr id="1564" name="Google Shape;1564;g3f95de07730_1_1118"/>
            <p:cNvSpPr/>
            <p:nvPr/>
          </p:nvSpPr>
          <p:spPr>
            <a:xfrm>
              <a:off x="2788264" y="872137"/>
              <a:ext cx="67200" cy="111300"/>
            </a:xfrm>
            <a:prstGeom prst="rect">
              <a:avLst/>
            </a:prstGeom>
            <a:solidFill>
              <a:srgbClr val="00B0F0"/>
            </a:solidFill>
            <a:ln>
              <a:noFill/>
            </a:ln>
            <a:effectLst>
              <a:outerShdw blurRad="40000" dist="23000" dir="5400000" rotWithShape="0">
                <a:srgbClr val="808080">
                  <a:alpha val="3216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Roboto"/>
                <a:ea typeface="Roboto"/>
                <a:cs typeface="Roboto"/>
                <a:sym typeface="Roboto"/>
              </a:endParaRPr>
            </a:p>
          </p:txBody>
        </p:sp>
      </p:grpSp>
      <p:sp>
        <p:nvSpPr>
          <p:cNvPr id="1565" name="Google Shape;1565;g3f95de07730_1_1118"/>
          <p:cNvSpPr/>
          <p:nvPr/>
        </p:nvSpPr>
        <p:spPr>
          <a:xfrm>
            <a:off x="915900" y="5389850"/>
            <a:ext cx="5099700" cy="461700"/>
          </a:xfrm>
          <a:prstGeom prst="roundRect">
            <a:avLst>
              <a:gd name="adj" fmla="val 16667"/>
            </a:avLst>
          </a:prstGeom>
          <a:solidFill>
            <a:srgbClr val="119D9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b="1" i="0" u="none" strike="noStrike" cap="none">
                <a:solidFill>
                  <a:schemeClr val="lt1"/>
                </a:solidFill>
                <a:latin typeface="Roboto"/>
                <a:ea typeface="Roboto"/>
                <a:cs typeface="Roboto"/>
                <a:sym typeface="Roboto"/>
              </a:rPr>
              <a:t>Improve constraints on Einstein's theory</a:t>
            </a:r>
            <a:br>
              <a:rPr lang="en-US" sz="1400" b="1" i="0" u="none" strike="noStrike" cap="none">
                <a:solidFill>
                  <a:schemeClr val="lt1"/>
                </a:solidFill>
                <a:latin typeface="Roboto"/>
                <a:ea typeface="Roboto"/>
                <a:cs typeface="Roboto"/>
                <a:sym typeface="Roboto"/>
              </a:rPr>
            </a:br>
            <a:r>
              <a:rPr lang="en-US" sz="1400" b="1" i="0" u="none" strike="noStrike" cap="none">
                <a:solidFill>
                  <a:schemeClr val="lt1"/>
                </a:solidFill>
                <a:latin typeface="Roboto"/>
                <a:ea typeface="Roboto"/>
                <a:cs typeface="Roboto"/>
                <a:sym typeface="Roboto"/>
              </a:rPr>
              <a:t>of general relativity by 500x</a:t>
            </a:r>
            <a:endParaRPr sz="1400" b="1" i="0" u="none" strike="noStrike" cap="none">
              <a:solidFill>
                <a:schemeClr val="lt1"/>
              </a:solidFill>
              <a:latin typeface="Roboto"/>
              <a:ea typeface="Roboto"/>
              <a:cs typeface="Roboto"/>
              <a:sym typeface="Roboto"/>
            </a:endParaRPr>
          </a:p>
        </p:txBody>
      </p:sp>
      <p:sp>
        <p:nvSpPr>
          <p:cNvPr id="1566" name="Google Shape;1566;g3f95de07730_1_1118"/>
          <p:cNvSpPr/>
          <p:nvPr/>
        </p:nvSpPr>
        <p:spPr>
          <a:xfrm>
            <a:off x="6262200" y="1595475"/>
            <a:ext cx="5319000" cy="4313400"/>
          </a:xfrm>
          <a:prstGeom prst="rect">
            <a:avLst/>
          </a:prstGeom>
          <a:noFill/>
          <a:ln w="12700" cap="flat" cmpd="sng">
            <a:solidFill>
              <a:srgbClr val="119D9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a:ea typeface="Roboto"/>
              <a:cs typeface="Roboto"/>
              <a:sym typeface="Roboto"/>
            </a:endParaRPr>
          </a:p>
        </p:txBody>
      </p:sp>
      <p:sp>
        <p:nvSpPr>
          <p:cNvPr id="1567" name="Google Shape;1567;g3f95de07730_1_1118"/>
          <p:cNvSpPr/>
          <p:nvPr/>
        </p:nvSpPr>
        <p:spPr>
          <a:xfrm>
            <a:off x="6257319" y="1293572"/>
            <a:ext cx="5321700" cy="301800"/>
          </a:xfrm>
          <a:prstGeom prst="round2SameRect">
            <a:avLst>
              <a:gd name="adj1" fmla="val 16667"/>
              <a:gd name="adj2" fmla="val 0"/>
            </a:avLst>
          </a:prstGeom>
          <a:solidFill>
            <a:srgbClr val="119D96"/>
          </a:solidFill>
          <a:ln>
            <a:noFill/>
          </a:ln>
        </p:spPr>
        <p:txBody>
          <a:bodyPr spcFirstLastPara="1" wrap="square" lIns="72000" tIns="36000" rIns="72000" bIns="3600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US" sz="1400" b="0" i="0" u="none" strike="noStrike" cap="none">
                <a:solidFill>
                  <a:schemeClr val="lt1"/>
                </a:solidFill>
                <a:latin typeface="Roboto"/>
                <a:ea typeface="Roboto"/>
                <a:cs typeface="Roboto"/>
                <a:sym typeface="Roboto"/>
              </a:rPr>
              <a:t>Pegasus-SYMBA Pipeline</a:t>
            </a:r>
            <a:endParaRPr sz="1400" b="0" i="0" u="none" strike="noStrike" cap="none">
              <a:solidFill>
                <a:srgbClr val="000000"/>
              </a:solidFill>
              <a:latin typeface="Roboto"/>
              <a:ea typeface="Roboto"/>
              <a:cs typeface="Roboto"/>
              <a:sym typeface="Roboto"/>
            </a:endParaRPr>
          </a:p>
        </p:txBody>
      </p:sp>
      <p:sp>
        <p:nvSpPr>
          <p:cNvPr id="1568" name="Google Shape;1568;g3f95de07730_1_1118"/>
          <p:cNvSpPr/>
          <p:nvPr/>
        </p:nvSpPr>
        <p:spPr>
          <a:xfrm rot="-5400000" flipH="1">
            <a:off x="7195716" y="3053125"/>
            <a:ext cx="1029352" cy="1067057"/>
          </a:xfrm>
          <a:custGeom>
            <a:avLst/>
            <a:gdLst/>
            <a:ahLst/>
            <a:cxnLst/>
            <a:rect l="l" t="t" r="r" b="b"/>
            <a:pathLst>
              <a:path w="1508208" h="1508208" extrusionOk="0">
                <a:moveTo>
                  <a:pt x="0" y="1508208"/>
                </a:moveTo>
                <a:lnTo>
                  <a:pt x="0" y="0"/>
                </a:lnTo>
                <a:lnTo>
                  <a:pt x="1508208" y="0"/>
                </a:lnTo>
              </a:path>
            </a:pathLst>
          </a:custGeom>
          <a:noFill/>
          <a:ln w="22225" cap="flat" cmpd="sng">
            <a:solidFill>
              <a:srgbClr val="119D96"/>
            </a:solidFill>
            <a:prstDash val="dash"/>
            <a:miter lim="8000"/>
            <a:headEnd type="none" w="sm" len="sm"/>
            <a:tailEnd type="triangle" w="med" len="med"/>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a:ea typeface="Roboto"/>
              <a:cs typeface="Roboto"/>
              <a:sym typeface="Roboto"/>
            </a:endParaRPr>
          </a:p>
        </p:txBody>
      </p:sp>
      <p:sp>
        <p:nvSpPr>
          <p:cNvPr id="1569" name="Google Shape;1569;g3f95de07730_1_1118"/>
          <p:cNvSpPr/>
          <p:nvPr/>
        </p:nvSpPr>
        <p:spPr>
          <a:xfrm flipH="1">
            <a:off x="9712950" y="3071972"/>
            <a:ext cx="1364928" cy="2002146"/>
          </a:xfrm>
          <a:custGeom>
            <a:avLst/>
            <a:gdLst/>
            <a:ahLst/>
            <a:cxnLst/>
            <a:rect l="l" t="t" r="r" b="b"/>
            <a:pathLst>
              <a:path w="1508208" h="1508208" extrusionOk="0">
                <a:moveTo>
                  <a:pt x="0" y="1508208"/>
                </a:moveTo>
                <a:lnTo>
                  <a:pt x="0" y="0"/>
                </a:lnTo>
                <a:lnTo>
                  <a:pt x="1508208" y="0"/>
                </a:lnTo>
              </a:path>
            </a:pathLst>
          </a:custGeom>
          <a:noFill/>
          <a:ln w="22225" cap="flat" cmpd="sng">
            <a:solidFill>
              <a:srgbClr val="119D96"/>
            </a:solidFill>
            <a:prstDash val="dash"/>
            <a:miter lim="8000"/>
            <a:headEnd type="none" w="sm" len="sm"/>
            <a:tailEnd type="triangle" w="med" len="med"/>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a:ea typeface="Roboto"/>
              <a:cs typeface="Roboto"/>
              <a:sym typeface="Roboto"/>
            </a:endParaRPr>
          </a:p>
        </p:txBody>
      </p:sp>
      <p:sp>
        <p:nvSpPr>
          <p:cNvPr id="1570" name="Google Shape;1570;g3f95de07730_1_1118"/>
          <p:cNvSpPr/>
          <p:nvPr/>
        </p:nvSpPr>
        <p:spPr>
          <a:xfrm>
            <a:off x="6432839" y="2648523"/>
            <a:ext cx="199800" cy="199800"/>
          </a:xfrm>
          <a:prstGeom prst="ellipse">
            <a:avLst/>
          </a:prstGeom>
          <a:solidFill>
            <a:srgbClr val="119D9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1"/>
                </a:solidFill>
                <a:latin typeface="Roboto"/>
                <a:ea typeface="Roboto"/>
                <a:cs typeface="Roboto"/>
                <a:sym typeface="Roboto"/>
              </a:rPr>
              <a:t>1  </a:t>
            </a:r>
            <a:endParaRPr sz="1400" b="0" i="0" u="none" strike="noStrike" cap="none">
              <a:solidFill>
                <a:srgbClr val="000000"/>
              </a:solidFill>
              <a:latin typeface="Roboto"/>
              <a:ea typeface="Roboto"/>
              <a:cs typeface="Roboto"/>
              <a:sym typeface="Roboto"/>
            </a:endParaRPr>
          </a:p>
        </p:txBody>
      </p:sp>
      <p:sp>
        <p:nvSpPr>
          <p:cNvPr id="1571" name="Google Shape;1571;g3f95de07730_1_1118"/>
          <p:cNvSpPr/>
          <p:nvPr/>
        </p:nvSpPr>
        <p:spPr>
          <a:xfrm>
            <a:off x="7505236" y="3900432"/>
            <a:ext cx="199800" cy="199800"/>
          </a:xfrm>
          <a:prstGeom prst="ellipse">
            <a:avLst/>
          </a:prstGeom>
          <a:solidFill>
            <a:srgbClr val="119D9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1"/>
                </a:solidFill>
                <a:latin typeface="Roboto"/>
                <a:ea typeface="Roboto"/>
                <a:cs typeface="Roboto"/>
                <a:sym typeface="Roboto"/>
              </a:rPr>
              <a:t>2</a:t>
            </a:r>
            <a:endParaRPr sz="1400" b="0" i="0" u="none" strike="noStrike" cap="none">
              <a:solidFill>
                <a:srgbClr val="000000"/>
              </a:solidFill>
              <a:latin typeface="Roboto"/>
              <a:ea typeface="Roboto"/>
              <a:cs typeface="Roboto"/>
              <a:sym typeface="Roboto"/>
            </a:endParaRPr>
          </a:p>
        </p:txBody>
      </p:sp>
      <p:sp>
        <p:nvSpPr>
          <p:cNvPr id="1572" name="Google Shape;1572;g3f95de07730_1_1118"/>
          <p:cNvSpPr/>
          <p:nvPr/>
        </p:nvSpPr>
        <p:spPr>
          <a:xfrm>
            <a:off x="9788932" y="3191537"/>
            <a:ext cx="199800" cy="199800"/>
          </a:xfrm>
          <a:prstGeom prst="ellipse">
            <a:avLst/>
          </a:prstGeom>
          <a:solidFill>
            <a:srgbClr val="119D9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1"/>
                </a:solidFill>
                <a:latin typeface="Roboto"/>
                <a:ea typeface="Roboto"/>
                <a:cs typeface="Roboto"/>
                <a:sym typeface="Roboto"/>
              </a:rPr>
              <a:t>6</a:t>
            </a:r>
            <a:endParaRPr sz="1400" b="0" i="0" u="none" strike="noStrike" cap="none">
              <a:solidFill>
                <a:srgbClr val="000000"/>
              </a:solidFill>
              <a:latin typeface="Roboto"/>
              <a:ea typeface="Roboto"/>
              <a:cs typeface="Roboto"/>
              <a:sym typeface="Roboto"/>
            </a:endParaRPr>
          </a:p>
        </p:txBody>
      </p:sp>
      <p:sp>
        <p:nvSpPr>
          <p:cNvPr id="1573" name="Google Shape;1573;g3f95de07730_1_1118"/>
          <p:cNvSpPr txBox="1"/>
          <p:nvPr/>
        </p:nvSpPr>
        <p:spPr>
          <a:xfrm>
            <a:off x="8036690" y="4179020"/>
            <a:ext cx="2164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119D96"/>
                </a:solidFill>
                <a:latin typeface="Roboto"/>
                <a:ea typeface="Roboto"/>
                <a:cs typeface="Roboto"/>
                <a:sym typeface="Roboto"/>
              </a:rPr>
              <a:t>Synthetic interferometry data</a:t>
            </a:r>
            <a:endParaRPr sz="1400" b="0" i="0" u="none" strike="noStrike" cap="none">
              <a:solidFill>
                <a:srgbClr val="000000"/>
              </a:solidFill>
              <a:latin typeface="Roboto"/>
              <a:ea typeface="Roboto"/>
              <a:cs typeface="Roboto"/>
              <a:sym typeface="Roboto"/>
            </a:endParaRPr>
          </a:p>
        </p:txBody>
      </p:sp>
      <p:sp>
        <p:nvSpPr>
          <p:cNvPr id="1574" name="Google Shape;1574;g3f95de07730_1_1118"/>
          <p:cNvSpPr/>
          <p:nvPr/>
        </p:nvSpPr>
        <p:spPr>
          <a:xfrm>
            <a:off x="7868225" y="4210484"/>
            <a:ext cx="199800" cy="199800"/>
          </a:xfrm>
          <a:prstGeom prst="ellipse">
            <a:avLst/>
          </a:prstGeom>
          <a:solidFill>
            <a:srgbClr val="119D9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1"/>
                </a:solidFill>
                <a:latin typeface="Roboto"/>
                <a:ea typeface="Roboto"/>
                <a:cs typeface="Roboto"/>
                <a:sym typeface="Roboto"/>
              </a:rPr>
              <a:t>3</a:t>
            </a:r>
            <a:endParaRPr sz="1400" b="0" i="0" u="none" strike="noStrike" cap="none">
              <a:solidFill>
                <a:srgbClr val="000000"/>
              </a:solidFill>
              <a:latin typeface="Roboto"/>
              <a:ea typeface="Roboto"/>
              <a:cs typeface="Roboto"/>
              <a:sym typeface="Roboto"/>
            </a:endParaRPr>
          </a:p>
        </p:txBody>
      </p:sp>
      <p:sp>
        <p:nvSpPr>
          <p:cNvPr id="1575" name="Google Shape;1575;g3f95de07730_1_1118"/>
          <p:cNvSpPr txBox="1"/>
          <p:nvPr/>
        </p:nvSpPr>
        <p:spPr>
          <a:xfrm>
            <a:off x="8392354" y="4489072"/>
            <a:ext cx="23631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119D96"/>
                </a:solidFill>
                <a:latin typeface="Roboto"/>
                <a:ea typeface="Roboto"/>
                <a:cs typeface="Roboto"/>
                <a:sym typeface="Roboto"/>
              </a:rPr>
              <a:t>Model observation systematics</a:t>
            </a:r>
            <a:endParaRPr sz="1400" b="0" i="0" u="none" strike="noStrike" cap="none">
              <a:solidFill>
                <a:srgbClr val="000000"/>
              </a:solidFill>
              <a:latin typeface="Roboto"/>
              <a:ea typeface="Roboto"/>
              <a:cs typeface="Roboto"/>
              <a:sym typeface="Roboto"/>
            </a:endParaRPr>
          </a:p>
        </p:txBody>
      </p:sp>
      <p:sp>
        <p:nvSpPr>
          <p:cNvPr id="1576" name="Google Shape;1576;g3f95de07730_1_1118"/>
          <p:cNvSpPr/>
          <p:nvPr/>
        </p:nvSpPr>
        <p:spPr>
          <a:xfrm>
            <a:off x="8231214" y="4520536"/>
            <a:ext cx="199800" cy="199800"/>
          </a:xfrm>
          <a:prstGeom prst="ellipse">
            <a:avLst/>
          </a:prstGeom>
          <a:solidFill>
            <a:srgbClr val="119D9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1"/>
                </a:solidFill>
                <a:latin typeface="Roboto"/>
                <a:ea typeface="Roboto"/>
                <a:cs typeface="Roboto"/>
                <a:sym typeface="Roboto"/>
              </a:rPr>
              <a:t>4</a:t>
            </a:r>
            <a:endParaRPr sz="1400" b="0" i="0" u="none" strike="noStrike" cap="none">
              <a:solidFill>
                <a:srgbClr val="000000"/>
              </a:solidFill>
              <a:latin typeface="Roboto"/>
              <a:ea typeface="Roboto"/>
              <a:cs typeface="Roboto"/>
              <a:sym typeface="Roboto"/>
            </a:endParaRPr>
          </a:p>
        </p:txBody>
      </p:sp>
      <p:sp>
        <p:nvSpPr>
          <p:cNvPr id="1577" name="Google Shape;1577;g3f95de07730_1_1118"/>
          <p:cNvSpPr txBox="1"/>
          <p:nvPr/>
        </p:nvSpPr>
        <p:spPr>
          <a:xfrm>
            <a:off x="8748019" y="4799123"/>
            <a:ext cx="22974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119D96"/>
                </a:solidFill>
                <a:latin typeface="Roboto"/>
                <a:ea typeface="Roboto"/>
                <a:cs typeface="Roboto"/>
                <a:sym typeface="Roboto"/>
              </a:rPr>
              <a:t>Calibrate synthetic observation</a:t>
            </a:r>
            <a:endParaRPr sz="1400" b="0" i="0" u="none" strike="noStrike" cap="none">
              <a:solidFill>
                <a:srgbClr val="000000"/>
              </a:solidFill>
              <a:latin typeface="Roboto"/>
              <a:ea typeface="Roboto"/>
              <a:cs typeface="Roboto"/>
              <a:sym typeface="Roboto"/>
            </a:endParaRPr>
          </a:p>
        </p:txBody>
      </p:sp>
      <p:sp>
        <p:nvSpPr>
          <p:cNvPr id="1578" name="Google Shape;1578;g3f95de07730_1_1118"/>
          <p:cNvSpPr/>
          <p:nvPr/>
        </p:nvSpPr>
        <p:spPr>
          <a:xfrm>
            <a:off x="8594203" y="4830587"/>
            <a:ext cx="199800" cy="199800"/>
          </a:xfrm>
          <a:prstGeom prst="ellipse">
            <a:avLst/>
          </a:prstGeom>
          <a:solidFill>
            <a:srgbClr val="119D9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1"/>
                </a:solidFill>
                <a:latin typeface="Roboto"/>
                <a:ea typeface="Roboto"/>
                <a:cs typeface="Roboto"/>
                <a:sym typeface="Roboto"/>
              </a:rPr>
              <a:t>5</a:t>
            </a:r>
            <a:endParaRPr sz="1400" b="0" i="0" u="none" strike="noStrike" cap="none">
              <a:solidFill>
                <a:srgbClr val="000000"/>
              </a:solidFill>
              <a:latin typeface="Roboto"/>
              <a:ea typeface="Roboto"/>
              <a:cs typeface="Roboto"/>
              <a:sym typeface="Roboto"/>
            </a:endParaRPr>
          </a:p>
        </p:txBody>
      </p:sp>
      <p:sp>
        <p:nvSpPr>
          <p:cNvPr id="1579" name="Google Shape;1579;g3f95de07730_1_1118"/>
          <p:cNvSpPr/>
          <p:nvPr/>
        </p:nvSpPr>
        <p:spPr>
          <a:xfrm>
            <a:off x="6457174" y="57470"/>
            <a:ext cx="3397200" cy="266700"/>
          </a:xfrm>
          <a:prstGeom prst="rect">
            <a:avLst/>
          </a:prstGeom>
          <a:noFill/>
          <a:ln>
            <a:noFill/>
          </a:ln>
        </p:spPr>
        <p:txBody>
          <a:bodyPr spcFirstLastPara="1" wrap="square" lIns="72000" tIns="36000" rIns="72000" bIns="36000" anchor="t"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rgbClr val="119D96"/>
                </a:solidFill>
                <a:latin typeface="Roboto"/>
                <a:ea typeface="Roboto"/>
                <a:cs typeface="Roboto"/>
                <a:sym typeface="Roboto"/>
              </a:rPr>
              <a:t>480,000 jobs - 2,600,000 core hours</a:t>
            </a:r>
            <a:endParaRPr sz="1200" b="0" i="0" u="none" strike="noStrike" cap="none">
              <a:solidFill>
                <a:srgbClr val="000000"/>
              </a:solidFill>
              <a:latin typeface="Roboto"/>
              <a:ea typeface="Roboto"/>
              <a:cs typeface="Roboto"/>
              <a:sym typeface="Roboto"/>
            </a:endParaRPr>
          </a:p>
        </p:txBody>
      </p:sp>
      <p:cxnSp>
        <p:nvCxnSpPr>
          <p:cNvPr id="1580" name="Google Shape;1580;g3f95de07730_1_1118"/>
          <p:cNvCxnSpPr/>
          <p:nvPr/>
        </p:nvCxnSpPr>
        <p:spPr>
          <a:xfrm>
            <a:off x="6457174" y="392461"/>
            <a:ext cx="2756100" cy="0"/>
          </a:xfrm>
          <a:prstGeom prst="straightConnector1">
            <a:avLst/>
          </a:prstGeom>
          <a:noFill/>
          <a:ln w="9525" cap="flat" cmpd="sng">
            <a:solidFill>
              <a:srgbClr val="119D96"/>
            </a:solidFill>
            <a:prstDash val="dash"/>
            <a:miter lim="8000"/>
            <a:headEnd type="none" w="sm" len="sm"/>
            <a:tailEnd type="none" w="sm" len="sm"/>
          </a:ln>
        </p:spPr>
      </p:cxnSp>
      <p:cxnSp>
        <p:nvCxnSpPr>
          <p:cNvPr id="1581" name="Google Shape;1581;g3f95de07730_1_1118"/>
          <p:cNvCxnSpPr/>
          <p:nvPr/>
        </p:nvCxnSpPr>
        <p:spPr>
          <a:xfrm>
            <a:off x="6457174" y="795841"/>
            <a:ext cx="2756100" cy="0"/>
          </a:xfrm>
          <a:prstGeom prst="straightConnector1">
            <a:avLst/>
          </a:prstGeom>
          <a:noFill/>
          <a:ln w="9525" cap="flat" cmpd="sng">
            <a:solidFill>
              <a:srgbClr val="119D96"/>
            </a:solidFill>
            <a:prstDash val="dash"/>
            <a:miter lim="8000"/>
            <a:headEnd type="none" w="sm" len="sm"/>
            <a:tailEnd type="none" w="sm" len="sm"/>
          </a:ln>
        </p:spPr>
      </p:cxnSp>
      <p:sp>
        <p:nvSpPr>
          <p:cNvPr id="1582" name="Google Shape;1582;g3f95de07730_1_1118"/>
          <p:cNvSpPr/>
          <p:nvPr/>
        </p:nvSpPr>
        <p:spPr>
          <a:xfrm>
            <a:off x="6457174" y="460850"/>
            <a:ext cx="4152900" cy="266700"/>
          </a:xfrm>
          <a:prstGeom prst="rect">
            <a:avLst/>
          </a:prstGeom>
          <a:noFill/>
          <a:ln>
            <a:noFill/>
          </a:ln>
        </p:spPr>
        <p:txBody>
          <a:bodyPr spcFirstLastPara="1" wrap="square" lIns="72000" tIns="36000" rIns="72000" bIns="36000" anchor="t"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rgbClr val="119D96"/>
                </a:solidFill>
                <a:latin typeface="Roboto"/>
                <a:ea typeface="Roboto"/>
                <a:cs typeface="Roboto"/>
                <a:sym typeface="Roboto"/>
              </a:rPr>
              <a:t>#15 in all OSG projects in last 6 months</a:t>
            </a:r>
            <a:endParaRPr sz="1200" b="0" i="0" u="none" strike="noStrike" cap="none">
              <a:solidFill>
                <a:srgbClr val="000000"/>
              </a:solidFill>
              <a:latin typeface="Roboto"/>
              <a:ea typeface="Roboto"/>
              <a:cs typeface="Roboto"/>
              <a:sym typeface="Roboto"/>
            </a:endParaRPr>
          </a:p>
        </p:txBody>
      </p:sp>
      <p:sp>
        <p:nvSpPr>
          <p:cNvPr id="1583" name="Google Shape;1583;g3f95de07730_1_1118"/>
          <p:cNvSpPr/>
          <p:nvPr/>
        </p:nvSpPr>
        <p:spPr>
          <a:xfrm>
            <a:off x="6457175" y="864230"/>
            <a:ext cx="4620600" cy="266700"/>
          </a:xfrm>
          <a:prstGeom prst="rect">
            <a:avLst/>
          </a:prstGeom>
          <a:noFill/>
          <a:ln>
            <a:noFill/>
          </a:ln>
        </p:spPr>
        <p:txBody>
          <a:bodyPr spcFirstLastPara="1" wrap="square" lIns="72000" tIns="36000" rIns="72000" bIns="36000" anchor="t"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rgbClr val="119D96"/>
                </a:solidFill>
                <a:latin typeface="Roboto"/>
                <a:ea typeface="Roboto"/>
                <a:cs typeface="Roboto"/>
                <a:sym typeface="Roboto"/>
              </a:rPr>
              <a:t>#2 in all OSG astronomy projects in the last 6 months</a:t>
            </a:r>
            <a:endParaRPr sz="1200" b="0" i="0" u="none" strike="noStrike" cap="none">
              <a:solidFill>
                <a:srgbClr val="000000"/>
              </a:solidFill>
              <a:latin typeface="Roboto"/>
              <a:ea typeface="Roboto"/>
              <a:cs typeface="Roboto"/>
              <a:sym typeface="Roboto"/>
            </a:endParaRPr>
          </a:p>
        </p:txBody>
      </p:sp>
      <p:sp>
        <p:nvSpPr>
          <p:cNvPr id="1584" name="Google Shape;1584;g3f95de07730_1_1118"/>
          <p:cNvSpPr txBox="1"/>
          <p:nvPr/>
        </p:nvSpPr>
        <p:spPr>
          <a:xfrm>
            <a:off x="6321689" y="1667778"/>
            <a:ext cx="51834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3F3F3F"/>
                </a:solidFill>
                <a:latin typeface="Roboto"/>
                <a:ea typeface="Roboto"/>
                <a:cs typeface="Roboto"/>
                <a:sym typeface="Roboto"/>
              </a:rPr>
              <a:t>Physically accurate synthetic observation data from simulations are keys to develop calibration and imaging algorithms, as well as comparing the observation with theory and interpreting the results.</a:t>
            </a:r>
            <a:endParaRPr sz="1400" b="0" i="0" u="none" strike="noStrike" cap="none">
              <a:solidFill>
                <a:srgbClr val="000000"/>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97"/>
        <p:cNvGrpSpPr/>
        <p:nvPr/>
      </p:nvGrpSpPr>
      <p:grpSpPr>
        <a:xfrm>
          <a:off x="0" y="0"/>
          <a:ext cx="0" cy="0"/>
          <a:chOff x="0" y="0"/>
          <a:chExt cx="0" cy="0"/>
        </a:xfrm>
      </p:grpSpPr>
      <p:sp>
        <p:nvSpPr>
          <p:cNvPr id="1600" name="Google Shape;1600;g3f95de07730_1_1266"/>
          <p:cNvSpPr txBox="1">
            <a:spLocks noGrp="1"/>
          </p:cNvSpPr>
          <p:nvPr>
            <p:ph type="body" idx="13"/>
          </p:nvPr>
        </p:nvSpPr>
        <p:spPr>
          <a:prstGeom prst="rect">
            <a:avLst/>
          </a:prstGeom>
          <a:noFill/>
          <a:ln>
            <a:noFill/>
          </a:ln>
        </p:spPr>
        <p:txBody>
          <a:bodyPr spcFirstLastPara="1" wrap="square" lIns="91425" tIns="45700" rIns="91425" bIns="45700" anchor="t" anchorCtr="0">
            <a:spAutoFit/>
          </a:bodyPr>
          <a:lstStyle/>
          <a:p>
            <a:pPr marL="0" lvl="0" indent="0" algn="r" rtl="0">
              <a:lnSpc>
                <a:spcPct val="100000"/>
              </a:lnSpc>
              <a:spcBef>
                <a:spcPts val="0"/>
              </a:spcBef>
              <a:spcAft>
                <a:spcPts val="0"/>
              </a:spcAft>
              <a:buClr>
                <a:srgbClr val="005493"/>
              </a:buClr>
              <a:buSzPts val="4800"/>
              <a:buNone/>
            </a:pPr>
            <a:r>
              <a:rPr lang="en-US" sz="2000">
                <a:solidFill>
                  <a:srgbClr val="3F3F3F"/>
                </a:solidFill>
                <a:latin typeface="Roboto Light"/>
                <a:ea typeface="Roboto Light"/>
                <a:cs typeface="Roboto Light"/>
                <a:sym typeface="Roboto Light"/>
              </a:rPr>
              <a:t>Data Flow for </a:t>
            </a:r>
            <a:r>
              <a:rPr lang="en-US" sz="2000" b="1">
                <a:solidFill>
                  <a:srgbClr val="3F3F3F"/>
                </a:solidFill>
                <a:latin typeface="Roboto"/>
                <a:ea typeface="Roboto"/>
                <a:cs typeface="Roboto"/>
                <a:sym typeface="Roboto"/>
              </a:rPr>
              <a:t>LIGO Pegasus Workflows</a:t>
            </a:r>
            <a:endParaRPr/>
          </a:p>
          <a:p>
            <a:pPr marL="0" lvl="0" indent="0" algn="r" rtl="0">
              <a:lnSpc>
                <a:spcPct val="100000"/>
              </a:lnSpc>
              <a:spcBef>
                <a:spcPts val="0"/>
              </a:spcBef>
              <a:spcAft>
                <a:spcPts val="0"/>
              </a:spcAft>
              <a:buClr>
                <a:srgbClr val="005493"/>
              </a:buClr>
              <a:buSzPts val="4800"/>
              <a:buNone/>
            </a:pPr>
            <a:r>
              <a:rPr lang="en-US" sz="2000">
                <a:solidFill>
                  <a:srgbClr val="3F3F3F"/>
                </a:solidFill>
                <a:latin typeface="Roboto Light"/>
                <a:ea typeface="Roboto Light"/>
                <a:cs typeface="Roboto Light"/>
                <a:sym typeface="Roboto Light"/>
              </a:rPr>
              <a:t>in OSG</a:t>
            </a:r>
            <a:endParaRPr/>
          </a:p>
        </p:txBody>
      </p:sp>
      <p:sp>
        <p:nvSpPr>
          <p:cNvPr id="1598" name="Google Shape;1598;g3f95de07730_1_1266"/>
          <p:cNvSpPr txBox="1">
            <a:spLocks noGrp="1"/>
          </p:cNvSpPr>
          <p:nvPr>
            <p:ph type="title"/>
          </p:nvPr>
        </p:nvSpPr>
        <p:spPr>
          <a:prstGeom prst="rect">
            <a:avLst/>
          </a:prstGeom>
          <a:noFill/>
          <a:ln>
            <a:noFill/>
          </a:ln>
        </p:spPr>
        <p:txBody>
          <a:bodyPr spcFirstLastPara="1" wrap="square" lIns="91425" tIns="45700" rIns="91425" bIns="45700" anchor="t" anchorCtr="0">
            <a:spAutoFit/>
          </a:bodyPr>
          <a:lstStyle/>
          <a:p>
            <a:pPr marL="0" lvl="0" indent="0" algn="r" rtl="0">
              <a:lnSpc>
                <a:spcPct val="100000"/>
              </a:lnSpc>
              <a:spcBef>
                <a:spcPts val="0"/>
              </a:spcBef>
              <a:spcAft>
                <a:spcPts val="0"/>
              </a:spcAft>
              <a:buClr>
                <a:srgbClr val="2D75B6"/>
              </a:buClr>
              <a:buSzPts val="2000"/>
              <a:buFont typeface="Roboto"/>
              <a:buNone/>
            </a:pPr>
            <a:r>
              <a:rPr lang="en-US" sz="2000">
                <a:solidFill>
                  <a:srgbClr val="2D75B6"/>
                </a:solidFill>
                <a:latin typeface="Roboto"/>
                <a:ea typeface="Roboto"/>
                <a:cs typeface="Roboto"/>
                <a:sym typeface="Roboto"/>
              </a:rPr>
              <a:t>Advanced LIGO</a:t>
            </a:r>
            <a:endParaRPr sz="2000"/>
          </a:p>
        </p:txBody>
      </p:sp>
      <p:sp>
        <p:nvSpPr>
          <p:cNvPr id="1602" name="Google Shape;1602;g3f95de07730_1_1266"/>
          <p:cNvSpPr txBox="1">
            <a:spLocks noGrp="1"/>
          </p:cNvSpPr>
          <p:nvPr>
            <p:ph type="body" idx="14"/>
          </p:nvPr>
        </p:nvSpPr>
        <p:spPr>
          <a:prstGeom prst="rect">
            <a:avLst/>
          </a:prstGeom>
          <a:noFill/>
          <a:ln>
            <a:noFill/>
          </a:ln>
        </p:spPr>
        <p:txBody>
          <a:bodyPr spcFirstLastPara="1" wrap="square" lIns="91425" tIns="45700" rIns="91425" bIns="45700" anchor="t" anchorCtr="0">
            <a:spAutoFit/>
          </a:bodyPr>
          <a:lstStyle/>
          <a:p>
            <a:pPr marL="0" lvl="0" indent="0" algn="r" rtl="0">
              <a:lnSpc>
                <a:spcPct val="100000"/>
              </a:lnSpc>
              <a:spcBef>
                <a:spcPts val="0"/>
              </a:spcBef>
              <a:spcAft>
                <a:spcPts val="0"/>
              </a:spcAft>
              <a:buClr>
                <a:srgbClr val="4AB9C4"/>
              </a:buClr>
              <a:buSzPts val="1200"/>
              <a:buNone/>
            </a:pPr>
            <a:r>
              <a:rPr lang="en-US" sz="1200" b="1">
                <a:solidFill>
                  <a:srgbClr val="4AB9C4"/>
                </a:solidFill>
                <a:latin typeface="Roboto"/>
                <a:ea typeface="Roboto"/>
                <a:cs typeface="Roboto"/>
                <a:sym typeface="Roboto"/>
              </a:rPr>
              <a:t>60,000 Compute Tasks</a:t>
            </a:r>
            <a:endParaRPr sz="1200" b="1">
              <a:solidFill>
                <a:srgbClr val="4AB9C4"/>
              </a:solidFill>
              <a:latin typeface="Roboto"/>
              <a:ea typeface="Roboto"/>
              <a:cs typeface="Roboto"/>
              <a:sym typeface="Roboto"/>
            </a:endParaRPr>
          </a:p>
          <a:p>
            <a:pPr marL="0" lvl="0" indent="0" algn="r" rtl="0">
              <a:lnSpc>
                <a:spcPct val="100000"/>
              </a:lnSpc>
              <a:spcBef>
                <a:spcPts val="600"/>
              </a:spcBef>
              <a:spcAft>
                <a:spcPts val="0"/>
              </a:spcAft>
              <a:buClr>
                <a:srgbClr val="4AB9C4"/>
              </a:buClr>
              <a:buSzPts val="1200"/>
              <a:buNone/>
            </a:pPr>
            <a:r>
              <a:rPr lang="en-US" sz="1200" b="1">
                <a:solidFill>
                  <a:srgbClr val="4AB9C4"/>
                </a:solidFill>
                <a:latin typeface="Roboto"/>
                <a:ea typeface="Roboto"/>
                <a:cs typeface="Roboto"/>
                <a:sym typeface="Roboto"/>
              </a:rPr>
              <a:t>Input Data: 5000 files </a:t>
            </a:r>
            <a:r>
              <a:rPr lang="en-US" sz="1200">
                <a:solidFill>
                  <a:srgbClr val="4AB9C4"/>
                </a:solidFill>
                <a:latin typeface="Roboto Light"/>
                <a:ea typeface="Roboto Light"/>
                <a:cs typeface="Roboto Light"/>
                <a:sym typeface="Roboto Light"/>
              </a:rPr>
              <a:t>(10GB total)</a:t>
            </a:r>
            <a:endParaRPr sz="1200">
              <a:solidFill>
                <a:srgbClr val="4AB9C4"/>
              </a:solidFill>
              <a:latin typeface="Roboto Light"/>
              <a:ea typeface="Roboto Light"/>
              <a:cs typeface="Roboto Light"/>
              <a:sym typeface="Roboto Light"/>
            </a:endParaRPr>
          </a:p>
          <a:p>
            <a:pPr marL="0" lvl="0" indent="0" algn="r" rtl="0">
              <a:lnSpc>
                <a:spcPct val="100000"/>
              </a:lnSpc>
              <a:spcBef>
                <a:spcPts val="600"/>
              </a:spcBef>
              <a:spcAft>
                <a:spcPts val="0"/>
              </a:spcAft>
              <a:buClr>
                <a:srgbClr val="4AB9C4"/>
              </a:buClr>
              <a:buSzPts val="1200"/>
              <a:buNone/>
            </a:pPr>
            <a:r>
              <a:rPr lang="en-US" sz="1200" b="1">
                <a:solidFill>
                  <a:srgbClr val="4AB9C4"/>
                </a:solidFill>
                <a:latin typeface="Roboto"/>
                <a:ea typeface="Roboto"/>
                <a:cs typeface="Roboto"/>
                <a:sym typeface="Roboto"/>
              </a:rPr>
              <a:t>Output Data: 60,000 files </a:t>
            </a:r>
            <a:r>
              <a:rPr lang="en-US" sz="1200">
                <a:solidFill>
                  <a:srgbClr val="4AB9C4"/>
                </a:solidFill>
                <a:latin typeface="Roboto Light"/>
                <a:ea typeface="Roboto Light"/>
                <a:cs typeface="Roboto Light"/>
                <a:sym typeface="Roboto Light"/>
              </a:rPr>
              <a:t>(60GB total)</a:t>
            </a:r>
            <a:endParaRPr sz="1200" b="0">
              <a:solidFill>
                <a:srgbClr val="4AB9C4"/>
              </a:solidFill>
              <a:latin typeface="Roboto Light"/>
              <a:ea typeface="Roboto Light"/>
              <a:cs typeface="Roboto Light"/>
              <a:sym typeface="Roboto Light"/>
            </a:endParaRPr>
          </a:p>
          <a:p>
            <a:pPr marL="0" lvl="0" indent="0" algn="r" rtl="0">
              <a:lnSpc>
                <a:spcPct val="100000"/>
              </a:lnSpc>
              <a:spcBef>
                <a:spcPts val="600"/>
              </a:spcBef>
              <a:spcAft>
                <a:spcPts val="0"/>
              </a:spcAft>
              <a:buClr>
                <a:srgbClr val="4AB9C4"/>
              </a:buClr>
              <a:buSzPts val="1200"/>
              <a:buNone/>
            </a:pPr>
            <a:r>
              <a:rPr lang="en-US" sz="1200">
                <a:solidFill>
                  <a:srgbClr val="4AB9C4"/>
                </a:solidFill>
                <a:latin typeface="Roboto"/>
                <a:ea typeface="Roboto"/>
                <a:cs typeface="Roboto"/>
                <a:sym typeface="Roboto"/>
              </a:rPr>
              <a:t>Processed Data:</a:t>
            </a:r>
            <a:r>
              <a:rPr lang="en-US" sz="1200" b="0">
                <a:solidFill>
                  <a:srgbClr val="4AB9C4"/>
                </a:solidFill>
                <a:latin typeface="Roboto"/>
                <a:ea typeface="Roboto"/>
                <a:cs typeface="Roboto"/>
                <a:sym typeface="Roboto"/>
              </a:rPr>
              <a:t> </a:t>
            </a:r>
            <a:r>
              <a:rPr lang="en-US" sz="1200" b="0">
                <a:solidFill>
                  <a:srgbClr val="4AB9C4"/>
                </a:solidFill>
                <a:latin typeface="Roboto Light"/>
                <a:ea typeface="Roboto Light"/>
                <a:cs typeface="Roboto Light"/>
                <a:sym typeface="Roboto Light"/>
              </a:rPr>
              <a:t>725 GB</a:t>
            </a:r>
            <a:endParaRPr sz="1200" b="0">
              <a:solidFill>
                <a:srgbClr val="4AB9C4"/>
              </a:solidFill>
              <a:latin typeface="Roboto Light"/>
              <a:ea typeface="Roboto Light"/>
              <a:cs typeface="Roboto Light"/>
              <a:sym typeface="Roboto Light"/>
            </a:endParaRPr>
          </a:p>
        </p:txBody>
      </p:sp>
      <p:sp>
        <p:nvSpPr>
          <p:cNvPr id="1599" name="Google Shape;1599;g3f95de07730_1_1266"/>
          <p:cNvSpPr txBox="1">
            <a:spLocks noGrp="1"/>
          </p:cNvSpPr>
          <p:nvPr>
            <p:ph type="sldNum" idx="4294967295"/>
          </p:nvPr>
        </p:nvSpPr>
        <p:spPr>
          <a:xfrm>
            <a:off x="11784013" y="6356350"/>
            <a:ext cx="407987"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t>21</a:t>
            </a:fld>
            <a:endParaRPr/>
          </a:p>
        </p:txBody>
      </p:sp>
      <p:sp>
        <p:nvSpPr>
          <p:cNvPr id="1601" name="Google Shape;1601;g3f95de07730_1_1266"/>
          <p:cNvSpPr txBox="1">
            <a:spLocks noGrp="1"/>
          </p:cNvSpPr>
          <p:nvPr>
            <p:ph type="ftr" idx="4294967295"/>
          </p:nvPr>
        </p:nvSpPr>
        <p:spPr>
          <a:xfrm>
            <a:off x="0" y="6392863"/>
            <a:ext cx="2133600" cy="365125"/>
          </a:xfrm>
          <a:prstGeom prst="rect">
            <a:avLst/>
          </a:prstGeom>
          <a:solidFill>
            <a:schemeClr val="lt1"/>
          </a:soli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https://pegasus.isi.edu</a:t>
            </a:r>
            <a:endParaRPr/>
          </a:p>
        </p:txBody>
      </p:sp>
      <p:sp>
        <p:nvSpPr>
          <p:cNvPr id="1603" name="Google Shape;1603;g3f95de07730_1_1266"/>
          <p:cNvSpPr txBox="1"/>
          <p:nvPr/>
        </p:nvSpPr>
        <p:spPr>
          <a:xfrm>
            <a:off x="8735850" y="5416825"/>
            <a:ext cx="2675100" cy="626700"/>
          </a:xfrm>
          <a:prstGeom prst="rect">
            <a:avLst/>
          </a:prstGeom>
          <a:noFill/>
          <a:ln>
            <a:noFill/>
          </a:ln>
        </p:spPr>
        <p:txBody>
          <a:bodyPr spcFirstLastPara="1" wrap="square" lIns="72000" tIns="36000" rIns="72000" bIns="360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BA083A"/>
                </a:solidFill>
                <a:latin typeface="Roboto"/>
                <a:ea typeface="Roboto"/>
                <a:cs typeface="Roboto"/>
                <a:sym typeface="Roboto"/>
              </a:rPr>
              <a:t>First Detection Runs executed on </a:t>
            </a:r>
            <a:r>
              <a:rPr lang="en-US" sz="1200" b="1" i="0" u="none" strike="noStrike" cap="none">
                <a:solidFill>
                  <a:srgbClr val="BA083A"/>
                </a:solidFill>
                <a:latin typeface="Roboto"/>
                <a:ea typeface="Roboto"/>
                <a:cs typeface="Roboto"/>
                <a:sym typeface="Roboto"/>
              </a:rPr>
              <a:t>LIGO Data Grid, EGI, Open Science Grid and XSEDE</a:t>
            </a:r>
            <a:endParaRPr sz="1200" b="1" i="0" u="none" strike="noStrike" cap="none">
              <a:solidFill>
                <a:srgbClr val="BA083A"/>
              </a:solidFill>
              <a:latin typeface="Roboto"/>
              <a:ea typeface="Roboto"/>
              <a:cs typeface="Roboto"/>
              <a:sym typeface="Roboto"/>
            </a:endParaRPr>
          </a:p>
        </p:txBody>
      </p:sp>
      <p:grpSp>
        <p:nvGrpSpPr>
          <p:cNvPr id="1604" name="Google Shape;1604;g3f95de07730_1_1266"/>
          <p:cNvGrpSpPr/>
          <p:nvPr/>
        </p:nvGrpSpPr>
        <p:grpSpPr>
          <a:xfrm>
            <a:off x="11153137" y="3719573"/>
            <a:ext cx="306230" cy="461197"/>
            <a:chOff x="4575915" y="1374775"/>
            <a:chExt cx="1396397" cy="2103042"/>
          </a:xfrm>
        </p:grpSpPr>
        <p:sp>
          <p:nvSpPr>
            <p:cNvPr id="1605" name="Google Shape;1605;g3f95de07730_1_1266"/>
            <p:cNvSpPr/>
            <p:nvPr/>
          </p:nvSpPr>
          <p:spPr>
            <a:xfrm flipH="1">
              <a:off x="4577433" y="2004659"/>
              <a:ext cx="493776" cy="1471390"/>
            </a:xfrm>
            <a:custGeom>
              <a:avLst/>
              <a:gdLst/>
              <a:ahLst/>
              <a:cxnLst/>
              <a:rect l="l" t="t" r="r" b="b"/>
              <a:pathLst>
                <a:path w="812800" h="2432050" extrusionOk="0">
                  <a:moveTo>
                    <a:pt x="0" y="463550"/>
                  </a:moveTo>
                  <a:lnTo>
                    <a:pt x="796925" y="0"/>
                  </a:lnTo>
                  <a:lnTo>
                    <a:pt x="812800" y="1974850"/>
                  </a:lnTo>
                  <a:lnTo>
                    <a:pt x="9525" y="2432050"/>
                  </a:lnTo>
                  <a:cubicBezTo>
                    <a:pt x="8467" y="1774825"/>
                    <a:pt x="7408" y="1117600"/>
                    <a:pt x="0" y="463550"/>
                  </a:cubicBez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06" name="Google Shape;1606;g3f95de07730_1_1266"/>
            <p:cNvSpPr/>
            <p:nvPr/>
          </p:nvSpPr>
          <p:spPr>
            <a:xfrm flipH="1">
              <a:off x="5226252" y="1439578"/>
              <a:ext cx="302754" cy="240411"/>
            </a:xfrm>
            <a:custGeom>
              <a:avLst/>
              <a:gdLst/>
              <a:ahLst/>
              <a:cxnLst/>
              <a:rect l="l" t="t" r="r" b="b"/>
              <a:pathLst>
                <a:path w="498360" h="399022" extrusionOk="0">
                  <a:moveTo>
                    <a:pt x="233014" y="0"/>
                  </a:moveTo>
                  <a:lnTo>
                    <a:pt x="498360" y="399022"/>
                  </a:lnTo>
                  <a:lnTo>
                    <a:pt x="0" y="167054"/>
                  </a:lnTo>
                  <a:lnTo>
                    <a:pt x="233014" y="0"/>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07" name="Google Shape;1607;g3f95de07730_1_1266"/>
            <p:cNvSpPr/>
            <p:nvPr/>
          </p:nvSpPr>
          <p:spPr>
            <a:xfrm flipH="1">
              <a:off x="4582900" y="1497373"/>
              <a:ext cx="1359813" cy="793321"/>
            </a:xfrm>
            <a:custGeom>
              <a:avLst/>
              <a:gdLst/>
              <a:ahLst/>
              <a:cxnLst/>
              <a:rect l="l" t="t" r="r" b="b"/>
              <a:pathLst>
                <a:path w="2238375" h="1311275" extrusionOk="0">
                  <a:moveTo>
                    <a:pt x="777875" y="0"/>
                  </a:moveTo>
                  <a:lnTo>
                    <a:pt x="2238375" y="850900"/>
                  </a:lnTo>
                  <a:lnTo>
                    <a:pt x="1450975" y="1311275"/>
                  </a:lnTo>
                  <a:lnTo>
                    <a:pt x="0" y="473075"/>
                  </a:lnTo>
                  <a:lnTo>
                    <a:pt x="441325" y="47625"/>
                  </a:lnTo>
                  <a:cubicBezTo>
                    <a:pt x="444755" y="44363"/>
                    <a:pt x="454025" y="41275"/>
                    <a:pt x="454025" y="41275"/>
                  </a:cubicBezTo>
                  <a:lnTo>
                    <a:pt x="777875" y="0"/>
                  </a:lnTo>
                  <a:close/>
                </a:path>
              </a:pathLst>
            </a:custGeom>
            <a:gradFill>
              <a:gsLst>
                <a:gs pos="0">
                  <a:srgbClr val="242424"/>
                </a:gs>
                <a:gs pos="50000">
                  <a:srgbClr val="343434"/>
                </a:gs>
                <a:gs pos="100000">
                  <a:srgbClr val="3F3F3F"/>
                </a:gs>
              </a:gsLst>
              <a:lin ang="1350003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Roboto Light"/>
                <a:ea typeface="Roboto Light"/>
                <a:cs typeface="Roboto Light"/>
                <a:sym typeface="Roboto Light"/>
              </a:endParaRPr>
            </a:p>
          </p:txBody>
        </p:sp>
        <p:sp>
          <p:nvSpPr>
            <p:cNvPr id="1608" name="Google Shape;1608;g3f95de07730_1_1266"/>
            <p:cNvSpPr/>
            <p:nvPr/>
          </p:nvSpPr>
          <p:spPr>
            <a:xfrm flipH="1">
              <a:off x="4759882" y="1434030"/>
              <a:ext cx="1108898" cy="470614"/>
            </a:xfrm>
            <a:custGeom>
              <a:avLst/>
              <a:gdLst/>
              <a:ahLst/>
              <a:cxnLst/>
              <a:rect l="l" t="t" r="r" b="b"/>
              <a:pathLst>
                <a:path w="1832889" h="777875" extrusionOk="0">
                  <a:moveTo>
                    <a:pt x="193675" y="365125"/>
                  </a:moveTo>
                  <a:lnTo>
                    <a:pt x="0" y="476250"/>
                  </a:lnTo>
                  <a:lnTo>
                    <a:pt x="3175" y="542925"/>
                  </a:lnTo>
                  <a:lnTo>
                    <a:pt x="812800" y="47625"/>
                  </a:lnTo>
                  <a:lnTo>
                    <a:pt x="958850" y="295275"/>
                  </a:lnTo>
                  <a:lnTo>
                    <a:pt x="1793875" y="777875"/>
                  </a:lnTo>
                  <a:cubicBezTo>
                    <a:pt x="1832889" y="755117"/>
                    <a:pt x="1831975" y="770353"/>
                    <a:pt x="1831975" y="752475"/>
                  </a:cubicBezTo>
                  <a:lnTo>
                    <a:pt x="990600" y="266700"/>
                  </a:lnTo>
                  <a:lnTo>
                    <a:pt x="819150" y="0"/>
                  </a:lnTo>
                  <a:lnTo>
                    <a:pt x="193675" y="365125"/>
                  </a:lnTo>
                  <a:close/>
                </a:path>
              </a:pathLst>
            </a:custGeom>
            <a:gradFill>
              <a:gsLst>
                <a:gs pos="0">
                  <a:srgbClr val="0C0C0C"/>
                </a:gs>
                <a:gs pos="100000">
                  <a:srgbClr val="262626"/>
                </a:gs>
              </a:gsLst>
              <a:lin ang="10800025"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Roboto Light"/>
                <a:ea typeface="Roboto Light"/>
                <a:cs typeface="Roboto Light"/>
                <a:sym typeface="Roboto Light"/>
              </a:endParaRPr>
            </a:p>
          </p:txBody>
        </p:sp>
        <p:sp>
          <p:nvSpPr>
            <p:cNvPr id="1609" name="Google Shape;1609;g3f95de07730_1_1266"/>
            <p:cNvSpPr/>
            <p:nvPr/>
          </p:nvSpPr>
          <p:spPr>
            <a:xfrm flipH="1">
              <a:off x="5368594" y="1374775"/>
              <a:ext cx="603718" cy="352973"/>
            </a:xfrm>
            <a:custGeom>
              <a:avLst/>
              <a:gdLst/>
              <a:ahLst/>
              <a:cxnLst/>
              <a:rect l="l" t="t" r="r" b="b"/>
              <a:pathLst>
                <a:path w="993775" h="581025" extrusionOk="0">
                  <a:moveTo>
                    <a:pt x="0" y="479425"/>
                  </a:moveTo>
                  <a:lnTo>
                    <a:pt x="174625" y="581025"/>
                  </a:lnTo>
                  <a:lnTo>
                    <a:pt x="993775" y="98425"/>
                  </a:lnTo>
                  <a:lnTo>
                    <a:pt x="822325" y="0"/>
                  </a:lnTo>
                  <a:lnTo>
                    <a:pt x="0" y="479425"/>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10" name="Google Shape;1610;g3f95de07730_1_1266"/>
            <p:cNvSpPr/>
            <p:nvPr/>
          </p:nvSpPr>
          <p:spPr>
            <a:xfrm flipH="1">
              <a:off x="5057953" y="1656827"/>
              <a:ext cx="914257" cy="1820990"/>
            </a:xfrm>
            <a:custGeom>
              <a:avLst/>
              <a:gdLst/>
              <a:ahLst/>
              <a:cxnLst/>
              <a:rect l="l" t="t" r="r" b="b"/>
              <a:pathLst>
                <a:path w="1504950" h="3009900" extrusionOk="0">
                  <a:moveTo>
                    <a:pt x="1504950" y="3009900"/>
                  </a:moveTo>
                  <a:cubicBezTo>
                    <a:pt x="1502833" y="2292350"/>
                    <a:pt x="1500717" y="1574800"/>
                    <a:pt x="1498600" y="857250"/>
                  </a:cubicBezTo>
                  <a:lnTo>
                    <a:pt x="1339850" y="768350"/>
                  </a:lnTo>
                  <a:lnTo>
                    <a:pt x="1174750" y="844550"/>
                  </a:lnTo>
                  <a:lnTo>
                    <a:pt x="342900" y="368300"/>
                  </a:lnTo>
                  <a:lnTo>
                    <a:pt x="307975" y="320675"/>
                  </a:lnTo>
                  <a:lnTo>
                    <a:pt x="238125" y="222250"/>
                  </a:lnTo>
                  <a:cubicBezTo>
                    <a:pt x="235479" y="219604"/>
                    <a:pt x="199496" y="166158"/>
                    <a:pt x="165100" y="98425"/>
                  </a:cubicBezTo>
                  <a:cubicBezTo>
                    <a:pt x="133879" y="71967"/>
                    <a:pt x="100012" y="58738"/>
                    <a:pt x="0" y="0"/>
                  </a:cubicBezTo>
                  <a:lnTo>
                    <a:pt x="25400" y="2203450"/>
                  </a:lnTo>
                  <a:lnTo>
                    <a:pt x="139700" y="2279650"/>
                  </a:lnTo>
                  <a:lnTo>
                    <a:pt x="336550" y="2197100"/>
                  </a:lnTo>
                  <a:lnTo>
                    <a:pt x="1130300" y="2635250"/>
                  </a:lnTo>
                  <a:lnTo>
                    <a:pt x="1308100" y="2895600"/>
                  </a:lnTo>
                  <a:lnTo>
                    <a:pt x="1504950" y="3009900"/>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11" name="Google Shape;1611;g3f95de07730_1_1266"/>
            <p:cNvSpPr/>
            <p:nvPr/>
          </p:nvSpPr>
          <p:spPr>
            <a:xfrm flipH="1">
              <a:off x="4583827" y="1902038"/>
              <a:ext cx="96441" cy="109490"/>
            </a:xfrm>
            <a:custGeom>
              <a:avLst/>
              <a:gdLst/>
              <a:ahLst/>
              <a:cxnLst/>
              <a:rect l="l" t="t" r="r" b="b"/>
              <a:pathLst>
                <a:path w="158750" h="180975" extrusionOk="0">
                  <a:moveTo>
                    <a:pt x="0" y="95250"/>
                  </a:moveTo>
                  <a:lnTo>
                    <a:pt x="146050" y="180975"/>
                  </a:lnTo>
                  <a:lnTo>
                    <a:pt x="158750" y="0"/>
                  </a:lnTo>
                  <a:lnTo>
                    <a:pt x="0" y="95250"/>
                  </a:lnTo>
                  <a:close/>
                </a:path>
              </a:pathLst>
            </a:custGeom>
            <a:gradFill>
              <a:gsLst>
                <a:gs pos="0">
                  <a:srgbClr val="0C0C0C"/>
                </a:gs>
                <a:gs pos="100000">
                  <a:srgbClr val="262626"/>
                </a:gs>
              </a:gsLst>
              <a:lin ang="10800025"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Roboto Light"/>
                <a:ea typeface="Roboto Light"/>
                <a:cs typeface="Roboto Light"/>
                <a:sym typeface="Roboto Light"/>
              </a:endParaRPr>
            </a:p>
          </p:txBody>
        </p:sp>
        <p:sp>
          <p:nvSpPr>
            <p:cNvPr id="1612" name="Google Shape;1612;g3f95de07730_1_1266"/>
            <p:cNvSpPr/>
            <p:nvPr/>
          </p:nvSpPr>
          <p:spPr>
            <a:xfrm flipH="1">
              <a:off x="4633119" y="2120285"/>
              <a:ext cx="380333" cy="299656"/>
            </a:xfrm>
            <a:custGeom>
              <a:avLst/>
              <a:gdLst/>
              <a:ahLst/>
              <a:cxnLst/>
              <a:rect l="l" t="t" r="r" b="b"/>
              <a:pathLst>
                <a:path w="628650" h="495300" extrusionOk="0">
                  <a:moveTo>
                    <a:pt x="0" y="358775"/>
                  </a:moveTo>
                  <a:cubicBezTo>
                    <a:pt x="1058" y="404283"/>
                    <a:pt x="2117" y="449792"/>
                    <a:pt x="3175" y="495300"/>
                  </a:cubicBezTo>
                  <a:lnTo>
                    <a:pt x="628650" y="136525"/>
                  </a:lnTo>
                  <a:cubicBezTo>
                    <a:pt x="627592" y="91017"/>
                    <a:pt x="626533" y="45508"/>
                    <a:pt x="625475" y="0"/>
                  </a:cubicBezTo>
                  <a:lnTo>
                    <a:pt x="0" y="358775"/>
                  </a:lnTo>
                  <a:close/>
                </a:path>
              </a:pathLst>
            </a:custGeom>
            <a:gradFill>
              <a:gsLst>
                <a:gs pos="0">
                  <a:srgbClr val="242424"/>
                </a:gs>
                <a:gs pos="50000">
                  <a:srgbClr val="343434"/>
                </a:gs>
                <a:gs pos="100000">
                  <a:srgbClr val="3F3F3F"/>
                </a:gs>
              </a:gsLst>
              <a:lin ang="18900044"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Roboto Light"/>
                <a:ea typeface="Roboto Light"/>
                <a:cs typeface="Roboto Light"/>
                <a:sym typeface="Roboto Light"/>
              </a:endParaRPr>
            </a:p>
          </p:txBody>
        </p:sp>
        <p:sp>
          <p:nvSpPr>
            <p:cNvPr id="1613" name="Google Shape;1613;g3f95de07730_1_1266"/>
            <p:cNvSpPr/>
            <p:nvPr/>
          </p:nvSpPr>
          <p:spPr>
            <a:xfrm flipH="1">
              <a:off x="4575915" y="1842833"/>
              <a:ext cx="590217" cy="343329"/>
            </a:xfrm>
            <a:custGeom>
              <a:avLst/>
              <a:gdLst/>
              <a:ahLst/>
              <a:cxnLst/>
              <a:rect l="l" t="t" r="r" b="b"/>
              <a:pathLst>
                <a:path w="971550" h="565150" extrusionOk="0">
                  <a:moveTo>
                    <a:pt x="0" y="463550"/>
                  </a:moveTo>
                  <a:lnTo>
                    <a:pt x="800100" y="0"/>
                  </a:lnTo>
                  <a:lnTo>
                    <a:pt x="971550" y="101600"/>
                  </a:lnTo>
                  <a:lnTo>
                    <a:pt x="171450" y="565150"/>
                  </a:lnTo>
                  <a:lnTo>
                    <a:pt x="0" y="463550"/>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14" name="Google Shape;1614;g3f95de07730_1_1266"/>
            <p:cNvSpPr/>
            <p:nvPr/>
          </p:nvSpPr>
          <p:spPr>
            <a:xfrm flipH="1">
              <a:off x="4633119" y="2232025"/>
              <a:ext cx="380333" cy="299656"/>
            </a:xfrm>
            <a:custGeom>
              <a:avLst/>
              <a:gdLst/>
              <a:ahLst/>
              <a:cxnLst/>
              <a:rect l="l" t="t" r="r" b="b"/>
              <a:pathLst>
                <a:path w="628650" h="495300" extrusionOk="0">
                  <a:moveTo>
                    <a:pt x="0" y="358775"/>
                  </a:moveTo>
                  <a:cubicBezTo>
                    <a:pt x="1058" y="404283"/>
                    <a:pt x="2117" y="449792"/>
                    <a:pt x="3175" y="495300"/>
                  </a:cubicBezTo>
                  <a:lnTo>
                    <a:pt x="628650" y="136525"/>
                  </a:lnTo>
                  <a:cubicBezTo>
                    <a:pt x="627592" y="91017"/>
                    <a:pt x="626533" y="45508"/>
                    <a:pt x="625475" y="0"/>
                  </a:cubicBezTo>
                  <a:lnTo>
                    <a:pt x="0" y="358775"/>
                  </a:lnTo>
                  <a:close/>
                </a:path>
              </a:pathLst>
            </a:custGeom>
            <a:gradFill>
              <a:gsLst>
                <a:gs pos="0">
                  <a:srgbClr val="242424"/>
                </a:gs>
                <a:gs pos="50000">
                  <a:srgbClr val="343434"/>
                </a:gs>
                <a:gs pos="100000">
                  <a:srgbClr val="3F3F3F"/>
                </a:gs>
              </a:gsLst>
              <a:lin ang="18900044"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Roboto Light"/>
                <a:ea typeface="Roboto Light"/>
                <a:cs typeface="Roboto Light"/>
                <a:sym typeface="Roboto Light"/>
              </a:endParaRPr>
            </a:p>
          </p:txBody>
        </p:sp>
        <p:sp>
          <p:nvSpPr>
            <p:cNvPr id="1615" name="Google Shape;1615;g3f95de07730_1_1266"/>
            <p:cNvSpPr/>
            <p:nvPr/>
          </p:nvSpPr>
          <p:spPr>
            <a:xfrm flipH="1">
              <a:off x="4884578" y="2511425"/>
              <a:ext cx="128873" cy="101537"/>
            </a:xfrm>
            <a:custGeom>
              <a:avLst/>
              <a:gdLst/>
              <a:ahLst/>
              <a:cxnLst/>
              <a:rect l="l" t="t" r="r" b="b"/>
              <a:pathLst>
                <a:path w="628650" h="495300" extrusionOk="0">
                  <a:moveTo>
                    <a:pt x="0" y="358775"/>
                  </a:moveTo>
                  <a:cubicBezTo>
                    <a:pt x="1058" y="404283"/>
                    <a:pt x="2117" y="449792"/>
                    <a:pt x="3175" y="495300"/>
                  </a:cubicBezTo>
                  <a:lnTo>
                    <a:pt x="628650" y="136525"/>
                  </a:lnTo>
                  <a:cubicBezTo>
                    <a:pt x="627592" y="91017"/>
                    <a:pt x="626533" y="45508"/>
                    <a:pt x="625475" y="0"/>
                  </a:cubicBezTo>
                  <a:lnTo>
                    <a:pt x="0" y="358775"/>
                  </a:lnTo>
                  <a:close/>
                </a:path>
              </a:pathLst>
            </a:custGeom>
            <a:solidFill>
              <a:srgbClr val="FCA90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Roboto Light"/>
                <a:ea typeface="Roboto Light"/>
                <a:cs typeface="Roboto Light"/>
                <a:sym typeface="Roboto Light"/>
              </a:endParaRPr>
            </a:p>
          </p:txBody>
        </p:sp>
        <p:sp>
          <p:nvSpPr>
            <p:cNvPr id="1616" name="Google Shape;1616;g3f95de07730_1_1266"/>
            <p:cNvSpPr/>
            <p:nvPr/>
          </p:nvSpPr>
          <p:spPr>
            <a:xfrm flipH="1">
              <a:off x="4884578" y="2583954"/>
              <a:ext cx="128873" cy="101537"/>
            </a:xfrm>
            <a:custGeom>
              <a:avLst/>
              <a:gdLst/>
              <a:ahLst/>
              <a:cxnLst/>
              <a:rect l="l" t="t" r="r" b="b"/>
              <a:pathLst>
                <a:path w="628650" h="495300" extrusionOk="0">
                  <a:moveTo>
                    <a:pt x="0" y="358775"/>
                  </a:moveTo>
                  <a:cubicBezTo>
                    <a:pt x="1058" y="404283"/>
                    <a:pt x="2117" y="449792"/>
                    <a:pt x="3175" y="495300"/>
                  </a:cubicBezTo>
                  <a:lnTo>
                    <a:pt x="628650" y="136525"/>
                  </a:lnTo>
                  <a:cubicBezTo>
                    <a:pt x="627592" y="91017"/>
                    <a:pt x="626533" y="45508"/>
                    <a:pt x="625475" y="0"/>
                  </a:cubicBezTo>
                  <a:lnTo>
                    <a:pt x="0" y="358775"/>
                  </a:lnTo>
                  <a:close/>
                </a:path>
              </a:pathLst>
            </a:custGeom>
            <a:solidFill>
              <a:srgbClr val="4AB9C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Roboto Light"/>
                <a:ea typeface="Roboto Light"/>
                <a:cs typeface="Roboto Light"/>
                <a:sym typeface="Roboto Light"/>
              </a:endParaRPr>
            </a:p>
          </p:txBody>
        </p:sp>
      </p:grpSp>
      <p:sp>
        <p:nvSpPr>
          <p:cNvPr id="1617" name="Google Shape;1617;g3f95de07730_1_1266"/>
          <p:cNvSpPr/>
          <p:nvPr/>
        </p:nvSpPr>
        <p:spPr>
          <a:xfrm flipH="1">
            <a:off x="11382699" y="1451722"/>
            <a:ext cx="122700" cy="122700"/>
          </a:xfrm>
          <a:prstGeom prst="rtTriangle">
            <a:avLst/>
          </a:prstGeom>
          <a:solidFill>
            <a:srgbClr val="5959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1618" name="Google Shape;1618;g3f95de07730_1_1266"/>
          <p:cNvSpPr/>
          <p:nvPr/>
        </p:nvSpPr>
        <p:spPr>
          <a:xfrm flipH="1">
            <a:off x="11382699" y="2839435"/>
            <a:ext cx="122700" cy="122700"/>
          </a:xfrm>
          <a:prstGeom prst="rtTriangle">
            <a:avLst/>
          </a:prstGeom>
          <a:solidFill>
            <a:srgbClr val="2D75B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grpSp>
        <p:nvGrpSpPr>
          <p:cNvPr id="1619" name="Google Shape;1619;g3f95de07730_1_1266"/>
          <p:cNvGrpSpPr/>
          <p:nvPr/>
        </p:nvGrpSpPr>
        <p:grpSpPr>
          <a:xfrm>
            <a:off x="443908" y="213634"/>
            <a:ext cx="7999250" cy="5811484"/>
            <a:chOff x="662999" y="1473200"/>
            <a:chExt cx="6874570" cy="4994400"/>
          </a:xfrm>
        </p:grpSpPr>
        <p:sp>
          <p:nvSpPr>
            <p:cNvPr id="1620" name="Google Shape;1620;g3f95de07730_1_1266"/>
            <p:cNvSpPr/>
            <p:nvPr/>
          </p:nvSpPr>
          <p:spPr>
            <a:xfrm>
              <a:off x="2547818" y="5766780"/>
              <a:ext cx="4988400" cy="700800"/>
            </a:xfrm>
            <a:prstGeom prst="roundRect">
              <a:avLst>
                <a:gd name="adj" fmla="val 9992"/>
              </a:avLst>
            </a:prstGeom>
            <a:solidFill>
              <a:srgbClr val="F2F2F2">
                <a:alpha val="22750"/>
              </a:srgbClr>
            </a:solidFill>
            <a:ln w="12700" cap="flat" cmpd="sng">
              <a:solidFill>
                <a:srgbClr val="D8D8D8"/>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1621" name="Google Shape;1621;g3f95de07730_1_1266"/>
            <p:cNvSpPr/>
            <p:nvPr/>
          </p:nvSpPr>
          <p:spPr>
            <a:xfrm>
              <a:off x="2547818" y="3582729"/>
              <a:ext cx="4988400" cy="2060400"/>
            </a:xfrm>
            <a:prstGeom prst="roundRect">
              <a:avLst>
                <a:gd name="adj" fmla="val 2742"/>
              </a:avLst>
            </a:prstGeom>
            <a:solidFill>
              <a:srgbClr val="E1EFD8">
                <a:alpha val="22750"/>
              </a:srgbClr>
            </a:solidFill>
            <a:ln w="12700" cap="flat" cmpd="sng">
              <a:solidFill>
                <a:srgbClr val="6CAF27"/>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grpSp>
          <p:nvGrpSpPr>
            <p:cNvPr id="1622" name="Google Shape;1622;g3f95de07730_1_1266"/>
            <p:cNvGrpSpPr/>
            <p:nvPr/>
          </p:nvGrpSpPr>
          <p:grpSpPr>
            <a:xfrm rot="-899809">
              <a:off x="4472213" y="3700269"/>
              <a:ext cx="1920616" cy="1671758"/>
              <a:chOff x="251183" y="2587463"/>
              <a:chExt cx="1869785" cy="1627513"/>
            </a:xfrm>
          </p:grpSpPr>
          <p:sp>
            <p:nvSpPr>
              <p:cNvPr id="1623" name="Google Shape;1623;g3f95de07730_1_1266"/>
              <p:cNvSpPr/>
              <p:nvPr/>
            </p:nvSpPr>
            <p:spPr>
              <a:xfrm>
                <a:off x="1330849" y="3476857"/>
                <a:ext cx="769203" cy="725372"/>
              </a:xfrm>
              <a:custGeom>
                <a:avLst/>
                <a:gdLst/>
                <a:ahLst/>
                <a:cxnLst/>
                <a:rect l="l" t="t" r="r" b="b"/>
                <a:pathLst>
                  <a:path w="1790" h="1688" extrusionOk="0">
                    <a:moveTo>
                      <a:pt x="56" y="72"/>
                    </a:moveTo>
                    <a:lnTo>
                      <a:pt x="56" y="72"/>
                    </a:lnTo>
                    <a:lnTo>
                      <a:pt x="68" y="58"/>
                    </a:lnTo>
                    <a:lnTo>
                      <a:pt x="82" y="46"/>
                    </a:lnTo>
                    <a:lnTo>
                      <a:pt x="94" y="34"/>
                    </a:lnTo>
                    <a:lnTo>
                      <a:pt x="106" y="26"/>
                    </a:lnTo>
                    <a:lnTo>
                      <a:pt x="130" y="12"/>
                    </a:lnTo>
                    <a:lnTo>
                      <a:pt x="152" y="4"/>
                    </a:lnTo>
                    <a:lnTo>
                      <a:pt x="170" y="0"/>
                    </a:lnTo>
                    <a:lnTo>
                      <a:pt x="184" y="0"/>
                    </a:lnTo>
                    <a:lnTo>
                      <a:pt x="196" y="0"/>
                    </a:lnTo>
                    <a:lnTo>
                      <a:pt x="208" y="10"/>
                    </a:lnTo>
                    <a:lnTo>
                      <a:pt x="1790" y="1368"/>
                    </a:lnTo>
                    <a:lnTo>
                      <a:pt x="1790" y="1368"/>
                    </a:lnTo>
                    <a:lnTo>
                      <a:pt x="1788" y="1372"/>
                    </a:lnTo>
                    <a:lnTo>
                      <a:pt x="1788" y="1372"/>
                    </a:lnTo>
                    <a:lnTo>
                      <a:pt x="1784" y="1396"/>
                    </a:lnTo>
                    <a:lnTo>
                      <a:pt x="1780" y="1412"/>
                    </a:lnTo>
                    <a:lnTo>
                      <a:pt x="1772" y="1434"/>
                    </a:lnTo>
                    <a:lnTo>
                      <a:pt x="1760" y="1458"/>
                    </a:lnTo>
                    <a:lnTo>
                      <a:pt x="1746" y="1484"/>
                    </a:lnTo>
                    <a:lnTo>
                      <a:pt x="1728" y="1512"/>
                    </a:lnTo>
                    <a:lnTo>
                      <a:pt x="1704" y="1544"/>
                    </a:lnTo>
                    <a:lnTo>
                      <a:pt x="1704" y="1544"/>
                    </a:lnTo>
                    <a:lnTo>
                      <a:pt x="1664" y="1592"/>
                    </a:lnTo>
                    <a:lnTo>
                      <a:pt x="1628" y="1626"/>
                    </a:lnTo>
                    <a:lnTo>
                      <a:pt x="1600" y="1652"/>
                    </a:lnTo>
                    <a:lnTo>
                      <a:pt x="1578" y="1670"/>
                    </a:lnTo>
                    <a:lnTo>
                      <a:pt x="1560" y="1680"/>
                    </a:lnTo>
                    <a:lnTo>
                      <a:pt x="1548" y="1686"/>
                    </a:lnTo>
                    <a:lnTo>
                      <a:pt x="1538" y="1688"/>
                    </a:lnTo>
                    <a:lnTo>
                      <a:pt x="1538" y="1686"/>
                    </a:lnTo>
                    <a:lnTo>
                      <a:pt x="6" y="238"/>
                    </a:lnTo>
                    <a:lnTo>
                      <a:pt x="0" y="232"/>
                    </a:lnTo>
                    <a:lnTo>
                      <a:pt x="0" y="232"/>
                    </a:lnTo>
                    <a:lnTo>
                      <a:pt x="0" y="216"/>
                    </a:lnTo>
                    <a:lnTo>
                      <a:pt x="2" y="200"/>
                    </a:lnTo>
                    <a:lnTo>
                      <a:pt x="6" y="178"/>
                    </a:lnTo>
                    <a:lnTo>
                      <a:pt x="14" y="152"/>
                    </a:lnTo>
                    <a:lnTo>
                      <a:pt x="24" y="126"/>
                    </a:lnTo>
                    <a:lnTo>
                      <a:pt x="38" y="98"/>
                    </a:lnTo>
                    <a:lnTo>
                      <a:pt x="46" y="86"/>
                    </a:lnTo>
                    <a:lnTo>
                      <a:pt x="56" y="72"/>
                    </a:lnTo>
                    <a:lnTo>
                      <a:pt x="56" y="72"/>
                    </a:lnTo>
                    <a:close/>
                  </a:path>
                </a:pathLst>
              </a:custGeom>
              <a:gradFill>
                <a:gsLst>
                  <a:gs pos="0">
                    <a:srgbClr val="0070C0"/>
                  </a:gs>
                  <a:gs pos="16000">
                    <a:srgbClr val="00B0F0"/>
                  </a:gs>
                  <a:gs pos="47000">
                    <a:srgbClr val="002060"/>
                  </a:gs>
                  <a:gs pos="60000">
                    <a:srgbClr val="0070C0"/>
                  </a:gs>
                  <a:gs pos="71000">
                    <a:srgbClr val="00B0F0"/>
                  </a:gs>
                  <a:gs pos="81000">
                    <a:srgbClr val="002060"/>
                  </a:gs>
                  <a:gs pos="100000">
                    <a:srgbClr val="0070C0"/>
                  </a:gs>
                </a:gsLst>
                <a:lin ang="8100019"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24" name="Google Shape;1624;g3f95de07730_1_1266"/>
              <p:cNvSpPr/>
              <p:nvPr/>
            </p:nvSpPr>
            <p:spPr>
              <a:xfrm>
                <a:off x="1979651" y="4047271"/>
                <a:ext cx="141317" cy="167705"/>
              </a:xfrm>
              <a:custGeom>
                <a:avLst/>
                <a:gdLst/>
                <a:ahLst/>
                <a:cxnLst/>
                <a:rect l="l" t="t" r="r" b="b"/>
                <a:pathLst>
                  <a:path w="332" h="394" extrusionOk="0">
                    <a:moveTo>
                      <a:pt x="6" y="322"/>
                    </a:moveTo>
                    <a:lnTo>
                      <a:pt x="6" y="322"/>
                    </a:lnTo>
                    <a:lnTo>
                      <a:pt x="16" y="320"/>
                    </a:lnTo>
                    <a:lnTo>
                      <a:pt x="28" y="314"/>
                    </a:lnTo>
                    <a:lnTo>
                      <a:pt x="46" y="304"/>
                    </a:lnTo>
                    <a:lnTo>
                      <a:pt x="68" y="286"/>
                    </a:lnTo>
                    <a:lnTo>
                      <a:pt x="96" y="260"/>
                    </a:lnTo>
                    <a:lnTo>
                      <a:pt x="132" y="226"/>
                    </a:lnTo>
                    <a:lnTo>
                      <a:pt x="172" y="178"/>
                    </a:lnTo>
                    <a:lnTo>
                      <a:pt x="172" y="178"/>
                    </a:lnTo>
                    <a:lnTo>
                      <a:pt x="196" y="146"/>
                    </a:lnTo>
                    <a:lnTo>
                      <a:pt x="214" y="118"/>
                    </a:lnTo>
                    <a:lnTo>
                      <a:pt x="228" y="92"/>
                    </a:lnTo>
                    <a:lnTo>
                      <a:pt x="240" y="68"/>
                    </a:lnTo>
                    <a:lnTo>
                      <a:pt x="248" y="46"/>
                    </a:lnTo>
                    <a:lnTo>
                      <a:pt x="252" y="30"/>
                    </a:lnTo>
                    <a:lnTo>
                      <a:pt x="256" y="6"/>
                    </a:lnTo>
                    <a:lnTo>
                      <a:pt x="256" y="6"/>
                    </a:lnTo>
                    <a:lnTo>
                      <a:pt x="274" y="2"/>
                    </a:lnTo>
                    <a:lnTo>
                      <a:pt x="290" y="0"/>
                    </a:lnTo>
                    <a:lnTo>
                      <a:pt x="304" y="4"/>
                    </a:lnTo>
                    <a:lnTo>
                      <a:pt x="316" y="10"/>
                    </a:lnTo>
                    <a:lnTo>
                      <a:pt x="316" y="10"/>
                    </a:lnTo>
                    <a:lnTo>
                      <a:pt x="324" y="16"/>
                    </a:lnTo>
                    <a:lnTo>
                      <a:pt x="328" y="26"/>
                    </a:lnTo>
                    <a:lnTo>
                      <a:pt x="332" y="36"/>
                    </a:lnTo>
                    <a:lnTo>
                      <a:pt x="332" y="46"/>
                    </a:lnTo>
                    <a:lnTo>
                      <a:pt x="332" y="60"/>
                    </a:lnTo>
                    <a:lnTo>
                      <a:pt x="332" y="74"/>
                    </a:lnTo>
                    <a:lnTo>
                      <a:pt x="328" y="90"/>
                    </a:lnTo>
                    <a:lnTo>
                      <a:pt x="324" y="106"/>
                    </a:lnTo>
                    <a:lnTo>
                      <a:pt x="310" y="140"/>
                    </a:lnTo>
                    <a:lnTo>
                      <a:pt x="292" y="178"/>
                    </a:lnTo>
                    <a:lnTo>
                      <a:pt x="268" y="216"/>
                    </a:lnTo>
                    <a:lnTo>
                      <a:pt x="238" y="256"/>
                    </a:lnTo>
                    <a:lnTo>
                      <a:pt x="238" y="256"/>
                    </a:lnTo>
                    <a:lnTo>
                      <a:pt x="206" y="292"/>
                    </a:lnTo>
                    <a:lnTo>
                      <a:pt x="174" y="324"/>
                    </a:lnTo>
                    <a:lnTo>
                      <a:pt x="142" y="350"/>
                    </a:lnTo>
                    <a:lnTo>
                      <a:pt x="112" y="370"/>
                    </a:lnTo>
                    <a:lnTo>
                      <a:pt x="96" y="378"/>
                    </a:lnTo>
                    <a:lnTo>
                      <a:pt x="82" y="384"/>
                    </a:lnTo>
                    <a:lnTo>
                      <a:pt x="68" y="390"/>
                    </a:lnTo>
                    <a:lnTo>
                      <a:pt x="56" y="392"/>
                    </a:lnTo>
                    <a:lnTo>
                      <a:pt x="44" y="394"/>
                    </a:lnTo>
                    <a:lnTo>
                      <a:pt x="34" y="392"/>
                    </a:lnTo>
                    <a:lnTo>
                      <a:pt x="24" y="390"/>
                    </a:lnTo>
                    <a:lnTo>
                      <a:pt x="16" y="384"/>
                    </a:lnTo>
                    <a:lnTo>
                      <a:pt x="16" y="384"/>
                    </a:lnTo>
                    <a:lnTo>
                      <a:pt x="10" y="380"/>
                    </a:lnTo>
                    <a:lnTo>
                      <a:pt x="6" y="374"/>
                    </a:lnTo>
                    <a:lnTo>
                      <a:pt x="4" y="368"/>
                    </a:lnTo>
                    <a:lnTo>
                      <a:pt x="2" y="360"/>
                    </a:lnTo>
                    <a:lnTo>
                      <a:pt x="0" y="344"/>
                    </a:lnTo>
                    <a:lnTo>
                      <a:pt x="4" y="322"/>
                    </a:lnTo>
                    <a:lnTo>
                      <a:pt x="6" y="320"/>
                    </a:lnTo>
                    <a:lnTo>
                      <a:pt x="6" y="322"/>
                    </a:lnTo>
                    <a:close/>
                  </a:path>
                </a:pathLst>
              </a:custGeom>
              <a:gradFill>
                <a:gsLst>
                  <a:gs pos="0">
                    <a:srgbClr val="CBCBCB"/>
                  </a:gs>
                  <a:gs pos="13000">
                    <a:srgbClr val="5F5F5F"/>
                  </a:gs>
                  <a:gs pos="21000">
                    <a:srgbClr val="5F5F5F"/>
                  </a:gs>
                  <a:gs pos="63000">
                    <a:srgbClr val="FFFFFF"/>
                  </a:gs>
                  <a:gs pos="67000">
                    <a:srgbClr val="B2B2B2"/>
                  </a:gs>
                  <a:gs pos="69000">
                    <a:srgbClr val="292929"/>
                  </a:gs>
                  <a:gs pos="82000">
                    <a:srgbClr val="777777"/>
                  </a:gs>
                  <a:gs pos="100000">
                    <a:srgbClr val="EAEAEA"/>
                  </a:gs>
                </a:gsLst>
                <a:lin ang="13500032"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25" name="Google Shape;1625;g3f95de07730_1_1266"/>
              <p:cNvSpPr/>
              <p:nvPr/>
            </p:nvSpPr>
            <p:spPr>
              <a:xfrm>
                <a:off x="1282089" y="3443111"/>
                <a:ext cx="150242" cy="156173"/>
              </a:xfrm>
              <a:custGeom>
                <a:avLst/>
                <a:gdLst/>
                <a:ahLst/>
                <a:cxnLst/>
                <a:rect l="l" t="t" r="r" b="b"/>
                <a:pathLst>
                  <a:path w="304" h="316" extrusionOk="0">
                    <a:moveTo>
                      <a:pt x="302" y="78"/>
                    </a:moveTo>
                    <a:lnTo>
                      <a:pt x="290" y="68"/>
                    </a:lnTo>
                    <a:lnTo>
                      <a:pt x="290" y="68"/>
                    </a:lnTo>
                    <a:lnTo>
                      <a:pt x="278" y="68"/>
                    </a:lnTo>
                    <a:lnTo>
                      <a:pt x="264" y="68"/>
                    </a:lnTo>
                    <a:lnTo>
                      <a:pt x="246" y="72"/>
                    </a:lnTo>
                    <a:lnTo>
                      <a:pt x="224" y="80"/>
                    </a:lnTo>
                    <a:lnTo>
                      <a:pt x="200" y="94"/>
                    </a:lnTo>
                    <a:lnTo>
                      <a:pt x="188" y="102"/>
                    </a:lnTo>
                    <a:lnTo>
                      <a:pt x="176" y="114"/>
                    </a:lnTo>
                    <a:lnTo>
                      <a:pt x="162" y="126"/>
                    </a:lnTo>
                    <a:lnTo>
                      <a:pt x="150" y="140"/>
                    </a:lnTo>
                    <a:lnTo>
                      <a:pt x="150" y="140"/>
                    </a:lnTo>
                    <a:lnTo>
                      <a:pt x="140" y="154"/>
                    </a:lnTo>
                    <a:lnTo>
                      <a:pt x="132" y="166"/>
                    </a:lnTo>
                    <a:lnTo>
                      <a:pt x="118" y="194"/>
                    </a:lnTo>
                    <a:lnTo>
                      <a:pt x="108" y="220"/>
                    </a:lnTo>
                    <a:lnTo>
                      <a:pt x="100" y="246"/>
                    </a:lnTo>
                    <a:lnTo>
                      <a:pt x="96" y="268"/>
                    </a:lnTo>
                    <a:lnTo>
                      <a:pt x="94" y="284"/>
                    </a:lnTo>
                    <a:lnTo>
                      <a:pt x="94" y="300"/>
                    </a:lnTo>
                    <a:lnTo>
                      <a:pt x="100" y="306"/>
                    </a:lnTo>
                    <a:lnTo>
                      <a:pt x="100" y="306"/>
                    </a:lnTo>
                    <a:lnTo>
                      <a:pt x="76" y="314"/>
                    </a:lnTo>
                    <a:lnTo>
                      <a:pt x="64" y="316"/>
                    </a:lnTo>
                    <a:lnTo>
                      <a:pt x="52" y="316"/>
                    </a:lnTo>
                    <a:lnTo>
                      <a:pt x="42" y="314"/>
                    </a:lnTo>
                    <a:lnTo>
                      <a:pt x="32" y="312"/>
                    </a:lnTo>
                    <a:lnTo>
                      <a:pt x="24" y="308"/>
                    </a:lnTo>
                    <a:lnTo>
                      <a:pt x="16" y="302"/>
                    </a:lnTo>
                    <a:lnTo>
                      <a:pt x="16" y="302"/>
                    </a:lnTo>
                    <a:lnTo>
                      <a:pt x="8" y="292"/>
                    </a:lnTo>
                    <a:lnTo>
                      <a:pt x="2" y="276"/>
                    </a:lnTo>
                    <a:lnTo>
                      <a:pt x="0" y="260"/>
                    </a:lnTo>
                    <a:lnTo>
                      <a:pt x="2" y="240"/>
                    </a:lnTo>
                    <a:lnTo>
                      <a:pt x="6" y="220"/>
                    </a:lnTo>
                    <a:lnTo>
                      <a:pt x="14" y="198"/>
                    </a:lnTo>
                    <a:lnTo>
                      <a:pt x="26" y="176"/>
                    </a:lnTo>
                    <a:lnTo>
                      <a:pt x="40" y="152"/>
                    </a:lnTo>
                    <a:lnTo>
                      <a:pt x="40" y="152"/>
                    </a:lnTo>
                    <a:lnTo>
                      <a:pt x="60" y="122"/>
                    </a:lnTo>
                    <a:lnTo>
                      <a:pt x="84" y="94"/>
                    </a:lnTo>
                    <a:lnTo>
                      <a:pt x="84" y="94"/>
                    </a:lnTo>
                    <a:lnTo>
                      <a:pt x="104" y="74"/>
                    </a:lnTo>
                    <a:lnTo>
                      <a:pt x="124" y="56"/>
                    </a:lnTo>
                    <a:lnTo>
                      <a:pt x="124" y="56"/>
                    </a:lnTo>
                    <a:lnTo>
                      <a:pt x="150" y="38"/>
                    </a:lnTo>
                    <a:lnTo>
                      <a:pt x="174" y="22"/>
                    </a:lnTo>
                    <a:lnTo>
                      <a:pt x="198" y="12"/>
                    </a:lnTo>
                    <a:lnTo>
                      <a:pt x="220" y="4"/>
                    </a:lnTo>
                    <a:lnTo>
                      <a:pt x="240" y="0"/>
                    </a:lnTo>
                    <a:lnTo>
                      <a:pt x="260" y="0"/>
                    </a:lnTo>
                    <a:lnTo>
                      <a:pt x="268" y="0"/>
                    </a:lnTo>
                    <a:lnTo>
                      <a:pt x="276" y="4"/>
                    </a:lnTo>
                    <a:lnTo>
                      <a:pt x="282" y="8"/>
                    </a:lnTo>
                    <a:lnTo>
                      <a:pt x="288" y="12"/>
                    </a:lnTo>
                    <a:lnTo>
                      <a:pt x="288" y="12"/>
                    </a:lnTo>
                    <a:lnTo>
                      <a:pt x="294" y="18"/>
                    </a:lnTo>
                    <a:lnTo>
                      <a:pt x="298" y="24"/>
                    </a:lnTo>
                    <a:lnTo>
                      <a:pt x="304" y="40"/>
                    </a:lnTo>
                    <a:lnTo>
                      <a:pt x="304" y="58"/>
                    </a:lnTo>
                    <a:lnTo>
                      <a:pt x="302" y="78"/>
                    </a:lnTo>
                    <a:lnTo>
                      <a:pt x="302" y="78"/>
                    </a:lnTo>
                    <a:close/>
                  </a:path>
                </a:pathLst>
              </a:custGeom>
              <a:gradFill>
                <a:gsLst>
                  <a:gs pos="0">
                    <a:srgbClr val="CBCBCB"/>
                  </a:gs>
                  <a:gs pos="13000">
                    <a:srgbClr val="5F5F5F"/>
                  </a:gs>
                  <a:gs pos="21000">
                    <a:srgbClr val="5F5F5F"/>
                  </a:gs>
                  <a:gs pos="63000">
                    <a:srgbClr val="FFFFFF"/>
                  </a:gs>
                  <a:gs pos="67000">
                    <a:srgbClr val="B2B2B2"/>
                  </a:gs>
                  <a:gs pos="69000">
                    <a:srgbClr val="292929"/>
                  </a:gs>
                  <a:gs pos="82000">
                    <a:srgbClr val="777777"/>
                  </a:gs>
                  <a:gs pos="100000">
                    <a:srgbClr val="EAEAEA"/>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26" name="Google Shape;1626;g3f95de07730_1_1266"/>
              <p:cNvSpPr/>
              <p:nvPr/>
            </p:nvSpPr>
            <p:spPr>
              <a:xfrm>
                <a:off x="251183" y="2587463"/>
                <a:ext cx="1222103" cy="1099240"/>
              </a:xfrm>
              <a:custGeom>
                <a:avLst/>
                <a:gdLst/>
                <a:ahLst/>
                <a:cxnLst/>
                <a:rect l="l" t="t" r="r" b="b"/>
                <a:pathLst>
                  <a:path w="2248" h="2022" extrusionOk="0">
                    <a:moveTo>
                      <a:pt x="1986" y="1598"/>
                    </a:moveTo>
                    <a:lnTo>
                      <a:pt x="2016" y="1622"/>
                    </a:lnTo>
                    <a:lnTo>
                      <a:pt x="2016" y="1624"/>
                    </a:lnTo>
                    <a:lnTo>
                      <a:pt x="2016" y="1624"/>
                    </a:lnTo>
                    <a:lnTo>
                      <a:pt x="1996" y="1642"/>
                    </a:lnTo>
                    <a:lnTo>
                      <a:pt x="1976" y="1662"/>
                    </a:lnTo>
                    <a:lnTo>
                      <a:pt x="1976" y="1662"/>
                    </a:lnTo>
                    <a:lnTo>
                      <a:pt x="1952" y="1690"/>
                    </a:lnTo>
                    <a:lnTo>
                      <a:pt x="1932" y="1720"/>
                    </a:lnTo>
                    <a:lnTo>
                      <a:pt x="1898" y="1688"/>
                    </a:lnTo>
                    <a:lnTo>
                      <a:pt x="1898" y="1688"/>
                    </a:lnTo>
                    <a:lnTo>
                      <a:pt x="1858" y="1724"/>
                    </a:lnTo>
                    <a:lnTo>
                      <a:pt x="1818" y="1758"/>
                    </a:lnTo>
                    <a:lnTo>
                      <a:pt x="1776" y="1790"/>
                    </a:lnTo>
                    <a:lnTo>
                      <a:pt x="1732" y="1820"/>
                    </a:lnTo>
                    <a:lnTo>
                      <a:pt x="1686" y="1850"/>
                    </a:lnTo>
                    <a:lnTo>
                      <a:pt x="1638" y="1878"/>
                    </a:lnTo>
                    <a:lnTo>
                      <a:pt x="1590" y="1904"/>
                    </a:lnTo>
                    <a:lnTo>
                      <a:pt x="1540" y="1926"/>
                    </a:lnTo>
                    <a:lnTo>
                      <a:pt x="1488" y="1948"/>
                    </a:lnTo>
                    <a:lnTo>
                      <a:pt x="1434" y="1966"/>
                    </a:lnTo>
                    <a:lnTo>
                      <a:pt x="1380" y="1984"/>
                    </a:lnTo>
                    <a:lnTo>
                      <a:pt x="1324" y="1996"/>
                    </a:lnTo>
                    <a:lnTo>
                      <a:pt x="1266" y="2008"/>
                    </a:lnTo>
                    <a:lnTo>
                      <a:pt x="1208" y="2016"/>
                    </a:lnTo>
                    <a:lnTo>
                      <a:pt x="1148" y="2020"/>
                    </a:lnTo>
                    <a:lnTo>
                      <a:pt x="1088" y="2022"/>
                    </a:lnTo>
                    <a:lnTo>
                      <a:pt x="1088" y="2022"/>
                    </a:lnTo>
                    <a:lnTo>
                      <a:pt x="1030" y="2022"/>
                    </a:lnTo>
                    <a:lnTo>
                      <a:pt x="974" y="2018"/>
                    </a:lnTo>
                    <a:lnTo>
                      <a:pt x="918" y="2012"/>
                    </a:lnTo>
                    <a:lnTo>
                      <a:pt x="864" y="2004"/>
                    </a:lnTo>
                    <a:lnTo>
                      <a:pt x="810" y="1994"/>
                    </a:lnTo>
                    <a:lnTo>
                      <a:pt x="758" y="1982"/>
                    </a:lnTo>
                    <a:lnTo>
                      <a:pt x="706" y="1968"/>
                    </a:lnTo>
                    <a:lnTo>
                      <a:pt x="658" y="1952"/>
                    </a:lnTo>
                    <a:lnTo>
                      <a:pt x="608" y="1934"/>
                    </a:lnTo>
                    <a:lnTo>
                      <a:pt x="562" y="1912"/>
                    </a:lnTo>
                    <a:lnTo>
                      <a:pt x="516" y="1890"/>
                    </a:lnTo>
                    <a:lnTo>
                      <a:pt x="472" y="1868"/>
                    </a:lnTo>
                    <a:lnTo>
                      <a:pt x="430" y="1842"/>
                    </a:lnTo>
                    <a:lnTo>
                      <a:pt x="388" y="1814"/>
                    </a:lnTo>
                    <a:lnTo>
                      <a:pt x="350" y="1786"/>
                    </a:lnTo>
                    <a:lnTo>
                      <a:pt x="312" y="1754"/>
                    </a:lnTo>
                    <a:lnTo>
                      <a:pt x="276" y="1722"/>
                    </a:lnTo>
                    <a:lnTo>
                      <a:pt x="242" y="1688"/>
                    </a:lnTo>
                    <a:lnTo>
                      <a:pt x="210" y="1654"/>
                    </a:lnTo>
                    <a:lnTo>
                      <a:pt x="180" y="1616"/>
                    </a:lnTo>
                    <a:lnTo>
                      <a:pt x="154" y="1578"/>
                    </a:lnTo>
                    <a:lnTo>
                      <a:pt x="128" y="1540"/>
                    </a:lnTo>
                    <a:lnTo>
                      <a:pt x="104" y="1498"/>
                    </a:lnTo>
                    <a:lnTo>
                      <a:pt x="82" y="1458"/>
                    </a:lnTo>
                    <a:lnTo>
                      <a:pt x="64" y="1414"/>
                    </a:lnTo>
                    <a:lnTo>
                      <a:pt x="46" y="1370"/>
                    </a:lnTo>
                    <a:lnTo>
                      <a:pt x="32" y="1324"/>
                    </a:lnTo>
                    <a:lnTo>
                      <a:pt x="20" y="1278"/>
                    </a:lnTo>
                    <a:lnTo>
                      <a:pt x="12" y="1232"/>
                    </a:lnTo>
                    <a:lnTo>
                      <a:pt x="4" y="1182"/>
                    </a:lnTo>
                    <a:lnTo>
                      <a:pt x="0" y="1134"/>
                    </a:lnTo>
                    <a:lnTo>
                      <a:pt x="0" y="1084"/>
                    </a:lnTo>
                    <a:lnTo>
                      <a:pt x="0" y="1084"/>
                    </a:lnTo>
                    <a:lnTo>
                      <a:pt x="0" y="1034"/>
                    </a:lnTo>
                    <a:lnTo>
                      <a:pt x="4" y="984"/>
                    </a:lnTo>
                    <a:lnTo>
                      <a:pt x="10" y="936"/>
                    </a:lnTo>
                    <a:lnTo>
                      <a:pt x="18" y="888"/>
                    </a:lnTo>
                    <a:lnTo>
                      <a:pt x="28" y="840"/>
                    </a:lnTo>
                    <a:lnTo>
                      <a:pt x="40" y="794"/>
                    </a:lnTo>
                    <a:lnTo>
                      <a:pt x="54" y="748"/>
                    </a:lnTo>
                    <a:lnTo>
                      <a:pt x="72" y="702"/>
                    </a:lnTo>
                    <a:lnTo>
                      <a:pt x="90" y="658"/>
                    </a:lnTo>
                    <a:lnTo>
                      <a:pt x="110" y="616"/>
                    </a:lnTo>
                    <a:lnTo>
                      <a:pt x="134" y="574"/>
                    </a:lnTo>
                    <a:lnTo>
                      <a:pt x="158" y="532"/>
                    </a:lnTo>
                    <a:lnTo>
                      <a:pt x="186" y="492"/>
                    </a:lnTo>
                    <a:lnTo>
                      <a:pt x="216" y="454"/>
                    </a:lnTo>
                    <a:lnTo>
                      <a:pt x="246" y="416"/>
                    </a:lnTo>
                    <a:lnTo>
                      <a:pt x="280" y="380"/>
                    </a:lnTo>
                    <a:lnTo>
                      <a:pt x="314" y="346"/>
                    </a:lnTo>
                    <a:lnTo>
                      <a:pt x="352" y="312"/>
                    </a:lnTo>
                    <a:lnTo>
                      <a:pt x="390" y="280"/>
                    </a:lnTo>
                    <a:lnTo>
                      <a:pt x="432" y="248"/>
                    </a:lnTo>
                    <a:lnTo>
                      <a:pt x="474" y="220"/>
                    </a:lnTo>
                    <a:lnTo>
                      <a:pt x="518" y="192"/>
                    </a:lnTo>
                    <a:lnTo>
                      <a:pt x="566" y="166"/>
                    </a:lnTo>
                    <a:lnTo>
                      <a:pt x="614" y="142"/>
                    </a:lnTo>
                    <a:lnTo>
                      <a:pt x="664" y="118"/>
                    </a:lnTo>
                    <a:lnTo>
                      <a:pt x="716" y="96"/>
                    </a:lnTo>
                    <a:lnTo>
                      <a:pt x="770" y="78"/>
                    </a:lnTo>
                    <a:lnTo>
                      <a:pt x="824" y="60"/>
                    </a:lnTo>
                    <a:lnTo>
                      <a:pt x="882" y="44"/>
                    </a:lnTo>
                    <a:lnTo>
                      <a:pt x="940" y="30"/>
                    </a:lnTo>
                    <a:lnTo>
                      <a:pt x="1002" y="18"/>
                    </a:lnTo>
                    <a:lnTo>
                      <a:pt x="1064" y="8"/>
                    </a:lnTo>
                    <a:lnTo>
                      <a:pt x="1064" y="8"/>
                    </a:lnTo>
                    <a:lnTo>
                      <a:pt x="1114" y="2"/>
                    </a:lnTo>
                    <a:lnTo>
                      <a:pt x="1166" y="0"/>
                    </a:lnTo>
                    <a:lnTo>
                      <a:pt x="1218" y="0"/>
                    </a:lnTo>
                    <a:lnTo>
                      <a:pt x="1272" y="2"/>
                    </a:lnTo>
                    <a:lnTo>
                      <a:pt x="1326" y="8"/>
                    </a:lnTo>
                    <a:lnTo>
                      <a:pt x="1380" y="16"/>
                    </a:lnTo>
                    <a:lnTo>
                      <a:pt x="1436" y="26"/>
                    </a:lnTo>
                    <a:lnTo>
                      <a:pt x="1490" y="40"/>
                    </a:lnTo>
                    <a:lnTo>
                      <a:pt x="1546" y="56"/>
                    </a:lnTo>
                    <a:lnTo>
                      <a:pt x="1600" y="74"/>
                    </a:lnTo>
                    <a:lnTo>
                      <a:pt x="1652" y="96"/>
                    </a:lnTo>
                    <a:lnTo>
                      <a:pt x="1706" y="120"/>
                    </a:lnTo>
                    <a:lnTo>
                      <a:pt x="1758" y="146"/>
                    </a:lnTo>
                    <a:lnTo>
                      <a:pt x="1808" y="176"/>
                    </a:lnTo>
                    <a:lnTo>
                      <a:pt x="1856" y="208"/>
                    </a:lnTo>
                    <a:lnTo>
                      <a:pt x="1902" y="242"/>
                    </a:lnTo>
                    <a:lnTo>
                      <a:pt x="1948" y="278"/>
                    </a:lnTo>
                    <a:lnTo>
                      <a:pt x="1990" y="318"/>
                    </a:lnTo>
                    <a:lnTo>
                      <a:pt x="2030" y="360"/>
                    </a:lnTo>
                    <a:lnTo>
                      <a:pt x="2068" y="406"/>
                    </a:lnTo>
                    <a:lnTo>
                      <a:pt x="2102" y="452"/>
                    </a:lnTo>
                    <a:lnTo>
                      <a:pt x="2134" y="502"/>
                    </a:lnTo>
                    <a:lnTo>
                      <a:pt x="2162" y="556"/>
                    </a:lnTo>
                    <a:lnTo>
                      <a:pt x="2186" y="610"/>
                    </a:lnTo>
                    <a:lnTo>
                      <a:pt x="2208" y="668"/>
                    </a:lnTo>
                    <a:lnTo>
                      <a:pt x="2224" y="728"/>
                    </a:lnTo>
                    <a:lnTo>
                      <a:pt x="2236" y="790"/>
                    </a:lnTo>
                    <a:lnTo>
                      <a:pt x="2242" y="822"/>
                    </a:lnTo>
                    <a:lnTo>
                      <a:pt x="2244" y="856"/>
                    </a:lnTo>
                    <a:lnTo>
                      <a:pt x="2248" y="888"/>
                    </a:lnTo>
                    <a:lnTo>
                      <a:pt x="2248" y="922"/>
                    </a:lnTo>
                    <a:lnTo>
                      <a:pt x="2248" y="958"/>
                    </a:lnTo>
                    <a:lnTo>
                      <a:pt x="2246" y="992"/>
                    </a:lnTo>
                    <a:lnTo>
                      <a:pt x="2244" y="1028"/>
                    </a:lnTo>
                    <a:lnTo>
                      <a:pt x="2240" y="1064"/>
                    </a:lnTo>
                    <a:lnTo>
                      <a:pt x="2234" y="1102"/>
                    </a:lnTo>
                    <a:lnTo>
                      <a:pt x="2228" y="1140"/>
                    </a:lnTo>
                    <a:lnTo>
                      <a:pt x="2228" y="1140"/>
                    </a:lnTo>
                    <a:lnTo>
                      <a:pt x="2214" y="1194"/>
                    </a:lnTo>
                    <a:lnTo>
                      <a:pt x="2196" y="1252"/>
                    </a:lnTo>
                    <a:lnTo>
                      <a:pt x="2172" y="1308"/>
                    </a:lnTo>
                    <a:lnTo>
                      <a:pt x="2144" y="1368"/>
                    </a:lnTo>
                    <a:lnTo>
                      <a:pt x="2112" y="1426"/>
                    </a:lnTo>
                    <a:lnTo>
                      <a:pt x="2074" y="1484"/>
                    </a:lnTo>
                    <a:lnTo>
                      <a:pt x="2032" y="1540"/>
                    </a:lnTo>
                    <a:lnTo>
                      <a:pt x="1986" y="1598"/>
                    </a:lnTo>
                    <a:lnTo>
                      <a:pt x="1986" y="1598"/>
                    </a:lnTo>
                    <a:close/>
                    <a:moveTo>
                      <a:pt x="2154" y="1148"/>
                    </a:moveTo>
                    <a:lnTo>
                      <a:pt x="2154" y="1148"/>
                    </a:lnTo>
                    <a:lnTo>
                      <a:pt x="2168" y="1080"/>
                    </a:lnTo>
                    <a:lnTo>
                      <a:pt x="2178" y="1014"/>
                    </a:lnTo>
                    <a:lnTo>
                      <a:pt x="2182" y="950"/>
                    </a:lnTo>
                    <a:lnTo>
                      <a:pt x="2182" y="890"/>
                    </a:lnTo>
                    <a:lnTo>
                      <a:pt x="2178" y="830"/>
                    </a:lnTo>
                    <a:lnTo>
                      <a:pt x="2168" y="772"/>
                    </a:lnTo>
                    <a:lnTo>
                      <a:pt x="2156" y="716"/>
                    </a:lnTo>
                    <a:lnTo>
                      <a:pt x="2138" y="664"/>
                    </a:lnTo>
                    <a:lnTo>
                      <a:pt x="2118" y="612"/>
                    </a:lnTo>
                    <a:lnTo>
                      <a:pt x="2094" y="564"/>
                    </a:lnTo>
                    <a:lnTo>
                      <a:pt x="2066" y="516"/>
                    </a:lnTo>
                    <a:lnTo>
                      <a:pt x="2036" y="472"/>
                    </a:lnTo>
                    <a:lnTo>
                      <a:pt x="2002" y="430"/>
                    </a:lnTo>
                    <a:lnTo>
                      <a:pt x="1966" y="390"/>
                    </a:lnTo>
                    <a:lnTo>
                      <a:pt x="1926" y="352"/>
                    </a:lnTo>
                    <a:lnTo>
                      <a:pt x="1886" y="318"/>
                    </a:lnTo>
                    <a:lnTo>
                      <a:pt x="1842" y="284"/>
                    </a:lnTo>
                    <a:lnTo>
                      <a:pt x="1796" y="254"/>
                    </a:lnTo>
                    <a:lnTo>
                      <a:pt x="1748" y="226"/>
                    </a:lnTo>
                    <a:lnTo>
                      <a:pt x="1700" y="200"/>
                    </a:lnTo>
                    <a:lnTo>
                      <a:pt x="1650" y="178"/>
                    </a:lnTo>
                    <a:lnTo>
                      <a:pt x="1598" y="156"/>
                    </a:lnTo>
                    <a:lnTo>
                      <a:pt x="1544" y="138"/>
                    </a:lnTo>
                    <a:lnTo>
                      <a:pt x="1490" y="124"/>
                    </a:lnTo>
                    <a:lnTo>
                      <a:pt x="1436" y="110"/>
                    </a:lnTo>
                    <a:lnTo>
                      <a:pt x="1380" y="100"/>
                    </a:lnTo>
                    <a:lnTo>
                      <a:pt x="1326" y="94"/>
                    </a:lnTo>
                    <a:lnTo>
                      <a:pt x="1270" y="88"/>
                    </a:lnTo>
                    <a:lnTo>
                      <a:pt x="1214" y="86"/>
                    </a:lnTo>
                    <a:lnTo>
                      <a:pt x="1160" y="88"/>
                    </a:lnTo>
                    <a:lnTo>
                      <a:pt x="1104" y="90"/>
                    </a:lnTo>
                    <a:lnTo>
                      <a:pt x="1050" y="98"/>
                    </a:lnTo>
                    <a:lnTo>
                      <a:pt x="1050" y="98"/>
                    </a:lnTo>
                    <a:lnTo>
                      <a:pt x="990" y="108"/>
                    </a:lnTo>
                    <a:lnTo>
                      <a:pt x="930" y="120"/>
                    </a:lnTo>
                    <a:lnTo>
                      <a:pt x="874" y="132"/>
                    </a:lnTo>
                    <a:lnTo>
                      <a:pt x="818" y="148"/>
                    </a:lnTo>
                    <a:lnTo>
                      <a:pt x="766" y="166"/>
                    </a:lnTo>
                    <a:lnTo>
                      <a:pt x="714" y="184"/>
                    </a:lnTo>
                    <a:lnTo>
                      <a:pt x="664" y="204"/>
                    </a:lnTo>
                    <a:lnTo>
                      <a:pt x="616" y="228"/>
                    </a:lnTo>
                    <a:lnTo>
                      <a:pt x="570" y="252"/>
                    </a:lnTo>
                    <a:lnTo>
                      <a:pt x="526" y="276"/>
                    </a:lnTo>
                    <a:lnTo>
                      <a:pt x="484" y="304"/>
                    </a:lnTo>
                    <a:lnTo>
                      <a:pt x="444" y="332"/>
                    </a:lnTo>
                    <a:lnTo>
                      <a:pt x="406" y="362"/>
                    </a:lnTo>
                    <a:lnTo>
                      <a:pt x="370" y="392"/>
                    </a:lnTo>
                    <a:lnTo>
                      <a:pt x="336" y="424"/>
                    </a:lnTo>
                    <a:lnTo>
                      <a:pt x="304" y="458"/>
                    </a:lnTo>
                    <a:lnTo>
                      <a:pt x="274" y="494"/>
                    </a:lnTo>
                    <a:lnTo>
                      <a:pt x="246" y="530"/>
                    </a:lnTo>
                    <a:lnTo>
                      <a:pt x="220" y="566"/>
                    </a:lnTo>
                    <a:lnTo>
                      <a:pt x="196" y="604"/>
                    </a:lnTo>
                    <a:lnTo>
                      <a:pt x="174" y="644"/>
                    </a:lnTo>
                    <a:lnTo>
                      <a:pt x="154" y="684"/>
                    </a:lnTo>
                    <a:lnTo>
                      <a:pt x="136" y="726"/>
                    </a:lnTo>
                    <a:lnTo>
                      <a:pt x="120" y="768"/>
                    </a:lnTo>
                    <a:lnTo>
                      <a:pt x="106" y="810"/>
                    </a:lnTo>
                    <a:lnTo>
                      <a:pt x="96" y="854"/>
                    </a:lnTo>
                    <a:lnTo>
                      <a:pt x="86" y="898"/>
                    </a:lnTo>
                    <a:lnTo>
                      <a:pt x="78" y="944"/>
                    </a:lnTo>
                    <a:lnTo>
                      <a:pt x="74" y="990"/>
                    </a:lnTo>
                    <a:lnTo>
                      <a:pt x="70" y="1036"/>
                    </a:lnTo>
                    <a:lnTo>
                      <a:pt x="70" y="1082"/>
                    </a:lnTo>
                    <a:lnTo>
                      <a:pt x="72" y="1130"/>
                    </a:lnTo>
                    <a:lnTo>
                      <a:pt x="72" y="1130"/>
                    </a:lnTo>
                    <a:lnTo>
                      <a:pt x="74" y="1172"/>
                    </a:lnTo>
                    <a:lnTo>
                      <a:pt x="80" y="1214"/>
                    </a:lnTo>
                    <a:lnTo>
                      <a:pt x="88" y="1256"/>
                    </a:lnTo>
                    <a:lnTo>
                      <a:pt x="98" y="1296"/>
                    </a:lnTo>
                    <a:lnTo>
                      <a:pt x="110" y="1334"/>
                    </a:lnTo>
                    <a:lnTo>
                      <a:pt x="124" y="1372"/>
                    </a:lnTo>
                    <a:lnTo>
                      <a:pt x="140" y="1410"/>
                    </a:lnTo>
                    <a:lnTo>
                      <a:pt x="158" y="1446"/>
                    </a:lnTo>
                    <a:lnTo>
                      <a:pt x="178" y="1482"/>
                    </a:lnTo>
                    <a:lnTo>
                      <a:pt x="200" y="1516"/>
                    </a:lnTo>
                    <a:lnTo>
                      <a:pt x="224" y="1550"/>
                    </a:lnTo>
                    <a:lnTo>
                      <a:pt x="250" y="1582"/>
                    </a:lnTo>
                    <a:lnTo>
                      <a:pt x="278" y="1614"/>
                    </a:lnTo>
                    <a:lnTo>
                      <a:pt x="308" y="1642"/>
                    </a:lnTo>
                    <a:lnTo>
                      <a:pt x="338" y="1672"/>
                    </a:lnTo>
                    <a:lnTo>
                      <a:pt x="372" y="1698"/>
                    </a:lnTo>
                    <a:lnTo>
                      <a:pt x="406" y="1724"/>
                    </a:lnTo>
                    <a:lnTo>
                      <a:pt x="442" y="1750"/>
                    </a:lnTo>
                    <a:lnTo>
                      <a:pt x="480" y="1772"/>
                    </a:lnTo>
                    <a:lnTo>
                      <a:pt x="518" y="1794"/>
                    </a:lnTo>
                    <a:lnTo>
                      <a:pt x="558" y="1814"/>
                    </a:lnTo>
                    <a:lnTo>
                      <a:pt x="600" y="1834"/>
                    </a:lnTo>
                    <a:lnTo>
                      <a:pt x="644" y="1850"/>
                    </a:lnTo>
                    <a:lnTo>
                      <a:pt x="690" y="1866"/>
                    </a:lnTo>
                    <a:lnTo>
                      <a:pt x="736" y="1880"/>
                    </a:lnTo>
                    <a:lnTo>
                      <a:pt x="782" y="1892"/>
                    </a:lnTo>
                    <a:lnTo>
                      <a:pt x="832" y="1902"/>
                    </a:lnTo>
                    <a:lnTo>
                      <a:pt x="882" y="1910"/>
                    </a:lnTo>
                    <a:lnTo>
                      <a:pt x="932" y="1918"/>
                    </a:lnTo>
                    <a:lnTo>
                      <a:pt x="984" y="1922"/>
                    </a:lnTo>
                    <a:lnTo>
                      <a:pt x="1038" y="1926"/>
                    </a:lnTo>
                    <a:lnTo>
                      <a:pt x="1092" y="1926"/>
                    </a:lnTo>
                    <a:lnTo>
                      <a:pt x="1092" y="1926"/>
                    </a:lnTo>
                    <a:lnTo>
                      <a:pt x="1140" y="1926"/>
                    </a:lnTo>
                    <a:lnTo>
                      <a:pt x="1188" y="1922"/>
                    </a:lnTo>
                    <a:lnTo>
                      <a:pt x="1234" y="1916"/>
                    </a:lnTo>
                    <a:lnTo>
                      <a:pt x="1280" y="1906"/>
                    </a:lnTo>
                    <a:lnTo>
                      <a:pt x="1326" y="1896"/>
                    </a:lnTo>
                    <a:lnTo>
                      <a:pt x="1372" y="1884"/>
                    </a:lnTo>
                    <a:lnTo>
                      <a:pt x="1416" y="1868"/>
                    </a:lnTo>
                    <a:lnTo>
                      <a:pt x="1460" y="1852"/>
                    </a:lnTo>
                    <a:lnTo>
                      <a:pt x="1504" y="1834"/>
                    </a:lnTo>
                    <a:lnTo>
                      <a:pt x="1546" y="1814"/>
                    </a:lnTo>
                    <a:lnTo>
                      <a:pt x="1588" y="1792"/>
                    </a:lnTo>
                    <a:lnTo>
                      <a:pt x="1630" y="1770"/>
                    </a:lnTo>
                    <a:lnTo>
                      <a:pt x="1668" y="1744"/>
                    </a:lnTo>
                    <a:lnTo>
                      <a:pt x="1708" y="1718"/>
                    </a:lnTo>
                    <a:lnTo>
                      <a:pt x="1746" y="1692"/>
                    </a:lnTo>
                    <a:lnTo>
                      <a:pt x="1782" y="1664"/>
                    </a:lnTo>
                    <a:lnTo>
                      <a:pt x="1818" y="1634"/>
                    </a:lnTo>
                    <a:lnTo>
                      <a:pt x="1852" y="1606"/>
                    </a:lnTo>
                    <a:lnTo>
                      <a:pt x="1884" y="1574"/>
                    </a:lnTo>
                    <a:lnTo>
                      <a:pt x="1914" y="1542"/>
                    </a:lnTo>
                    <a:lnTo>
                      <a:pt x="1944" y="1510"/>
                    </a:lnTo>
                    <a:lnTo>
                      <a:pt x="1972" y="1478"/>
                    </a:lnTo>
                    <a:lnTo>
                      <a:pt x="2000" y="1446"/>
                    </a:lnTo>
                    <a:lnTo>
                      <a:pt x="2024" y="1412"/>
                    </a:lnTo>
                    <a:lnTo>
                      <a:pt x="2048" y="1378"/>
                    </a:lnTo>
                    <a:lnTo>
                      <a:pt x="2068" y="1346"/>
                    </a:lnTo>
                    <a:lnTo>
                      <a:pt x="2088" y="1312"/>
                    </a:lnTo>
                    <a:lnTo>
                      <a:pt x="2106" y="1278"/>
                    </a:lnTo>
                    <a:lnTo>
                      <a:pt x="2120" y="1246"/>
                    </a:lnTo>
                    <a:lnTo>
                      <a:pt x="2134" y="1212"/>
                    </a:lnTo>
                    <a:lnTo>
                      <a:pt x="2146" y="1180"/>
                    </a:lnTo>
                    <a:lnTo>
                      <a:pt x="2154" y="1148"/>
                    </a:lnTo>
                    <a:lnTo>
                      <a:pt x="2154" y="1148"/>
                    </a:lnTo>
                    <a:close/>
                  </a:path>
                </a:pathLst>
              </a:custGeom>
              <a:gradFill>
                <a:gsLst>
                  <a:gs pos="0">
                    <a:srgbClr val="CBCBCB"/>
                  </a:gs>
                  <a:gs pos="13000">
                    <a:srgbClr val="5F5F5F"/>
                  </a:gs>
                  <a:gs pos="21000">
                    <a:srgbClr val="5F5F5F"/>
                  </a:gs>
                  <a:gs pos="57000">
                    <a:srgbClr val="F2F2F2"/>
                  </a:gs>
                  <a:gs pos="82000">
                    <a:srgbClr val="777777"/>
                  </a:gs>
                  <a:gs pos="100000">
                    <a:srgbClr val="EAEAEA"/>
                  </a:gs>
                </a:gsLst>
                <a:lin ang="12600029"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27" name="Google Shape;1627;g3f95de07730_1_1266"/>
              <p:cNvSpPr/>
              <p:nvPr/>
            </p:nvSpPr>
            <p:spPr>
              <a:xfrm>
                <a:off x="1268876" y="3438802"/>
                <a:ext cx="78284" cy="83720"/>
              </a:xfrm>
              <a:custGeom>
                <a:avLst/>
                <a:gdLst/>
                <a:ahLst/>
                <a:cxnLst/>
                <a:rect l="l" t="t" r="r" b="b"/>
                <a:pathLst>
                  <a:path w="144" h="154" extrusionOk="0">
                    <a:moveTo>
                      <a:pt x="60" y="154"/>
                    </a:moveTo>
                    <a:lnTo>
                      <a:pt x="0" y="96"/>
                    </a:lnTo>
                    <a:lnTo>
                      <a:pt x="0" y="96"/>
                    </a:lnTo>
                    <a:lnTo>
                      <a:pt x="0" y="92"/>
                    </a:lnTo>
                    <a:lnTo>
                      <a:pt x="4" y="80"/>
                    </a:lnTo>
                    <a:lnTo>
                      <a:pt x="12" y="62"/>
                    </a:lnTo>
                    <a:lnTo>
                      <a:pt x="20" y="52"/>
                    </a:lnTo>
                    <a:lnTo>
                      <a:pt x="28" y="42"/>
                    </a:lnTo>
                    <a:lnTo>
                      <a:pt x="28" y="42"/>
                    </a:lnTo>
                    <a:lnTo>
                      <a:pt x="48" y="24"/>
                    </a:lnTo>
                    <a:lnTo>
                      <a:pt x="66" y="10"/>
                    </a:lnTo>
                    <a:lnTo>
                      <a:pt x="84" y="0"/>
                    </a:lnTo>
                    <a:lnTo>
                      <a:pt x="144" y="58"/>
                    </a:lnTo>
                    <a:lnTo>
                      <a:pt x="144" y="58"/>
                    </a:lnTo>
                    <a:lnTo>
                      <a:pt x="132" y="70"/>
                    </a:lnTo>
                    <a:lnTo>
                      <a:pt x="118" y="82"/>
                    </a:lnTo>
                    <a:lnTo>
                      <a:pt x="98" y="102"/>
                    </a:lnTo>
                    <a:lnTo>
                      <a:pt x="98" y="102"/>
                    </a:lnTo>
                    <a:lnTo>
                      <a:pt x="80" y="126"/>
                    </a:lnTo>
                    <a:lnTo>
                      <a:pt x="68" y="142"/>
                    </a:lnTo>
                    <a:lnTo>
                      <a:pt x="60" y="154"/>
                    </a:lnTo>
                    <a:lnTo>
                      <a:pt x="60" y="154"/>
                    </a:lnTo>
                    <a:close/>
                  </a:path>
                </a:pathLst>
              </a:custGeom>
              <a:gradFill>
                <a:gsLst>
                  <a:gs pos="0">
                    <a:srgbClr val="CBCBCB"/>
                  </a:gs>
                  <a:gs pos="37000">
                    <a:srgbClr val="CBCBCB"/>
                  </a:gs>
                  <a:gs pos="72000">
                    <a:srgbClr val="5F5F5F"/>
                  </a:gs>
                  <a:gs pos="100000">
                    <a:srgbClr val="5F5F5F"/>
                  </a:gs>
                </a:gsLst>
                <a:lin ang="8400134"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cxnSp>
          <p:nvCxnSpPr>
            <p:cNvPr id="1628" name="Google Shape;1628;g3f95de07730_1_1266"/>
            <p:cNvCxnSpPr/>
            <p:nvPr/>
          </p:nvCxnSpPr>
          <p:spPr>
            <a:xfrm>
              <a:off x="3071444" y="5243796"/>
              <a:ext cx="2457000" cy="0"/>
            </a:xfrm>
            <a:prstGeom prst="straightConnector1">
              <a:avLst/>
            </a:prstGeom>
            <a:noFill/>
            <a:ln w="12700" cap="flat" cmpd="sng">
              <a:solidFill>
                <a:srgbClr val="BFBFBF"/>
              </a:solidFill>
              <a:prstDash val="solid"/>
              <a:miter lim="8000"/>
              <a:headEnd type="none" w="sm" len="sm"/>
              <a:tailEnd type="none" w="sm" len="sm"/>
            </a:ln>
          </p:spPr>
        </p:cxnSp>
        <p:cxnSp>
          <p:nvCxnSpPr>
            <p:cNvPr id="1629" name="Google Shape;1629;g3f95de07730_1_1266"/>
            <p:cNvCxnSpPr/>
            <p:nvPr/>
          </p:nvCxnSpPr>
          <p:spPr>
            <a:xfrm>
              <a:off x="3646670" y="4700387"/>
              <a:ext cx="449400" cy="0"/>
            </a:xfrm>
            <a:prstGeom prst="straightConnector1">
              <a:avLst/>
            </a:prstGeom>
            <a:noFill/>
            <a:ln w="12700" cap="flat" cmpd="sng">
              <a:solidFill>
                <a:srgbClr val="BFBFBF"/>
              </a:solidFill>
              <a:prstDash val="solid"/>
              <a:miter lim="8000"/>
              <a:headEnd type="none" w="sm" len="sm"/>
              <a:tailEnd type="none" w="sm" len="sm"/>
            </a:ln>
          </p:spPr>
        </p:cxnSp>
        <p:sp>
          <p:nvSpPr>
            <p:cNvPr id="1630" name="Google Shape;1630;g3f95de07730_1_1266"/>
            <p:cNvSpPr/>
            <p:nvPr/>
          </p:nvSpPr>
          <p:spPr>
            <a:xfrm>
              <a:off x="3566320" y="1473200"/>
              <a:ext cx="2951400" cy="1285200"/>
            </a:xfrm>
            <a:prstGeom prst="roundRect">
              <a:avLst>
                <a:gd name="adj" fmla="val 4715"/>
              </a:avLst>
            </a:prstGeom>
            <a:solidFill>
              <a:srgbClr val="F2F2F2">
                <a:alpha val="47840"/>
              </a:srgbClr>
            </a:solidFill>
            <a:ln w="12700" cap="flat" cmpd="sng">
              <a:solidFill>
                <a:srgbClr val="BFBFB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grpSp>
          <p:nvGrpSpPr>
            <p:cNvPr id="1631" name="Google Shape;1631;g3f95de07730_1_1266"/>
            <p:cNvGrpSpPr/>
            <p:nvPr/>
          </p:nvGrpSpPr>
          <p:grpSpPr>
            <a:xfrm>
              <a:off x="4836338" y="2072998"/>
              <a:ext cx="411226" cy="435954"/>
              <a:chOff x="5967413" y="-3362325"/>
              <a:chExt cx="1133478" cy="1454150"/>
            </a:xfrm>
          </p:grpSpPr>
          <p:sp>
            <p:nvSpPr>
              <p:cNvPr id="1632" name="Google Shape;1632;g3f95de07730_1_126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33" name="Google Shape;1633;g3f95de07730_1_126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34" name="Google Shape;1634;g3f95de07730_1_126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35" name="Google Shape;1635;g3f95de07730_1_126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36" name="Google Shape;1636;g3f95de07730_1_126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37" name="Google Shape;1637;g3f95de07730_1_126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38" name="Google Shape;1638;g3f95de07730_1_126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39" name="Google Shape;1639;g3f95de07730_1_126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40" name="Google Shape;1640;g3f95de07730_1_126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41" name="Google Shape;1641;g3f95de07730_1_126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42" name="Google Shape;1642;g3f95de07730_1_126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43" name="Google Shape;1643;g3f95de07730_1_126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44" name="Google Shape;1644;g3f95de07730_1_126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45" name="Google Shape;1645;g3f95de07730_1_126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nvGrpSpPr>
            <p:cNvPr id="1646" name="Google Shape;1646;g3f95de07730_1_1266"/>
            <p:cNvGrpSpPr/>
            <p:nvPr/>
          </p:nvGrpSpPr>
          <p:grpSpPr>
            <a:xfrm>
              <a:off x="3989893" y="2072998"/>
              <a:ext cx="411226" cy="435954"/>
              <a:chOff x="5967413" y="-3362325"/>
              <a:chExt cx="1133478" cy="1454150"/>
            </a:xfrm>
          </p:grpSpPr>
          <p:sp>
            <p:nvSpPr>
              <p:cNvPr id="1647" name="Google Shape;1647;g3f95de07730_1_126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48" name="Google Shape;1648;g3f95de07730_1_126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49" name="Google Shape;1649;g3f95de07730_1_126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50" name="Google Shape;1650;g3f95de07730_1_126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51" name="Google Shape;1651;g3f95de07730_1_126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52" name="Google Shape;1652;g3f95de07730_1_126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53" name="Google Shape;1653;g3f95de07730_1_126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54" name="Google Shape;1654;g3f95de07730_1_126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55" name="Google Shape;1655;g3f95de07730_1_126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56" name="Google Shape;1656;g3f95de07730_1_126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57" name="Google Shape;1657;g3f95de07730_1_126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58" name="Google Shape;1658;g3f95de07730_1_126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59" name="Google Shape;1659;g3f95de07730_1_126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60" name="Google Shape;1660;g3f95de07730_1_126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nvGrpSpPr>
            <p:cNvPr id="1661" name="Google Shape;1661;g3f95de07730_1_1266"/>
            <p:cNvGrpSpPr/>
            <p:nvPr/>
          </p:nvGrpSpPr>
          <p:grpSpPr>
            <a:xfrm>
              <a:off x="5682781" y="2072998"/>
              <a:ext cx="411226" cy="435954"/>
              <a:chOff x="5967413" y="-3362325"/>
              <a:chExt cx="1133478" cy="1454150"/>
            </a:xfrm>
          </p:grpSpPr>
          <p:sp>
            <p:nvSpPr>
              <p:cNvPr id="1662" name="Google Shape;1662;g3f95de07730_1_126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63" name="Google Shape;1663;g3f95de07730_1_126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64" name="Google Shape;1664;g3f95de07730_1_126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65" name="Google Shape;1665;g3f95de07730_1_126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66" name="Google Shape;1666;g3f95de07730_1_126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67" name="Google Shape;1667;g3f95de07730_1_126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68" name="Google Shape;1668;g3f95de07730_1_126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69" name="Google Shape;1669;g3f95de07730_1_126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70" name="Google Shape;1670;g3f95de07730_1_126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71" name="Google Shape;1671;g3f95de07730_1_126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72" name="Google Shape;1672;g3f95de07730_1_126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73" name="Google Shape;1673;g3f95de07730_1_126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74" name="Google Shape;1674;g3f95de07730_1_126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75" name="Google Shape;1675;g3f95de07730_1_126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sp>
          <p:nvSpPr>
            <p:cNvPr id="1676" name="Google Shape;1676;g3f95de07730_1_1266"/>
            <p:cNvSpPr/>
            <p:nvPr/>
          </p:nvSpPr>
          <p:spPr>
            <a:xfrm>
              <a:off x="662999" y="1473200"/>
              <a:ext cx="1767900" cy="4994400"/>
            </a:xfrm>
            <a:prstGeom prst="roundRect">
              <a:avLst>
                <a:gd name="adj" fmla="val 2742"/>
              </a:avLst>
            </a:prstGeom>
            <a:solidFill>
              <a:srgbClr val="D8E2F3">
                <a:alpha val="22750"/>
              </a:srgbClr>
            </a:solidFill>
            <a:ln w="12700" cap="flat" cmpd="sng">
              <a:solidFill>
                <a:srgbClr val="2D75B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1677" name="Google Shape;1677;g3f95de07730_1_1266"/>
            <p:cNvSpPr/>
            <p:nvPr/>
          </p:nvSpPr>
          <p:spPr>
            <a:xfrm>
              <a:off x="2546455" y="1473200"/>
              <a:ext cx="904200" cy="1285200"/>
            </a:xfrm>
            <a:prstGeom prst="roundRect">
              <a:avLst>
                <a:gd name="adj" fmla="val 6956"/>
              </a:avLst>
            </a:prstGeom>
            <a:solidFill>
              <a:srgbClr val="F2F2F2">
                <a:alpha val="47840"/>
              </a:srgbClr>
            </a:solidFill>
            <a:ln w="12700" cap="flat" cmpd="sng">
              <a:solidFill>
                <a:srgbClr val="BFBFB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1678" name="Google Shape;1678;g3f95de07730_1_1266"/>
            <p:cNvSpPr/>
            <p:nvPr/>
          </p:nvSpPr>
          <p:spPr>
            <a:xfrm>
              <a:off x="6633369" y="1473200"/>
              <a:ext cx="903000" cy="1285200"/>
            </a:xfrm>
            <a:prstGeom prst="roundRect">
              <a:avLst>
                <a:gd name="adj" fmla="val 4500"/>
              </a:avLst>
            </a:prstGeom>
            <a:solidFill>
              <a:srgbClr val="F2F2F2">
                <a:alpha val="47840"/>
              </a:srgbClr>
            </a:solidFill>
            <a:ln w="12700" cap="flat" cmpd="sng">
              <a:solidFill>
                <a:srgbClr val="BFBFB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1679" name="Google Shape;1679;g3f95de07730_1_1266"/>
            <p:cNvSpPr/>
            <p:nvPr/>
          </p:nvSpPr>
          <p:spPr>
            <a:xfrm>
              <a:off x="2546455" y="1473200"/>
              <a:ext cx="904200" cy="453900"/>
            </a:xfrm>
            <a:prstGeom prst="round2SameRect">
              <a:avLst>
                <a:gd name="adj1" fmla="val 13520"/>
                <a:gd name="adj2" fmla="val 0"/>
              </a:avLst>
            </a:prstGeom>
            <a:gradFill>
              <a:gsLst>
                <a:gs pos="0">
                  <a:srgbClr val="D8D8D8"/>
                </a:gs>
                <a:gs pos="100000">
                  <a:srgbClr val="BFBFBF"/>
                </a:gs>
              </a:gsLst>
              <a:path path="circle">
                <a:fillToRect l="50000" t="50000" r="50000" b="50000"/>
              </a:path>
              <a:tileRect/>
            </a:gradFill>
            <a:ln>
              <a:noFill/>
            </a:ln>
          </p:spPr>
          <p:txBody>
            <a:bodyPr spcFirstLastPara="1" wrap="square" lIns="72000" tIns="36000" rIns="72000" bIns="36000" anchor="ctr" anchorCtr="0">
              <a:noAutofit/>
            </a:bodyPr>
            <a:lstStyle/>
            <a:p>
              <a:pPr marL="0" marR="0" lvl="0" indent="0" algn="ctr" rtl="0">
                <a:lnSpc>
                  <a:spcPct val="90000"/>
                </a:lnSpc>
                <a:spcBef>
                  <a:spcPts val="0"/>
                </a:spcBef>
                <a:spcAft>
                  <a:spcPts val="0"/>
                </a:spcAft>
                <a:buClr>
                  <a:srgbClr val="000000"/>
                </a:buClr>
                <a:buSzPts val="900"/>
                <a:buFont typeface="Arial"/>
                <a:buNone/>
              </a:pPr>
              <a:r>
                <a:rPr lang="en-US" sz="900" b="1" i="0" u="none" strike="noStrike" cap="none">
                  <a:solidFill>
                    <a:srgbClr val="595959"/>
                  </a:solidFill>
                  <a:latin typeface="Roboto"/>
                  <a:ea typeface="Roboto"/>
                  <a:cs typeface="Roboto"/>
                  <a:sym typeface="Roboto"/>
                </a:rPr>
                <a:t>Input data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900"/>
                <a:buFont typeface="Arial"/>
                <a:buNone/>
              </a:pPr>
              <a:r>
                <a:rPr lang="en-US" sz="900" b="1" i="0" u="none" strike="noStrike" cap="none">
                  <a:solidFill>
                    <a:srgbClr val="595959"/>
                  </a:solidFill>
                  <a:latin typeface="Roboto"/>
                  <a:ea typeface="Roboto"/>
                  <a:cs typeface="Roboto"/>
                  <a:sym typeface="Roboto"/>
                </a:rPr>
                <a:t>hosted at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900"/>
                <a:buFont typeface="Arial"/>
                <a:buNone/>
              </a:pPr>
              <a:r>
                <a:rPr lang="en-US" sz="900" b="1" i="0" u="none" strike="noStrike" cap="none">
                  <a:solidFill>
                    <a:srgbClr val="595959"/>
                  </a:solidFill>
                  <a:latin typeface="Roboto"/>
                  <a:ea typeface="Roboto"/>
                  <a:cs typeface="Roboto"/>
                  <a:sym typeface="Roboto"/>
                </a:rPr>
                <a:t>LIGO Sites</a:t>
              </a:r>
              <a:endParaRPr sz="1400" b="0" i="0" u="none" strike="noStrike" cap="none">
                <a:solidFill>
                  <a:srgbClr val="000000"/>
                </a:solidFill>
                <a:latin typeface="Arial"/>
                <a:ea typeface="Arial"/>
                <a:cs typeface="Arial"/>
                <a:sym typeface="Arial"/>
              </a:endParaRPr>
            </a:p>
          </p:txBody>
        </p:sp>
        <p:sp>
          <p:nvSpPr>
            <p:cNvPr id="1680" name="Google Shape;1680;g3f95de07730_1_1266"/>
            <p:cNvSpPr/>
            <p:nvPr/>
          </p:nvSpPr>
          <p:spPr>
            <a:xfrm>
              <a:off x="3566319" y="1473200"/>
              <a:ext cx="2951400" cy="453900"/>
            </a:xfrm>
            <a:prstGeom prst="round2SameRect">
              <a:avLst>
                <a:gd name="adj1" fmla="val 9722"/>
                <a:gd name="adj2" fmla="val 0"/>
              </a:avLst>
            </a:prstGeom>
            <a:gradFill>
              <a:gsLst>
                <a:gs pos="0">
                  <a:srgbClr val="D8D8D8"/>
                </a:gs>
                <a:gs pos="100000">
                  <a:srgbClr val="BFBFBF"/>
                </a:gs>
              </a:gsLst>
              <a:path path="circle">
                <a:fillToRect l="50000" t="50000" r="50000" b="50000"/>
              </a:path>
              <a:tileRect/>
            </a:gradFill>
            <a:ln>
              <a:noFill/>
            </a:ln>
          </p:spPr>
          <p:txBody>
            <a:bodyPr spcFirstLastPara="1" wrap="square" lIns="72000" tIns="36000" rIns="72000" bIns="3600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US" sz="1000" b="1" i="0" u="none" strike="noStrike" cap="none">
                  <a:solidFill>
                    <a:srgbClr val="595959"/>
                  </a:solidFill>
                  <a:latin typeface="Roboto"/>
                  <a:ea typeface="Roboto"/>
                  <a:cs typeface="Roboto"/>
                  <a:sym typeface="Roboto"/>
                </a:rPr>
                <a:t>Nebraska GridFTP </a:t>
              </a:r>
              <a:r>
                <a:rPr lang="en-US" sz="1000" b="0" i="0" u="none" strike="noStrike" cap="none">
                  <a:solidFill>
                    <a:srgbClr val="595959"/>
                  </a:solidFill>
                  <a:latin typeface="Roboto"/>
                  <a:ea typeface="Roboto"/>
                  <a:cs typeface="Roboto"/>
                  <a:sym typeface="Roboto"/>
                </a:rPr>
                <a:t>Data staging server</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1000"/>
                <a:buFont typeface="Arial"/>
                <a:buNone/>
              </a:pPr>
              <a:r>
                <a:rPr lang="en-US" sz="1000" b="1" i="0" u="none" strike="noStrike" cap="none">
                  <a:solidFill>
                    <a:srgbClr val="595959"/>
                  </a:solidFill>
                  <a:latin typeface="Roboto"/>
                  <a:ea typeface="Roboto"/>
                  <a:cs typeface="Roboto"/>
                  <a:sym typeface="Roboto"/>
                </a:rPr>
                <a:t>GridFTP, HTTP, SRM</a:t>
              </a:r>
              <a:endParaRPr sz="1000" b="0" i="0" u="none" strike="noStrike" cap="none">
                <a:solidFill>
                  <a:srgbClr val="595959"/>
                </a:solidFill>
                <a:latin typeface="Roboto"/>
                <a:ea typeface="Roboto"/>
                <a:cs typeface="Roboto"/>
                <a:sym typeface="Roboto"/>
              </a:endParaRPr>
            </a:p>
          </p:txBody>
        </p:sp>
        <p:sp>
          <p:nvSpPr>
            <p:cNvPr id="1681" name="Google Shape;1681;g3f95de07730_1_1266"/>
            <p:cNvSpPr/>
            <p:nvPr/>
          </p:nvSpPr>
          <p:spPr>
            <a:xfrm>
              <a:off x="6633369" y="1473200"/>
              <a:ext cx="904200" cy="453900"/>
            </a:xfrm>
            <a:prstGeom prst="round2SameRect">
              <a:avLst>
                <a:gd name="adj1" fmla="val 10494"/>
                <a:gd name="adj2" fmla="val 0"/>
              </a:avLst>
            </a:prstGeom>
            <a:gradFill>
              <a:gsLst>
                <a:gs pos="0">
                  <a:srgbClr val="D8D8D8"/>
                </a:gs>
                <a:gs pos="100000">
                  <a:srgbClr val="BFBFBF"/>
                </a:gs>
              </a:gsLst>
              <a:path path="circle">
                <a:fillToRect l="50000" t="50000" r="50000" b="50000"/>
              </a:path>
              <a:tileRect/>
            </a:gradFill>
            <a:ln>
              <a:noFill/>
            </a:ln>
          </p:spPr>
          <p:txBody>
            <a:bodyPr spcFirstLastPara="1" wrap="square" lIns="72000" tIns="36000" rIns="72000" bIns="36000" anchor="ctr" anchorCtr="0">
              <a:noAutofit/>
            </a:bodyPr>
            <a:lstStyle/>
            <a:p>
              <a:pPr marL="0" marR="0" lvl="0" indent="0" algn="ctr" rtl="0">
                <a:lnSpc>
                  <a:spcPct val="90000"/>
                </a:lnSpc>
                <a:spcBef>
                  <a:spcPts val="0"/>
                </a:spcBef>
                <a:spcAft>
                  <a:spcPts val="0"/>
                </a:spcAft>
                <a:buClr>
                  <a:srgbClr val="000000"/>
                </a:buClr>
                <a:buSzPts val="900"/>
                <a:buFont typeface="Arial"/>
                <a:buNone/>
              </a:pPr>
              <a:r>
                <a:rPr lang="en-US" sz="900" b="1" i="0" u="none" strike="noStrike" cap="none">
                  <a:solidFill>
                    <a:srgbClr val="595959"/>
                  </a:solidFill>
                  <a:latin typeface="Roboto"/>
                  <a:ea typeface="Roboto"/>
                  <a:cs typeface="Roboto"/>
                  <a:sym typeface="Roboto"/>
                </a:rPr>
                <a:t>LIGO output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900"/>
                <a:buFont typeface="Arial"/>
                <a:buNone/>
              </a:pPr>
              <a:r>
                <a:rPr lang="en-US" sz="900" b="1" i="0" u="none" strike="noStrike" cap="none">
                  <a:solidFill>
                    <a:srgbClr val="595959"/>
                  </a:solidFill>
                  <a:latin typeface="Roboto"/>
                  <a:ea typeface="Roboto"/>
                  <a:cs typeface="Roboto"/>
                  <a:sym typeface="Roboto"/>
                </a:rPr>
                <a:t>data server</a:t>
              </a:r>
              <a:endParaRPr sz="1400" b="0" i="0" u="none" strike="noStrike" cap="none">
                <a:solidFill>
                  <a:srgbClr val="000000"/>
                </a:solidFill>
                <a:latin typeface="Arial"/>
                <a:ea typeface="Arial"/>
                <a:cs typeface="Arial"/>
                <a:sym typeface="Arial"/>
              </a:endParaRPr>
            </a:p>
          </p:txBody>
        </p:sp>
        <p:grpSp>
          <p:nvGrpSpPr>
            <p:cNvPr id="1682" name="Google Shape;1682;g3f95de07730_1_1266"/>
            <p:cNvGrpSpPr/>
            <p:nvPr/>
          </p:nvGrpSpPr>
          <p:grpSpPr>
            <a:xfrm>
              <a:off x="2718041" y="2049743"/>
              <a:ext cx="561100" cy="584771"/>
              <a:chOff x="2647066" y="1997733"/>
              <a:chExt cx="561100" cy="584771"/>
            </a:xfrm>
          </p:grpSpPr>
          <p:grpSp>
            <p:nvGrpSpPr>
              <p:cNvPr id="1683" name="Google Shape;1683;g3f95de07730_1_1266"/>
              <p:cNvGrpSpPr/>
              <p:nvPr/>
            </p:nvGrpSpPr>
            <p:grpSpPr>
              <a:xfrm>
                <a:off x="2857751" y="1997733"/>
                <a:ext cx="350416" cy="554425"/>
                <a:chOff x="1713881" y="205474"/>
                <a:chExt cx="1422719" cy="2251016"/>
              </a:xfrm>
            </p:grpSpPr>
            <p:sp>
              <p:nvSpPr>
                <p:cNvPr id="1684" name="Google Shape;1684;g3f95de07730_1_1266"/>
                <p:cNvSpPr/>
                <p:nvPr/>
              </p:nvSpPr>
              <p:spPr>
                <a:xfrm>
                  <a:off x="1713881" y="205474"/>
                  <a:ext cx="1273200" cy="2250600"/>
                </a:xfrm>
                <a:prstGeom prst="cube">
                  <a:avLst>
                    <a:gd name="adj" fmla="val 9947"/>
                  </a:avLst>
                </a:prstGeom>
                <a:gradFill>
                  <a:gsLst>
                    <a:gs pos="0">
                      <a:srgbClr val="595959"/>
                    </a:gs>
                    <a:gs pos="24000">
                      <a:srgbClr val="595959"/>
                    </a:gs>
                    <a:gs pos="100000">
                      <a:srgbClr val="262626"/>
                    </a:gs>
                  </a:gsLst>
                  <a:lin ang="2700006" scaled="0"/>
                </a:gradFill>
                <a:ln>
                  <a:noFill/>
                </a:ln>
                <a:effectLst>
                  <a:outerShdw blurRad="50800" dist="25400" dir="2700000" algn="tl" rotWithShape="0">
                    <a:srgbClr val="000000">
                      <a:alpha val="227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Calibri"/>
                    <a:ea typeface="Calibri"/>
                    <a:cs typeface="Calibri"/>
                    <a:sym typeface="Calibri"/>
                  </a:endParaRPr>
                </a:p>
              </p:txBody>
            </p:sp>
            <p:sp>
              <p:nvSpPr>
                <p:cNvPr id="1685" name="Google Shape;1685;g3f95de07730_1_1266"/>
                <p:cNvSpPr/>
                <p:nvPr/>
              </p:nvSpPr>
              <p:spPr>
                <a:xfrm rot="5400000">
                  <a:off x="2939050" y="1375061"/>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5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Calibri"/>
                    <a:ea typeface="Calibri"/>
                    <a:cs typeface="Calibri"/>
                    <a:sym typeface="Calibri"/>
                  </a:endParaRPr>
                </a:p>
              </p:txBody>
            </p:sp>
            <p:sp>
              <p:nvSpPr>
                <p:cNvPr id="1686" name="Google Shape;1686;g3f95de07730_1_1266"/>
                <p:cNvSpPr/>
                <p:nvPr/>
              </p:nvSpPr>
              <p:spPr>
                <a:xfrm rot="5400000">
                  <a:off x="2939050" y="1710680"/>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5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Calibri"/>
                    <a:ea typeface="Calibri"/>
                    <a:cs typeface="Calibri"/>
                    <a:sym typeface="Calibri"/>
                  </a:endParaRPr>
                </a:p>
              </p:txBody>
            </p:sp>
            <p:sp>
              <p:nvSpPr>
                <p:cNvPr id="1687" name="Google Shape;1687;g3f95de07730_1_1266"/>
                <p:cNvSpPr/>
                <p:nvPr/>
              </p:nvSpPr>
              <p:spPr>
                <a:xfrm rot="5400000">
                  <a:off x="2939050" y="2058762"/>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5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Calibri"/>
                    <a:ea typeface="Calibri"/>
                    <a:cs typeface="Calibri"/>
                    <a:sym typeface="Calibri"/>
                  </a:endParaRPr>
                </a:p>
              </p:txBody>
            </p:sp>
            <p:sp>
              <p:nvSpPr>
                <p:cNvPr id="1688" name="Google Shape;1688;g3f95de07730_1_1266"/>
                <p:cNvSpPr/>
                <p:nvPr/>
              </p:nvSpPr>
              <p:spPr>
                <a:xfrm>
                  <a:off x="1713882" y="348793"/>
                  <a:ext cx="1161556" cy="2107697"/>
                </a:xfrm>
                <a:custGeom>
                  <a:avLst/>
                  <a:gdLst/>
                  <a:ahLst/>
                  <a:cxnLst/>
                  <a:rect l="l" t="t" r="r" b="b"/>
                  <a:pathLst>
                    <a:path w="3391403" h="561678" extrusionOk="0">
                      <a:moveTo>
                        <a:pt x="0" y="0"/>
                      </a:moveTo>
                      <a:lnTo>
                        <a:pt x="3391403" y="0"/>
                      </a:lnTo>
                      <a:lnTo>
                        <a:pt x="0" y="561678"/>
                      </a:lnTo>
                      <a:lnTo>
                        <a:pt x="0" y="0"/>
                      </a:lnTo>
                      <a:close/>
                    </a:path>
                  </a:pathLst>
                </a:custGeom>
                <a:gradFill>
                  <a:gsLst>
                    <a:gs pos="0">
                      <a:srgbClr val="BFBFBF">
                        <a:alpha val="12549"/>
                      </a:srgbClr>
                    </a:gs>
                    <a:gs pos="24000">
                      <a:srgbClr val="BFBFBF">
                        <a:alpha val="12549"/>
                      </a:srgbClr>
                    </a:gs>
                    <a:gs pos="100000">
                      <a:srgbClr val="262626">
                        <a:alpha val="0"/>
                      </a:srgbClr>
                    </a:gs>
                  </a:gsLst>
                  <a:lin ang="2700006"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1689" name="Google Shape;1689;g3f95de07730_1_1266"/>
                <p:cNvSpPr/>
                <p:nvPr/>
              </p:nvSpPr>
              <p:spPr>
                <a:xfrm>
                  <a:off x="2785503" y="703849"/>
                  <a:ext cx="67200" cy="111300"/>
                </a:xfrm>
                <a:prstGeom prst="rect">
                  <a:avLst/>
                </a:prstGeom>
                <a:solidFill>
                  <a:srgbClr val="74CA21"/>
                </a:solidFill>
                <a:ln>
                  <a:noFill/>
                </a:ln>
                <a:effectLst>
                  <a:outerShdw blurRad="40000" dist="23000" dir="5400000" rotWithShape="0">
                    <a:srgbClr val="808080">
                      <a:alpha val="325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Calibri"/>
                    <a:ea typeface="Calibri"/>
                    <a:cs typeface="Calibri"/>
                    <a:sym typeface="Calibri"/>
                  </a:endParaRPr>
                </a:p>
              </p:txBody>
            </p:sp>
            <p:sp>
              <p:nvSpPr>
                <p:cNvPr id="1690" name="Google Shape;1690;g3f95de07730_1_1266"/>
                <p:cNvSpPr/>
                <p:nvPr/>
              </p:nvSpPr>
              <p:spPr>
                <a:xfrm>
                  <a:off x="2788264" y="872137"/>
                  <a:ext cx="67200" cy="111300"/>
                </a:xfrm>
                <a:prstGeom prst="rect">
                  <a:avLst/>
                </a:prstGeom>
                <a:solidFill>
                  <a:srgbClr val="00B0F0"/>
                </a:solidFill>
                <a:ln>
                  <a:noFill/>
                </a:ln>
                <a:effectLst>
                  <a:outerShdw blurRad="40000" dist="23000" dir="5400000" rotWithShape="0">
                    <a:srgbClr val="808080">
                      <a:alpha val="325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Calibri"/>
                    <a:ea typeface="Calibri"/>
                    <a:cs typeface="Calibri"/>
                    <a:sym typeface="Calibri"/>
                  </a:endParaRPr>
                </a:p>
              </p:txBody>
            </p:sp>
          </p:grpSp>
          <p:grpSp>
            <p:nvGrpSpPr>
              <p:cNvPr id="1691" name="Google Shape;1691;g3f95de07730_1_1266"/>
              <p:cNvGrpSpPr/>
              <p:nvPr/>
            </p:nvGrpSpPr>
            <p:grpSpPr>
              <a:xfrm>
                <a:off x="2647066" y="2284694"/>
                <a:ext cx="280876" cy="297810"/>
                <a:chOff x="5967413" y="-3362325"/>
                <a:chExt cx="1133478" cy="1454150"/>
              </a:xfrm>
            </p:grpSpPr>
            <p:sp>
              <p:nvSpPr>
                <p:cNvPr id="1692" name="Google Shape;1692;g3f95de07730_1_126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93" name="Google Shape;1693;g3f95de07730_1_126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94" name="Google Shape;1694;g3f95de07730_1_126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95" name="Google Shape;1695;g3f95de07730_1_126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96" name="Google Shape;1696;g3f95de07730_1_126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97" name="Google Shape;1697;g3f95de07730_1_126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98" name="Google Shape;1698;g3f95de07730_1_126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699" name="Google Shape;1699;g3f95de07730_1_126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00" name="Google Shape;1700;g3f95de07730_1_126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01" name="Google Shape;1701;g3f95de07730_1_126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02" name="Google Shape;1702;g3f95de07730_1_126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03" name="Google Shape;1703;g3f95de07730_1_126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04" name="Google Shape;1704;g3f95de07730_1_126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05" name="Google Shape;1705;g3f95de07730_1_126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grpSp>
          <p:nvGrpSpPr>
            <p:cNvPr id="1706" name="Google Shape;1706;g3f95de07730_1_1266"/>
            <p:cNvGrpSpPr/>
            <p:nvPr/>
          </p:nvGrpSpPr>
          <p:grpSpPr>
            <a:xfrm>
              <a:off x="6804955" y="2049743"/>
              <a:ext cx="561100" cy="584771"/>
              <a:chOff x="2647066" y="1997733"/>
              <a:chExt cx="561100" cy="584771"/>
            </a:xfrm>
          </p:grpSpPr>
          <p:grpSp>
            <p:nvGrpSpPr>
              <p:cNvPr id="1707" name="Google Shape;1707;g3f95de07730_1_1266"/>
              <p:cNvGrpSpPr/>
              <p:nvPr/>
            </p:nvGrpSpPr>
            <p:grpSpPr>
              <a:xfrm>
                <a:off x="2857751" y="1997733"/>
                <a:ext cx="350416" cy="554425"/>
                <a:chOff x="1713881" y="205474"/>
                <a:chExt cx="1422719" cy="2251016"/>
              </a:xfrm>
            </p:grpSpPr>
            <p:sp>
              <p:nvSpPr>
                <p:cNvPr id="1708" name="Google Shape;1708;g3f95de07730_1_1266"/>
                <p:cNvSpPr/>
                <p:nvPr/>
              </p:nvSpPr>
              <p:spPr>
                <a:xfrm>
                  <a:off x="1713881" y="205474"/>
                  <a:ext cx="1273200" cy="2250600"/>
                </a:xfrm>
                <a:prstGeom prst="cube">
                  <a:avLst>
                    <a:gd name="adj" fmla="val 9947"/>
                  </a:avLst>
                </a:prstGeom>
                <a:gradFill>
                  <a:gsLst>
                    <a:gs pos="0">
                      <a:srgbClr val="595959"/>
                    </a:gs>
                    <a:gs pos="24000">
                      <a:srgbClr val="595959"/>
                    </a:gs>
                    <a:gs pos="100000">
                      <a:srgbClr val="262626"/>
                    </a:gs>
                  </a:gsLst>
                  <a:lin ang="2700006" scaled="0"/>
                </a:gradFill>
                <a:ln>
                  <a:noFill/>
                </a:ln>
                <a:effectLst>
                  <a:outerShdw blurRad="50800" dist="25400" dir="2700000" algn="tl" rotWithShape="0">
                    <a:srgbClr val="000000">
                      <a:alpha val="227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Calibri"/>
                    <a:ea typeface="Calibri"/>
                    <a:cs typeface="Calibri"/>
                    <a:sym typeface="Calibri"/>
                  </a:endParaRPr>
                </a:p>
              </p:txBody>
            </p:sp>
            <p:sp>
              <p:nvSpPr>
                <p:cNvPr id="1709" name="Google Shape;1709;g3f95de07730_1_1266"/>
                <p:cNvSpPr/>
                <p:nvPr/>
              </p:nvSpPr>
              <p:spPr>
                <a:xfrm rot="5400000">
                  <a:off x="2939050" y="1375061"/>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5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Calibri"/>
                    <a:ea typeface="Calibri"/>
                    <a:cs typeface="Calibri"/>
                    <a:sym typeface="Calibri"/>
                  </a:endParaRPr>
                </a:p>
              </p:txBody>
            </p:sp>
            <p:sp>
              <p:nvSpPr>
                <p:cNvPr id="1710" name="Google Shape;1710;g3f95de07730_1_1266"/>
                <p:cNvSpPr/>
                <p:nvPr/>
              </p:nvSpPr>
              <p:spPr>
                <a:xfrm rot="5400000">
                  <a:off x="2939050" y="1710680"/>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5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Calibri"/>
                    <a:ea typeface="Calibri"/>
                    <a:cs typeface="Calibri"/>
                    <a:sym typeface="Calibri"/>
                  </a:endParaRPr>
                </a:p>
              </p:txBody>
            </p:sp>
            <p:sp>
              <p:nvSpPr>
                <p:cNvPr id="1711" name="Google Shape;1711;g3f95de07730_1_1266"/>
                <p:cNvSpPr/>
                <p:nvPr/>
              </p:nvSpPr>
              <p:spPr>
                <a:xfrm rot="5400000">
                  <a:off x="2939050" y="2058762"/>
                  <a:ext cx="245400" cy="149700"/>
                </a:xfrm>
                <a:prstGeom prst="round2SameRect">
                  <a:avLst>
                    <a:gd name="adj1" fmla="val 44656"/>
                    <a:gd name="adj2" fmla="val 0"/>
                  </a:avLst>
                </a:prstGeom>
                <a:solidFill>
                  <a:srgbClr val="A5A5A5"/>
                </a:solidFill>
                <a:ln>
                  <a:noFill/>
                </a:ln>
                <a:effectLst>
                  <a:outerShdw blurRad="40000" dist="23000" dir="5400000" rotWithShape="0">
                    <a:srgbClr val="808080">
                      <a:alpha val="325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Calibri"/>
                    <a:ea typeface="Calibri"/>
                    <a:cs typeface="Calibri"/>
                    <a:sym typeface="Calibri"/>
                  </a:endParaRPr>
                </a:p>
              </p:txBody>
            </p:sp>
            <p:sp>
              <p:nvSpPr>
                <p:cNvPr id="1712" name="Google Shape;1712;g3f95de07730_1_1266"/>
                <p:cNvSpPr/>
                <p:nvPr/>
              </p:nvSpPr>
              <p:spPr>
                <a:xfrm>
                  <a:off x="1713882" y="348793"/>
                  <a:ext cx="1161556" cy="2107697"/>
                </a:xfrm>
                <a:custGeom>
                  <a:avLst/>
                  <a:gdLst/>
                  <a:ahLst/>
                  <a:cxnLst/>
                  <a:rect l="l" t="t" r="r" b="b"/>
                  <a:pathLst>
                    <a:path w="3391403" h="561678" extrusionOk="0">
                      <a:moveTo>
                        <a:pt x="0" y="0"/>
                      </a:moveTo>
                      <a:lnTo>
                        <a:pt x="3391403" y="0"/>
                      </a:lnTo>
                      <a:lnTo>
                        <a:pt x="0" y="561678"/>
                      </a:lnTo>
                      <a:lnTo>
                        <a:pt x="0" y="0"/>
                      </a:lnTo>
                      <a:close/>
                    </a:path>
                  </a:pathLst>
                </a:custGeom>
                <a:gradFill>
                  <a:gsLst>
                    <a:gs pos="0">
                      <a:srgbClr val="BFBFBF">
                        <a:alpha val="12549"/>
                      </a:srgbClr>
                    </a:gs>
                    <a:gs pos="24000">
                      <a:srgbClr val="BFBFBF">
                        <a:alpha val="12549"/>
                      </a:srgbClr>
                    </a:gs>
                    <a:gs pos="100000">
                      <a:srgbClr val="262626">
                        <a:alpha val="0"/>
                      </a:srgbClr>
                    </a:gs>
                  </a:gsLst>
                  <a:lin ang="2700006"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1713" name="Google Shape;1713;g3f95de07730_1_1266"/>
                <p:cNvSpPr/>
                <p:nvPr/>
              </p:nvSpPr>
              <p:spPr>
                <a:xfrm>
                  <a:off x="2785503" y="703849"/>
                  <a:ext cx="67200" cy="111300"/>
                </a:xfrm>
                <a:prstGeom prst="rect">
                  <a:avLst/>
                </a:prstGeom>
                <a:solidFill>
                  <a:srgbClr val="74CA21"/>
                </a:solidFill>
                <a:ln>
                  <a:noFill/>
                </a:ln>
                <a:effectLst>
                  <a:outerShdw blurRad="40000" dist="23000" dir="5400000" rotWithShape="0">
                    <a:srgbClr val="808080">
                      <a:alpha val="325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Calibri"/>
                    <a:ea typeface="Calibri"/>
                    <a:cs typeface="Calibri"/>
                    <a:sym typeface="Calibri"/>
                  </a:endParaRPr>
                </a:p>
              </p:txBody>
            </p:sp>
            <p:sp>
              <p:nvSpPr>
                <p:cNvPr id="1714" name="Google Shape;1714;g3f95de07730_1_1266"/>
                <p:cNvSpPr/>
                <p:nvPr/>
              </p:nvSpPr>
              <p:spPr>
                <a:xfrm>
                  <a:off x="2788264" y="872137"/>
                  <a:ext cx="67200" cy="111300"/>
                </a:xfrm>
                <a:prstGeom prst="rect">
                  <a:avLst/>
                </a:prstGeom>
                <a:solidFill>
                  <a:srgbClr val="00B0F0"/>
                </a:solidFill>
                <a:ln>
                  <a:noFill/>
                </a:ln>
                <a:effectLst>
                  <a:outerShdw blurRad="40000" dist="23000" dir="5400000" rotWithShape="0">
                    <a:srgbClr val="808080">
                      <a:alpha val="3255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Calibri"/>
                    <a:ea typeface="Calibri"/>
                    <a:cs typeface="Calibri"/>
                    <a:sym typeface="Calibri"/>
                  </a:endParaRPr>
                </a:p>
              </p:txBody>
            </p:sp>
          </p:grpSp>
          <p:grpSp>
            <p:nvGrpSpPr>
              <p:cNvPr id="1715" name="Google Shape;1715;g3f95de07730_1_1266"/>
              <p:cNvGrpSpPr/>
              <p:nvPr/>
            </p:nvGrpSpPr>
            <p:grpSpPr>
              <a:xfrm>
                <a:off x="2647066" y="2284694"/>
                <a:ext cx="280876" cy="297810"/>
                <a:chOff x="5967413" y="-3362325"/>
                <a:chExt cx="1133478" cy="1454150"/>
              </a:xfrm>
            </p:grpSpPr>
            <p:sp>
              <p:nvSpPr>
                <p:cNvPr id="1716" name="Google Shape;1716;g3f95de07730_1_126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17" name="Google Shape;1717;g3f95de07730_1_126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18" name="Google Shape;1718;g3f95de07730_1_126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19" name="Google Shape;1719;g3f95de07730_1_126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20" name="Google Shape;1720;g3f95de07730_1_126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21" name="Google Shape;1721;g3f95de07730_1_126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22" name="Google Shape;1722;g3f95de07730_1_126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23" name="Google Shape;1723;g3f95de07730_1_126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24" name="Google Shape;1724;g3f95de07730_1_126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25" name="Google Shape;1725;g3f95de07730_1_126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26" name="Google Shape;1726;g3f95de07730_1_126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27" name="Google Shape;1727;g3f95de07730_1_126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28" name="Google Shape;1728;g3f95de07730_1_126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29" name="Google Shape;1729;g3f95de07730_1_126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sp>
          <p:nvSpPr>
            <p:cNvPr id="1730" name="Google Shape;1730;g3f95de07730_1_1266"/>
            <p:cNvSpPr txBox="1"/>
            <p:nvPr/>
          </p:nvSpPr>
          <p:spPr>
            <a:xfrm>
              <a:off x="3958087" y="2590481"/>
              <a:ext cx="480300" cy="927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700"/>
                <a:buFont typeface="Arial"/>
                <a:buNone/>
              </a:pPr>
              <a:r>
                <a:rPr lang="en-US" sz="700" b="1" i="0" u="none" strike="noStrike" cap="none">
                  <a:solidFill>
                    <a:srgbClr val="3F3F3F"/>
                  </a:solidFill>
                  <a:latin typeface="Roboto"/>
                  <a:ea typeface="Roboto"/>
                  <a:cs typeface="Roboto"/>
                  <a:sym typeface="Roboto"/>
                </a:rPr>
                <a:t>Input Files</a:t>
              </a:r>
              <a:endParaRPr sz="700" b="1" i="0" u="none" strike="noStrike" cap="none">
                <a:solidFill>
                  <a:srgbClr val="3F3F3F"/>
                </a:solidFill>
                <a:latin typeface="Roboto"/>
                <a:ea typeface="Roboto"/>
                <a:cs typeface="Roboto"/>
                <a:sym typeface="Roboto"/>
              </a:endParaRPr>
            </a:p>
          </p:txBody>
        </p:sp>
        <p:sp>
          <p:nvSpPr>
            <p:cNvPr id="1731" name="Google Shape;1731;g3f95de07730_1_1266"/>
            <p:cNvSpPr txBox="1"/>
            <p:nvPr/>
          </p:nvSpPr>
          <p:spPr>
            <a:xfrm>
              <a:off x="4700553" y="2590481"/>
              <a:ext cx="698700" cy="927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700"/>
                <a:buFont typeface="Arial"/>
                <a:buNone/>
              </a:pPr>
              <a:r>
                <a:rPr lang="en-US" sz="700" b="1" i="0" u="none" strike="noStrike" cap="none">
                  <a:solidFill>
                    <a:srgbClr val="3F3F3F"/>
                  </a:solidFill>
                  <a:latin typeface="Roboto"/>
                  <a:ea typeface="Roboto"/>
                  <a:cs typeface="Roboto"/>
                  <a:sym typeface="Roboto"/>
                </a:rPr>
                <a:t>Intermediate Files</a:t>
              </a:r>
              <a:endParaRPr sz="700" b="1" i="0" u="none" strike="noStrike" cap="none">
                <a:solidFill>
                  <a:srgbClr val="3F3F3F"/>
                </a:solidFill>
                <a:latin typeface="Roboto"/>
                <a:ea typeface="Roboto"/>
                <a:cs typeface="Roboto"/>
                <a:sym typeface="Roboto"/>
              </a:endParaRPr>
            </a:p>
          </p:txBody>
        </p:sp>
        <p:sp>
          <p:nvSpPr>
            <p:cNvPr id="1732" name="Google Shape;1732;g3f95de07730_1_1266"/>
            <p:cNvSpPr txBox="1"/>
            <p:nvPr/>
          </p:nvSpPr>
          <p:spPr>
            <a:xfrm>
              <a:off x="5543401" y="2590481"/>
              <a:ext cx="698700" cy="927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700"/>
                <a:buFont typeface="Arial"/>
                <a:buNone/>
              </a:pPr>
              <a:r>
                <a:rPr lang="en-US" sz="700" b="1" i="0" u="none" strike="noStrike" cap="none">
                  <a:solidFill>
                    <a:srgbClr val="3F3F3F"/>
                  </a:solidFill>
                  <a:latin typeface="Roboto"/>
                  <a:ea typeface="Roboto"/>
                  <a:cs typeface="Roboto"/>
                  <a:sym typeface="Roboto"/>
                </a:rPr>
                <a:t>Produced Dataser</a:t>
              </a:r>
              <a:endParaRPr sz="700" b="1" i="0" u="none" strike="noStrike" cap="none">
                <a:solidFill>
                  <a:srgbClr val="3F3F3F"/>
                </a:solidFill>
                <a:latin typeface="Roboto"/>
                <a:ea typeface="Roboto"/>
                <a:cs typeface="Roboto"/>
                <a:sym typeface="Roboto"/>
              </a:endParaRPr>
            </a:p>
          </p:txBody>
        </p:sp>
        <p:cxnSp>
          <p:nvCxnSpPr>
            <p:cNvPr id="1733" name="Google Shape;1733;g3f95de07730_1_1266"/>
            <p:cNvCxnSpPr/>
            <p:nvPr/>
          </p:nvCxnSpPr>
          <p:spPr>
            <a:xfrm>
              <a:off x="4618801" y="2074936"/>
              <a:ext cx="0" cy="420300"/>
            </a:xfrm>
            <a:prstGeom prst="straightConnector1">
              <a:avLst/>
            </a:prstGeom>
            <a:noFill/>
            <a:ln w="12700" cap="flat" cmpd="sng">
              <a:solidFill>
                <a:srgbClr val="D8D8D8"/>
              </a:solidFill>
              <a:prstDash val="solid"/>
              <a:miter lim="8000"/>
              <a:headEnd type="none" w="sm" len="sm"/>
              <a:tailEnd type="none" w="sm" len="sm"/>
            </a:ln>
          </p:spPr>
        </p:cxnSp>
        <p:cxnSp>
          <p:nvCxnSpPr>
            <p:cNvPr id="1734" name="Google Shape;1734;g3f95de07730_1_1266"/>
            <p:cNvCxnSpPr/>
            <p:nvPr/>
          </p:nvCxnSpPr>
          <p:spPr>
            <a:xfrm>
              <a:off x="5465246" y="2074936"/>
              <a:ext cx="0" cy="420300"/>
            </a:xfrm>
            <a:prstGeom prst="straightConnector1">
              <a:avLst/>
            </a:prstGeom>
            <a:noFill/>
            <a:ln w="12700" cap="flat" cmpd="sng">
              <a:solidFill>
                <a:srgbClr val="D8D8D8"/>
              </a:solidFill>
              <a:prstDash val="solid"/>
              <a:miter lim="8000"/>
              <a:headEnd type="none" w="sm" len="sm"/>
              <a:tailEnd type="none" w="sm" len="sm"/>
            </a:ln>
          </p:spPr>
        </p:cxnSp>
        <p:sp>
          <p:nvSpPr>
            <p:cNvPr id="1735" name="Google Shape;1735;g3f95de07730_1_1266"/>
            <p:cNvSpPr txBox="1"/>
            <p:nvPr/>
          </p:nvSpPr>
          <p:spPr>
            <a:xfrm>
              <a:off x="3174750" y="2917961"/>
              <a:ext cx="818700" cy="2382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3F3F3F"/>
                  </a:solidFill>
                  <a:latin typeface="Roboto"/>
                  <a:ea typeface="Roboto"/>
                  <a:cs typeface="Roboto"/>
                  <a:sym typeface="Roboto"/>
                </a:rPr>
                <a:t>Workflow stagein Job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3F3F3F"/>
                  </a:solidFill>
                  <a:latin typeface="Roboto"/>
                  <a:ea typeface="Roboto"/>
                  <a:cs typeface="Roboto"/>
                  <a:sym typeface="Roboto"/>
                </a:rPr>
                <a:t>stages in the input data for workflow from user server</a:t>
              </a:r>
              <a:endParaRPr sz="600" b="0" i="1" u="none" strike="noStrike" cap="none">
                <a:solidFill>
                  <a:srgbClr val="3F3F3F"/>
                </a:solidFill>
                <a:latin typeface="Roboto"/>
                <a:ea typeface="Roboto"/>
                <a:cs typeface="Roboto"/>
                <a:sym typeface="Roboto"/>
              </a:endParaRPr>
            </a:p>
          </p:txBody>
        </p:sp>
        <p:sp>
          <p:nvSpPr>
            <p:cNvPr id="1736" name="Google Shape;1736;g3f95de07730_1_1266"/>
            <p:cNvSpPr txBox="1"/>
            <p:nvPr/>
          </p:nvSpPr>
          <p:spPr>
            <a:xfrm>
              <a:off x="4664702" y="2850756"/>
              <a:ext cx="1092900" cy="3174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3F3F3F"/>
                  </a:solidFill>
                  <a:latin typeface="Roboto"/>
                  <a:ea typeface="Roboto"/>
                  <a:cs typeface="Roboto"/>
                  <a:sym typeface="Roboto"/>
                </a:rPr>
                <a:t>PegassusLife instance looks up input data on the compute node/ CVMFS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3F3F3F"/>
                  </a:solidFill>
                  <a:latin typeface="Roboto"/>
                  <a:ea typeface="Roboto"/>
                  <a:cs typeface="Roboto"/>
                  <a:sym typeface="Roboto"/>
                </a:rPr>
                <a:t>If not present, stage-in data from remote data staging server</a:t>
              </a:r>
              <a:endParaRPr sz="600" b="0" i="1" u="none" strike="noStrike" cap="none">
                <a:solidFill>
                  <a:srgbClr val="3F3F3F"/>
                </a:solidFill>
                <a:latin typeface="Roboto"/>
                <a:ea typeface="Roboto"/>
                <a:cs typeface="Roboto"/>
                <a:sym typeface="Roboto"/>
              </a:endParaRPr>
            </a:p>
          </p:txBody>
        </p:sp>
        <p:sp>
          <p:nvSpPr>
            <p:cNvPr id="1737" name="Google Shape;1737;g3f95de07730_1_1266"/>
            <p:cNvSpPr txBox="1"/>
            <p:nvPr/>
          </p:nvSpPr>
          <p:spPr>
            <a:xfrm>
              <a:off x="6241234" y="2890431"/>
              <a:ext cx="988800" cy="2382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3F3F3F"/>
                  </a:solidFill>
                  <a:latin typeface="Roboto"/>
                  <a:ea typeface="Roboto"/>
                  <a:cs typeface="Roboto"/>
                  <a:sym typeface="Roboto"/>
                </a:rPr>
                <a:t>Workflow Stageout Job stages produced data from data staging server to LIGO Output Data Server</a:t>
              </a:r>
              <a:endParaRPr sz="600" b="0" i="1" u="none" strike="noStrike" cap="none">
                <a:solidFill>
                  <a:srgbClr val="3F3F3F"/>
                </a:solidFill>
                <a:latin typeface="Roboto"/>
                <a:ea typeface="Roboto"/>
                <a:cs typeface="Roboto"/>
                <a:sym typeface="Roboto"/>
              </a:endParaRPr>
            </a:p>
          </p:txBody>
        </p:sp>
        <p:sp>
          <p:nvSpPr>
            <p:cNvPr id="1738" name="Google Shape;1738;g3f95de07730_1_1266"/>
            <p:cNvSpPr/>
            <p:nvPr/>
          </p:nvSpPr>
          <p:spPr>
            <a:xfrm>
              <a:off x="2781605" y="2801705"/>
              <a:ext cx="1394922" cy="415439"/>
            </a:xfrm>
            <a:custGeom>
              <a:avLst/>
              <a:gdLst/>
              <a:ahLst/>
              <a:cxnLst/>
              <a:rect l="l" t="t" r="r" b="b"/>
              <a:pathLst>
                <a:path w="1223616" h="1107837" extrusionOk="0">
                  <a:moveTo>
                    <a:pt x="1223616" y="0"/>
                  </a:moveTo>
                  <a:lnTo>
                    <a:pt x="1223616" y="1107838"/>
                  </a:lnTo>
                  <a:lnTo>
                    <a:pt x="0" y="1107838"/>
                  </a:lnTo>
                  <a:lnTo>
                    <a:pt x="0" y="0"/>
                  </a:lnTo>
                </a:path>
              </a:pathLst>
            </a:custGeom>
            <a:noFill/>
            <a:ln w="9525" cap="flat" cmpd="sng">
              <a:solidFill>
                <a:srgbClr val="A5A5A5"/>
              </a:solidFill>
              <a:prstDash val="dot"/>
              <a:miter lim="8000"/>
              <a:headEnd type="triangle" w="med" len="med"/>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1739" name="Google Shape;1739;g3f95de07730_1_1266"/>
            <p:cNvSpPr txBox="1"/>
            <p:nvPr/>
          </p:nvSpPr>
          <p:spPr>
            <a:xfrm>
              <a:off x="2979228" y="2863981"/>
              <a:ext cx="154500" cy="2910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3F3F3F"/>
                  </a:solidFill>
                  <a:latin typeface="Roboto"/>
                  <a:ea typeface="Roboto"/>
                  <a:cs typeface="Roboto"/>
                  <a:sym typeface="Roboto"/>
                </a:rPr>
                <a:t>1</a:t>
              </a:r>
              <a:endParaRPr sz="2200" b="1" i="0" u="none" strike="noStrike" cap="none">
                <a:solidFill>
                  <a:srgbClr val="3F3F3F"/>
                </a:solidFill>
                <a:latin typeface="Roboto"/>
                <a:ea typeface="Roboto"/>
                <a:cs typeface="Roboto"/>
                <a:sym typeface="Roboto"/>
              </a:endParaRPr>
            </a:p>
          </p:txBody>
        </p:sp>
        <p:sp>
          <p:nvSpPr>
            <p:cNvPr id="1740" name="Google Shape;1740;g3f95de07730_1_1266"/>
            <p:cNvSpPr/>
            <p:nvPr/>
          </p:nvSpPr>
          <p:spPr>
            <a:xfrm>
              <a:off x="5900973" y="2801705"/>
              <a:ext cx="1401040" cy="415439"/>
            </a:xfrm>
            <a:custGeom>
              <a:avLst/>
              <a:gdLst/>
              <a:ahLst/>
              <a:cxnLst/>
              <a:rect l="l" t="t" r="r" b="b"/>
              <a:pathLst>
                <a:path w="1223616" h="1107837" extrusionOk="0">
                  <a:moveTo>
                    <a:pt x="1223616" y="0"/>
                  </a:moveTo>
                  <a:lnTo>
                    <a:pt x="1223616" y="1107838"/>
                  </a:lnTo>
                  <a:lnTo>
                    <a:pt x="0" y="1107838"/>
                  </a:lnTo>
                  <a:lnTo>
                    <a:pt x="0" y="0"/>
                  </a:lnTo>
                </a:path>
              </a:pathLst>
            </a:custGeom>
            <a:noFill/>
            <a:ln w="9525" cap="flat" cmpd="sng">
              <a:solidFill>
                <a:srgbClr val="A5A5A5"/>
              </a:solidFill>
              <a:prstDash val="dot"/>
              <a:miter lim="8000"/>
              <a:headEnd type="triangle" w="med" len="med"/>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1741" name="Google Shape;1741;g3f95de07730_1_1266"/>
            <p:cNvSpPr txBox="1"/>
            <p:nvPr/>
          </p:nvSpPr>
          <p:spPr>
            <a:xfrm>
              <a:off x="6014340" y="2863981"/>
              <a:ext cx="154500" cy="2910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3F3F3F"/>
                  </a:solidFill>
                  <a:latin typeface="Roboto"/>
                  <a:ea typeface="Roboto"/>
                  <a:cs typeface="Roboto"/>
                  <a:sym typeface="Roboto"/>
                </a:rPr>
                <a:t>4</a:t>
              </a:r>
              <a:endParaRPr sz="2200" b="1" i="0" u="none" strike="noStrike" cap="none">
                <a:solidFill>
                  <a:srgbClr val="3F3F3F"/>
                </a:solidFill>
                <a:latin typeface="Roboto"/>
                <a:ea typeface="Roboto"/>
                <a:cs typeface="Roboto"/>
                <a:sym typeface="Roboto"/>
              </a:endParaRPr>
            </a:p>
          </p:txBody>
        </p:sp>
        <p:sp>
          <p:nvSpPr>
            <p:cNvPr id="1742" name="Google Shape;1742;g3f95de07730_1_1266"/>
            <p:cNvSpPr txBox="1"/>
            <p:nvPr/>
          </p:nvSpPr>
          <p:spPr>
            <a:xfrm>
              <a:off x="2737854" y="3675467"/>
              <a:ext cx="1152900" cy="4167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6CAF27"/>
                  </a:solidFill>
                  <a:latin typeface="Roboto"/>
                  <a:ea typeface="Roboto"/>
                  <a:cs typeface="Roboto"/>
                  <a:sym typeface="Roboto"/>
                </a:rPr>
                <a:t>Nodes from OSG &amp;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6CAF27"/>
                  </a:solidFill>
                  <a:latin typeface="Roboto"/>
                  <a:ea typeface="Roboto"/>
                  <a:cs typeface="Roboto"/>
                  <a:sym typeface="Roboto"/>
                </a:rPr>
                <a:t>LIGO Sites managed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6CAF27"/>
                  </a:solidFill>
                  <a:latin typeface="Roboto"/>
                  <a:ea typeface="Roboto"/>
                  <a:cs typeface="Roboto"/>
                  <a:sym typeface="Roboto"/>
                </a:rPr>
                <a:t>By Glidein WMS </a:t>
              </a:r>
              <a:endParaRPr sz="1050" b="1" i="0" u="none" strike="noStrike" cap="none">
                <a:solidFill>
                  <a:srgbClr val="6CAF27"/>
                </a:solidFill>
                <a:latin typeface="Roboto"/>
                <a:ea typeface="Roboto"/>
                <a:cs typeface="Roboto"/>
                <a:sym typeface="Roboto"/>
              </a:endParaRPr>
            </a:p>
          </p:txBody>
        </p:sp>
        <p:sp>
          <p:nvSpPr>
            <p:cNvPr id="1743" name="Google Shape;1743;g3f95de07730_1_1266"/>
            <p:cNvSpPr/>
            <p:nvPr/>
          </p:nvSpPr>
          <p:spPr>
            <a:xfrm>
              <a:off x="4524262" y="3483520"/>
              <a:ext cx="1035600" cy="195900"/>
            </a:xfrm>
            <a:prstGeom prst="roundRect">
              <a:avLst>
                <a:gd name="adj" fmla="val 16667"/>
              </a:avLst>
            </a:prstGeom>
            <a:solidFill>
              <a:schemeClr val="lt1"/>
            </a:solidFill>
            <a:ln w="9525" cap="flat" cmpd="sng">
              <a:solidFill>
                <a:srgbClr val="6CAF27"/>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Roboto"/>
                  <a:ea typeface="Roboto"/>
                  <a:cs typeface="Roboto"/>
                  <a:sym typeface="Roboto"/>
                </a:rPr>
                <a:t>HTTP Squid Cache</a:t>
              </a:r>
              <a:endParaRPr sz="800" b="0" i="0" u="none" strike="noStrike" cap="none">
                <a:solidFill>
                  <a:srgbClr val="3F3F3F"/>
                </a:solidFill>
                <a:latin typeface="Roboto"/>
                <a:ea typeface="Roboto"/>
                <a:cs typeface="Roboto"/>
                <a:sym typeface="Roboto"/>
              </a:endParaRPr>
            </a:p>
          </p:txBody>
        </p:sp>
        <p:sp>
          <p:nvSpPr>
            <p:cNvPr id="1744" name="Google Shape;1744;g3f95de07730_1_1266"/>
            <p:cNvSpPr txBox="1"/>
            <p:nvPr/>
          </p:nvSpPr>
          <p:spPr>
            <a:xfrm>
              <a:off x="6195281" y="3723452"/>
              <a:ext cx="988800" cy="2382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3F3F3F"/>
                  </a:solidFill>
                  <a:latin typeface="Roboto"/>
                  <a:ea typeface="Roboto"/>
                  <a:cs typeface="Roboto"/>
                  <a:sym typeface="Roboto"/>
                </a:rPr>
                <a:t>Pegasus lite instance stages out job output data from worker node to data staging server </a:t>
              </a:r>
              <a:endParaRPr sz="600" b="0" i="1" u="none" strike="noStrike" cap="none">
                <a:solidFill>
                  <a:srgbClr val="3F3F3F"/>
                </a:solidFill>
                <a:latin typeface="Roboto"/>
                <a:ea typeface="Roboto"/>
                <a:cs typeface="Roboto"/>
                <a:sym typeface="Roboto"/>
              </a:endParaRPr>
            </a:p>
          </p:txBody>
        </p:sp>
        <p:sp>
          <p:nvSpPr>
            <p:cNvPr id="1745" name="Google Shape;1745;g3f95de07730_1_1266"/>
            <p:cNvSpPr txBox="1"/>
            <p:nvPr/>
          </p:nvSpPr>
          <p:spPr>
            <a:xfrm>
              <a:off x="5968387" y="3697003"/>
              <a:ext cx="154500" cy="2910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3F3F3F"/>
                  </a:solidFill>
                  <a:latin typeface="Roboto"/>
                  <a:ea typeface="Roboto"/>
                  <a:cs typeface="Roboto"/>
                  <a:sym typeface="Roboto"/>
                </a:rPr>
                <a:t>3</a:t>
              </a:r>
              <a:endParaRPr sz="2200" b="1" i="0" u="none" strike="noStrike" cap="none">
                <a:solidFill>
                  <a:srgbClr val="3F3F3F"/>
                </a:solidFill>
                <a:latin typeface="Roboto"/>
                <a:ea typeface="Roboto"/>
                <a:cs typeface="Roboto"/>
                <a:sym typeface="Roboto"/>
              </a:endParaRPr>
            </a:p>
          </p:txBody>
        </p:sp>
        <p:grpSp>
          <p:nvGrpSpPr>
            <p:cNvPr id="1746" name="Google Shape;1746;g3f95de07730_1_1266"/>
            <p:cNvGrpSpPr/>
            <p:nvPr/>
          </p:nvGrpSpPr>
          <p:grpSpPr>
            <a:xfrm>
              <a:off x="2910338" y="5045397"/>
              <a:ext cx="376733" cy="448726"/>
              <a:chOff x="2700762" y="5095926"/>
              <a:chExt cx="376733" cy="448726"/>
            </a:xfrm>
          </p:grpSpPr>
          <p:grpSp>
            <p:nvGrpSpPr>
              <p:cNvPr id="1747" name="Google Shape;1747;g3f95de07730_1_1266"/>
              <p:cNvGrpSpPr/>
              <p:nvPr/>
            </p:nvGrpSpPr>
            <p:grpSpPr>
              <a:xfrm>
                <a:off x="2700762" y="5095926"/>
                <a:ext cx="376733" cy="448726"/>
                <a:chOff x="2939904" y="4395131"/>
                <a:chExt cx="376733" cy="448726"/>
              </a:xfrm>
            </p:grpSpPr>
            <p:grpSp>
              <p:nvGrpSpPr>
                <p:cNvPr id="1748" name="Google Shape;1748;g3f95de07730_1_1266"/>
                <p:cNvGrpSpPr/>
                <p:nvPr/>
              </p:nvGrpSpPr>
              <p:grpSpPr>
                <a:xfrm>
                  <a:off x="3040778" y="4395131"/>
                  <a:ext cx="275858" cy="376772"/>
                  <a:chOff x="3040778" y="4395131"/>
                  <a:chExt cx="275858" cy="376772"/>
                </a:xfrm>
              </p:grpSpPr>
              <p:sp>
                <p:nvSpPr>
                  <p:cNvPr id="1749" name="Google Shape;1749;g3f95de07730_1_1266"/>
                  <p:cNvSpPr/>
                  <p:nvPr/>
                </p:nvSpPr>
                <p:spPr>
                  <a:xfrm>
                    <a:off x="3040778" y="4395131"/>
                    <a:ext cx="275858" cy="376772"/>
                  </a:xfrm>
                  <a:custGeom>
                    <a:avLst/>
                    <a:gdLst/>
                    <a:ahLst/>
                    <a:cxnLst/>
                    <a:rect l="l" t="t" r="r" b="b"/>
                    <a:pathLst>
                      <a:path w="5235" h="7147" extrusionOk="0">
                        <a:moveTo>
                          <a:pt x="3501" y="0"/>
                        </a:moveTo>
                        <a:lnTo>
                          <a:pt x="0" y="2049"/>
                        </a:lnTo>
                        <a:lnTo>
                          <a:pt x="16" y="6095"/>
                        </a:lnTo>
                        <a:lnTo>
                          <a:pt x="1785" y="7147"/>
                        </a:lnTo>
                        <a:lnTo>
                          <a:pt x="5199" y="5045"/>
                        </a:lnTo>
                        <a:lnTo>
                          <a:pt x="5235" y="981"/>
                        </a:lnTo>
                        <a:lnTo>
                          <a:pt x="3501" y="0"/>
                        </a:lnTo>
                        <a:close/>
                      </a:path>
                    </a:pathLst>
                  </a:custGeom>
                  <a:solidFill>
                    <a:srgbClr val="9999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50" name="Google Shape;1750;g3f95de07730_1_1266"/>
                  <p:cNvSpPr/>
                  <p:nvPr/>
                </p:nvSpPr>
                <p:spPr>
                  <a:xfrm>
                    <a:off x="3134100" y="4449542"/>
                    <a:ext cx="182527" cy="322351"/>
                  </a:xfrm>
                  <a:custGeom>
                    <a:avLst/>
                    <a:gdLst/>
                    <a:ahLst/>
                    <a:cxnLst/>
                    <a:rect l="l" t="t" r="r" b="b"/>
                    <a:pathLst>
                      <a:path w="3464" h="6117" extrusionOk="0">
                        <a:moveTo>
                          <a:pt x="0" y="6107"/>
                        </a:moveTo>
                        <a:lnTo>
                          <a:pt x="15" y="6117"/>
                        </a:lnTo>
                        <a:lnTo>
                          <a:pt x="3429" y="4015"/>
                        </a:lnTo>
                        <a:lnTo>
                          <a:pt x="3464" y="0"/>
                        </a:lnTo>
                        <a:lnTo>
                          <a:pt x="15" y="2053"/>
                        </a:lnTo>
                        <a:lnTo>
                          <a:pt x="0" y="6107"/>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51" name="Google Shape;1751;g3f95de07730_1_1266"/>
                  <p:cNvSpPr/>
                  <p:nvPr/>
                </p:nvSpPr>
                <p:spPr>
                  <a:xfrm>
                    <a:off x="3040778" y="4495729"/>
                    <a:ext cx="108821" cy="276174"/>
                  </a:xfrm>
                  <a:custGeom>
                    <a:avLst/>
                    <a:gdLst/>
                    <a:ahLst/>
                    <a:cxnLst/>
                    <a:rect l="l" t="t" r="r" b="b"/>
                    <a:pathLst>
                      <a:path w="2066" h="5241" extrusionOk="0">
                        <a:moveTo>
                          <a:pt x="244" y="0"/>
                        </a:moveTo>
                        <a:lnTo>
                          <a:pt x="0" y="143"/>
                        </a:lnTo>
                        <a:lnTo>
                          <a:pt x="16" y="4189"/>
                        </a:lnTo>
                        <a:lnTo>
                          <a:pt x="1785" y="5241"/>
                        </a:lnTo>
                        <a:lnTo>
                          <a:pt x="2066" y="5068"/>
                        </a:lnTo>
                        <a:lnTo>
                          <a:pt x="2066" y="984"/>
                        </a:lnTo>
                        <a:lnTo>
                          <a:pt x="244" y="0"/>
                        </a:lnTo>
                        <a:close/>
                      </a:path>
                    </a:pathLst>
                  </a:custGeom>
                  <a:gradFill>
                    <a:gsLst>
                      <a:gs pos="0">
                        <a:srgbClr val="F2F2F2"/>
                      </a:gs>
                      <a:gs pos="35000">
                        <a:srgbClr val="C3C3C3"/>
                      </a:gs>
                      <a:gs pos="40000">
                        <a:srgbClr val="F2F2F2"/>
                      </a:gs>
                      <a:gs pos="100000">
                        <a:srgbClr val="D8D8D8"/>
                      </a:gs>
                    </a:gsLst>
                    <a:lin ang="360000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52" name="Google Shape;1752;g3f95de07730_1_1266"/>
                  <p:cNvSpPr/>
                  <p:nvPr/>
                </p:nvSpPr>
                <p:spPr>
                  <a:xfrm>
                    <a:off x="3040778" y="4503005"/>
                    <a:ext cx="94905" cy="268890"/>
                  </a:xfrm>
                  <a:custGeom>
                    <a:avLst/>
                    <a:gdLst/>
                    <a:ahLst/>
                    <a:cxnLst/>
                    <a:rect l="l" t="t" r="r" b="b"/>
                    <a:pathLst>
                      <a:path w="1803" h="5103" extrusionOk="0">
                        <a:moveTo>
                          <a:pt x="10" y="0"/>
                        </a:moveTo>
                        <a:lnTo>
                          <a:pt x="0" y="5"/>
                        </a:lnTo>
                        <a:lnTo>
                          <a:pt x="16" y="4051"/>
                        </a:lnTo>
                        <a:lnTo>
                          <a:pt x="1785" y="5103"/>
                        </a:lnTo>
                        <a:lnTo>
                          <a:pt x="1786" y="5102"/>
                        </a:lnTo>
                        <a:lnTo>
                          <a:pt x="1803" y="1039"/>
                        </a:lnTo>
                        <a:lnTo>
                          <a:pt x="10" y="0"/>
                        </a:lnTo>
                        <a:close/>
                      </a:path>
                    </a:pathLst>
                  </a:custGeom>
                  <a:gradFill>
                    <a:gsLst>
                      <a:gs pos="0">
                        <a:srgbClr val="7F7F7F"/>
                      </a:gs>
                      <a:gs pos="12000">
                        <a:srgbClr val="7F7F7F"/>
                      </a:gs>
                      <a:gs pos="100000">
                        <a:srgbClr val="A5A5A5"/>
                      </a:gs>
                    </a:gsLst>
                    <a:lin ang="7200017"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53" name="Google Shape;1753;g3f95de07730_1_1266"/>
                  <p:cNvSpPr/>
                  <p:nvPr/>
                </p:nvSpPr>
                <p:spPr>
                  <a:xfrm>
                    <a:off x="3052483" y="4534955"/>
                    <a:ext cx="68332" cy="58208"/>
                  </a:xfrm>
                  <a:custGeom>
                    <a:avLst/>
                    <a:gdLst/>
                    <a:ahLst/>
                    <a:cxnLst/>
                    <a:rect l="l" t="t" r="r" b="b"/>
                    <a:pathLst>
                      <a:path w="1296" h="1102" extrusionOk="0">
                        <a:moveTo>
                          <a:pt x="0" y="0"/>
                        </a:moveTo>
                        <a:lnTo>
                          <a:pt x="1296" y="752"/>
                        </a:lnTo>
                        <a:lnTo>
                          <a:pt x="1296" y="1102"/>
                        </a:lnTo>
                        <a:lnTo>
                          <a:pt x="0" y="351"/>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54" name="Google Shape;1754;g3f95de07730_1_1266"/>
                  <p:cNvSpPr/>
                  <p:nvPr/>
                </p:nvSpPr>
                <p:spPr>
                  <a:xfrm>
                    <a:off x="3102782" y="4589999"/>
                    <a:ext cx="18032" cy="15501"/>
                  </a:xfrm>
                  <a:custGeom>
                    <a:avLst/>
                    <a:gdLst/>
                    <a:ahLst/>
                    <a:cxnLst/>
                    <a:rect l="l" t="t" r="r" b="b"/>
                    <a:pathLst>
                      <a:path w="346" h="294" extrusionOk="0">
                        <a:moveTo>
                          <a:pt x="0" y="0"/>
                        </a:moveTo>
                        <a:lnTo>
                          <a:pt x="346" y="201"/>
                        </a:lnTo>
                        <a:lnTo>
                          <a:pt x="346" y="294"/>
                        </a:lnTo>
                        <a:lnTo>
                          <a:pt x="0" y="93"/>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55" name="Google Shape;1755;g3f95de07730_1_1266"/>
                  <p:cNvSpPr/>
                  <p:nvPr/>
                </p:nvSpPr>
                <p:spPr>
                  <a:xfrm>
                    <a:off x="3063238" y="4615738"/>
                    <a:ext cx="43971" cy="44921"/>
                  </a:xfrm>
                  <a:custGeom>
                    <a:avLst/>
                    <a:gdLst/>
                    <a:ahLst/>
                    <a:cxnLst/>
                    <a:rect l="l" t="t" r="r" b="b"/>
                    <a:pathLst>
                      <a:path w="832" h="853" extrusionOk="0">
                        <a:moveTo>
                          <a:pt x="416" y="10"/>
                        </a:moveTo>
                        <a:lnTo>
                          <a:pt x="438" y="15"/>
                        </a:lnTo>
                        <a:lnTo>
                          <a:pt x="459" y="22"/>
                        </a:lnTo>
                        <a:lnTo>
                          <a:pt x="479" y="30"/>
                        </a:lnTo>
                        <a:lnTo>
                          <a:pt x="500" y="37"/>
                        </a:lnTo>
                        <a:lnTo>
                          <a:pt x="520" y="47"/>
                        </a:lnTo>
                        <a:lnTo>
                          <a:pt x="540" y="57"/>
                        </a:lnTo>
                        <a:lnTo>
                          <a:pt x="559" y="68"/>
                        </a:lnTo>
                        <a:lnTo>
                          <a:pt x="577" y="79"/>
                        </a:lnTo>
                        <a:lnTo>
                          <a:pt x="596" y="93"/>
                        </a:lnTo>
                        <a:lnTo>
                          <a:pt x="614" y="106"/>
                        </a:lnTo>
                        <a:lnTo>
                          <a:pt x="632" y="119"/>
                        </a:lnTo>
                        <a:lnTo>
                          <a:pt x="648" y="135"/>
                        </a:lnTo>
                        <a:lnTo>
                          <a:pt x="665" y="149"/>
                        </a:lnTo>
                        <a:lnTo>
                          <a:pt x="680" y="166"/>
                        </a:lnTo>
                        <a:lnTo>
                          <a:pt x="696" y="182"/>
                        </a:lnTo>
                        <a:lnTo>
                          <a:pt x="710" y="199"/>
                        </a:lnTo>
                        <a:lnTo>
                          <a:pt x="724" y="217"/>
                        </a:lnTo>
                        <a:lnTo>
                          <a:pt x="737" y="235"/>
                        </a:lnTo>
                        <a:lnTo>
                          <a:pt x="749" y="253"/>
                        </a:lnTo>
                        <a:lnTo>
                          <a:pt x="760" y="272"/>
                        </a:lnTo>
                        <a:lnTo>
                          <a:pt x="771" y="292"/>
                        </a:lnTo>
                        <a:lnTo>
                          <a:pt x="781" y="311"/>
                        </a:lnTo>
                        <a:lnTo>
                          <a:pt x="791" y="332"/>
                        </a:lnTo>
                        <a:lnTo>
                          <a:pt x="799" y="352"/>
                        </a:lnTo>
                        <a:lnTo>
                          <a:pt x="807" y="373"/>
                        </a:lnTo>
                        <a:lnTo>
                          <a:pt x="813" y="393"/>
                        </a:lnTo>
                        <a:lnTo>
                          <a:pt x="819" y="414"/>
                        </a:lnTo>
                        <a:lnTo>
                          <a:pt x="823" y="435"/>
                        </a:lnTo>
                        <a:lnTo>
                          <a:pt x="827" y="457"/>
                        </a:lnTo>
                        <a:lnTo>
                          <a:pt x="830" y="478"/>
                        </a:lnTo>
                        <a:lnTo>
                          <a:pt x="831" y="499"/>
                        </a:lnTo>
                        <a:lnTo>
                          <a:pt x="832" y="522"/>
                        </a:lnTo>
                        <a:lnTo>
                          <a:pt x="831" y="543"/>
                        </a:lnTo>
                        <a:lnTo>
                          <a:pt x="830" y="564"/>
                        </a:lnTo>
                        <a:lnTo>
                          <a:pt x="827" y="584"/>
                        </a:lnTo>
                        <a:lnTo>
                          <a:pt x="823" y="604"/>
                        </a:lnTo>
                        <a:lnTo>
                          <a:pt x="819" y="622"/>
                        </a:lnTo>
                        <a:lnTo>
                          <a:pt x="813" y="641"/>
                        </a:lnTo>
                        <a:lnTo>
                          <a:pt x="807" y="659"/>
                        </a:lnTo>
                        <a:lnTo>
                          <a:pt x="799" y="676"/>
                        </a:lnTo>
                        <a:lnTo>
                          <a:pt x="791" y="692"/>
                        </a:lnTo>
                        <a:lnTo>
                          <a:pt x="781" y="708"/>
                        </a:lnTo>
                        <a:lnTo>
                          <a:pt x="771" y="723"/>
                        </a:lnTo>
                        <a:lnTo>
                          <a:pt x="760" y="738"/>
                        </a:lnTo>
                        <a:lnTo>
                          <a:pt x="749" y="751"/>
                        </a:lnTo>
                        <a:lnTo>
                          <a:pt x="737" y="764"/>
                        </a:lnTo>
                        <a:lnTo>
                          <a:pt x="724" y="777"/>
                        </a:lnTo>
                        <a:lnTo>
                          <a:pt x="710" y="788"/>
                        </a:lnTo>
                        <a:lnTo>
                          <a:pt x="696" y="798"/>
                        </a:lnTo>
                        <a:lnTo>
                          <a:pt x="680" y="808"/>
                        </a:lnTo>
                        <a:lnTo>
                          <a:pt x="665" y="816"/>
                        </a:lnTo>
                        <a:lnTo>
                          <a:pt x="648" y="824"/>
                        </a:lnTo>
                        <a:lnTo>
                          <a:pt x="632" y="831"/>
                        </a:lnTo>
                        <a:lnTo>
                          <a:pt x="614" y="837"/>
                        </a:lnTo>
                        <a:lnTo>
                          <a:pt x="596" y="842"/>
                        </a:lnTo>
                        <a:lnTo>
                          <a:pt x="577" y="846"/>
                        </a:lnTo>
                        <a:lnTo>
                          <a:pt x="559" y="850"/>
                        </a:lnTo>
                        <a:lnTo>
                          <a:pt x="540" y="852"/>
                        </a:lnTo>
                        <a:lnTo>
                          <a:pt x="520" y="853"/>
                        </a:lnTo>
                        <a:lnTo>
                          <a:pt x="500" y="853"/>
                        </a:lnTo>
                        <a:lnTo>
                          <a:pt x="479" y="852"/>
                        </a:lnTo>
                        <a:lnTo>
                          <a:pt x="459" y="850"/>
                        </a:lnTo>
                        <a:lnTo>
                          <a:pt x="438" y="846"/>
                        </a:lnTo>
                        <a:lnTo>
                          <a:pt x="416" y="842"/>
                        </a:lnTo>
                        <a:lnTo>
                          <a:pt x="395" y="836"/>
                        </a:lnTo>
                        <a:lnTo>
                          <a:pt x="374" y="830"/>
                        </a:lnTo>
                        <a:lnTo>
                          <a:pt x="353" y="823"/>
                        </a:lnTo>
                        <a:lnTo>
                          <a:pt x="333" y="814"/>
                        </a:lnTo>
                        <a:lnTo>
                          <a:pt x="312" y="805"/>
                        </a:lnTo>
                        <a:lnTo>
                          <a:pt x="293" y="795"/>
                        </a:lnTo>
                        <a:lnTo>
                          <a:pt x="273" y="784"/>
                        </a:lnTo>
                        <a:lnTo>
                          <a:pt x="254" y="772"/>
                        </a:lnTo>
                        <a:lnTo>
                          <a:pt x="235" y="760"/>
                        </a:lnTo>
                        <a:lnTo>
                          <a:pt x="217" y="747"/>
                        </a:lnTo>
                        <a:lnTo>
                          <a:pt x="201" y="732"/>
                        </a:lnTo>
                        <a:lnTo>
                          <a:pt x="183" y="718"/>
                        </a:lnTo>
                        <a:lnTo>
                          <a:pt x="168" y="702"/>
                        </a:lnTo>
                        <a:lnTo>
                          <a:pt x="151" y="687"/>
                        </a:lnTo>
                        <a:lnTo>
                          <a:pt x="137" y="670"/>
                        </a:lnTo>
                        <a:lnTo>
                          <a:pt x="122" y="652"/>
                        </a:lnTo>
                        <a:lnTo>
                          <a:pt x="108" y="635"/>
                        </a:lnTo>
                        <a:lnTo>
                          <a:pt x="96" y="617"/>
                        </a:lnTo>
                        <a:lnTo>
                          <a:pt x="82" y="598"/>
                        </a:lnTo>
                        <a:lnTo>
                          <a:pt x="71" y="579"/>
                        </a:lnTo>
                        <a:lnTo>
                          <a:pt x="60" y="560"/>
                        </a:lnTo>
                        <a:lnTo>
                          <a:pt x="50" y="540"/>
                        </a:lnTo>
                        <a:lnTo>
                          <a:pt x="41" y="521"/>
                        </a:lnTo>
                        <a:lnTo>
                          <a:pt x="32" y="499"/>
                        </a:lnTo>
                        <a:lnTo>
                          <a:pt x="26" y="479"/>
                        </a:lnTo>
                        <a:lnTo>
                          <a:pt x="19" y="458"/>
                        </a:lnTo>
                        <a:lnTo>
                          <a:pt x="14" y="437"/>
                        </a:lnTo>
                        <a:lnTo>
                          <a:pt x="8" y="416"/>
                        </a:lnTo>
                        <a:lnTo>
                          <a:pt x="5" y="395"/>
                        </a:lnTo>
                        <a:lnTo>
                          <a:pt x="2" y="373"/>
                        </a:lnTo>
                        <a:lnTo>
                          <a:pt x="0" y="352"/>
                        </a:lnTo>
                        <a:lnTo>
                          <a:pt x="0" y="331"/>
                        </a:lnTo>
                        <a:lnTo>
                          <a:pt x="0" y="309"/>
                        </a:lnTo>
                        <a:lnTo>
                          <a:pt x="2" y="289"/>
                        </a:lnTo>
                        <a:lnTo>
                          <a:pt x="5" y="268"/>
                        </a:lnTo>
                        <a:lnTo>
                          <a:pt x="8" y="249"/>
                        </a:lnTo>
                        <a:lnTo>
                          <a:pt x="14" y="230"/>
                        </a:lnTo>
                        <a:lnTo>
                          <a:pt x="19" y="211"/>
                        </a:lnTo>
                        <a:lnTo>
                          <a:pt x="26" y="194"/>
                        </a:lnTo>
                        <a:lnTo>
                          <a:pt x="32" y="176"/>
                        </a:lnTo>
                        <a:lnTo>
                          <a:pt x="41" y="159"/>
                        </a:lnTo>
                        <a:lnTo>
                          <a:pt x="50" y="144"/>
                        </a:lnTo>
                        <a:lnTo>
                          <a:pt x="60" y="128"/>
                        </a:lnTo>
                        <a:lnTo>
                          <a:pt x="71" y="114"/>
                        </a:lnTo>
                        <a:lnTo>
                          <a:pt x="82" y="100"/>
                        </a:lnTo>
                        <a:lnTo>
                          <a:pt x="96" y="87"/>
                        </a:lnTo>
                        <a:lnTo>
                          <a:pt x="108" y="76"/>
                        </a:lnTo>
                        <a:lnTo>
                          <a:pt x="122" y="64"/>
                        </a:lnTo>
                        <a:lnTo>
                          <a:pt x="137" y="54"/>
                        </a:lnTo>
                        <a:lnTo>
                          <a:pt x="151" y="44"/>
                        </a:lnTo>
                        <a:lnTo>
                          <a:pt x="168" y="35"/>
                        </a:lnTo>
                        <a:lnTo>
                          <a:pt x="183" y="27"/>
                        </a:lnTo>
                        <a:lnTo>
                          <a:pt x="201" y="21"/>
                        </a:lnTo>
                        <a:lnTo>
                          <a:pt x="217" y="15"/>
                        </a:lnTo>
                        <a:lnTo>
                          <a:pt x="235" y="10"/>
                        </a:lnTo>
                        <a:lnTo>
                          <a:pt x="254" y="5"/>
                        </a:lnTo>
                        <a:lnTo>
                          <a:pt x="273" y="2"/>
                        </a:lnTo>
                        <a:lnTo>
                          <a:pt x="293" y="1"/>
                        </a:lnTo>
                        <a:lnTo>
                          <a:pt x="312" y="0"/>
                        </a:lnTo>
                        <a:lnTo>
                          <a:pt x="333" y="0"/>
                        </a:lnTo>
                        <a:lnTo>
                          <a:pt x="353" y="1"/>
                        </a:lnTo>
                        <a:lnTo>
                          <a:pt x="374" y="2"/>
                        </a:lnTo>
                        <a:lnTo>
                          <a:pt x="395" y="5"/>
                        </a:lnTo>
                        <a:lnTo>
                          <a:pt x="416" y="10"/>
                        </a:lnTo>
                        <a:close/>
                      </a:path>
                    </a:pathLst>
                  </a:cu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56" name="Google Shape;1756;g3f95de07730_1_1266"/>
                  <p:cNvSpPr/>
                  <p:nvPr/>
                </p:nvSpPr>
                <p:spPr>
                  <a:xfrm>
                    <a:off x="3073994" y="4626493"/>
                    <a:ext cx="22461" cy="23410"/>
                  </a:xfrm>
                  <a:custGeom>
                    <a:avLst/>
                    <a:gdLst/>
                    <a:ahLst/>
                    <a:cxnLst/>
                    <a:rect l="l" t="t" r="r" b="b"/>
                    <a:pathLst>
                      <a:path w="429" h="440" extrusionOk="0">
                        <a:moveTo>
                          <a:pt x="214" y="5"/>
                        </a:moveTo>
                        <a:lnTo>
                          <a:pt x="236" y="12"/>
                        </a:lnTo>
                        <a:lnTo>
                          <a:pt x="257" y="20"/>
                        </a:lnTo>
                        <a:lnTo>
                          <a:pt x="278" y="30"/>
                        </a:lnTo>
                        <a:lnTo>
                          <a:pt x="297" y="42"/>
                        </a:lnTo>
                        <a:lnTo>
                          <a:pt x="316" y="55"/>
                        </a:lnTo>
                        <a:lnTo>
                          <a:pt x="333" y="70"/>
                        </a:lnTo>
                        <a:lnTo>
                          <a:pt x="350" y="86"/>
                        </a:lnTo>
                        <a:lnTo>
                          <a:pt x="365" y="103"/>
                        </a:lnTo>
                        <a:lnTo>
                          <a:pt x="379" y="122"/>
                        </a:lnTo>
                        <a:lnTo>
                          <a:pt x="392" y="141"/>
                        </a:lnTo>
                        <a:lnTo>
                          <a:pt x="402" y="162"/>
                        </a:lnTo>
                        <a:lnTo>
                          <a:pt x="411" y="182"/>
                        </a:lnTo>
                        <a:lnTo>
                          <a:pt x="419" y="204"/>
                        </a:lnTo>
                        <a:lnTo>
                          <a:pt x="424" y="225"/>
                        </a:lnTo>
                        <a:lnTo>
                          <a:pt x="427" y="247"/>
                        </a:lnTo>
                        <a:lnTo>
                          <a:pt x="429" y="269"/>
                        </a:lnTo>
                        <a:lnTo>
                          <a:pt x="427" y="280"/>
                        </a:lnTo>
                        <a:lnTo>
                          <a:pt x="427" y="291"/>
                        </a:lnTo>
                        <a:lnTo>
                          <a:pt x="425" y="301"/>
                        </a:lnTo>
                        <a:lnTo>
                          <a:pt x="424" y="311"/>
                        </a:lnTo>
                        <a:lnTo>
                          <a:pt x="421" y="321"/>
                        </a:lnTo>
                        <a:lnTo>
                          <a:pt x="419" y="331"/>
                        </a:lnTo>
                        <a:lnTo>
                          <a:pt x="415" y="340"/>
                        </a:lnTo>
                        <a:lnTo>
                          <a:pt x="411" y="349"/>
                        </a:lnTo>
                        <a:lnTo>
                          <a:pt x="402" y="365"/>
                        </a:lnTo>
                        <a:lnTo>
                          <a:pt x="392" y="381"/>
                        </a:lnTo>
                        <a:lnTo>
                          <a:pt x="379" y="394"/>
                        </a:lnTo>
                        <a:lnTo>
                          <a:pt x="365" y="406"/>
                        </a:lnTo>
                        <a:lnTo>
                          <a:pt x="350" y="416"/>
                        </a:lnTo>
                        <a:lnTo>
                          <a:pt x="333" y="425"/>
                        </a:lnTo>
                        <a:lnTo>
                          <a:pt x="316" y="432"/>
                        </a:lnTo>
                        <a:lnTo>
                          <a:pt x="297" y="436"/>
                        </a:lnTo>
                        <a:lnTo>
                          <a:pt x="278" y="440"/>
                        </a:lnTo>
                        <a:lnTo>
                          <a:pt x="257" y="440"/>
                        </a:lnTo>
                        <a:lnTo>
                          <a:pt x="236" y="439"/>
                        </a:lnTo>
                        <a:lnTo>
                          <a:pt x="214" y="434"/>
                        </a:lnTo>
                        <a:lnTo>
                          <a:pt x="192" y="429"/>
                        </a:lnTo>
                        <a:lnTo>
                          <a:pt x="170" y="420"/>
                        </a:lnTo>
                        <a:lnTo>
                          <a:pt x="151" y="410"/>
                        </a:lnTo>
                        <a:lnTo>
                          <a:pt x="131" y="399"/>
                        </a:lnTo>
                        <a:lnTo>
                          <a:pt x="112" y="385"/>
                        </a:lnTo>
                        <a:lnTo>
                          <a:pt x="94" y="370"/>
                        </a:lnTo>
                        <a:lnTo>
                          <a:pt x="77" y="354"/>
                        </a:lnTo>
                        <a:lnTo>
                          <a:pt x="62" y="337"/>
                        </a:lnTo>
                        <a:lnTo>
                          <a:pt x="49" y="318"/>
                        </a:lnTo>
                        <a:lnTo>
                          <a:pt x="36" y="299"/>
                        </a:lnTo>
                        <a:lnTo>
                          <a:pt x="25" y="279"/>
                        </a:lnTo>
                        <a:lnTo>
                          <a:pt x="16" y="258"/>
                        </a:lnTo>
                        <a:lnTo>
                          <a:pt x="10" y="237"/>
                        </a:lnTo>
                        <a:lnTo>
                          <a:pt x="4" y="215"/>
                        </a:lnTo>
                        <a:lnTo>
                          <a:pt x="1" y="193"/>
                        </a:lnTo>
                        <a:lnTo>
                          <a:pt x="0" y="170"/>
                        </a:lnTo>
                        <a:lnTo>
                          <a:pt x="0" y="159"/>
                        </a:lnTo>
                        <a:lnTo>
                          <a:pt x="1" y="149"/>
                        </a:lnTo>
                        <a:lnTo>
                          <a:pt x="2" y="138"/>
                        </a:lnTo>
                        <a:lnTo>
                          <a:pt x="4" y="128"/>
                        </a:lnTo>
                        <a:lnTo>
                          <a:pt x="7" y="118"/>
                        </a:lnTo>
                        <a:lnTo>
                          <a:pt x="10" y="109"/>
                        </a:lnTo>
                        <a:lnTo>
                          <a:pt x="13" y="101"/>
                        </a:lnTo>
                        <a:lnTo>
                          <a:pt x="16" y="92"/>
                        </a:lnTo>
                        <a:lnTo>
                          <a:pt x="25" y="75"/>
                        </a:lnTo>
                        <a:lnTo>
                          <a:pt x="36" y="60"/>
                        </a:lnTo>
                        <a:lnTo>
                          <a:pt x="49" y="46"/>
                        </a:lnTo>
                        <a:lnTo>
                          <a:pt x="62" y="34"/>
                        </a:lnTo>
                        <a:lnTo>
                          <a:pt x="77" y="23"/>
                        </a:lnTo>
                        <a:lnTo>
                          <a:pt x="94" y="15"/>
                        </a:lnTo>
                        <a:lnTo>
                          <a:pt x="112" y="9"/>
                        </a:lnTo>
                        <a:lnTo>
                          <a:pt x="131" y="3"/>
                        </a:lnTo>
                        <a:lnTo>
                          <a:pt x="151" y="1"/>
                        </a:lnTo>
                        <a:lnTo>
                          <a:pt x="170" y="0"/>
                        </a:lnTo>
                        <a:lnTo>
                          <a:pt x="192" y="2"/>
                        </a:lnTo>
                        <a:lnTo>
                          <a:pt x="214" y="5"/>
                        </a:lnTo>
                        <a:close/>
                      </a:path>
                    </a:pathLst>
                  </a:custGeom>
                  <a:solidFill>
                    <a:srgbClr val="B3B3B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57" name="Google Shape;1757;g3f95de07730_1_1266"/>
                  <p:cNvSpPr/>
                  <p:nvPr/>
                </p:nvSpPr>
                <p:spPr>
                  <a:xfrm>
                    <a:off x="3078106" y="4630922"/>
                    <a:ext cx="14236" cy="14552"/>
                  </a:xfrm>
                  <a:custGeom>
                    <a:avLst/>
                    <a:gdLst/>
                    <a:ahLst/>
                    <a:cxnLst/>
                    <a:rect l="l" t="t" r="r" b="b"/>
                    <a:pathLst>
                      <a:path w="271" h="278" extrusionOk="0">
                        <a:moveTo>
                          <a:pt x="135" y="3"/>
                        </a:moveTo>
                        <a:lnTo>
                          <a:pt x="149" y="7"/>
                        </a:lnTo>
                        <a:lnTo>
                          <a:pt x="162" y="12"/>
                        </a:lnTo>
                        <a:lnTo>
                          <a:pt x="176" y="18"/>
                        </a:lnTo>
                        <a:lnTo>
                          <a:pt x="188" y="26"/>
                        </a:lnTo>
                        <a:lnTo>
                          <a:pt x="200" y="34"/>
                        </a:lnTo>
                        <a:lnTo>
                          <a:pt x="211" y="44"/>
                        </a:lnTo>
                        <a:lnTo>
                          <a:pt x="221" y="54"/>
                        </a:lnTo>
                        <a:lnTo>
                          <a:pt x="231" y="65"/>
                        </a:lnTo>
                        <a:lnTo>
                          <a:pt x="240" y="76"/>
                        </a:lnTo>
                        <a:lnTo>
                          <a:pt x="248" y="89"/>
                        </a:lnTo>
                        <a:lnTo>
                          <a:pt x="254" y="102"/>
                        </a:lnTo>
                        <a:lnTo>
                          <a:pt x="260" y="115"/>
                        </a:lnTo>
                        <a:lnTo>
                          <a:pt x="264" y="128"/>
                        </a:lnTo>
                        <a:lnTo>
                          <a:pt x="268" y="143"/>
                        </a:lnTo>
                        <a:lnTo>
                          <a:pt x="270" y="156"/>
                        </a:lnTo>
                        <a:lnTo>
                          <a:pt x="271" y="170"/>
                        </a:lnTo>
                        <a:lnTo>
                          <a:pt x="270" y="184"/>
                        </a:lnTo>
                        <a:lnTo>
                          <a:pt x="268" y="197"/>
                        </a:lnTo>
                        <a:lnTo>
                          <a:pt x="264" y="209"/>
                        </a:lnTo>
                        <a:lnTo>
                          <a:pt x="260" y="220"/>
                        </a:lnTo>
                        <a:lnTo>
                          <a:pt x="254" y="231"/>
                        </a:lnTo>
                        <a:lnTo>
                          <a:pt x="248" y="241"/>
                        </a:lnTo>
                        <a:lnTo>
                          <a:pt x="240" y="249"/>
                        </a:lnTo>
                        <a:lnTo>
                          <a:pt x="231" y="257"/>
                        </a:lnTo>
                        <a:lnTo>
                          <a:pt x="221" y="263"/>
                        </a:lnTo>
                        <a:lnTo>
                          <a:pt x="211" y="269"/>
                        </a:lnTo>
                        <a:lnTo>
                          <a:pt x="200" y="273"/>
                        </a:lnTo>
                        <a:lnTo>
                          <a:pt x="188" y="277"/>
                        </a:lnTo>
                        <a:lnTo>
                          <a:pt x="176" y="278"/>
                        </a:lnTo>
                        <a:lnTo>
                          <a:pt x="162" y="278"/>
                        </a:lnTo>
                        <a:lnTo>
                          <a:pt x="149" y="277"/>
                        </a:lnTo>
                        <a:lnTo>
                          <a:pt x="135" y="275"/>
                        </a:lnTo>
                        <a:lnTo>
                          <a:pt x="121" y="271"/>
                        </a:lnTo>
                        <a:lnTo>
                          <a:pt x="107" y="266"/>
                        </a:lnTo>
                        <a:lnTo>
                          <a:pt x="95" y="259"/>
                        </a:lnTo>
                        <a:lnTo>
                          <a:pt x="83" y="252"/>
                        </a:lnTo>
                        <a:lnTo>
                          <a:pt x="70" y="243"/>
                        </a:lnTo>
                        <a:lnTo>
                          <a:pt x="59" y="235"/>
                        </a:lnTo>
                        <a:lnTo>
                          <a:pt x="48" y="224"/>
                        </a:lnTo>
                        <a:lnTo>
                          <a:pt x="39" y="212"/>
                        </a:lnTo>
                        <a:lnTo>
                          <a:pt x="31" y="201"/>
                        </a:lnTo>
                        <a:lnTo>
                          <a:pt x="23" y="189"/>
                        </a:lnTo>
                        <a:lnTo>
                          <a:pt x="15" y="176"/>
                        </a:lnTo>
                        <a:lnTo>
                          <a:pt x="9" y="164"/>
                        </a:lnTo>
                        <a:lnTo>
                          <a:pt x="5" y="149"/>
                        </a:lnTo>
                        <a:lnTo>
                          <a:pt x="2" y="136"/>
                        </a:lnTo>
                        <a:lnTo>
                          <a:pt x="0" y="122"/>
                        </a:lnTo>
                        <a:lnTo>
                          <a:pt x="0" y="108"/>
                        </a:lnTo>
                        <a:lnTo>
                          <a:pt x="0" y="94"/>
                        </a:lnTo>
                        <a:lnTo>
                          <a:pt x="2" y="81"/>
                        </a:lnTo>
                        <a:lnTo>
                          <a:pt x="5" y="68"/>
                        </a:lnTo>
                        <a:lnTo>
                          <a:pt x="9" y="57"/>
                        </a:lnTo>
                        <a:lnTo>
                          <a:pt x="15" y="47"/>
                        </a:lnTo>
                        <a:lnTo>
                          <a:pt x="23" y="37"/>
                        </a:lnTo>
                        <a:lnTo>
                          <a:pt x="31" y="28"/>
                        </a:lnTo>
                        <a:lnTo>
                          <a:pt x="39" y="21"/>
                        </a:lnTo>
                        <a:lnTo>
                          <a:pt x="48" y="14"/>
                        </a:lnTo>
                        <a:lnTo>
                          <a:pt x="59" y="9"/>
                        </a:lnTo>
                        <a:lnTo>
                          <a:pt x="70" y="5"/>
                        </a:lnTo>
                        <a:lnTo>
                          <a:pt x="83" y="2"/>
                        </a:lnTo>
                        <a:lnTo>
                          <a:pt x="95" y="0"/>
                        </a:lnTo>
                        <a:lnTo>
                          <a:pt x="107" y="0"/>
                        </a:lnTo>
                        <a:lnTo>
                          <a:pt x="121" y="1"/>
                        </a:lnTo>
                        <a:lnTo>
                          <a:pt x="135" y="3"/>
                        </a:lnTo>
                        <a:close/>
                      </a:path>
                    </a:pathLst>
                  </a:custGeom>
                  <a:gradFill>
                    <a:gsLst>
                      <a:gs pos="0">
                        <a:srgbClr val="006994"/>
                      </a:gs>
                      <a:gs pos="50000">
                        <a:srgbClr val="009AD7"/>
                      </a:gs>
                      <a:gs pos="100000">
                        <a:srgbClr val="00B8FF"/>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nvGrpSpPr>
                <p:cNvPr id="1758" name="Google Shape;1758;g3f95de07730_1_1266"/>
                <p:cNvGrpSpPr/>
                <p:nvPr/>
              </p:nvGrpSpPr>
              <p:grpSpPr>
                <a:xfrm>
                  <a:off x="2939904" y="4690008"/>
                  <a:ext cx="145198" cy="153849"/>
                  <a:chOff x="5967413" y="-3362325"/>
                  <a:chExt cx="1133478" cy="1454150"/>
                </a:xfrm>
              </p:grpSpPr>
              <p:sp>
                <p:nvSpPr>
                  <p:cNvPr id="1759" name="Google Shape;1759;g3f95de07730_1_126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60" name="Google Shape;1760;g3f95de07730_1_126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61" name="Google Shape;1761;g3f95de07730_1_126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62" name="Google Shape;1762;g3f95de07730_1_126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63" name="Google Shape;1763;g3f95de07730_1_126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64" name="Google Shape;1764;g3f95de07730_1_126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65" name="Google Shape;1765;g3f95de07730_1_126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66" name="Google Shape;1766;g3f95de07730_1_126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67" name="Google Shape;1767;g3f95de07730_1_126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68" name="Google Shape;1768;g3f95de07730_1_126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69" name="Google Shape;1769;g3f95de07730_1_126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70" name="Google Shape;1770;g3f95de07730_1_126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71" name="Google Shape;1771;g3f95de07730_1_126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72" name="Google Shape;1772;g3f95de07730_1_126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sp>
            <p:nvSpPr>
              <p:cNvPr id="1773" name="Google Shape;1773;g3f95de07730_1_1266"/>
              <p:cNvSpPr txBox="1"/>
              <p:nvPr/>
            </p:nvSpPr>
            <p:spPr>
              <a:xfrm>
                <a:off x="2866069" y="5491069"/>
                <a:ext cx="92700" cy="52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400"/>
                  <a:buFont typeface="Arial"/>
                  <a:buNone/>
                </a:pPr>
                <a:r>
                  <a:rPr lang="en-US" sz="400" b="1" i="0" u="none" strike="noStrike" cap="none">
                    <a:solidFill>
                      <a:srgbClr val="3F3F3F"/>
                    </a:solidFill>
                    <a:latin typeface="Roboto"/>
                    <a:ea typeface="Roboto"/>
                    <a:cs typeface="Roboto"/>
                    <a:sym typeface="Roboto"/>
                  </a:rPr>
                  <a:t>WN</a:t>
                </a:r>
                <a:endParaRPr sz="400" b="1" i="0" u="none" strike="noStrike" cap="none">
                  <a:solidFill>
                    <a:srgbClr val="3F3F3F"/>
                  </a:solidFill>
                  <a:latin typeface="Roboto"/>
                  <a:ea typeface="Roboto"/>
                  <a:cs typeface="Roboto"/>
                  <a:sym typeface="Roboto"/>
                </a:endParaRPr>
              </a:p>
            </p:txBody>
          </p:sp>
        </p:grpSp>
        <p:grpSp>
          <p:nvGrpSpPr>
            <p:cNvPr id="1774" name="Google Shape;1774;g3f95de07730_1_1266"/>
            <p:cNvGrpSpPr/>
            <p:nvPr/>
          </p:nvGrpSpPr>
          <p:grpSpPr>
            <a:xfrm>
              <a:off x="3381495" y="5045397"/>
              <a:ext cx="376733" cy="448726"/>
              <a:chOff x="2700762" y="5095926"/>
              <a:chExt cx="376733" cy="448726"/>
            </a:xfrm>
          </p:grpSpPr>
          <p:grpSp>
            <p:nvGrpSpPr>
              <p:cNvPr id="1775" name="Google Shape;1775;g3f95de07730_1_1266"/>
              <p:cNvGrpSpPr/>
              <p:nvPr/>
            </p:nvGrpSpPr>
            <p:grpSpPr>
              <a:xfrm>
                <a:off x="2700762" y="5095926"/>
                <a:ext cx="376733" cy="448726"/>
                <a:chOff x="2939904" y="4395131"/>
                <a:chExt cx="376733" cy="448726"/>
              </a:xfrm>
            </p:grpSpPr>
            <p:grpSp>
              <p:nvGrpSpPr>
                <p:cNvPr id="1776" name="Google Shape;1776;g3f95de07730_1_1266"/>
                <p:cNvGrpSpPr/>
                <p:nvPr/>
              </p:nvGrpSpPr>
              <p:grpSpPr>
                <a:xfrm>
                  <a:off x="3040778" y="4395131"/>
                  <a:ext cx="275858" cy="376772"/>
                  <a:chOff x="3040778" y="4395131"/>
                  <a:chExt cx="275858" cy="376772"/>
                </a:xfrm>
              </p:grpSpPr>
              <p:sp>
                <p:nvSpPr>
                  <p:cNvPr id="1777" name="Google Shape;1777;g3f95de07730_1_1266"/>
                  <p:cNvSpPr/>
                  <p:nvPr/>
                </p:nvSpPr>
                <p:spPr>
                  <a:xfrm>
                    <a:off x="3040778" y="4395131"/>
                    <a:ext cx="275858" cy="376772"/>
                  </a:xfrm>
                  <a:custGeom>
                    <a:avLst/>
                    <a:gdLst/>
                    <a:ahLst/>
                    <a:cxnLst/>
                    <a:rect l="l" t="t" r="r" b="b"/>
                    <a:pathLst>
                      <a:path w="5235" h="7147" extrusionOk="0">
                        <a:moveTo>
                          <a:pt x="3501" y="0"/>
                        </a:moveTo>
                        <a:lnTo>
                          <a:pt x="0" y="2049"/>
                        </a:lnTo>
                        <a:lnTo>
                          <a:pt x="16" y="6095"/>
                        </a:lnTo>
                        <a:lnTo>
                          <a:pt x="1785" y="7147"/>
                        </a:lnTo>
                        <a:lnTo>
                          <a:pt x="5199" y="5045"/>
                        </a:lnTo>
                        <a:lnTo>
                          <a:pt x="5235" y="981"/>
                        </a:lnTo>
                        <a:lnTo>
                          <a:pt x="3501" y="0"/>
                        </a:lnTo>
                        <a:close/>
                      </a:path>
                    </a:pathLst>
                  </a:custGeom>
                  <a:solidFill>
                    <a:srgbClr val="9999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78" name="Google Shape;1778;g3f95de07730_1_1266"/>
                  <p:cNvSpPr/>
                  <p:nvPr/>
                </p:nvSpPr>
                <p:spPr>
                  <a:xfrm>
                    <a:off x="3134100" y="4449542"/>
                    <a:ext cx="182527" cy="322351"/>
                  </a:xfrm>
                  <a:custGeom>
                    <a:avLst/>
                    <a:gdLst/>
                    <a:ahLst/>
                    <a:cxnLst/>
                    <a:rect l="l" t="t" r="r" b="b"/>
                    <a:pathLst>
                      <a:path w="3464" h="6117" extrusionOk="0">
                        <a:moveTo>
                          <a:pt x="0" y="6107"/>
                        </a:moveTo>
                        <a:lnTo>
                          <a:pt x="15" y="6117"/>
                        </a:lnTo>
                        <a:lnTo>
                          <a:pt x="3429" y="4015"/>
                        </a:lnTo>
                        <a:lnTo>
                          <a:pt x="3464" y="0"/>
                        </a:lnTo>
                        <a:lnTo>
                          <a:pt x="15" y="2053"/>
                        </a:lnTo>
                        <a:lnTo>
                          <a:pt x="0" y="6107"/>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79" name="Google Shape;1779;g3f95de07730_1_1266"/>
                  <p:cNvSpPr/>
                  <p:nvPr/>
                </p:nvSpPr>
                <p:spPr>
                  <a:xfrm>
                    <a:off x="3040778" y="4495729"/>
                    <a:ext cx="108821" cy="276174"/>
                  </a:xfrm>
                  <a:custGeom>
                    <a:avLst/>
                    <a:gdLst/>
                    <a:ahLst/>
                    <a:cxnLst/>
                    <a:rect l="l" t="t" r="r" b="b"/>
                    <a:pathLst>
                      <a:path w="2066" h="5241" extrusionOk="0">
                        <a:moveTo>
                          <a:pt x="244" y="0"/>
                        </a:moveTo>
                        <a:lnTo>
                          <a:pt x="0" y="143"/>
                        </a:lnTo>
                        <a:lnTo>
                          <a:pt x="16" y="4189"/>
                        </a:lnTo>
                        <a:lnTo>
                          <a:pt x="1785" y="5241"/>
                        </a:lnTo>
                        <a:lnTo>
                          <a:pt x="2066" y="5068"/>
                        </a:lnTo>
                        <a:lnTo>
                          <a:pt x="2066" y="984"/>
                        </a:lnTo>
                        <a:lnTo>
                          <a:pt x="244" y="0"/>
                        </a:lnTo>
                        <a:close/>
                      </a:path>
                    </a:pathLst>
                  </a:custGeom>
                  <a:gradFill>
                    <a:gsLst>
                      <a:gs pos="0">
                        <a:srgbClr val="F2F2F2"/>
                      </a:gs>
                      <a:gs pos="35000">
                        <a:srgbClr val="C3C3C3"/>
                      </a:gs>
                      <a:gs pos="40000">
                        <a:srgbClr val="F2F2F2"/>
                      </a:gs>
                      <a:gs pos="100000">
                        <a:srgbClr val="D8D8D8"/>
                      </a:gs>
                    </a:gsLst>
                    <a:lin ang="360000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80" name="Google Shape;1780;g3f95de07730_1_1266"/>
                  <p:cNvSpPr/>
                  <p:nvPr/>
                </p:nvSpPr>
                <p:spPr>
                  <a:xfrm>
                    <a:off x="3040778" y="4503005"/>
                    <a:ext cx="94905" cy="268890"/>
                  </a:xfrm>
                  <a:custGeom>
                    <a:avLst/>
                    <a:gdLst/>
                    <a:ahLst/>
                    <a:cxnLst/>
                    <a:rect l="l" t="t" r="r" b="b"/>
                    <a:pathLst>
                      <a:path w="1803" h="5103" extrusionOk="0">
                        <a:moveTo>
                          <a:pt x="10" y="0"/>
                        </a:moveTo>
                        <a:lnTo>
                          <a:pt x="0" y="5"/>
                        </a:lnTo>
                        <a:lnTo>
                          <a:pt x="16" y="4051"/>
                        </a:lnTo>
                        <a:lnTo>
                          <a:pt x="1785" y="5103"/>
                        </a:lnTo>
                        <a:lnTo>
                          <a:pt x="1786" y="5102"/>
                        </a:lnTo>
                        <a:lnTo>
                          <a:pt x="1803" y="1039"/>
                        </a:lnTo>
                        <a:lnTo>
                          <a:pt x="10" y="0"/>
                        </a:lnTo>
                        <a:close/>
                      </a:path>
                    </a:pathLst>
                  </a:custGeom>
                  <a:gradFill>
                    <a:gsLst>
                      <a:gs pos="0">
                        <a:srgbClr val="7F7F7F"/>
                      </a:gs>
                      <a:gs pos="12000">
                        <a:srgbClr val="7F7F7F"/>
                      </a:gs>
                      <a:gs pos="100000">
                        <a:srgbClr val="A5A5A5"/>
                      </a:gs>
                    </a:gsLst>
                    <a:lin ang="7200017"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81" name="Google Shape;1781;g3f95de07730_1_1266"/>
                  <p:cNvSpPr/>
                  <p:nvPr/>
                </p:nvSpPr>
                <p:spPr>
                  <a:xfrm>
                    <a:off x="3052483" y="4534955"/>
                    <a:ext cx="68332" cy="58208"/>
                  </a:xfrm>
                  <a:custGeom>
                    <a:avLst/>
                    <a:gdLst/>
                    <a:ahLst/>
                    <a:cxnLst/>
                    <a:rect l="l" t="t" r="r" b="b"/>
                    <a:pathLst>
                      <a:path w="1296" h="1102" extrusionOk="0">
                        <a:moveTo>
                          <a:pt x="0" y="0"/>
                        </a:moveTo>
                        <a:lnTo>
                          <a:pt x="1296" y="752"/>
                        </a:lnTo>
                        <a:lnTo>
                          <a:pt x="1296" y="1102"/>
                        </a:lnTo>
                        <a:lnTo>
                          <a:pt x="0" y="351"/>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82" name="Google Shape;1782;g3f95de07730_1_1266"/>
                  <p:cNvSpPr/>
                  <p:nvPr/>
                </p:nvSpPr>
                <p:spPr>
                  <a:xfrm>
                    <a:off x="3102782" y="4589999"/>
                    <a:ext cx="18032" cy="15501"/>
                  </a:xfrm>
                  <a:custGeom>
                    <a:avLst/>
                    <a:gdLst/>
                    <a:ahLst/>
                    <a:cxnLst/>
                    <a:rect l="l" t="t" r="r" b="b"/>
                    <a:pathLst>
                      <a:path w="346" h="294" extrusionOk="0">
                        <a:moveTo>
                          <a:pt x="0" y="0"/>
                        </a:moveTo>
                        <a:lnTo>
                          <a:pt x="346" y="201"/>
                        </a:lnTo>
                        <a:lnTo>
                          <a:pt x="346" y="294"/>
                        </a:lnTo>
                        <a:lnTo>
                          <a:pt x="0" y="93"/>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83" name="Google Shape;1783;g3f95de07730_1_1266"/>
                  <p:cNvSpPr/>
                  <p:nvPr/>
                </p:nvSpPr>
                <p:spPr>
                  <a:xfrm>
                    <a:off x="3063238" y="4615738"/>
                    <a:ext cx="43971" cy="44921"/>
                  </a:xfrm>
                  <a:custGeom>
                    <a:avLst/>
                    <a:gdLst/>
                    <a:ahLst/>
                    <a:cxnLst/>
                    <a:rect l="l" t="t" r="r" b="b"/>
                    <a:pathLst>
                      <a:path w="832" h="853" extrusionOk="0">
                        <a:moveTo>
                          <a:pt x="416" y="10"/>
                        </a:moveTo>
                        <a:lnTo>
                          <a:pt x="438" y="15"/>
                        </a:lnTo>
                        <a:lnTo>
                          <a:pt x="459" y="22"/>
                        </a:lnTo>
                        <a:lnTo>
                          <a:pt x="479" y="30"/>
                        </a:lnTo>
                        <a:lnTo>
                          <a:pt x="500" y="37"/>
                        </a:lnTo>
                        <a:lnTo>
                          <a:pt x="520" y="47"/>
                        </a:lnTo>
                        <a:lnTo>
                          <a:pt x="540" y="57"/>
                        </a:lnTo>
                        <a:lnTo>
                          <a:pt x="559" y="68"/>
                        </a:lnTo>
                        <a:lnTo>
                          <a:pt x="577" y="79"/>
                        </a:lnTo>
                        <a:lnTo>
                          <a:pt x="596" y="93"/>
                        </a:lnTo>
                        <a:lnTo>
                          <a:pt x="614" y="106"/>
                        </a:lnTo>
                        <a:lnTo>
                          <a:pt x="632" y="119"/>
                        </a:lnTo>
                        <a:lnTo>
                          <a:pt x="648" y="135"/>
                        </a:lnTo>
                        <a:lnTo>
                          <a:pt x="665" y="149"/>
                        </a:lnTo>
                        <a:lnTo>
                          <a:pt x="680" y="166"/>
                        </a:lnTo>
                        <a:lnTo>
                          <a:pt x="696" y="182"/>
                        </a:lnTo>
                        <a:lnTo>
                          <a:pt x="710" y="199"/>
                        </a:lnTo>
                        <a:lnTo>
                          <a:pt x="724" y="217"/>
                        </a:lnTo>
                        <a:lnTo>
                          <a:pt x="737" y="235"/>
                        </a:lnTo>
                        <a:lnTo>
                          <a:pt x="749" y="253"/>
                        </a:lnTo>
                        <a:lnTo>
                          <a:pt x="760" y="272"/>
                        </a:lnTo>
                        <a:lnTo>
                          <a:pt x="771" y="292"/>
                        </a:lnTo>
                        <a:lnTo>
                          <a:pt x="781" y="311"/>
                        </a:lnTo>
                        <a:lnTo>
                          <a:pt x="791" y="332"/>
                        </a:lnTo>
                        <a:lnTo>
                          <a:pt x="799" y="352"/>
                        </a:lnTo>
                        <a:lnTo>
                          <a:pt x="807" y="373"/>
                        </a:lnTo>
                        <a:lnTo>
                          <a:pt x="813" y="393"/>
                        </a:lnTo>
                        <a:lnTo>
                          <a:pt x="819" y="414"/>
                        </a:lnTo>
                        <a:lnTo>
                          <a:pt x="823" y="435"/>
                        </a:lnTo>
                        <a:lnTo>
                          <a:pt x="827" y="457"/>
                        </a:lnTo>
                        <a:lnTo>
                          <a:pt x="830" y="478"/>
                        </a:lnTo>
                        <a:lnTo>
                          <a:pt x="831" y="499"/>
                        </a:lnTo>
                        <a:lnTo>
                          <a:pt x="832" y="522"/>
                        </a:lnTo>
                        <a:lnTo>
                          <a:pt x="831" y="543"/>
                        </a:lnTo>
                        <a:lnTo>
                          <a:pt x="830" y="564"/>
                        </a:lnTo>
                        <a:lnTo>
                          <a:pt x="827" y="584"/>
                        </a:lnTo>
                        <a:lnTo>
                          <a:pt x="823" y="604"/>
                        </a:lnTo>
                        <a:lnTo>
                          <a:pt x="819" y="622"/>
                        </a:lnTo>
                        <a:lnTo>
                          <a:pt x="813" y="641"/>
                        </a:lnTo>
                        <a:lnTo>
                          <a:pt x="807" y="659"/>
                        </a:lnTo>
                        <a:lnTo>
                          <a:pt x="799" y="676"/>
                        </a:lnTo>
                        <a:lnTo>
                          <a:pt x="791" y="692"/>
                        </a:lnTo>
                        <a:lnTo>
                          <a:pt x="781" y="708"/>
                        </a:lnTo>
                        <a:lnTo>
                          <a:pt x="771" y="723"/>
                        </a:lnTo>
                        <a:lnTo>
                          <a:pt x="760" y="738"/>
                        </a:lnTo>
                        <a:lnTo>
                          <a:pt x="749" y="751"/>
                        </a:lnTo>
                        <a:lnTo>
                          <a:pt x="737" y="764"/>
                        </a:lnTo>
                        <a:lnTo>
                          <a:pt x="724" y="777"/>
                        </a:lnTo>
                        <a:lnTo>
                          <a:pt x="710" y="788"/>
                        </a:lnTo>
                        <a:lnTo>
                          <a:pt x="696" y="798"/>
                        </a:lnTo>
                        <a:lnTo>
                          <a:pt x="680" y="808"/>
                        </a:lnTo>
                        <a:lnTo>
                          <a:pt x="665" y="816"/>
                        </a:lnTo>
                        <a:lnTo>
                          <a:pt x="648" y="824"/>
                        </a:lnTo>
                        <a:lnTo>
                          <a:pt x="632" y="831"/>
                        </a:lnTo>
                        <a:lnTo>
                          <a:pt x="614" y="837"/>
                        </a:lnTo>
                        <a:lnTo>
                          <a:pt x="596" y="842"/>
                        </a:lnTo>
                        <a:lnTo>
                          <a:pt x="577" y="846"/>
                        </a:lnTo>
                        <a:lnTo>
                          <a:pt x="559" y="850"/>
                        </a:lnTo>
                        <a:lnTo>
                          <a:pt x="540" y="852"/>
                        </a:lnTo>
                        <a:lnTo>
                          <a:pt x="520" y="853"/>
                        </a:lnTo>
                        <a:lnTo>
                          <a:pt x="500" y="853"/>
                        </a:lnTo>
                        <a:lnTo>
                          <a:pt x="479" y="852"/>
                        </a:lnTo>
                        <a:lnTo>
                          <a:pt x="459" y="850"/>
                        </a:lnTo>
                        <a:lnTo>
                          <a:pt x="438" y="846"/>
                        </a:lnTo>
                        <a:lnTo>
                          <a:pt x="416" y="842"/>
                        </a:lnTo>
                        <a:lnTo>
                          <a:pt x="395" y="836"/>
                        </a:lnTo>
                        <a:lnTo>
                          <a:pt x="374" y="830"/>
                        </a:lnTo>
                        <a:lnTo>
                          <a:pt x="353" y="823"/>
                        </a:lnTo>
                        <a:lnTo>
                          <a:pt x="333" y="814"/>
                        </a:lnTo>
                        <a:lnTo>
                          <a:pt x="312" y="805"/>
                        </a:lnTo>
                        <a:lnTo>
                          <a:pt x="293" y="795"/>
                        </a:lnTo>
                        <a:lnTo>
                          <a:pt x="273" y="784"/>
                        </a:lnTo>
                        <a:lnTo>
                          <a:pt x="254" y="772"/>
                        </a:lnTo>
                        <a:lnTo>
                          <a:pt x="235" y="760"/>
                        </a:lnTo>
                        <a:lnTo>
                          <a:pt x="217" y="747"/>
                        </a:lnTo>
                        <a:lnTo>
                          <a:pt x="201" y="732"/>
                        </a:lnTo>
                        <a:lnTo>
                          <a:pt x="183" y="718"/>
                        </a:lnTo>
                        <a:lnTo>
                          <a:pt x="168" y="702"/>
                        </a:lnTo>
                        <a:lnTo>
                          <a:pt x="151" y="687"/>
                        </a:lnTo>
                        <a:lnTo>
                          <a:pt x="137" y="670"/>
                        </a:lnTo>
                        <a:lnTo>
                          <a:pt x="122" y="652"/>
                        </a:lnTo>
                        <a:lnTo>
                          <a:pt x="108" y="635"/>
                        </a:lnTo>
                        <a:lnTo>
                          <a:pt x="96" y="617"/>
                        </a:lnTo>
                        <a:lnTo>
                          <a:pt x="82" y="598"/>
                        </a:lnTo>
                        <a:lnTo>
                          <a:pt x="71" y="579"/>
                        </a:lnTo>
                        <a:lnTo>
                          <a:pt x="60" y="560"/>
                        </a:lnTo>
                        <a:lnTo>
                          <a:pt x="50" y="540"/>
                        </a:lnTo>
                        <a:lnTo>
                          <a:pt x="41" y="521"/>
                        </a:lnTo>
                        <a:lnTo>
                          <a:pt x="32" y="499"/>
                        </a:lnTo>
                        <a:lnTo>
                          <a:pt x="26" y="479"/>
                        </a:lnTo>
                        <a:lnTo>
                          <a:pt x="19" y="458"/>
                        </a:lnTo>
                        <a:lnTo>
                          <a:pt x="14" y="437"/>
                        </a:lnTo>
                        <a:lnTo>
                          <a:pt x="8" y="416"/>
                        </a:lnTo>
                        <a:lnTo>
                          <a:pt x="5" y="395"/>
                        </a:lnTo>
                        <a:lnTo>
                          <a:pt x="2" y="373"/>
                        </a:lnTo>
                        <a:lnTo>
                          <a:pt x="0" y="352"/>
                        </a:lnTo>
                        <a:lnTo>
                          <a:pt x="0" y="331"/>
                        </a:lnTo>
                        <a:lnTo>
                          <a:pt x="0" y="309"/>
                        </a:lnTo>
                        <a:lnTo>
                          <a:pt x="2" y="289"/>
                        </a:lnTo>
                        <a:lnTo>
                          <a:pt x="5" y="268"/>
                        </a:lnTo>
                        <a:lnTo>
                          <a:pt x="8" y="249"/>
                        </a:lnTo>
                        <a:lnTo>
                          <a:pt x="14" y="230"/>
                        </a:lnTo>
                        <a:lnTo>
                          <a:pt x="19" y="211"/>
                        </a:lnTo>
                        <a:lnTo>
                          <a:pt x="26" y="194"/>
                        </a:lnTo>
                        <a:lnTo>
                          <a:pt x="32" y="176"/>
                        </a:lnTo>
                        <a:lnTo>
                          <a:pt x="41" y="159"/>
                        </a:lnTo>
                        <a:lnTo>
                          <a:pt x="50" y="144"/>
                        </a:lnTo>
                        <a:lnTo>
                          <a:pt x="60" y="128"/>
                        </a:lnTo>
                        <a:lnTo>
                          <a:pt x="71" y="114"/>
                        </a:lnTo>
                        <a:lnTo>
                          <a:pt x="82" y="100"/>
                        </a:lnTo>
                        <a:lnTo>
                          <a:pt x="96" y="87"/>
                        </a:lnTo>
                        <a:lnTo>
                          <a:pt x="108" y="76"/>
                        </a:lnTo>
                        <a:lnTo>
                          <a:pt x="122" y="64"/>
                        </a:lnTo>
                        <a:lnTo>
                          <a:pt x="137" y="54"/>
                        </a:lnTo>
                        <a:lnTo>
                          <a:pt x="151" y="44"/>
                        </a:lnTo>
                        <a:lnTo>
                          <a:pt x="168" y="35"/>
                        </a:lnTo>
                        <a:lnTo>
                          <a:pt x="183" y="27"/>
                        </a:lnTo>
                        <a:lnTo>
                          <a:pt x="201" y="21"/>
                        </a:lnTo>
                        <a:lnTo>
                          <a:pt x="217" y="15"/>
                        </a:lnTo>
                        <a:lnTo>
                          <a:pt x="235" y="10"/>
                        </a:lnTo>
                        <a:lnTo>
                          <a:pt x="254" y="5"/>
                        </a:lnTo>
                        <a:lnTo>
                          <a:pt x="273" y="2"/>
                        </a:lnTo>
                        <a:lnTo>
                          <a:pt x="293" y="1"/>
                        </a:lnTo>
                        <a:lnTo>
                          <a:pt x="312" y="0"/>
                        </a:lnTo>
                        <a:lnTo>
                          <a:pt x="333" y="0"/>
                        </a:lnTo>
                        <a:lnTo>
                          <a:pt x="353" y="1"/>
                        </a:lnTo>
                        <a:lnTo>
                          <a:pt x="374" y="2"/>
                        </a:lnTo>
                        <a:lnTo>
                          <a:pt x="395" y="5"/>
                        </a:lnTo>
                        <a:lnTo>
                          <a:pt x="416" y="10"/>
                        </a:lnTo>
                        <a:close/>
                      </a:path>
                    </a:pathLst>
                  </a:cu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84" name="Google Shape;1784;g3f95de07730_1_1266"/>
                  <p:cNvSpPr/>
                  <p:nvPr/>
                </p:nvSpPr>
                <p:spPr>
                  <a:xfrm>
                    <a:off x="3073994" y="4626493"/>
                    <a:ext cx="22461" cy="23410"/>
                  </a:xfrm>
                  <a:custGeom>
                    <a:avLst/>
                    <a:gdLst/>
                    <a:ahLst/>
                    <a:cxnLst/>
                    <a:rect l="l" t="t" r="r" b="b"/>
                    <a:pathLst>
                      <a:path w="429" h="440" extrusionOk="0">
                        <a:moveTo>
                          <a:pt x="214" y="5"/>
                        </a:moveTo>
                        <a:lnTo>
                          <a:pt x="236" y="12"/>
                        </a:lnTo>
                        <a:lnTo>
                          <a:pt x="257" y="20"/>
                        </a:lnTo>
                        <a:lnTo>
                          <a:pt x="278" y="30"/>
                        </a:lnTo>
                        <a:lnTo>
                          <a:pt x="297" y="42"/>
                        </a:lnTo>
                        <a:lnTo>
                          <a:pt x="316" y="55"/>
                        </a:lnTo>
                        <a:lnTo>
                          <a:pt x="333" y="70"/>
                        </a:lnTo>
                        <a:lnTo>
                          <a:pt x="350" y="86"/>
                        </a:lnTo>
                        <a:lnTo>
                          <a:pt x="365" y="103"/>
                        </a:lnTo>
                        <a:lnTo>
                          <a:pt x="379" y="122"/>
                        </a:lnTo>
                        <a:lnTo>
                          <a:pt x="392" y="141"/>
                        </a:lnTo>
                        <a:lnTo>
                          <a:pt x="402" y="162"/>
                        </a:lnTo>
                        <a:lnTo>
                          <a:pt x="411" y="182"/>
                        </a:lnTo>
                        <a:lnTo>
                          <a:pt x="419" y="204"/>
                        </a:lnTo>
                        <a:lnTo>
                          <a:pt x="424" y="225"/>
                        </a:lnTo>
                        <a:lnTo>
                          <a:pt x="427" y="247"/>
                        </a:lnTo>
                        <a:lnTo>
                          <a:pt x="429" y="269"/>
                        </a:lnTo>
                        <a:lnTo>
                          <a:pt x="427" y="280"/>
                        </a:lnTo>
                        <a:lnTo>
                          <a:pt x="427" y="291"/>
                        </a:lnTo>
                        <a:lnTo>
                          <a:pt x="425" y="301"/>
                        </a:lnTo>
                        <a:lnTo>
                          <a:pt x="424" y="311"/>
                        </a:lnTo>
                        <a:lnTo>
                          <a:pt x="421" y="321"/>
                        </a:lnTo>
                        <a:lnTo>
                          <a:pt x="419" y="331"/>
                        </a:lnTo>
                        <a:lnTo>
                          <a:pt x="415" y="340"/>
                        </a:lnTo>
                        <a:lnTo>
                          <a:pt x="411" y="349"/>
                        </a:lnTo>
                        <a:lnTo>
                          <a:pt x="402" y="365"/>
                        </a:lnTo>
                        <a:lnTo>
                          <a:pt x="392" y="381"/>
                        </a:lnTo>
                        <a:lnTo>
                          <a:pt x="379" y="394"/>
                        </a:lnTo>
                        <a:lnTo>
                          <a:pt x="365" y="406"/>
                        </a:lnTo>
                        <a:lnTo>
                          <a:pt x="350" y="416"/>
                        </a:lnTo>
                        <a:lnTo>
                          <a:pt x="333" y="425"/>
                        </a:lnTo>
                        <a:lnTo>
                          <a:pt x="316" y="432"/>
                        </a:lnTo>
                        <a:lnTo>
                          <a:pt x="297" y="436"/>
                        </a:lnTo>
                        <a:lnTo>
                          <a:pt x="278" y="440"/>
                        </a:lnTo>
                        <a:lnTo>
                          <a:pt x="257" y="440"/>
                        </a:lnTo>
                        <a:lnTo>
                          <a:pt x="236" y="439"/>
                        </a:lnTo>
                        <a:lnTo>
                          <a:pt x="214" y="434"/>
                        </a:lnTo>
                        <a:lnTo>
                          <a:pt x="192" y="429"/>
                        </a:lnTo>
                        <a:lnTo>
                          <a:pt x="170" y="420"/>
                        </a:lnTo>
                        <a:lnTo>
                          <a:pt x="151" y="410"/>
                        </a:lnTo>
                        <a:lnTo>
                          <a:pt x="131" y="399"/>
                        </a:lnTo>
                        <a:lnTo>
                          <a:pt x="112" y="385"/>
                        </a:lnTo>
                        <a:lnTo>
                          <a:pt x="94" y="370"/>
                        </a:lnTo>
                        <a:lnTo>
                          <a:pt x="77" y="354"/>
                        </a:lnTo>
                        <a:lnTo>
                          <a:pt x="62" y="337"/>
                        </a:lnTo>
                        <a:lnTo>
                          <a:pt x="49" y="318"/>
                        </a:lnTo>
                        <a:lnTo>
                          <a:pt x="36" y="299"/>
                        </a:lnTo>
                        <a:lnTo>
                          <a:pt x="25" y="279"/>
                        </a:lnTo>
                        <a:lnTo>
                          <a:pt x="16" y="258"/>
                        </a:lnTo>
                        <a:lnTo>
                          <a:pt x="10" y="237"/>
                        </a:lnTo>
                        <a:lnTo>
                          <a:pt x="4" y="215"/>
                        </a:lnTo>
                        <a:lnTo>
                          <a:pt x="1" y="193"/>
                        </a:lnTo>
                        <a:lnTo>
                          <a:pt x="0" y="170"/>
                        </a:lnTo>
                        <a:lnTo>
                          <a:pt x="0" y="159"/>
                        </a:lnTo>
                        <a:lnTo>
                          <a:pt x="1" y="149"/>
                        </a:lnTo>
                        <a:lnTo>
                          <a:pt x="2" y="138"/>
                        </a:lnTo>
                        <a:lnTo>
                          <a:pt x="4" y="128"/>
                        </a:lnTo>
                        <a:lnTo>
                          <a:pt x="7" y="118"/>
                        </a:lnTo>
                        <a:lnTo>
                          <a:pt x="10" y="109"/>
                        </a:lnTo>
                        <a:lnTo>
                          <a:pt x="13" y="101"/>
                        </a:lnTo>
                        <a:lnTo>
                          <a:pt x="16" y="92"/>
                        </a:lnTo>
                        <a:lnTo>
                          <a:pt x="25" y="75"/>
                        </a:lnTo>
                        <a:lnTo>
                          <a:pt x="36" y="60"/>
                        </a:lnTo>
                        <a:lnTo>
                          <a:pt x="49" y="46"/>
                        </a:lnTo>
                        <a:lnTo>
                          <a:pt x="62" y="34"/>
                        </a:lnTo>
                        <a:lnTo>
                          <a:pt x="77" y="23"/>
                        </a:lnTo>
                        <a:lnTo>
                          <a:pt x="94" y="15"/>
                        </a:lnTo>
                        <a:lnTo>
                          <a:pt x="112" y="9"/>
                        </a:lnTo>
                        <a:lnTo>
                          <a:pt x="131" y="3"/>
                        </a:lnTo>
                        <a:lnTo>
                          <a:pt x="151" y="1"/>
                        </a:lnTo>
                        <a:lnTo>
                          <a:pt x="170" y="0"/>
                        </a:lnTo>
                        <a:lnTo>
                          <a:pt x="192" y="2"/>
                        </a:lnTo>
                        <a:lnTo>
                          <a:pt x="214" y="5"/>
                        </a:lnTo>
                        <a:close/>
                      </a:path>
                    </a:pathLst>
                  </a:custGeom>
                  <a:solidFill>
                    <a:srgbClr val="B3B3B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85" name="Google Shape;1785;g3f95de07730_1_1266"/>
                  <p:cNvSpPr/>
                  <p:nvPr/>
                </p:nvSpPr>
                <p:spPr>
                  <a:xfrm>
                    <a:off x="3078106" y="4630922"/>
                    <a:ext cx="14236" cy="14552"/>
                  </a:xfrm>
                  <a:custGeom>
                    <a:avLst/>
                    <a:gdLst/>
                    <a:ahLst/>
                    <a:cxnLst/>
                    <a:rect l="l" t="t" r="r" b="b"/>
                    <a:pathLst>
                      <a:path w="271" h="278" extrusionOk="0">
                        <a:moveTo>
                          <a:pt x="135" y="3"/>
                        </a:moveTo>
                        <a:lnTo>
                          <a:pt x="149" y="7"/>
                        </a:lnTo>
                        <a:lnTo>
                          <a:pt x="162" y="12"/>
                        </a:lnTo>
                        <a:lnTo>
                          <a:pt x="176" y="18"/>
                        </a:lnTo>
                        <a:lnTo>
                          <a:pt x="188" y="26"/>
                        </a:lnTo>
                        <a:lnTo>
                          <a:pt x="200" y="34"/>
                        </a:lnTo>
                        <a:lnTo>
                          <a:pt x="211" y="44"/>
                        </a:lnTo>
                        <a:lnTo>
                          <a:pt x="221" y="54"/>
                        </a:lnTo>
                        <a:lnTo>
                          <a:pt x="231" y="65"/>
                        </a:lnTo>
                        <a:lnTo>
                          <a:pt x="240" y="76"/>
                        </a:lnTo>
                        <a:lnTo>
                          <a:pt x="248" y="89"/>
                        </a:lnTo>
                        <a:lnTo>
                          <a:pt x="254" y="102"/>
                        </a:lnTo>
                        <a:lnTo>
                          <a:pt x="260" y="115"/>
                        </a:lnTo>
                        <a:lnTo>
                          <a:pt x="264" y="128"/>
                        </a:lnTo>
                        <a:lnTo>
                          <a:pt x="268" y="143"/>
                        </a:lnTo>
                        <a:lnTo>
                          <a:pt x="270" y="156"/>
                        </a:lnTo>
                        <a:lnTo>
                          <a:pt x="271" y="170"/>
                        </a:lnTo>
                        <a:lnTo>
                          <a:pt x="270" y="184"/>
                        </a:lnTo>
                        <a:lnTo>
                          <a:pt x="268" y="197"/>
                        </a:lnTo>
                        <a:lnTo>
                          <a:pt x="264" y="209"/>
                        </a:lnTo>
                        <a:lnTo>
                          <a:pt x="260" y="220"/>
                        </a:lnTo>
                        <a:lnTo>
                          <a:pt x="254" y="231"/>
                        </a:lnTo>
                        <a:lnTo>
                          <a:pt x="248" y="241"/>
                        </a:lnTo>
                        <a:lnTo>
                          <a:pt x="240" y="249"/>
                        </a:lnTo>
                        <a:lnTo>
                          <a:pt x="231" y="257"/>
                        </a:lnTo>
                        <a:lnTo>
                          <a:pt x="221" y="263"/>
                        </a:lnTo>
                        <a:lnTo>
                          <a:pt x="211" y="269"/>
                        </a:lnTo>
                        <a:lnTo>
                          <a:pt x="200" y="273"/>
                        </a:lnTo>
                        <a:lnTo>
                          <a:pt x="188" y="277"/>
                        </a:lnTo>
                        <a:lnTo>
                          <a:pt x="176" y="278"/>
                        </a:lnTo>
                        <a:lnTo>
                          <a:pt x="162" y="278"/>
                        </a:lnTo>
                        <a:lnTo>
                          <a:pt x="149" y="277"/>
                        </a:lnTo>
                        <a:lnTo>
                          <a:pt x="135" y="275"/>
                        </a:lnTo>
                        <a:lnTo>
                          <a:pt x="121" y="271"/>
                        </a:lnTo>
                        <a:lnTo>
                          <a:pt x="107" y="266"/>
                        </a:lnTo>
                        <a:lnTo>
                          <a:pt x="95" y="259"/>
                        </a:lnTo>
                        <a:lnTo>
                          <a:pt x="83" y="252"/>
                        </a:lnTo>
                        <a:lnTo>
                          <a:pt x="70" y="243"/>
                        </a:lnTo>
                        <a:lnTo>
                          <a:pt x="59" y="235"/>
                        </a:lnTo>
                        <a:lnTo>
                          <a:pt x="48" y="224"/>
                        </a:lnTo>
                        <a:lnTo>
                          <a:pt x="39" y="212"/>
                        </a:lnTo>
                        <a:lnTo>
                          <a:pt x="31" y="201"/>
                        </a:lnTo>
                        <a:lnTo>
                          <a:pt x="23" y="189"/>
                        </a:lnTo>
                        <a:lnTo>
                          <a:pt x="15" y="176"/>
                        </a:lnTo>
                        <a:lnTo>
                          <a:pt x="9" y="164"/>
                        </a:lnTo>
                        <a:lnTo>
                          <a:pt x="5" y="149"/>
                        </a:lnTo>
                        <a:lnTo>
                          <a:pt x="2" y="136"/>
                        </a:lnTo>
                        <a:lnTo>
                          <a:pt x="0" y="122"/>
                        </a:lnTo>
                        <a:lnTo>
                          <a:pt x="0" y="108"/>
                        </a:lnTo>
                        <a:lnTo>
                          <a:pt x="0" y="94"/>
                        </a:lnTo>
                        <a:lnTo>
                          <a:pt x="2" y="81"/>
                        </a:lnTo>
                        <a:lnTo>
                          <a:pt x="5" y="68"/>
                        </a:lnTo>
                        <a:lnTo>
                          <a:pt x="9" y="57"/>
                        </a:lnTo>
                        <a:lnTo>
                          <a:pt x="15" y="47"/>
                        </a:lnTo>
                        <a:lnTo>
                          <a:pt x="23" y="37"/>
                        </a:lnTo>
                        <a:lnTo>
                          <a:pt x="31" y="28"/>
                        </a:lnTo>
                        <a:lnTo>
                          <a:pt x="39" y="21"/>
                        </a:lnTo>
                        <a:lnTo>
                          <a:pt x="48" y="14"/>
                        </a:lnTo>
                        <a:lnTo>
                          <a:pt x="59" y="9"/>
                        </a:lnTo>
                        <a:lnTo>
                          <a:pt x="70" y="5"/>
                        </a:lnTo>
                        <a:lnTo>
                          <a:pt x="83" y="2"/>
                        </a:lnTo>
                        <a:lnTo>
                          <a:pt x="95" y="0"/>
                        </a:lnTo>
                        <a:lnTo>
                          <a:pt x="107" y="0"/>
                        </a:lnTo>
                        <a:lnTo>
                          <a:pt x="121" y="1"/>
                        </a:lnTo>
                        <a:lnTo>
                          <a:pt x="135" y="3"/>
                        </a:lnTo>
                        <a:close/>
                      </a:path>
                    </a:pathLst>
                  </a:custGeom>
                  <a:gradFill>
                    <a:gsLst>
                      <a:gs pos="0">
                        <a:srgbClr val="006994"/>
                      </a:gs>
                      <a:gs pos="50000">
                        <a:srgbClr val="009AD7"/>
                      </a:gs>
                      <a:gs pos="100000">
                        <a:srgbClr val="00B8FF"/>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nvGrpSpPr>
                <p:cNvPr id="1786" name="Google Shape;1786;g3f95de07730_1_1266"/>
                <p:cNvGrpSpPr/>
                <p:nvPr/>
              </p:nvGrpSpPr>
              <p:grpSpPr>
                <a:xfrm>
                  <a:off x="2939904" y="4690008"/>
                  <a:ext cx="145198" cy="153849"/>
                  <a:chOff x="5967413" y="-3362325"/>
                  <a:chExt cx="1133478" cy="1454150"/>
                </a:xfrm>
              </p:grpSpPr>
              <p:sp>
                <p:nvSpPr>
                  <p:cNvPr id="1787" name="Google Shape;1787;g3f95de07730_1_126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88" name="Google Shape;1788;g3f95de07730_1_126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89" name="Google Shape;1789;g3f95de07730_1_126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90" name="Google Shape;1790;g3f95de07730_1_126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91" name="Google Shape;1791;g3f95de07730_1_126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92" name="Google Shape;1792;g3f95de07730_1_126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93" name="Google Shape;1793;g3f95de07730_1_126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94" name="Google Shape;1794;g3f95de07730_1_126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95" name="Google Shape;1795;g3f95de07730_1_126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96" name="Google Shape;1796;g3f95de07730_1_126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97" name="Google Shape;1797;g3f95de07730_1_126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98" name="Google Shape;1798;g3f95de07730_1_126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799" name="Google Shape;1799;g3f95de07730_1_126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00" name="Google Shape;1800;g3f95de07730_1_126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sp>
            <p:nvSpPr>
              <p:cNvPr id="1801" name="Google Shape;1801;g3f95de07730_1_1266"/>
              <p:cNvSpPr txBox="1"/>
              <p:nvPr/>
            </p:nvSpPr>
            <p:spPr>
              <a:xfrm>
                <a:off x="2866069" y="5491069"/>
                <a:ext cx="92700" cy="52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400"/>
                  <a:buFont typeface="Arial"/>
                  <a:buNone/>
                </a:pPr>
                <a:r>
                  <a:rPr lang="en-US" sz="400" b="1" i="0" u="none" strike="noStrike" cap="none">
                    <a:solidFill>
                      <a:srgbClr val="3F3F3F"/>
                    </a:solidFill>
                    <a:latin typeface="Roboto"/>
                    <a:ea typeface="Roboto"/>
                    <a:cs typeface="Roboto"/>
                    <a:sym typeface="Roboto"/>
                  </a:rPr>
                  <a:t>WN</a:t>
                </a:r>
                <a:endParaRPr sz="400" b="1" i="0" u="none" strike="noStrike" cap="none">
                  <a:solidFill>
                    <a:srgbClr val="3F3F3F"/>
                  </a:solidFill>
                  <a:latin typeface="Roboto"/>
                  <a:ea typeface="Roboto"/>
                  <a:cs typeface="Roboto"/>
                  <a:sym typeface="Roboto"/>
                </a:endParaRPr>
              </a:p>
            </p:txBody>
          </p:sp>
        </p:grpSp>
        <p:grpSp>
          <p:nvGrpSpPr>
            <p:cNvPr id="1802" name="Google Shape;1802;g3f95de07730_1_1266"/>
            <p:cNvGrpSpPr/>
            <p:nvPr/>
          </p:nvGrpSpPr>
          <p:grpSpPr>
            <a:xfrm>
              <a:off x="3852652" y="5045397"/>
              <a:ext cx="376733" cy="448726"/>
              <a:chOff x="2700762" y="5095926"/>
              <a:chExt cx="376733" cy="448726"/>
            </a:xfrm>
          </p:grpSpPr>
          <p:grpSp>
            <p:nvGrpSpPr>
              <p:cNvPr id="1803" name="Google Shape;1803;g3f95de07730_1_1266"/>
              <p:cNvGrpSpPr/>
              <p:nvPr/>
            </p:nvGrpSpPr>
            <p:grpSpPr>
              <a:xfrm>
                <a:off x="2700762" y="5095926"/>
                <a:ext cx="376733" cy="448726"/>
                <a:chOff x="2939904" y="4395131"/>
                <a:chExt cx="376733" cy="448726"/>
              </a:xfrm>
            </p:grpSpPr>
            <p:grpSp>
              <p:nvGrpSpPr>
                <p:cNvPr id="1804" name="Google Shape;1804;g3f95de07730_1_1266"/>
                <p:cNvGrpSpPr/>
                <p:nvPr/>
              </p:nvGrpSpPr>
              <p:grpSpPr>
                <a:xfrm>
                  <a:off x="3040778" y="4395131"/>
                  <a:ext cx="275858" cy="376772"/>
                  <a:chOff x="3040778" y="4395131"/>
                  <a:chExt cx="275858" cy="376772"/>
                </a:xfrm>
              </p:grpSpPr>
              <p:sp>
                <p:nvSpPr>
                  <p:cNvPr id="1805" name="Google Shape;1805;g3f95de07730_1_1266"/>
                  <p:cNvSpPr/>
                  <p:nvPr/>
                </p:nvSpPr>
                <p:spPr>
                  <a:xfrm>
                    <a:off x="3040778" y="4395131"/>
                    <a:ext cx="275858" cy="376772"/>
                  </a:xfrm>
                  <a:custGeom>
                    <a:avLst/>
                    <a:gdLst/>
                    <a:ahLst/>
                    <a:cxnLst/>
                    <a:rect l="l" t="t" r="r" b="b"/>
                    <a:pathLst>
                      <a:path w="5235" h="7147" extrusionOk="0">
                        <a:moveTo>
                          <a:pt x="3501" y="0"/>
                        </a:moveTo>
                        <a:lnTo>
                          <a:pt x="0" y="2049"/>
                        </a:lnTo>
                        <a:lnTo>
                          <a:pt x="16" y="6095"/>
                        </a:lnTo>
                        <a:lnTo>
                          <a:pt x="1785" y="7147"/>
                        </a:lnTo>
                        <a:lnTo>
                          <a:pt x="5199" y="5045"/>
                        </a:lnTo>
                        <a:lnTo>
                          <a:pt x="5235" y="981"/>
                        </a:lnTo>
                        <a:lnTo>
                          <a:pt x="3501" y="0"/>
                        </a:lnTo>
                        <a:close/>
                      </a:path>
                    </a:pathLst>
                  </a:custGeom>
                  <a:solidFill>
                    <a:srgbClr val="9999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06" name="Google Shape;1806;g3f95de07730_1_1266"/>
                  <p:cNvSpPr/>
                  <p:nvPr/>
                </p:nvSpPr>
                <p:spPr>
                  <a:xfrm>
                    <a:off x="3134100" y="4449542"/>
                    <a:ext cx="182527" cy="322351"/>
                  </a:xfrm>
                  <a:custGeom>
                    <a:avLst/>
                    <a:gdLst/>
                    <a:ahLst/>
                    <a:cxnLst/>
                    <a:rect l="l" t="t" r="r" b="b"/>
                    <a:pathLst>
                      <a:path w="3464" h="6117" extrusionOk="0">
                        <a:moveTo>
                          <a:pt x="0" y="6107"/>
                        </a:moveTo>
                        <a:lnTo>
                          <a:pt x="15" y="6117"/>
                        </a:lnTo>
                        <a:lnTo>
                          <a:pt x="3429" y="4015"/>
                        </a:lnTo>
                        <a:lnTo>
                          <a:pt x="3464" y="0"/>
                        </a:lnTo>
                        <a:lnTo>
                          <a:pt x="15" y="2053"/>
                        </a:lnTo>
                        <a:lnTo>
                          <a:pt x="0" y="6107"/>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07" name="Google Shape;1807;g3f95de07730_1_1266"/>
                  <p:cNvSpPr/>
                  <p:nvPr/>
                </p:nvSpPr>
                <p:spPr>
                  <a:xfrm>
                    <a:off x="3040778" y="4495729"/>
                    <a:ext cx="108821" cy="276174"/>
                  </a:xfrm>
                  <a:custGeom>
                    <a:avLst/>
                    <a:gdLst/>
                    <a:ahLst/>
                    <a:cxnLst/>
                    <a:rect l="l" t="t" r="r" b="b"/>
                    <a:pathLst>
                      <a:path w="2066" h="5241" extrusionOk="0">
                        <a:moveTo>
                          <a:pt x="244" y="0"/>
                        </a:moveTo>
                        <a:lnTo>
                          <a:pt x="0" y="143"/>
                        </a:lnTo>
                        <a:lnTo>
                          <a:pt x="16" y="4189"/>
                        </a:lnTo>
                        <a:lnTo>
                          <a:pt x="1785" y="5241"/>
                        </a:lnTo>
                        <a:lnTo>
                          <a:pt x="2066" y="5068"/>
                        </a:lnTo>
                        <a:lnTo>
                          <a:pt x="2066" y="984"/>
                        </a:lnTo>
                        <a:lnTo>
                          <a:pt x="244" y="0"/>
                        </a:lnTo>
                        <a:close/>
                      </a:path>
                    </a:pathLst>
                  </a:custGeom>
                  <a:gradFill>
                    <a:gsLst>
                      <a:gs pos="0">
                        <a:srgbClr val="F2F2F2"/>
                      </a:gs>
                      <a:gs pos="35000">
                        <a:srgbClr val="C3C3C3"/>
                      </a:gs>
                      <a:gs pos="40000">
                        <a:srgbClr val="F2F2F2"/>
                      </a:gs>
                      <a:gs pos="100000">
                        <a:srgbClr val="D8D8D8"/>
                      </a:gs>
                    </a:gsLst>
                    <a:lin ang="360000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08" name="Google Shape;1808;g3f95de07730_1_1266"/>
                  <p:cNvSpPr/>
                  <p:nvPr/>
                </p:nvSpPr>
                <p:spPr>
                  <a:xfrm>
                    <a:off x="3040778" y="4503005"/>
                    <a:ext cx="94905" cy="268890"/>
                  </a:xfrm>
                  <a:custGeom>
                    <a:avLst/>
                    <a:gdLst/>
                    <a:ahLst/>
                    <a:cxnLst/>
                    <a:rect l="l" t="t" r="r" b="b"/>
                    <a:pathLst>
                      <a:path w="1803" h="5103" extrusionOk="0">
                        <a:moveTo>
                          <a:pt x="10" y="0"/>
                        </a:moveTo>
                        <a:lnTo>
                          <a:pt x="0" y="5"/>
                        </a:lnTo>
                        <a:lnTo>
                          <a:pt x="16" y="4051"/>
                        </a:lnTo>
                        <a:lnTo>
                          <a:pt x="1785" y="5103"/>
                        </a:lnTo>
                        <a:lnTo>
                          <a:pt x="1786" y="5102"/>
                        </a:lnTo>
                        <a:lnTo>
                          <a:pt x="1803" y="1039"/>
                        </a:lnTo>
                        <a:lnTo>
                          <a:pt x="10" y="0"/>
                        </a:lnTo>
                        <a:close/>
                      </a:path>
                    </a:pathLst>
                  </a:custGeom>
                  <a:gradFill>
                    <a:gsLst>
                      <a:gs pos="0">
                        <a:srgbClr val="7F7F7F"/>
                      </a:gs>
                      <a:gs pos="12000">
                        <a:srgbClr val="7F7F7F"/>
                      </a:gs>
                      <a:gs pos="100000">
                        <a:srgbClr val="A5A5A5"/>
                      </a:gs>
                    </a:gsLst>
                    <a:lin ang="7200017"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09" name="Google Shape;1809;g3f95de07730_1_1266"/>
                  <p:cNvSpPr/>
                  <p:nvPr/>
                </p:nvSpPr>
                <p:spPr>
                  <a:xfrm>
                    <a:off x="3052483" y="4534955"/>
                    <a:ext cx="68332" cy="58208"/>
                  </a:xfrm>
                  <a:custGeom>
                    <a:avLst/>
                    <a:gdLst/>
                    <a:ahLst/>
                    <a:cxnLst/>
                    <a:rect l="l" t="t" r="r" b="b"/>
                    <a:pathLst>
                      <a:path w="1296" h="1102" extrusionOk="0">
                        <a:moveTo>
                          <a:pt x="0" y="0"/>
                        </a:moveTo>
                        <a:lnTo>
                          <a:pt x="1296" y="752"/>
                        </a:lnTo>
                        <a:lnTo>
                          <a:pt x="1296" y="1102"/>
                        </a:lnTo>
                        <a:lnTo>
                          <a:pt x="0" y="351"/>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10" name="Google Shape;1810;g3f95de07730_1_1266"/>
                  <p:cNvSpPr/>
                  <p:nvPr/>
                </p:nvSpPr>
                <p:spPr>
                  <a:xfrm>
                    <a:off x="3102782" y="4589999"/>
                    <a:ext cx="18032" cy="15501"/>
                  </a:xfrm>
                  <a:custGeom>
                    <a:avLst/>
                    <a:gdLst/>
                    <a:ahLst/>
                    <a:cxnLst/>
                    <a:rect l="l" t="t" r="r" b="b"/>
                    <a:pathLst>
                      <a:path w="346" h="294" extrusionOk="0">
                        <a:moveTo>
                          <a:pt x="0" y="0"/>
                        </a:moveTo>
                        <a:lnTo>
                          <a:pt x="346" y="201"/>
                        </a:lnTo>
                        <a:lnTo>
                          <a:pt x="346" y="294"/>
                        </a:lnTo>
                        <a:lnTo>
                          <a:pt x="0" y="93"/>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11" name="Google Shape;1811;g3f95de07730_1_1266"/>
                  <p:cNvSpPr/>
                  <p:nvPr/>
                </p:nvSpPr>
                <p:spPr>
                  <a:xfrm>
                    <a:off x="3063238" y="4615738"/>
                    <a:ext cx="43971" cy="44921"/>
                  </a:xfrm>
                  <a:custGeom>
                    <a:avLst/>
                    <a:gdLst/>
                    <a:ahLst/>
                    <a:cxnLst/>
                    <a:rect l="l" t="t" r="r" b="b"/>
                    <a:pathLst>
                      <a:path w="832" h="853" extrusionOk="0">
                        <a:moveTo>
                          <a:pt x="416" y="10"/>
                        </a:moveTo>
                        <a:lnTo>
                          <a:pt x="438" y="15"/>
                        </a:lnTo>
                        <a:lnTo>
                          <a:pt x="459" y="22"/>
                        </a:lnTo>
                        <a:lnTo>
                          <a:pt x="479" y="30"/>
                        </a:lnTo>
                        <a:lnTo>
                          <a:pt x="500" y="37"/>
                        </a:lnTo>
                        <a:lnTo>
                          <a:pt x="520" y="47"/>
                        </a:lnTo>
                        <a:lnTo>
                          <a:pt x="540" y="57"/>
                        </a:lnTo>
                        <a:lnTo>
                          <a:pt x="559" y="68"/>
                        </a:lnTo>
                        <a:lnTo>
                          <a:pt x="577" y="79"/>
                        </a:lnTo>
                        <a:lnTo>
                          <a:pt x="596" y="93"/>
                        </a:lnTo>
                        <a:lnTo>
                          <a:pt x="614" y="106"/>
                        </a:lnTo>
                        <a:lnTo>
                          <a:pt x="632" y="119"/>
                        </a:lnTo>
                        <a:lnTo>
                          <a:pt x="648" y="135"/>
                        </a:lnTo>
                        <a:lnTo>
                          <a:pt x="665" y="149"/>
                        </a:lnTo>
                        <a:lnTo>
                          <a:pt x="680" y="166"/>
                        </a:lnTo>
                        <a:lnTo>
                          <a:pt x="696" y="182"/>
                        </a:lnTo>
                        <a:lnTo>
                          <a:pt x="710" y="199"/>
                        </a:lnTo>
                        <a:lnTo>
                          <a:pt x="724" y="217"/>
                        </a:lnTo>
                        <a:lnTo>
                          <a:pt x="737" y="235"/>
                        </a:lnTo>
                        <a:lnTo>
                          <a:pt x="749" y="253"/>
                        </a:lnTo>
                        <a:lnTo>
                          <a:pt x="760" y="272"/>
                        </a:lnTo>
                        <a:lnTo>
                          <a:pt x="771" y="292"/>
                        </a:lnTo>
                        <a:lnTo>
                          <a:pt x="781" y="311"/>
                        </a:lnTo>
                        <a:lnTo>
                          <a:pt x="791" y="332"/>
                        </a:lnTo>
                        <a:lnTo>
                          <a:pt x="799" y="352"/>
                        </a:lnTo>
                        <a:lnTo>
                          <a:pt x="807" y="373"/>
                        </a:lnTo>
                        <a:lnTo>
                          <a:pt x="813" y="393"/>
                        </a:lnTo>
                        <a:lnTo>
                          <a:pt x="819" y="414"/>
                        </a:lnTo>
                        <a:lnTo>
                          <a:pt x="823" y="435"/>
                        </a:lnTo>
                        <a:lnTo>
                          <a:pt x="827" y="457"/>
                        </a:lnTo>
                        <a:lnTo>
                          <a:pt x="830" y="478"/>
                        </a:lnTo>
                        <a:lnTo>
                          <a:pt x="831" y="499"/>
                        </a:lnTo>
                        <a:lnTo>
                          <a:pt x="832" y="522"/>
                        </a:lnTo>
                        <a:lnTo>
                          <a:pt x="831" y="543"/>
                        </a:lnTo>
                        <a:lnTo>
                          <a:pt x="830" y="564"/>
                        </a:lnTo>
                        <a:lnTo>
                          <a:pt x="827" y="584"/>
                        </a:lnTo>
                        <a:lnTo>
                          <a:pt x="823" y="604"/>
                        </a:lnTo>
                        <a:lnTo>
                          <a:pt x="819" y="622"/>
                        </a:lnTo>
                        <a:lnTo>
                          <a:pt x="813" y="641"/>
                        </a:lnTo>
                        <a:lnTo>
                          <a:pt x="807" y="659"/>
                        </a:lnTo>
                        <a:lnTo>
                          <a:pt x="799" y="676"/>
                        </a:lnTo>
                        <a:lnTo>
                          <a:pt x="791" y="692"/>
                        </a:lnTo>
                        <a:lnTo>
                          <a:pt x="781" y="708"/>
                        </a:lnTo>
                        <a:lnTo>
                          <a:pt x="771" y="723"/>
                        </a:lnTo>
                        <a:lnTo>
                          <a:pt x="760" y="738"/>
                        </a:lnTo>
                        <a:lnTo>
                          <a:pt x="749" y="751"/>
                        </a:lnTo>
                        <a:lnTo>
                          <a:pt x="737" y="764"/>
                        </a:lnTo>
                        <a:lnTo>
                          <a:pt x="724" y="777"/>
                        </a:lnTo>
                        <a:lnTo>
                          <a:pt x="710" y="788"/>
                        </a:lnTo>
                        <a:lnTo>
                          <a:pt x="696" y="798"/>
                        </a:lnTo>
                        <a:lnTo>
                          <a:pt x="680" y="808"/>
                        </a:lnTo>
                        <a:lnTo>
                          <a:pt x="665" y="816"/>
                        </a:lnTo>
                        <a:lnTo>
                          <a:pt x="648" y="824"/>
                        </a:lnTo>
                        <a:lnTo>
                          <a:pt x="632" y="831"/>
                        </a:lnTo>
                        <a:lnTo>
                          <a:pt x="614" y="837"/>
                        </a:lnTo>
                        <a:lnTo>
                          <a:pt x="596" y="842"/>
                        </a:lnTo>
                        <a:lnTo>
                          <a:pt x="577" y="846"/>
                        </a:lnTo>
                        <a:lnTo>
                          <a:pt x="559" y="850"/>
                        </a:lnTo>
                        <a:lnTo>
                          <a:pt x="540" y="852"/>
                        </a:lnTo>
                        <a:lnTo>
                          <a:pt x="520" y="853"/>
                        </a:lnTo>
                        <a:lnTo>
                          <a:pt x="500" y="853"/>
                        </a:lnTo>
                        <a:lnTo>
                          <a:pt x="479" y="852"/>
                        </a:lnTo>
                        <a:lnTo>
                          <a:pt x="459" y="850"/>
                        </a:lnTo>
                        <a:lnTo>
                          <a:pt x="438" y="846"/>
                        </a:lnTo>
                        <a:lnTo>
                          <a:pt x="416" y="842"/>
                        </a:lnTo>
                        <a:lnTo>
                          <a:pt x="395" y="836"/>
                        </a:lnTo>
                        <a:lnTo>
                          <a:pt x="374" y="830"/>
                        </a:lnTo>
                        <a:lnTo>
                          <a:pt x="353" y="823"/>
                        </a:lnTo>
                        <a:lnTo>
                          <a:pt x="333" y="814"/>
                        </a:lnTo>
                        <a:lnTo>
                          <a:pt x="312" y="805"/>
                        </a:lnTo>
                        <a:lnTo>
                          <a:pt x="293" y="795"/>
                        </a:lnTo>
                        <a:lnTo>
                          <a:pt x="273" y="784"/>
                        </a:lnTo>
                        <a:lnTo>
                          <a:pt x="254" y="772"/>
                        </a:lnTo>
                        <a:lnTo>
                          <a:pt x="235" y="760"/>
                        </a:lnTo>
                        <a:lnTo>
                          <a:pt x="217" y="747"/>
                        </a:lnTo>
                        <a:lnTo>
                          <a:pt x="201" y="732"/>
                        </a:lnTo>
                        <a:lnTo>
                          <a:pt x="183" y="718"/>
                        </a:lnTo>
                        <a:lnTo>
                          <a:pt x="168" y="702"/>
                        </a:lnTo>
                        <a:lnTo>
                          <a:pt x="151" y="687"/>
                        </a:lnTo>
                        <a:lnTo>
                          <a:pt x="137" y="670"/>
                        </a:lnTo>
                        <a:lnTo>
                          <a:pt x="122" y="652"/>
                        </a:lnTo>
                        <a:lnTo>
                          <a:pt x="108" y="635"/>
                        </a:lnTo>
                        <a:lnTo>
                          <a:pt x="96" y="617"/>
                        </a:lnTo>
                        <a:lnTo>
                          <a:pt x="82" y="598"/>
                        </a:lnTo>
                        <a:lnTo>
                          <a:pt x="71" y="579"/>
                        </a:lnTo>
                        <a:lnTo>
                          <a:pt x="60" y="560"/>
                        </a:lnTo>
                        <a:lnTo>
                          <a:pt x="50" y="540"/>
                        </a:lnTo>
                        <a:lnTo>
                          <a:pt x="41" y="521"/>
                        </a:lnTo>
                        <a:lnTo>
                          <a:pt x="32" y="499"/>
                        </a:lnTo>
                        <a:lnTo>
                          <a:pt x="26" y="479"/>
                        </a:lnTo>
                        <a:lnTo>
                          <a:pt x="19" y="458"/>
                        </a:lnTo>
                        <a:lnTo>
                          <a:pt x="14" y="437"/>
                        </a:lnTo>
                        <a:lnTo>
                          <a:pt x="8" y="416"/>
                        </a:lnTo>
                        <a:lnTo>
                          <a:pt x="5" y="395"/>
                        </a:lnTo>
                        <a:lnTo>
                          <a:pt x="2" y="373"/>
                        </a:lnTo>
                        <a:lnTo>
                          <a:pt x="0" y="352"/>
                        </a:lnTo>
                        <a:lnTo>
                          <a:pt x="0" y="331"/>
                        </a:lnTo>
                        <a:lnTo>
                          <a:pt x="0" y="309"/>
                        </a:lnTo>
                        <a:lnTo>
                          <a:pt x="2" y="289"/>
                        </a:lnTo>
                        <a:lnTo>
                          <a:pt x="5" y="268"/>
                        </a:lnTo>
                        <a:lnTo>
                          <a:pt x="8" y="249"/>
                        </a:lnTo>
                        <a:lnTo>
                          <a:pt x="14" y="230"/>
                        </a:lnTo>
                        <a:lnTo>
                          <a:pt x="19" y="211"/>
                        </a:lnTo>
                        <a:lnTo>
                          <a:pt x="26" y="194"/>
                        </a:lnTo>
                        <a:lnTo>
                          <a:pt x="32" y="176"/>
                        </a:lnTo>
                        <a:lnTo>
                          <a:pt x="41" y="159"/>
                        </a:lnTo>
                        <a:lnTo>
                          <a:pt x="50" y="144"/>
                        </a:lnTo>
                        <a:lnTo>
                          <a:pt x="60" y="128"/>
                        </a:lnTo>
                        <a:lnTo>
                          <a:pt x="71" y="114"/>
                        </a:lnTo>
                        <a:lnTo>
                          <a:pt x="82" y="100"/>
                        </a:lnTo>
                        <a:lnTo>
                          <a:pt x="96" y="87"/>
                        </a:lnTo>
                        <a:lnTo>
                          <a:pt x="108" y="76"/>
                        </a:lnTo>
                        <a:lnTo>
                          <a:pt x="122" y="64"/>
                        </a:lnTo>
                        <a:lnTo>
                          <a:pt x="137" y="54"/>
                        </a:lnTo>
                        <a:lnTo>
                          <a:pt x="151" y="44"/>
                        </a:lnTo>
                        <a:lnTo>
                          <a:pt x="168" y="35"/>
                        </a:lnTo>
                        <a:lnTo>
                          <a:pt x="183" y="27"/>
                        </a:lnTo>
                        <a:lnTo>
                          <a:pt x="201" y="21"/>
                        </a:lnTo>
                        <a:lnTo>
                          <a:pt x="217" y="15"/>
                        </a:lnTo>
                        <a:lnTo>
                          <a:pt x="235" y="10"/>
                        </a:lnTo>
                        <a:lnTo>
                          <a:pt x="254" y="5"/>
                        </a:lnTo>
                        <a:lnTo>
                          <a:pt x="273" y="2"/>
                        </a:lnTo>
                        <a:lnTo>
                          <a:pt x="293" y="1"/>
                        </a:lnTo>
                        <a:lnTo>
                          <a:pt x="312" y="0"/>
                        </a:lnTo>
                        <a:lnTo>
                          <a:pt x="333" y="0"/>
                        </a:lnTo>
                        <a:lnTo>
                          <a:pt x="353" y="1"/>
                        </a:lnTo>
                        <a:lnTo>
                          <a:pt x="374" y="2"/>
                        </a:lnTo>
                        <a:lnTo>
                          <a:pt x="395" y="5"/>
                        </a:lnTo>
                        <a:lnTo>
                          <a:pt x="416" y="10"/>
                        </a:lnTo>
                        <a:close/>
                      </a:path>
                    </a:pathLst>
                  </a:cu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12" name="Google Shape;1812;g3f95de07730_1_1266"/>
                  <p:cNvSpPr/>
                  <p:nvPr/>
                </p:nvSpPr>
                <p:spPr>
                  <a:xfrm>
                    <a:off x="3073994" y="4626493"/>
                    <a:ext cx="22461" cy="23410"/>
                  </a:xfrm>
                  <a:custGeom>
                    <a:avLst/>
                    <a:gdLst/>
                    <a:ahLst/>
                    <a:cxnLst/>
                    <a:rect l="l" t="t" r="r" b="b"/>
                    <a:pathLst>
                      <a:path w="429" h="440" extrusionOk="0">
                        <a:moveTo>
                          <a:pt x="214" y="5"/>
                        </a:moveTo>
                        <a:lnTo>
                          <a:pt x="236" y="12"/>
                        </a:lnTo>
                        <a:lnTo>
                          <a:pt x="257" y="20"/>
                        </a:lnTo>
                        <a:lnTo>
                          <a:pt x="278" y="30"/>
                        </a:lnTo>
                        <a:lnTo>
                          <a:pt x="297" y="42"/>
                        </a:lnTo>
                        <a:lnTo>
                          <a:pt x="316" y="55"/>
                        </a:lnTo>
                        <a:lnTo>
                          <a:pt x="333" y="70"/>
                        </a:lnTo>
                        <a:lnTo>
                          <a:pt x="350" y="86"/>
                        </a:lnTo>
                        <a:lnTo>
                          <a:pt x="365" y="103"/>
                        </a:lnTo>
                        <a:lnTo>
                          <a:pt x="379" y="122"/>
                        </a:lnTo>
                        <a:lnTo>
                          <a:pt x="392" y="141"/>
                        </a:lnTo>
                        <a:lnTo>
                          <a:pt x="402" y="162"/>
                        </a:lnTo>
                        <a:lnTo>
                          <a:pt x="411" y="182"/>
                        </a:lnTo>
                        <a:lnTo>
                          <a:pt x="419" y="204"/>
                        </a:lnTo>
                        <a:lnTo>
                          <a:pt x="424" y="225"/>
                        </a:lnTo>
                        <a:lnTo>
                          <a:pt x="427" y="247"/>
                        </a:lnTo>
                        <a:lnTo>
                          <a:pt x="429" y="269"/>
                        </a:lnTo>
                        <a:lnTo>
                          <a:pt x="427" y="280"/>
                        </a:lnTo>
                        <a:lnTo>
                          <a:pt x="427" y="291"/>
                        </a:lnTo>
                        <a:lnTo>
                          <a:pt x="425" y="301"/>
                        </a:lnTo>
                        <a:lnTo>
                          <a:pt x="424" y="311"/>
                        </a:lnTo>
                        <a:lnTo>
                          <a:pt x="421" y="321"/>
                        </a:lnTo>
                        <a:lnTo>
                          <a:pt x="419" y="331"/>
                        </a:lnTo>
                        <a:lnTo>
                          <a:pt x="415" y="340"/>
                        </a:lnTo>
                        <a:lnTo>
                          <a:pt x="411" y="349"/>
                        </a:lnTo>
                        <a:lnTo>
                          <a:pt x="402" y="365"/>
                        </a:lnTo>
                        <a:lnTo>
                          <a:pt x="392" y="381"/>
                        </a:lnTo>
                        <a:lnTo>
                          <a:pt x="379" y="394"/>
                        </a:lnTo>
                        <a:lnTo>
                          <a:pt x="365" y="406"/>
                        </a:lnTo>
                        <a:lnTo>
                          <a:pt x="350" y="416"/>
                        </a:lnTo>
                        <a:lnTo>
                          <a:pt x="333" y="425"/>
                        </a:lnTo>
                        <a:lnTo>
                          <a:pt x="316" y="432"/>
                        </a:lnTo>
                        <a:lnTo>
                          <a:pt x="297" y="436"/>
                        </a:lnTo>
                        <a:lnTo>
                          <a:pt x="278" y="440"/>
                        </a:lnTo>
                        <a:lnTo>
                          <a:pt x="257" y="440"/>
                        </a:lnTo>
                        <a:lnTo>
                          <a:pt x="236" y="439"/>
                        </a:lnTo>
                        <a:lnTo>
                          <a:pt x="214" y="434"/>
                        </a:lnTo>
                        <a:lnTo>
                          <a:pt x="192" y="429"/>
                        </a:lnTo>
                        <a:lnTo>
                          <a:pt x="170" y="420"/>
                        </a:lnTo>
                        <a:lnTo>
                          <a:pt x="151" y="410"/>
                        </a:lnTo>
                        <a:lnTo>
                          <a:pt x="131" y="399"/>
                        </a:lnTo>
                        <a:lnTo>
                          <a:pt x="112" y="385"/>
                        </a:lnTo>
                        <a:lnTo>
                          <a:pt x="94" y="370"/>
                        </a:lnTo>
                        <a:lnTo>
                          <a:pt x="77" y="354"/>
                        </a:lnTo>
                        <a:lnTo>
                          <a:pt x="62" y="337"/>
                        </a:lnTo>
                        <a:lnTo>
                          <a:pt x="49" y="318"/>
                        </a:lnTo>
                        <a:lnTo>
                          <a:pt x="36" y="299"/>
                        </a:lnTo>
                        <a:lnTo>
                          <a:pt x="25" y="279"/>
                        </a:lnTo>
                        <a:lnTo>
                          <a:pt x="16" y="258"/>
                        </a:lnTo>
                        <a:lnTo>
                          <a:pt x="10" y="237"/>
                        </a:lnTo>
                        <a:lnTo>
                          <a:pt x="4" y="215"/>
                        </a:lnTo>
                        <a:lnTo>
                          <a:pt x="1" y="193"/>
                        </a:lnTo>
                        <a:lnTo>
                          <a:pt x="0" y="170"/>
                        </a:lnTo>
                        <a:lnTo>
                          <a:pt x="0" y="159"/>
                        </a:lnTo>
                        <a:lnTo>
                          <a:pt x="1" y="149"/>
                        </a:lnTo>
                        <a:lnTo>
                          <a:pt x="2" y="138"/>
                        </a:lnTo>
                        <a:lnTo>
                          <a:pt x="4" y="128"/>
                        </a:lnTo>
                        <a:lnTo>
                          <a:pt x="7" y="118"/>
                        </a:lnTo>
                        <a:lnTo>
                          <a:pt x="10" y="109"/>
                        </a:lnTo>
                        <a:lnTo>
                          <a:pt x="13" y="101"/>
                        </a:lnTo>
                        <a:lnTo>
                          <a:pt x="16" y="92"/>
                        </a:lnTo>
                        <a:lnTo>
                          <a:pt x="25" y="75"/>
                        </a:lnTo>
                        <a:lnTo>
                          <a:pt x="36" y="60"/>
                        </a:lnTo>
                        <a:lnTo>
                          <a:pt x="49" y="46"/>
                        </a:lnTo>
                        <a:lnTo>
                          <a:pt x="62" y="34"/>
                        </a:lnTo>
                        <a:lnTo>
                          <a:pt x="77" y="23"/>
                        </a:lnTo>
                        <a:lnTo>
                          <a:pt x="94" y="15"/>
                        </a:lnTo>
                        <a:lnTo>
                          <a:pt x="112" y="9"/>
                        </a:lnTo>
                        <a:lnTo>
                          <a:pt x="131" y="3"/>
                        </a:lnTo>
                        <a:lnTo>
                          <a:pt x="151" y="1"/>
                        </a:lnTo>
                        <a:lnTo>
                          <a:pt x="170" y="0"/>
                        </a:lnTo>
                        <a:lnTo>
                          <a:pt x="192" y="2"/>
                        </a:lnTo>
                        <a:lnTo>
                          <a:pt x="214" y="5"/>
                        </a:lnTo>
                        <a:close/>
                      </a:path>
                    </a:pathLst>
                  </a:custGeom>
                  <a:solidFill>
                    <a:srgbClr val="B3B3B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13" name="Google Shape;1813;g3f95de07730_1_1266"/>
                  <p:cNvSpPr/>
                  <p:nvPr/>
                </p:nvSpPr>
                <p:spPr>
                  <a:xfrm>
                    <a:off x="3078106" y="4630922"/>
                    <a:ext cx="14236" cy="14552"/>
                  </a:xfrm>
                  <a:custGeom>
                    <a:avLst/>
                    <a:gdLst/>
                    <a:ahLst/>
                    <a:cxnLst/>
                    <a:rect l="l" t="t" r="r" b="b"/>
                    <a:pathLst>
                      <a:path w="271" h="278" extrusionOk="0">
                        <a:moveTo>
                          <a:pt x="135" y="3"/>
                        </a:moveTo>
                        <a:lnTo>
                          <a:pt x="149" y="7"/>
                        </a:lnTo>
                        <a:lnTo>
                          <a:pt x="162" y="12"/>
                        </a:lnTo>
                        <a:lnTo>
                          <a:pt x="176" y="18"/>
                        </a:lnTo>
                        <a:lnTo>
                          <a:pt x="188" y="26"/>
                        </a:lnTo>
                        <a:lnTo>
                          <a:pt x="200" y="34"/>
                        </a:lnTo>
                        <a:lnTo>
                          <a:pt x="211" y="44"/>
                        </a:lnTo>
                        <a:lnTo>
                          <a:pt x="221" y="54"/>
                        </a:lnTo>
                        <a:lnTo>
                          <a:pt x="231" y="65"/>
                        </a:lnTo>
                        <a:lnTo>
                          <a:pt x="240" y="76"/>
                        </a:lnTo>
                        <a:lnTo>
                          <a:pt x="248" y="89"/>
                        </a:lnTo>
                        <a:lnTo>
                          <a:pt x="254" y="102"/>
                        </a:lnTo>
                        <a:lnTo>
                          <a:pt x="260" y="115"/>
                        </a:lnTo>
                        <a:lnTo>
                          <a:pt x="264" y="128"/>
                        </a:lnTo>
                        <a:lnTo>
                          <a:pt x="268" y="143"/>
                        </a:lnTo>
                        <a:lnTo>
                          <a:pt x="270" y="156"/>
                        </a:lnTo>
                        <a:lnTo>
                          <a:pt x="271" y="170"/>
                        </a:lnTo>
                        <a:lnTo>
                          <a:pt x="270" y="184"/>
                        </a:lnTo>
                        <a:lnTo>
                          <a:pt x="268" y="197"/>
                        </a:lnTo>
                        <a:lnTo>
                          <a:pt x="264" y="209"/>
                        </a:lnTo>
                        <a:lnTo>
                          <a:pt x="260" y="220"/>
                        </a:lnTo>
                        <a:lnTo>
                          <a:pt x="254" y="231"/>
                        </a:lnTo>
                        <a:lnTo>
                          <a:pt x="248" y="241"/>
                        </a:lnTo>
                        <a:lnTo>
                          <a:pt x="240" y="249"/>
                        </a:lnTo>
                        <a:lnTo>
                          <a:pt x="231" y="257"/>
                        </a:lnTo>
                        <a:lnTo>
                          <a:pt x="221" y="263"/>
                        </a:lnTo>
                        <a:lnTo>
                          <a:pt x="211" y="269"/>
                        </a:lnTo>
                        <a:lnTo>
                          <a:pt x="200" y="273"/>
                        </a:lnTo>
                        <a:lnTo>
                          <a:pt x="188" y="277"/>
                        </a:lnTo>
                        <a:lnTo>
                          <a:pt x="176" y="278"/>
                        </a:lnTo>
                        <a:lnTo>
                          <a:pt x="162" y="278"/>
                        </a:lnTo>
                        <a:lnTo>
                          <a:pt x="149" y="277"/>
                        </a:lnTo>
                        <a:lnTo>
                          <a:pt x="135" y="275"/>
                        </a:lnTo>
                        <a:lnTo>
                          <a:pt x="121" y="271"/>
                        </a:lnTo>
                        <a:lnTo>
                          <a:pt x="107" y="266"/>
                        </a:lnTo>
                        <a:lnTo>
                          <a:pt x="95" y="259"/>
                        </a:lnTo>
                        <a:lnTo>
                          <a:pt x="83" y="252"/>
                        </a:lnTo>
                        <a:lnTo>
                          <a:pt x="70" y="243"/>
                        </a:lnTo>
                        <a:lnTo>
                          <a:pt x="59" y="235"/>
                        </a:lnTo>
                        <a:lnTo>
                          <a:pt x="48" y="224"/>
                        </a:lnTo>
                        <a:lnTo>
                          <a:pt x="39" y="212"/>
                        </a:lnTo>
                        <a:lnTo>
                          <a:pt x="31" y="201"/>
                        </a:lnTo>
                        <a:lnTo>
                          <a:pt x="23" y="189"/>
                        </a:lnTo>
                        <a:lnTo>
                          <a:pt x="15" y="176"/>
                        </a:lnTo>
                        <a:lnTo>
                          <a:pt x="9" y="164"/>
                        </a:lnTo>
                        <a:lnTo>
                          <a:pt x="5" y="149"/>
                        </a:lnTo>
                        <a:lnTo>
                          <a:pt x="2" y="136"/>
                        </a:lnTo>
                        <a:lnTo>
                          <a:pt x="0" y="122"/>
                        </a:lnTo>
                        <a:lnTo>
                          <a:pt x="0" y="108"/>
                        </a:lnTo>
                        <a:lnTo>
                          <a:pt x="0" y="94"/>
                        </a:lnTo>
                        <a:lnTo>
                          <a:pt x="2" y="81"/>
                        </a:lnTo>
                        <a:lnTo>
                          <a:pt x="5" y="68"/>
                        </a:lnTo>
                        <a:lnTo>
                          <a:pt x="9" y="57"/>
                        </a:lnTo>
                        <a:lnTo>
                          <a:pt x="15" y="47"/>
                        </a:lnTo>
                        <a:lnTo>
                          <a:pt x="23" y="37"/>
                        </a:lnTo>
                        <a:lnTo>
                          <a:pt x="31" y="28"/>
                        </a:lnTo>
                        <a:lnTo>
                          <a:pt x="39" y="21"/>
                        </a:lnTo>
                        <a:lnTo>
                          <a:pt x="48" y="14"/>
                        </a:lnTo>
                        <a:lnTo>
                          <a:pt x="59" y="9"/>
                        </a:lnTo>
                        <a:lnTo>
                          <a:pt x="70" y="5"/>
                        </a:lnTo>
                        <a:lnTo>
                          <a:pt x="83" y="2"/>
                        </a:lnTo>
                        <a:lnTo>
                          <a:pt x="95" y="0"/>
                        </a:lnTo>
                        <a:lnTo>
                          <a:pt x="107" y="0"/>
                        </a:lnTo>
                        <a:lnTo>
                          <a:pt x="121" y="1"/>
                        </a:lnTo>
                        <a:lnTo>
                          <a:pt x="135" y="3"/>
                        </a:lnTo>
                        <a:close/>
                      </a:path>
                    </a:pathLst>
                  </a:custGeom>
                  <a:gradFill>
                    <a:gsLst>
                      <a:gs pos="0">
                        <a:srgbClr val="006994"/>
                      </a:gs>
                      <a:gs pos="50000">
                        <a:srgbClr val="009AD7"/>
                      </a:gs>
                      <a:gs pos="100000">
                        <a:srgbClr val="00B8FF"/>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nvGrpSpPr>
                <p:cNvPr id="1814" name="Google Shape;1814;g3f95de07730_1_1266"/>
                <p:cNvGrpSpPr/>
                <p:nvPr/>
              </p:nvGrpSpPr>
              <p:grpSpPr>
                <a:xfrm>
                  <a:off x="2939904" y="4690008"/>
                  <a:ext cx="145198" cy="153849"/>
                  <a:chOff x="5967413" y="-3362325"/>
                  <a:chExt cx="1133478" cy="1454150"/>
                </a:xfrm>
              </p:grpSpPr>
              <p:sp>
                <p:nvSpPr>
                  <p:cNvPr id="1815" name="Google Shape;1815;g3f95de07730_1_126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16" name="Google Shape;1816;g3f95de07730_1_126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17" name="Google Shape;1817;g3f95de07730_1_126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18" name="Google Shape;1818;g3f95de07730_1_126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19" name="Google Shape;1819;g3f95de07730_1_126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20" name="Google Shape;1820;g3f95de07730_1_126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21" name="Google Shape;1821;g3f95de07730_1_126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22" name="Google Shape;1822;g3f95de07730_1_126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23" name="Google Shape;1823;g3f95de07730_1_126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24" name="Google Shape;1824;g3f95de07730_1_126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25" name="Google Shape;1825;g3f95de07730_1_126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26" name="Google Shape;1826;g3f95de07730_1_126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27" name="Google Shape;1827;g3f95de07730_1_126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28" name="Google Shape;1828;g3f95de07730_1_126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sp>
            <p:nvSpPr>
              <p:cNvPr id="1829" name="Google Shape;1829;g3f95de07730_1_1266"/>
              <p:cNvSpPr txBox="1"/>
              <p:nvPr/>
            </p:nvSpPr>
            <p:spPr>
              <a:xfrm>
                <a:off x="2866069" y="5491069"/>
                <a:ext cx="92700" cy="52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400"/>
                  <a:buFont typeface="Arial"/>
                  <a:buNone/>
                </a:pPr>
                <a:r>
                  <a:rPr lang="en-US" sz="400" b="1" i="0" u="none" strike="noStrike" cap="none">
                    <a:solidFill>
                      <a:srgbClr val="3F3F3F"/>
                    </a:solidFill>
                    <a:latin typeface="Roboto"/>
                    <a:ea typeface="Roboto"/>
                    <a:cs typeface="Roboto"/>
                    <a:sym typeface="Roboto"/>
                  </a:rPr>
                  <a:t>WN</a:t>
                </a:r>
                <a:endParaRPr sz="400" b="1" i="0" u="none" strike="noStrike" cap="none">
                  <a:solidFill>
                    <a:srgbClr val="3F3F3F"/>
                  </a:solidFill>
                  <a:latin typeface="Roboto"/>
                  <a:ea typeface="Roboto"/>
                  <a:cs typeface="Roboto"/>
                  <a:sym typeface="Roboto"/>
                </a:endParaRPr>
              </a:p>
            </p:txBody>
          </p:sp>
        </p:grpSp>
        <p:grpSp>
          <p:nvGrpSpPr>
            <p:cNvPr id="1830" name="Google Shape;1830;g3f95de07730_1_1266"/>
            <p:cNvGrpSpPr/>
            <p:nvPr/>
          </p:nvGrpSpPr>
          <p:grpSpPr>
            <a:xfrm>
              <a:off x="4323809" y="5045397"/>
              <a:ext cx="376733" cy="448726"/>
              <a:chOff x="2700762" y="5095926"/>
              <a:chExt cx="376733" cy="448726"/>
            </a:xfrm>
          </p:grpSpPr>
          <p:grpSp>
            <p:nvGrpSpPr>
              <p:cNvPr id="1831" name="Google Shape;1831;g3f95de07730_1_1266"/>
              <p:cNvGrpSpPr/>
              <p:nvPr/>
            </p:nvGrpSpPr>
            <p:grpSpPr>
              <a:xfrm>
                <a:off x="2700762" y="5095926"/>
                <a:ext cx="376733" cy="448726"/>
                <a:chOff x="2939904" y="4395131"/>
                <a:chExt cx="376733" cy="448726"/>
              </a:xfrm>
            </p:grpSpPr>
            <p:grpSp>
              <p:nvGrpSpPr>
                <p:cNvPr id="1832" name="Google Shape;1832;g3f95de07730_1_1266"/>
                <p:cNvGrpSpPr/>
                <p:nvPr/>
              </p:nvGrpSpPr>
              <p:grpSpPr>
                <a:xfrm>
                  <a:off x="3040778" y="4395131"/>
                  <a:ext cx="275858" cy="376772"/>
                  <a:chOff x="3040778" y="4395131"/>
                  <a:chExt cx="275858" cy="376772"/>
                </a:xfrm>
              </p:grpSpPr>
              <p:sp>
                <p:nvSpPr>
                  <p:cNvPr id="1833" name="Google Shape;1833;g3f95de07730_1_1266"/>
                  <p:cNvSpPr/>
                  <p:nvPr/>
                </p:nvSpPr>
                <p:spPr>
                  <a:xfrm>
                    <a:off x="3040778" y="4395131"/>
                    <a:ext cx="275858" cy="376772"/>
                  </a:xfrm>
                  <a:custGeom>
                    <a:avLst/>
                    <a:gdLst/>
                    <a:ahLst/>
                    <a:cxnLst/>
                    <a:rect l="l" t="t" r="r" b="b"/>
                    <a:pathLst>
                      <a:path w="5235" h="7147" extrusionOk="0">
                        <a:moveTo>
                          <a:pt x="3501" y="0"/>
                        </a:moveTo>
                        <a:lnTo>
                          <a:pt x="0" y="2049"/>
                        </a:lnTo>
                        <a:lnTo>
                          <a:pt x="16" y="6095"/>
                        </a:lnTo>
                        <a:lnTo>
                          <a:pt x="1785" y="7147"/>
                        </a:lnTo>
                        <a:lnTo>
                          <a:pt x="5199" y="5045"/>
                        </a:lnTo>
                        <a:lnTo>
                          <a:pt x="5235" y="981"/>
                        </a:lnTo>
                        <a:lnTo>
                          <a:pt x="3501" y="0"/>
                        </a:lnTo>
                        <a:close/>
                      </a:path>
                    </a:pathLst>
                  </a:custGeom>
                  <a:solidFill>
                    <a:srgbClr val="9999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34" name="Google Shape;1834;g3f95de07730_1_1266"/>
                  <p:cNvSpPr/>
                  <p:nvPr/>
                </p:nvSpPr>
                <p:spPr>
                  <a:xfrm>
                    <a:off x="3134100" y="4449542"/>
                    <a:ext cx="182527" cy="322351"/>
                  </a:xfrm>
                  <a:custGeom>
                    <a:avLst/>
                    <a:gdLst/>
                    <a:ahLst/>
                    <a:cxnLst/>
                    <a:rect l="l" t="t" r="r" b="b"/>
                    <a:pathLst>
                      <a:path w="3464" h="6117" extrusionOk="0">
                        <a:moveTo>
                          <a:pt x="0" y="6107"/>
                        </a:moveTo>
                        <a:lnTo>
                          <a:pt x="15" y="6117"/>
                        </a:lnTo>
                        <a:lnTo>
                          <a:pt x="3429" y="4015"/>
                        </a:lnTo>
                        <a:lnTo>
                          <a:pt x="3464" y="0"/>
                        </a:lnTo>
                        <a:lnTo>
                          <a:pt x="15" y="2053"/>
                        </a:lnTo>
                        <a:lnTo>
                          <a:pt x="0" y="6107"/>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35" name="Google Shape;1835;g3f95de07730_1_1266"/>
                  <p:cNvSpPr/>
                  <p:nvPr/>
                </p:nvSpPr>
                <p:spPr>
                  <a:xfrm>
                    <a:off x="3040778" y="4495729"/>
                    <a:ext cx="108821" cy="276174"/>
                  </a:xfrm>
                  <a:custGeom>
                    <a:avLst/>
                    <a:gdLst/>
                    <a:ahLst/>
                    <a:cxnLst/>
                    <a:rect l="l" t="t" r="r" b="b"/>
                    <a:pathLst>
                      <a:path w="2066" h="5241" extrusionOk="0">
                        <a:moveTo>
                          <a:pt x="244" y="0"/>
                        </a:moveTo>
                        <a:lnTo>
                          <a:pt x="0" y="143"/>
                        </a:lnTo>
                        <a:lnTo>
                          <a:pt x="16" y="4189"/>
                        </a:lnTo>
                        <a:lnTo>
                          <a:pt x="1785" y="5241"/>
                        </a:lnTo>
                        <a:lnTo>
                          <a:pt x="2066" y="5068"/>
                        </a:lnTo>
                        <a:lnTo>
                          <a:pt x="2066" y="984"/>
                        </a:lnTo>
                        <a:lnTo>
                          <a:pt x="244" y="0"/>
                        </a:lnTo>
                        <a:close/>
                      </a:path>
                    </a:pathLst>
                  </a:custGeom>
                  <a:gradFill>
                    <a:gsLst>
                      <a:gs pos="0">
                        <a:srgbClr val="F2F2F2"/>
                      </a:gs>
                      <a:gs pos="35000">
                        <a:srgbClr val="C3C3C3"/>
                      </a:gs>
                      <a:gs pos="40000">
                        <a:srgbClr val="F2F2F2"/>
                      </a:gs>
                      <a:gs pos="100000">
                        <a:srgbClr val="D8D8D8"/>
                      </a:gs>
                    </a:gsLst>
                    <a:lin ang="360000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36" name="Google Shape;1836;g3f95de07730_1_1266"/>
                  <p:cNvSpPr/>
                  <p:nvPr/>
                </p:nvSpPr>
                <p:spPr>
                  <a:xfrm>
                    <a:off x="3040778" y="4503005"/>
                    <a:ext cx="94905" cy="268890"/>
                  </a:xfrm>
                  <a:custGeom>
                    <a:avLst/>
                    <a:gdLst/>
                    <a:ahLst/>
                    <a:cxnLst/>
                    <a:rect l="l" t="t" r="r" b="b"/>
                    <a:pathLst>
                      <a:path w="1803" h="5103" extrusionOk="0">
                        <a:moveTo>
                          <a:pt x="10" y="0"/>
                        </a:moveTo>
                        <a:lnTo>
                          <a:pt x="0" y="5"/>
                        </a:lnTo>
                        <a:lnTo>
                          <a:pt x="16" y="4051"/>
                        </a:lnTo>
                        <a:lnTo>
                          <a:pt x="1785" y="5103"/>
                        </a:lnTo>
                        <a:lnTo>
                          <a:pt x="1786" y="5102"/>
                        </a:lnTo>
                        <a:lnTo>
                          <a:pt x="1803" y="1039"/>
                        </a:lnTo>
                        <a:lnTo>
                          <a:pt x="10" y="0"/>
                        </a:lnTo>
                        <a:close/>
                      </a:path>
                    </a:pathLst>
                  </a:custGeom>
                  <a:gradFill>
                    <a:gsLst>
                      <a:gs pos="0">
                        <a:srgbClr val="7F7F7F"/>
                      </a:gs>
                      <a:gs pos="12000">
                        <a:srgbClr val="7F7F7F"/>
                      </a:gs>
                      <a:gs pos="100000">
                        <a:srgbClr val="A5A5A5"/>
                      </a:gs>
                    </a:gsLst>
                    <a:lin ang="7200017"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37" name="Google Shape;1837;g3f95de07730_1_1266"/>
                  <p:cNvSpPr/>
                  <p:nvPr/>
                </p:nvSpPr>
                <p:spPr>
                  <a:xfrm>
                    <a:off x="3052483" y="4534955"/>
                    <a:ext cx="68332" cy="58208"/>
                  </a:xfrm>
                  <a:custGeom>
                    <a:avLst/>
                    <a:gdLst/>
                    <a:ahLst/>
                    <a:cxnLst/>
                    <a:rect l="l" t="t" r="r" b="b"/>
                    <a:pathLst>
                      <a:path w="1296" h="1102" extrusionOk="0">
                        <a:moveTo>
                          <a:pt x="0" y="0"/>
                        </a:moveTo>
                        <a:lnTo>
                          <a:pt x="1296" y="752"/>
                        </a:lnTo>
                        <a:lnTo>
                          <a:pt x="1296" y="1102"/>
                        </a:lnTo>
                        <a:lnTo>
                          <a:pt x="0" y="351"/>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38" name="Google Shape;1838;g3f95de07730_1_1266"/>
                  <p:cNvSpPr/>
                  <p:nvPr/>
                </p:nvSpPr>
                <p:spPr>
                  <a:xfrm>
                    <a:off x="3102782" y="4589999"/>
                    <a:ext cx="18032" cy="15501"/>
                  </a:xfrm>
                  <a:custGeom>
                    <a:avLst/>
                    <a:gdLst/>
                    <a:ahLst/>
                    <a:cxnLst/>
                    <a:rect l="l" t="t" r="r" b="b"/>
                    <a:pathLst>
                      <a:path w="346" h="294" extrusionOk="0">
                        <a:moveTo>
                          <a:pt x="0" y="0"/>
                        </a:moveTo>
                        <a:lnTo>
                          <a:pt x="346" y="201"/>
                        </a:lnTo>
                        <a:lnTo>
                          <a:pt x="346" y="294"/>
                        </a:lnTo>
                        <a:lnTo>
                          <a:pt x="0" y="93"/>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39" name="Google Shape;1839;g3f95de07730_1_1266"/>
                  <p:cNvSpPr/>
                  <p:nvPr/>
                </p:nvSpPr>
                <p:spPr>
                  <a:xfrm>
                    <a:off x="3063238" y="4615738"/>
                    <a:ext cx="43971" cy="44921"/>
                  </a:xfrm>
                  <a:custGeom>
                    <a:avLst/>
                    <a:gdLst/>
                    <a:ahLst/>
                    <a:cxnLst/>
                    <a:rect l="l" t="t" r="r" b="b"/>
                    <a:pathLst>
                      <a:path w="832" h="853" extrusionOk="0">
                        <a:moveTo>
                          <a:pt x="416" y="10"/>
                        </a:moveTo>
                        <a:lnTo>
                          <a:pt x="438" y="15"/>
                        </a:lnTo>
                        <a:lnTo>
                          <a:pt x="459" y="22"/>
                        </a:lnTo>
                        <a:lnTo>
                          <a:pt x="479" y="30"/>
                        </a:lnTo>
                        <a:lnTo>
                          <a:pt x="500" y="37"/>
                        </a:lnTo>
                        <a:lnTo>
                          <a:pt x="520" y="47"/>
                        </a:lnTo>
                        <a:lnTo>
                          <a:pt x="540" y="57"/>
                        </a:lnTo>
                        <a:lnTo>
                          <a:pt x="559" y="68"/>
                        </a:lnTo>
                        <a:lnTo>
                          <a:pt x="577" y="79"/>
                        </a:lnTo>
                        <a:lnTo>
                          <a:pt x="596" y="93"/>
                        </a:lnTo>
                        <a:lnTo>
                          <a:pt x="614" y="106"/>
                        </a:lnTo>
                        <a:lnTo>
                          <a:pt x="632" y="119"/>
                        </a:lnTo>
                        <a:lnTo>
                          <a:pt x="648" y="135"/>
                        </a:lnTo>
                        <a:lnTo>
                          <a:pt x="665" y="149"/>
                        </a:lnTo>
                        <a:lnTo>
                          <a:pt x="680" y="166"/>
                        </a:lnTo>
                        <a:lnTo>
                          <a:pt x="696" y="182"/>
                        </a:lnTo>
                        <a:lnTo>
                          <a:pt x="710" y="199"/>
                        </a:lnTo>
                        <a:lnTo>
                          <a:pt x="724" y="217"/>
                        </a:lnTo>
                        <a:lnTo>
                          <a:pt x="737" y="235"/>
                        </a:lnTo>
                        <a:lnTo>
                          <a:pt x="749" y="253"/>
                        </a:lnTo>
                        <a:lnTo>
                          <a:pt x="760" y="272"/>
                        </a:lnTo>
                        <a:lnTo>
                          <a:pt x="771" y="292"/>
                        </a:lnTo>
                        <a:lnTo>
                          <a:pt x="781" y="311"/>
                        </a:lnTo>
                        <a:lnTo>
                          <a:pt x="791" y="332"/>
                        </a:lnTo>
                        <a:lnTo>
                          <a:pt x="799" y="352"/>
                        </a:lnTo>
                        <a:lnTo>
                          <a:pt x="807" y="373"/>
                        </a:lnTo>
                        <a:lnTo>
                          <a:pt x="813" y="393"/>
                        </a:lnTo>
                        <a:lnTo>
                          <a:pt x="819" y="414"/>
                        </a:lnTo>
                        <a:lnTo>
                          <a:pt x="823" y="435"/>
                        </a:lnTo>
                        <a:lnTo>
                          <a:pt x="827" y="457"/>
                        </a:lnTo>
                        <a:lnTo>
                          <a:pt x="830" y="478"/>
                        </a:lnTo>
                        <a:lnTo>
                          <a:pt x="831" y="499"/>
                        </a:lnTo>
                        <a:lnTo>
                          <a:pt x="832" y="522"/>
                        </a:lnTo>
                        <a:lnTo>
                          <a:pt x="831" y="543"/>
                        </a:lnTo>
                        <a:lnTo>
                          <a:pt x="830" y="564"/>
                        </a:lnTo>
                        <a:lnTo>
                          <a:pt x="827" y="584"/>
                        </a:lnTo>
                        <a:lnTo>
                          <a:pt x="823" y="604"/>
                        </a:lnTo>
                        <a:lnTo>
                          <a:pt x="819" y="622"/>
                        </a:lnTo>
                        <a:lnTo>
                          <a:pt x="813" y="641"/>
                        </a:lnTo>
                        <a:lnTo>
                          <a:pt x="807" y="659"/>
                        </a:lnTo>
                        <a:lnTo>
                          <a:pt x="799" y="676"/>
                        </a:lnTo>
                        <a:lnTo>
                          <a:pt x="791" y="692"/>
                        </a:lnTo>
                        <a:lnTo>
                          <a:pt x="781" y="708"/>
                        </a:lnTo>
                        <a:lnTo>
                          <a:pt x="771" y="723"/>
                        </a:lnTo>
                        <a:lnTo>
                          <a:pt x="760" y="738"/>
                        </a:lnTo>
                        <a:lnTo>
                          <a:pt x="749" y="751"/>
                        </a:lnTo>
                        <a:lnTo>
                          <a:pt x="737" y="764"/>
                        </a:lnTo>
                        <a:lnTo>
                          <a:pt x="724" y="777"/>
                        </a:lnTo>
                        <a:lnTo>
                          <a:pt x="710" y="788"/>
                        </a:lnTo>
                        <a:lnTo>
                          <a:pt x="696" y="798"/>
                        </a:lnTo>
                        <a:lnTo>
                          <a:pt x="680" y="808"/>
                        </a:lnTo>
                        <a:lnTo>
                          <a:pt x="665" y="816"/>
                        </a:lnTo>
                        <a:lnTo>
                          <a:pt x="648" y="824"/>
                        </a:lnTo>
                        <a:lnTo>
                          <a:pt x="632" y="831"/>
                        </a:lnTo>
                        <a:lnTo>
                          <a:pt x="614" y="837"/>
                        </a:lnTo>
                        <a:lnTo>
                          <a:pt x="596" y="842"/>
                        </a:lnTo>
                        <a:lnTo>
                          <a:pt x="577" y="846"/>
                        </a:lnTo>
                        <a:lnTo>
                          <a:pt x="559" y="850"/>
                        </a:lnTo>
                        <a:lnTo>
                          <a:pt x="540" y="852"/>
                        </a:lnTo>
                        <a:lnTo>
                          <a:pt x="520" y="853"/>
                        </a:lnTo>
                        <a:lnTo>
                          <a:pt x="500" y="853"/>
                        </a:lnTo>
                        <a:lnTo>
                          <a:pt x="479" y="852"/>
                        </a:lnTo>
                        <a:lnTo>
                          <a:pt x="459" y="850"/>
                        </a:lnTo>
                        <a:lnTo>
                          <a:pt x="438" y="846"/>
                        </a:lnTo>
                        <a:lnTo>
                          <a:pt x="416" y="842"/>
                        </a:lnTo>
                        <a:lnTo>
                          <a:pt x="395" y="836"/>
                        </a:lnTo>
                        <a:lnTo>
                          <a:pt x="374" y="830"/>
                        </a:lnTo>
                        <a:lnTo>
                          <a:pt x="353" y="823"/>
                        </a:lnTo>
                        <a:lnTo>
                          <a:pt x="333" y="814"/>
                        </a:lnTo>
                        <a:lnTo>
                          <a:pt x="312" y="805"/>
                        </a:lnTo>
                        <a:lnTo>
                          <a:pt x="293" y="795"/>
                        </a:lnTo>
                        <a:lnTo>
                          <a:pt x="273" y="784"/>
                        </a:lnTo>
                        <a:lnTo>
                          <a:pt x="254" y="772"/>
                        </a:lnTo>
                        <a:lnTo>
                          <a:pt x="235" y="760"/>
                        </a:lnTo>
                        <a:lnTo>
                          <a:pt x="217" y="747"/>
                        </a:lnTo>
                        <a:lnTo>
                          <a:pt x="201" y="732"/>
                        </a:lnTo>
                        <a:lnTo>
                          <a:pt x="183" y="718"/>
                        </a:lnTo>
                        <a:lnTo>
                          <a:pt x="168" y="702"/>
                        </a:lnTo>
                        <a:lnTo>
                          <a:pt x="151" y="687"/>
                        </a:lnTo>
                        <a:lnTo>
                          <a:pt x="137" y="670"/>
                        </a:lnTo>
                        <a:lnTo>
                          <a:pt x="122" y="652"/>
                        </a:lnTo>
                        <a:lnTo>
                          <a:pt x="108" y="635"/>
                        </a:lnTo>
                        <a:lnTo>
                          <a:pt x="96" y="617"/>
                        </a:lnTo>
                        <a:lnTo>
                          <a:pt x="82" y="598"/>
                        </a:lnTo>
                        <a:lnTo>
                          <a:pt x="71" y="579"/>
                        </a:lnTo>
                        <a:lnTo>
                          <a:pt x="60" y="560"/>
                        </a:lnTo>
                        <a:lnTo>
                          <a:pt x="50" y="540"/>
                        </a:lnTo>
                        <a:lnTo>
                          <a:pt x="41" y="521"/>
                        </a:lnTo>
                        <a:lnTo>
                          <a:pt x="32" y="499"/>
                        </a:lnTo>
                        <a:lnTo>
                          <a:pt x="26" y="479"/>
                        </a:lnTo>
                        <a:lnTo>
                          <a:pt x="19" y="458"/>
                        </a:lnTo>
                        <a:lnTo>
                          <a:pt x="14" y="437"/>
                        </a:lnTo>
                        <a:lnTo>
                          <a:pt x="8" y="416"/>
                        </a:lnTo>
                        <a:lnTo>
                          <a:pt x="5" y="395"/>
                        </a:lnTo>
                        <a:lnTo>
                          <a:pt x="2" y="373"/>
                        </a:lnTo>
                        <a:lnTo>
                          <a:pt x="0" y="352"/>
                        </a:lnTo>
                        <a:lnTo>
                          <a:pt x="0" y="331"/>
                        </a:lnTo>
                        <a:lnTo>
                          <a:pt x="0" y="309"/>
                        </a:lnTo>
                        <a:lnTo>
                          <a:pt x="2" y="289"/>
                        </a:lnTo>
                        <a:lnTo>
                          <a:pt x="5" y="268"/>
                        </a:lnTo>
                        <a:lnTo>
                          <a:pt x="8" y="249"/>
                        </a:lnTo>
                        <a:lnTo>
                          <a:pt x="14" y="230"/>
                        </a:lnTo>
                        <a:lnTo>
                          <a:pt x="19" y="211"/>
                        </a:lnTo>
                        <a:lnTo>
                          <a:pt x="26" y="194"/>
                        </a:lnTo>
                        <a:lnTo>
                          <a:pt x="32" y="176"/>
                        </a:lnTo>
                        <a:lnTo>
                          <a:pt x="41" y="159"/>
                        </a:lnTo>
                        <a:lnTo>
                          <a:pt x="50" y="144"/>
                        </a:lnTo>
                        <a:lnTo>
                          <a:pt x="60" y="128"/>
                        </a:lnTo>
                        <a:lnTo>
                          <a:pt x="71" y="114"/>
                        </a:lnTo>
                        <a:lnTo>
                          <a:pt x="82" y="100"/>
                        </a:lnTo>
                        <a:lnTo>
                          <a:pt x="96" y="87"/>
                        </a:lnTo>
                        <a:lnTo>
                          <a:pt x="108" y="76"/>
                        </a:lnTo>
                        <a:lnTo>
                          <a:pt x="122" y="64"/>
                        </a:lnTo>
                        <a:lnTo>
                          <a:pt x="137" y="54"/>
                        </a:lnTo>
                        <a:lnTo>
                          <a:pt x="151" y="44"/>
                        </a:lnTo>
                        <a:lnTo>
                          <a:pt x="168" y="35"/>
                        </a:lnTo>
                        <a:lnTo>
                          <a:pt x="183" y="27"/>
                        </a:lnTo>
                        <a:lnTo>
                          <a:pt x="201" y="21"/>
                        </a:lnTo>
                        <a:lnTo>
                          <a:pt x="217" y="15"/>
                        </a:lnTo>
                        <a:lnTo>
                          <a:pt x="235" y="10"/>
                        </a:lnTo>
                        <a:lnTo>
                          <a:pt x="254" y="5"/>
                        </a:lnTo>
                        <a:lnTo>
                          <a:pt x="273" y="2"/>
                        </a:lnTo>
                        <a:lnTo>
                          <a:pt x="293" y="1"/>
                        </a:lnTo>
                        <a:lnTo>
                          <a:pt x="312" y="0"/>
                        </a:lnTo>
                        <a:lnTo>
                          <a:pt x="333" y="0"/>
                        </a:lnTo>
                        <a:lnTo>
                          <a:pt x="353" y="1"/>
                        </a:lnTo>
                        <a:lnTo>
                          <a:pt x="374" y="2"/>
                        </a:lnTo>
                        <a:lnTo>
                          <a:pt x="395" y="5"/>
                        </a:lnTo>
                        <a:lnTo>
                          <a:pt x="416" y="10"/>
                        </a:lnTo>
                        <a:close/>
                      </a:path>
                    </a:pathLst>
                  </a:cu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40" name="Google Shape;1840;g3f95de07730_1_1266"/>
                  <p:cNvSpPr/>
                  <p:nvPr/>
                </p:nvSpPr>
                <p:spPr>
                  <a:xfrm>
                    <a:off x="3073994" y="4626493"/>
                    <a:ext cx="22461" cy="23410"/>
                  </a:xfrm>
                  <a:custGeom>
                    <a:avLst/>
                    <a:gdLst/>
                    <a:ahLst/>
                    <a:cxnLst/>
                    <a:rect l="l" t="t" r="r" b="b"/>
                    <a:pathLst>
                      <a:path w="429" h="440" extrusionOk="0">
                        <a:moveTo>
                          <a:pt x="214" y="5"/>
                        </a:moveTo>
                        <a:lnTo>
                          <a:pt x="236" y="12"/>
                        </a:lnTo>
                        <a:lnTo>
                          <a:pt x="257" y="20"/>
                        </a:lnTo>
                        <a:lnTo>
                          <a:pt x="278" y="30"/>
                        </a:lnTo>
                        <a:lnTo>
                          <a:pt x="297" y="42"/>
                        </a:lnTo>
                        <a:lnTo>
                          <a:pt x="316" y="55"/>
                        </a:lnTo>
                        <a:lnTo>
                          <a:pt x="333" y="70"/>
                        </a:lnTo>
                        <a:lnTo>
                          <a:pt x="350" y="86"/>
                        </a:lnTo>
                        <a:lnTo>
                          <a:pt x="365" y="103"/>
                        </a:lnTo>
                        <a:lnTo>
                          <a:pt x="379" y="122"/>
                        </a:lnTo>
                        <a:lnTo>
                          <a:pt x="392" y="141"/>
                        </a:lnTo>
                        <a:lnTo>
                          <a:pt x="402" y="162"/>
                        </a:lnTo>
                        <a:lnTo>
                          <a:pt x="411" y="182"/>
                        </a:lnTo>
                        <a:lnTo>
                          <a:pt x="419" y="204"/>
                        </a:lnTo>
                        <a:lnTo>
                          <a:pt x="424" y="225"/>
                        </a:lnTo>
                        <a:lnTo>
                          <a:pt x="427" y="247"/>
                        </a:lnTo>
                        <a:lnTo>
                          <a:pt x="429" y="269"/>
                        </a:lnTo>
                        <a:lnTo>
                          <a:pt x="427" y="280"/>
                        </a:lnTo>
                        <a:lnTo>
                          <a:pt x="427" y="291"/>
                        </a:lnTo>
                        <a:lnTo>
                          <a:pt x="425" y="301"/>
                        </a:lnTo>
                        <a:lnTo>
                          <a:pt x="424" y="311"/>
                        </a:lnTo>
                        <a:lnTo>
                          <a:pt x="421" y="321"/>
                        </a:lnTo>
                        <a:lnTo>
                          <a:pt x="419" y="331"/>
                        </a:lnTo>
                        <a:lnTo>
                          <a:pt x="415" y="340"/>
                        </a:lnTo>
                        <a:lnTo>
                          <a:pt x="411" y="349"/>
                        </a:lnTo>
                        <a:lnTo>
                          <a:pt x="402" y="365"/>
                        </a:lnTo>
                        <a:lnTo>
                          <a:pt x="392" y="381"/>
                        </a:lnTo>
                        <a:lnTo>
                          <a:pt x="379" y="394"/>
                        </a:lnTo>
                        <a:lnTo>
                          <a:pt x="365" y="406"/>
                        </a:lnTo>
                        <a:lnTo>
                          <a:pt x="350" y="416"/>
                        </a:lnTo>
                        <a:lnTo>
                          <a:pt x="333" y="425"/>
                        </a:lnTo>
                        <a:lnTo>
                          <a:pt x="316" y="432"/>
                        </a:lnTo>
                        <a:lnTo>
                          <a:pt x="297" y="436"/>
                        </a:lnTo>
                        <a:lnTo>
                          <a:pt x="278" y="440"/>
                        </a:lnTo>
                        <a:lnTo>
                          <a:pt x="257" y="440"/>
                        </a:lnTo>
                        <a:lnTo>
                          <a:pt x="236" y="439"/>
                        </a:lnTo>
                        <a:lnTo>
                          <a:pt x="214" y="434"/>
                        </a:lnTo>
                        <a:lnTo>
                          <a:pt x="192" y="429"/>
                        </a:lnTo>
                        <a:lnTo>
                          <a:pt x="170" y="420"/>
                        </a:lnTo>
                        <a:lnTo>
                          <a:pt x="151" y="410"/>
                        </a:lnTo>
                        <a:lnTo>
                          <a:pt x="131" y="399"/>
                        </a:lnTo>
                        <a:lnTo>
                          <a:pt x="112" y="385"/>
                        </a:lnTo>
                        <a:lnTo>
                          <a:pt x="94" y="370"/>
                        </a:lnTo>
                        <a:lnTo>
                          <a:pt x="77" y="354"/>
                        </a:lnTo>
                        <a:lnTo>
                          <a:pt x="62" y="337"/>
                        </a:lnTo>
                        <a:lnTo>
                          <a:pt x="49" y="318"/>
                        </a:lnTo>
                        <a:lnTo>
                          <a:pt x="36" y="299"/>
                        </a:lnTo>
                        <a:lnTo>
                          <a:pt x="25" y="279"/>
                        </a:lnTo>
                        <a:lnTo>
                          <a:pt x="16" y="258"/>
                        </a:lnTo>
                        <a:lnTo>
                          <a:pt x="10" y="237"/>
                        </a:lnTo>
                        <a:lnTo>
                          <a:pt x="4" y="215"/>
                        </a:lnTo>
                        <a:lnTo>
                          <a:pt x="1" y="193"/>
                        </a:lnTo>
                        <a:lnTo>
                          <a:pt x="0" y="170"/>
                        </a:lnTo>
                        <a:lnTo>
                          <a:pt x="0" y="159"/>
                        </a:lnTo>
                        <a:lnTo>
                          <a:pt x="1" y="149"/>
                        </a:lnTo>
                        <a:lnTo>
                          <a:pt x="2" y="138"/>
                        </a:lnTo>
                        <a:lnTo>
                          <a:pt x="4" y="128"/>
                        </a:lnTo>
                        <a:lnTo>
                          <a:pt x="7" y="118"/>
                        </a:lnTo>
                        <a:lnTo>
                          <a:pt x="10" y="109"/>
                        </a:lnTo>
                        <a:lnTo>
                          <a:pt x="13" y="101"/>
                        </a:lnTo>
                        <a:lnTo>
                          <a:pt x="16" y="92"/>
                        </a:lnTo>
                        <a:lnTo>
                          <a:pt x="25" y="75"/>
                        </a:lnTo>
                        <a:lnTo>
                          <a:pt x="36" y="60"/>
                        </a:lnTo>
                        <a:lnTo>
                          <a:pt x="49" y="46"/>
                        </a:lnTo>
                        <a:lnTo>
                          <a:pt x="62" y="34"/>
                        </a:lnTo>
                        <a:lnTo>
                          <a:pt x="77" y="23"/>
                        </a:lnTo>
                        <a:lnTo>
                          <a:pt x="94" y="15"/>
                        </a:lnTo>
                        <a:lnTo>
                          <a:pt x="112" y="9"/>
                        </a:lnTo>
                        <a:lnTo>
                          <a:pt x="131" y="3"/>
                        </a:lnTo>
                        <a:lnTo>
                          <a:pt x="151" y="1"/>
                        </a:lnTo>
                        <a:lnTo>
                          <a:pt x="170" y="0"/>
                        </a:lnTo>
                        <a:lnTo>
                          <a:pt x="192" y="2"/>
                        </a:lnTo>
                        <a:lnTo>
                          <a:pt x="214" y="5"/>
                        </a:lnTo>
                        <a:close/>
                      </a:path>
                    </a:pathLst>
                  </a:custGeom>
                  <a:solidFill>
                    <a:srgbClr val="B3B3B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41" name="Google Shape;1841;g3f95de07730_1_1266"/>
                  <p:cNvSpPr/>
                  <p:nvPr/>
                </p:nvSpPr>
                <p:spPr>
                  <a:xfrm>
                    <a:off x="3078106" y="4630922"/>
                    <a:ext cx="14236" cy="14552"/>
                  </a:xfrm>
                  <a:custGeom>
                    <a:avLst/>
                    <a:gdLst/>
                    <a:ahLst/>
                    <a:cxnLst/>
                    <a:rect l="l" t="t" r="r" b="b"/>
                    <a:pathLst>
                      <a:path w="271" h="278" extrusionOk="0">
                        <a:moveTo>
                          <a:pt x="135" y="3"/>
                        </a:moveTo>
                        <a:lnTo>
                          <a:pt x="149" y="7"/>
                        </a:lnTo>
                        <a:lnTo>
                          <a:pt x="162" y="12"/>
                        </a:lnTo>
                        <a:lnTo>
                          <a:pt x="176" y="18"/>
                        </a:lnTo>
                        <a:lnTo>
                          <a:pt x="188" y="26"/>
                        </a:lnTo>
                        <a:lnTo>
                          <a:pt x="200" y="34"/>
                        </a:lnTo>
                        <a:lnTo>
                          <a:pt x="211" y="44"/>
                        </a:lnTo>
                        <a:lnTo>
                          <a:pt x="221" y="54"/>
                        </a:lnTo>
                        <a:lnTo>
                          <a:pt x="231" y="65"/>
                        </a:lnTo>
                        <a:lnTo>
                          <a:pt x="240" y="76"/>
                        </a:lnTo>
                        <a:lnTo>
                          <a:pt x="248" y="89"/>
                        </a:lnTo>
                        <a:lnTo>
                          <a:pt x="254" y="102"/>
                        </a:lnTo>
                        <a:lnTo>
                          <a:pt x="260" y="115"/>
                        </a:lnTo>
                        <a:lnTo>
                          <a:pt x="264" y="128"/>
                        </a:lnTo>
                        <a:lnTo>
                          <a:pt x="268" y="143"/>
                        </a:lnTo>
                        <a:lnTo>
                          <a:pt x="270" y="156"/>
                        </a:lnTo>
                        <a:lnTo>
                          <a:pt x="271" y="170"/>
                        </a:lnTo>
                        <a:lnTo>
                          <a:pt x="270" y="184"/>
                        </a:lnTo>
                        <a:lnTo>
                          <a:pt x="268" y="197"/>
                        </a:lnTo>
                        <a:lnTo>
                          <a:pt x="264" y="209"/>
                        </a:lnTo>
                        <a:lnTo>
                          <a:pt x="260" y="220"/>
                        </a:lnTo>
                        <a:lnTo>
                          <a:pt x="254" y="231"/>
                        </a:lnTo>
                        <a:lnTo>
                          <a:pt x="248" y="241"/>
                        </a:lnTo>
                        <a:lnTo>
                          <a:pt x="240" y="249"/>
                        </a:lnTo>
                        <a:lnTo>
                          <a:pt x="231" y="257"/>
                        </a:lnTo>
                        <a:lnTo>
                          <a:pt x="221" y="263"/>
                        </a:lnTo>
                        <a:lnTo>
                          <a:pt x="211" y="269"/>
                        </a:lnTo>
                        <a:lnTo>
                          <a:pt x="200" y="273"/>
                        </a:lnTo>
                        <a:lnTo>
                          <a:pt x="188" y="277"/>
                        </a:lnTo>
                        <a:lnTo>
                          <a:pt x="176" y="278"/>
                        </a:lnTo>
                        <a:lnTo>
                          <a:pt x="162" y="278"/>
                        </a:lnTo>
                        <a:lnTo>
                          <a:pt x="149" y="277"/>
                        </a:lnTo>
                        <a:lnTo>
                          <a:pt x="135" y="275"/>
                        </a:lnTo>
                        <a:lnTo>
                          <a:pt x="121" y="271"/>
                        </a:lnTo>
                        <a:lnTo>
                          <a:pt x="107" y="266"/>
                        </a:lnTo>
                        <a:lnTo>
                          <a:pt x="95" y="259"/>
                        </a:lnTo>
                        <a:lnTo>
                          <a:pt x="83" y="252"/>
                        </a:lnTo>
                        <a:lnTo>
                          <a:pt x="70" y="243"/>
                        </a:lnTo>
                        <a:lnTo>
                          <a:pt x="59" y="235"/>
                        </a:lnTo>
                        <a:lnTo>
                          <a:pt x="48" y="224"/>
                        </a:lnTo>
                        <a:lnTo>
                          <a:pt x="39" y="212"/>
                        </a:lnTo>
                        <a:lnTo>
                          <a:pt x="31" y="201"/>
                        </a:lnTo>
                        <a:lnTo>
                          <a:pt x="23" y="189"/>
                        </a:lnTo>
                        <a:lnTo>
                          <a:pt x="15" y="176"/>
                        </a:lnTo>
                        <a:lnTo>
                          <a:pt x="9" y="164"/>
                        </a:lnTo>
                        <a:lnTo>
                          <a:pt x="5" y="149"/>
                        </a:lnTo>
                        <a:lnTo>
                          <a:pt x="2" y="136"/>
                        </a:lnTo>
                        <a:lnTo>
                          <a:pt x="0" y="122"/>
                        </a:lnTo>
                        <a:lnTo>
                          <a:pt x="0" y="108"/>
                        </a:lnTo>
                        <a:lnTo>
                          <a:pt x="0" y="94"/>
                        </a:lnTo>
                        <a:lnTo>
                          <a:pt x="2" y="81"/>
                        </a:lnTo>
                        <a:lnTo>
                          <a:pt x="5" y="68"/>
                        </a:lnTo>
                        <a:lnTo>
                          <a:pt x="9" y="57"/>
                        </a:lnTo>
                        <a:lnTo>
                          <a:pt x="15" y="47"/>
                        </a:lnTo>
                        <a:lnTo>
                          <a:pt x="23" y="37"/>
                        </a:lnTo>
                        <a:lnTo>
                          <a:pt x="31" y="28"/>
                        </a:lnTo>
                        <a:lnTo>
                          <a:pt x="39" y="21"/>
                        </a:lnTo>
                        <a:lnTo>
                          <a:pt x="48" y="14"/>
                        </a:lnTo>
                        <a:lnTo>
                          <a:pt x="59" y="9"/>
                        </a:lnTo>
                        <a:lnTo>
                          <a:pt x="70" y="5"/>
                        </a:lnTo>
                        <a:lnTo>
                          <a:pt x="83" y="2"/>
                        </a:lnTo>
                        <a:lnTo>
                          <a:pt x="95" y="0"/>
                        </a:lnTo>
                        <a:lnTo>
                          <a:pt x="107" y="0"/>
                        </a:lnTo>
                        <a:lnTo>
                          <a:pt x="121" y="1"/>
                        </a:lnTo>
                        <a:lnTo>
                          <a:pt x="135" y="3"/>
                        </a:lnTo>
                        <a:close/>
                      </a:path>
                    </a:pathLst>
                  </a:custGeom>
                  <a:gradFill>
                    <a:gsLst>
                      <a:gs pos="0">
                        <a:srgbClr val="006994"/>
                      </a:gs>
                      <a:gs pos="50000">
                        <a:srgbClr val="009AD7"/>
                      </a:gs>
                      <a:gs pos="100000">
                        <a:srgbClr val="00B8FF"/>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nvGrpSpPr>
                <p:cNvPr id="1842" name="Google Shape;1842;g3f95de07730_1_1266"/>
                <p:cNvGrpSpPr/>
                <p:nvPr/>
              </p:nvGrpSpPr>
              <p:grpSpPr>
                <a:xfrm>
                  <a:off x="2939904" y="4690008"/>
                  <a:ext cx="145198" cy="153849"/>
                  <a:chOff x="5967413" y="-3362325"/>
                  <a:chExt cx="1133478" cy="1454150"/>
                </a:xfrm>
              </p:grpSpPr>
              <p:sp>
                <p:nvSpPr>
                  <p:cNvPr id="1843" name="Google Shape;1843;g3f95de07730_1_126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44" name="Google Shape;1844;g3f95de07730_1_126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45" name="Google Shape;1845;g3f95de07730_1_126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46" name="Google Shape;1846;g3f95de07730_1_126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47" name="Google Shape;1847;g3f95de07730_1_126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48" name="Google Shape;1848;g3f95de07730_1_126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49" name="Google Shape;1849;g3f95de07730_1_126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50" name="Google Shape;1850;g3f95de07730_1_126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51" name="Google Shape;1851;g3f95de07730_1_126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52" name="Google Shape;1852;g3f95de07730_1_126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53" name="Google Shape;1853;g3f95de07730_1_126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54" name="Google Shape;1854;g3f95de07730_1_126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55" name="Google Shape;1855;g3f95de07730_1_126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56" name="Google Shape;1856;g3f95de07730_1_126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sp>
            <p:nvSpPr>
              <p:cNvPr id="1857" name="Google Shape;1857;g3f95de07730_1_1266"/>
              <p:cNvSpPr txBox="1"/>
              <p:nvPr/>
            </p:nvSpPr>
            <p:spPr>
              <a:xfrm>
                <a:off x="2866069" y="5491069"/>
                <a:ext cx="92700" cy="52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400"/>
                  <a:buFont typeface="Arial"/>
                  <a:buNone/>
                </a:pPr>
                <a:r>
                  <a:rPr lang="en-US" sz="400" b="1" i="0" u="none" strike="noStrike" cap="none">
                    <a:solidFill>
                      <a:srgbClr val="3F3F3F"/>
                    </a:solidFill>
                    <a:latin typeface="Roboto"/>
                    <a:ea typeface="Roboto"/>
                    <a:cs typeface="Roboto"/>
                    <a:sym typeface="Roboto"/>
                  </a:rPr>
                  <a:t>WN</a:t>
                </a:r>
                <a:endParaRPr sz="400" b="1" i="0" u="none" strike="noStrike" cap="none">
                  <a:solidFill>
                    <a:srgbClr val="3F3F3F"/>
                  </a:solidFill>
                  <a:latin typeface="Roboto"/>
                  <a:ea typeface="Roboto"/>
                  <a:cs typeface="Roboto"/>
                  <a:sym typeface="Roboto"/>
                </a:endParaRPr>
              </a:p>
            </p:txBody>
          </p:sp>
        </p:grpSp>
        <p:grpSp>
          <p:nvGrpSpPr>
            <p:cNvPr id="1858" name="Google Shape;1858;g3f95de07730_1_1266"/>
            <p:cNvGrpSpPr/>
            <p:nvPr/>
          </p:nvGrpSpPr>
          <p:grpSpPr>
            <a:xfrm>
              <a:off x="4794966" y="5045397"/>
              <a:ext cx="376733" cy="448726"/>
              <a:chOff x="2700762" y="5095926"/>
              <a:chExt cx="376733" cy="448726"/>
            </a:xfrm>
          </p:grpSpPr>
          <p:grpSp>
            <p:nvGrpSpPr>
              <p:cNvPr id="1859" name="Google Shape;1859;g3f95de07730_1_1266"/>
              <p:cNvGrpSpPr/>
              <p:nvPr/>
            </p:nvGrpSpPr>
            <p:grpSpPr>
              <a:xfrm>
                <a:off x="2700762" y="5095926"/>
                <a:ext cx="376733" cy="448726"/>
                <a:chOff x="2939904" y="4395131"/>
                <a:chExt cx="376733" cy="448726"/>
              </a:xfrm>
            </p:grpSpPr>
            <p:grpSp>
              <p:nvGrpSpPr>
                <p:cNvPr id="1860" name="Google Shape;1860;g3f95de07730_1_1266"/>
                <p:cNvGrpSpPr/>
                <p:nvPr/>
              </p:nvGrpSpPr>
              <p:grpSpPr>
                <a:xfrm>
                  <a:off x="3040778" y="4395131"/>
                  <a:ext cx="275858" cy="376772"/>
                  <a:chOff x="3040778" y="4395131"/>
                  <a:chExt cx="275858" cy="376772"/>
                </a:xfrm>
              </p:grpSpPr>
              <p:sp>
                <p:nvSpPr>
                  <p:cNvPr id="1861" name="Google Shape;1861;g3f95de07730_1_1266"/>
                  <p:cNvSpPr/>
                  <p:nvPr/>
                </p:nvSpPr>
                <p:spPr>
                  <a:xfrm>
                    <a:off x="3040778" y="4395131"/>
                    <a:ext cx="275858" cy="376772"/>
                  </a:xfrm>
                  <a:custGeom>
                    <a:avLst/>
                    <a:gdLst/>
                    <a:ahLst/>
                    <a:cxnLst/>
                    <a:rect l="l" t="t" r="r" b="b"/>
                    <a:pathLst>
                      <a:path w="5235" h="7147" extrusionOk="0">
                        <a:moveTo>
                          <a:pt x="3501" y="0"/>
                        </a:moveTo>
                        <a:lnTo>
                          <a:pt x="0" y="2049"/>
                        </a:lnTo>
                        <a:lnTo>
                          <a:pt x="16" y="6095"/>
                        </a:lnTo>
                        <a:lnTo>
                          <a:pt x="1785" y="7147"/>
                        </a:lnTo>
                        <a:lnTo>
                          <a:pt x="5199" y="5045"/>
                        </a:lnTo>
                        <a:lnTo>
                          <a:pt x="5235" y="981"/>
                        </a:lnTo>
                        <a:lnTo>
                          <a:pt x="3501" y="0"/>
                        </a:lnTo>
                        <a:close/>
                      </a:path>
                    </a:pathLst>
                  </a:custGeom>
                  <a:solidFill>
                    <a:srgbClr val="9999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62" name="Google Shape;1862;g3f95de07730_1_1266"/>
                  <p:cNvSpPr/>
                  <p:nvPr/>
                </p:nvSpPr>
                <p:spPr>
                  <a:xfrm>
                    <a:off x="3134100" y="4449542"/>
                    <a:ext cx="182527" cy="322351"/>
                  </a:xfrm>
                  <a:custGeom>
                    <a:avLst/>
                    <a:gdLst/>
                    <a:ahLst/>
                    <a:cxnLst/>
                    <a:rect l="l" t="t" r="r" b="b"/>
                    <a:pathLst>
                      <a:path w="3464" h="6117" extrusionOk="0">
                        <a:moveTo>
                          <a:pt x="0" y="6107"/>
                        </a:moveTo>
                        <a:lnTo>
                          <a:pt x="15" y="6117"/>
                        </a:lnTo>
                        <a:lnTo>
                          <a:pt x="3429" y="4015"/>
                        </a:lnTo>
                        <a:lnTo>
                          <a:pt x="3464" y="0"/>
                        </a:lnTo>
                        <a:lnTo>
                          <a:pt x="15" y="2053"/>
                        </a:lnTo>
                        <a:lnTo>
                          <a:pt x="0" y="6107"/>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63" name="Google Shape;1863;g3f95de07730_1_1266"/>
                  <p:cNvSpPr/>
                  <p:nvPr/>
                </p:nvSpPr>
                <p:spPr>
                  <a:xfrm>
                    <a:off x="3040778" y="4495729"/>
                    <a:ext cx="108821" cy="276174"/>
                  </a:xfrm>
                  <a:custGeom>
                    <a:avLst/>
                    <a:gdLst/>
                    <a:ahLst/>
                    <a:cxnLst/>
                    <a:rect l="l" t="t" r="r" b="b"/>
                    <a:pathLst>
                      <a:path w="2066" h="5241" extrusionOk="0">
                        <a:moveTo>
                          <a:pt x="244" y="0"/>
                        </a:moveTo>
                        <a:lnTo>
                          <a:pt x="0" y="143"/>
                        </a:lnTo>
                        <a:lnTo>
                          <a:pt x="16" y="4189"/>
                        </a:lnTo>
                        <a:lnTo>
                          <a:pt x="1785" y="5241"/>
                        </a:lnTo>
                        <a:lnTo>
                          <a:pt x="2066" y="5068"/>
                        </a:lnTo>
                        <a:lnTo>
                          <a:pt x="2066" y="984"/>
                        </a:lnTo>
                        <a:lnTo>
                          <a:pt x="244" y="0"/>
                        </a:lnTo>
                        <a:close/>
                      </a:path>
                    </a:pathLst>
                  </a:custGeom>
                  <a:gradFill>
                    <a:gsLst>
                      <a:gs pos="0">
                        <a:srgbClr val="F2F2F2"/>
                      </a:gs>
                      <a:gs pos="35000">
                        <a:srgbClr val="C3C3C3"/>
                      </a:gs>
                      <a:gs pos="40000">
                        <a:srgbClr val="F2F2F2"/>
                      </a:gs>
                      <a:gs pos="100000">
                        <a:srgbClr val="D8D8D8"/>
                      </a:gs>
                    </a:gsLst>
                    <a:lin ang="360000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64" name="Google Shape;1864;g3f95de07730_1_1266"/>
                  <p:cNvSpPr/>
                  <p:nvPr/>
                </p:nvSpPr>
                <p:spPr>
                  <a:xfrm>
                    <a:off x="3040778" y="4503005"/>
                    <a:ext cx="94905" cy="268890"/>
                  </a:xfrm>
                  <a:custGeom>
                    <a:avLst/>
                    <a:gdLst/>
                    <a:ahLst/>
                    <a:cxnLst/>
                    <a:rect l="l" t="t" r="r" b="b"/>
                    <a:pathLst>
                      <a:path w="1803" h="5103" extrusionOk="0">
                        <a:moveTo>
                          <a:pt x="10" y="0"/>
                        </a:moveTo>
                        <a:lnTo>
                          <a:pt x="0" y="5"/>
                        </a:lnTo>
                        <a:lnTo>
                          <a:pt x="16" y="4051"/>
                        </a:lnTo>
                        <a:lnTo>
                          <a:pt x="1785" y="5103"/>
                        </a:lnTo>
                        <a:lnTo>
                          <a:pt x="1786" y="5102"/>
                        </a:lnTo>
                        <a:lnTo>
                          <a:pt x="1803" y="1039"/>
                        </a:lnTo>
                        <a:lnTo>
                          <a:pt x="10" y="0"/>
                        </a:lnTo>
                        <a:close/>
                      </a:path>
                    </a:pathLst>
                  </a:custGeom>
                  <a:gradFill>
                    <a:gsLst>
                      <a:gs pos="0">
                        <a:srgbClr val="7F7F7F"/>
                      </a:gs>
                      <a:gs pos="12000">
                        <a:srgbClr val="7F7F7F"/>
                      </a:gs>
                      <a:gs pos="100000">
                        <a:srgbClr val="A5A5A5"/>
                      </a:gs>
                    </a:gsLst>
                    <a:lin ang="7200017"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65" name="Google Shape;1865;g3f95de07730_1_1266"/>
                  <p:cNvSpPr/>
                  <p:nvPr/>
                </p:nvSpPr>
                <p:spPr>
                  <a:xfrm>
                    <a:off x="3052483" y="4534955"/>
                    <a:ext cx="68332" cy="58208"/>
                  </a:xfrm>
                  <a:custGeom>
                    <a:avLst/>
                    <a:gdLst/>
                    <a:ahLst/>
                    <a:cxnLst/>
                    <a:rect l="l" t="t" r="r" b="b"/>
                    <a:pathLst>
                      <a:path w="1296" h="1102" extrusionOk="0">
                        <a:moveTo>
                          <a:pt x="0" y="0"/>
                        </a:moveTo>
                        <a:lnTo>
                          <a:pt x="1296" y="752"/>
                        </a:lnTo>
                        <a:lnTo>
                          <a:pt x="1296" y="1102"/>
                        </a:lnTo>
                        <a:lnTo>
                          <a:pt x="0" y="351"/>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66" name="Google Shape;1866;g3f95de07730_1_1266"/>
                  <p:cNvSpPr/>
                  <p:nvPr/>
                </p:nvSpPr>
                <p:spPr>
                  <a:xfrm>
                    <a:off x="3102782" y="4589999"/>
                    <a:ext cx="18032" cy="15501"/>
                  </a:xfrm>
                  <a:custGeom>
                    <a:avLst/>
                    <a:gdLst/>
                    <a:ahLst/>
                    <a:cxnLst/>
                    <a:rect l="l" t="t" r="r" b="b"/>
                    <a:pathLst>
                      <a:path w="346" h="294" extrusionOk="0">
                        <a:moveTo>
                          <a:pt x="0" y="0"/>
                        </a:moveTo>
                        <a:lnTo>
                          <a:pt x="346" y="201"/>
                        </a:lnTo>
                        <a:lnTo>
                          <a:pt x="346" y="294"/>
                        </a:lnTo>
                        <a:lnTo>
                          <a:pt x="0" y="93"/>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67" name="Google Shape;1867;g3f95de07730_1_1266"/>
                  <p:cNvSpPr/>
                  <p:nvPr/>
                </p:nvSpPr>
                <p:spPr>
                  <a:xfrm>
                    <a:off x="3063238" y="4615738"/>
                    <a:ext cx="43971" cy="44921"/>
                  </a:xfrm>
                  <a:custGeom>
                    <a:avLst/>
                    <a:gdLst/>
                    <a:ahLst/>
                    <a:cxnLst/>
                    <a:rect l="l" t="t" r="r" b="b"/>
                    <a:pathLst>
                      <a:path w="832" h="853" extrusionOk="0">
                        <a:moveTo>
                          <a:pt x="416" y="10"/>
                        </a:moveTo>
                        <a:lnTo>
                          <a:pt x="438" y="15"/>
                        </a:lnTo>
                        <a:lnTo>
                          <a:pt x="459" y="22"/>
                        </a:lnTo>
                        <a:lnTo>
                          <a:pt x="479" y="30"/>
                        </a:lnTo>
                        <a:lnTo>
                          <a:pt x="500" y="37"/>
                        </a:lnTo>
                        <a:lnTo>
                          <a:pt x="520" y="47"/>
                        </a:lnTo>
                        <a:lnTo>
                          <a:pt x="540" y="57"/>
                        </a:lnTo>
                        <a:lnTo>
                          <a:pt x="559" y="68"/>
                        </a:lnTo>
                        <a:lnTo>
                          <a:pt x="577" y="79"/>
                        </a:lnTo>
                        <a:lnTo>
                          <a:pt x="596" y="93"/>
                        </a:lnTo>
                        <a:lnTo>
                          <a:pt x="614" y="106"/>
                        </a:lnTo>
                        <a:lnTo>
                          <a:pt x="632" y="119"/>
                        </a:lnTo>
                        <a:lnTo>
                          <a:pt x="648" y="135"/>
                        </a:lnTo>
                        <a:lnTo>
                          <a:pt x="665" y="149"/>
                        </a:lnTo>
                        <a:lnTo>
                          <a:pt x="680" y="166"/>
                        </a:lnTo>
                        <a:lnTo>
                          <a:pt x="696" y="182"/>
                        </a:lnTo>
                        <a:lnTo>
                          <a:pt x="710" y="199"/>
                        </a:lnTo>
                        <a:lnTo>
                          <a:pt x="724" y="217"/>
                        </a:lnTo>
                        <a:lnTo>
                          <a:pt x="737" y="235"/>
                        </a:lnTo>
                        <a:lnTo>
                          <a:pt x="749" y="253"/>
                        </a:lnTo>
                        <a:lnTo>
                          <a:pt x="760" y="272"/>
                        </a:lnTo>
                        <a:lnTo>
                          <a:pt x="771" y="292"/>
                        </a:lnTo>
                        <a:lnTo>
                          <a:pt x="781" y="311"/>
                        </a:lnTo>
                        <a:lnTo>
                          <a:pt x="791" y="332"/>
                        </a:lnTo>
                        <a:lnTo>
                          <a:pt x="799" y="352"/>
                        </a:lnTo>
                        <a:lnTo>
                          <a:pt x="807" y="373"/>
                        </a:lnTo>
                        <a:lnTo>
                          <a:pt x="813" y="393"/>
                        </a:lnTo>
                        <a:lnTo>
                          <a:pt x="819" y="414"/>
                        </a:lnTo>
                        <a:lnTo>
                          <a:pt x="823" y="435"/>
                        </a:lnTo>
                        <a:lnTo>
                          <a:pt x="827" y="457"/>
                        </a:lnTo>
                        <a:lnTo>
                          <a:pt x="830" y="478"/>
                        </a:lnTo>
                        <a:lnTo>
                          <a:pt x="831" y="499"/>
                        </a:lnTo>
                        <a:lnTo>
                          <a:pt x="832" y="522"/>
                        </a:lnTo>
                        <a:lnTo>
                          <a:pt x="831" y="543"/>
                        </a:lnTo>
                        <a:lnTo>
                          <a:pt x="830" y="564"/>
                        </a:lnTo>
                        <a:lnTo>
                          <a:pt x="827" y="584"/>
                        </a:lnTo>
                        <a:lnTo>
                          <a:pt x="823" y="604"/>
                        </a:lnTo>
                        <a:lnTo>
                          <a:pt x="819" y="622"/>
                        </a:lnTo>
                        <a:lnTo>
                          <a:pt x="813" y="641"/>
                        </a:lnTo>
                        <a:lnTo>
                          <a:pt x="807" y="659"/>
                        </a:lnTo>
                        <a:lnTo>
                          <a:pt x="799" y="676"/>
                        </a:lnTo>
                        <a:lnTo>
                          <a:pt x="791" y="692"/>
                        </a:lnTo>
                        <a:lnTo>
                          <a:pt x="781" y="708"/>
                        </a:lnTo>
                        <a:lnTo>
                          <a:pt x="771" y="723"/>
                        </a:lnTo>
                        <a:lnTo>
                          <a:pt x="760" y="738"/>
                        </a:lnTo>
                        <a:lnTo>
                          <a:pt x="749" y="751"/>
                        </a:lnTo>
                        <a:lnTo>
                          <a:pt x="737" y="764"/>
                        </a:lnTo>
                        <a:lnTo>
                          <a:pt x="724" y="777"/>
                        </a:lnTo>
                        <a:lnTo>
                          <a:pt x="710" y="788"/>
                        </a:lnTo>
                        <a:lnTo>
                          <a:pt x="696" y="798"/>
                        </a:lnTo>
                        <a:lnTo>
                          <a:pt x="680" y="808"/>
                        </a:lnTo>
                        <a:lnTo>
                          <a:pt x="665" y="816"/>
                        </a:lnTo>
                        <a:lnTo>
                          <a:pt x="648" y="824"/>
                        </a:lnTo>
                        <a:lnTo>
                          <a:pt x="632" y="831"/>
                        </a:lnTo>
                        <a:lnTo>
                          <a:pt x="614" y="837"/>
                        </a:lnTo>
                        <a:lnTo>
                          <a:pt x="596" y="842"/>
                        </a:lnTo>
                        <a:lnTo>
                          <a:pt x="577" y="846"/>
                        </a:lnTo>
                        <a:lnTo>
                          <a:pt x="559" y="850"/>
                        </a:lnTo>
                        <a:lnTo>
                          <a:pt x="540" y="852"/>
                        </a:lnTo>
                        <a:lnTo>
                          <a:pt x="520" y="853"/>
                        </a:lnTo>
                        <a:lnTo>
                          <a:pt x="500" y="853"/>
                        </a:lnTo>
                        <a:lnTo>
                          <a:pt x="479" y="852"/>
                        </a:lnTo>
                        <a:lnTo>
                          <a:pt x="459" y="850"/>
                        </a:lnTo>
                        <a:lnTo>
                          <a:pt x="438" y="846"/>
                        </a:lnTo>
                        <a:lnTo>
                          <a:pt x="416" y="842"/>
                        </a:lnTo>
                        <a:lnTo>
                          <a:pt x="395" y="836"/>
                        </a:lnTo>
                        <a:lnTo>
                          <a:pt x="374" y="830"/>
                        </a:lnTo>
                        <a:lnTo>
                          <a:pt x="353" y="823"/>
                        </a:lnTo>
                        <a:lnTo>
                          <a:pt x="333" y="814"/>
                        </a:lnTo>
                        <a:lnTo>
                          <a:pt x="312" y="805"/>
                        </a:lnTo>
                        <a:lnTo>
                          <a:pt x="293" y="795"/>
                        </a:lnTo>
                        <a:lnTo>
                          <a:pt x="273" y="784"/>
                        </a:lnTo>
                        <a:lnTo>
                          <a:pt x="254" y="772"/>
                        </a:lnTo>
                        <a:lnTo>
                          <a:pt x="235" y="760"/>
                        </a:lnTo>
                        <a:lnTo>
                          <a:pt x="217" y="747"/>
                        </a:lnTo>
                        <a:lnTo>
                          <a:pt x="201" y="732"/>
                        </a:lnTo>
                        <a:lnTo>
                          <a:pt x="183" y="718"/>
                        </a:lnTo>
                        <a:lnTo>
                          <a:pt x="168" y="702"/>
                        </a:lnTo>
                        <a:lnTo>
                          <a:pt x="151" y="687"/>
                        </a:lnTo>
                        <a:lnTo>
                          <a:pt x="137" y="670"/>
                        </a:lnTo>
                        <a:lnTo>
                          <a:pt x="122" y="652"/>
                        </a:lnTo>
                        <a:lnTo>
                          <a:pt x="108" y="635"/>
                        </a:lnTo>
                        <a:lnTo>
                          <a:pt x="96" y="617"/>
                        </a:lnTo>
                        <a:lnTo>
                          <a:pt x="82" y="598"/>
                        </a:lnTo>
                        <a:lnTo>
                          <a:pt x="71" y="579"/>
                        </a:lnTo>
                        <a:lnTo>
                          <a:pt x="60" y="560"/>
                        </a:lnTo>
                        <a:lnTo>
                          <a:pt x="50" y="540"/>
                        </a:lnTo>
                        <a:lnTo>
                          <a:pt x="41" y="521"/>
                        </a:lnTo>
                        <a:lnTo>
                          <a:pt x="32" y="499"/>
                        </a:lnTo>
                        <a:lnTo>
                          <a:pt x="26" y="479"/>
                        </a:lnTo>
                        <a:lnTo>
                          <a:pt x="19" y="458"/>
                        </a:lnTo>
                        <a:lnTo>
                          <a:pt x="14" y="437"/>
                        </a:lnTo>
                        <a:lnTo>
                          <a:pt x="8" y="416"/>
                        </a:lnTo>
                        <a:lnTo>
                          <a:pt x="5" y="395"/>
                        </a:lnTo>
                        <a:lnTo>
                          <a:pt x="2" y="373"/>
                        </a:lnTo>
                        <a:lnTo>
                          <a:pt x="0" y="352"/>
                        </a:lnTo>
                        <a:lnTo>
                          <a:pt x="0" y="331"/>
                        </a:lnTo>
                        <a:lnTo>
                          <a:pt x="0" y="309"/>
                        </a:lnTo>
                        <a:lnTo>
                          <a:pt x="2" y="289"/>
                        </a:lnTo>
                        <a:lnTo>
                          <a:pt x="5" y="268"/>
                        </a:lnTo>
                        <a:lnTo>
                          <a:pt x="8" y="249"/>
                        </a:lnTo>
                        <a:lnTo>
                          <a:pt x="14" y="230"/>
                        </a:lnTo>
                        <a:lnTo>
                          <a:pt x="19" y="211"/>
                        </a:lnTo>
                        <a:lnTo>
                          <a:pt x="26" y="194"/>
                        </a:lnTo>
                        <a:lnTo>
                          <a:pt x="32" y="176"/>
                        </a:lnTo>
                        <a:lnTo>
                          <a:pt x="41" y="159"/>
                        </a:lnTo>
                        <a:lnTo>
                          <a:pt x="50" y="144"/>
                        </a:lnTo>
                        <a:lnTo>
                          <a:pt x="60" y="128"/>
                        </a:lnTo>
                        <a:lnTo>
                          <a:pt x="71" y="114"/>
                        </a:lnTo>
                        <a:lnTo>
                          <a:pt x="82" y="100"/>
                        </a:lnTo>
                        <a:lnTo>
                          <a:pt x="96" y="87"/>
                        </a:lnTo>
                        <a:lnTo>
                          <a:pt x="108" y="76"/>
                        </a:lnTo>
                        <a:lnTo>
                          <a:pt x="122" y="64"/>
                        </a:lnTo>
                        <a:lnTo>
                          <a:pt x="137" y="54"/>
                        </a:lnTo>
                        <a:lnTo>
                          <a:pt x="151" y="44"/>
                        </a:lnTo>
                        <a:lnTo>
                          <a:pt x="168" y="35"/>
                        </a:lnTo>
                        <a:lnTo>
                          <a:pt x="183" y="27"/>
                        </a:lnTo>
                        <a:lnTo>
                          <a:pt x="201" y="21"/>
                        </a:lnTo>
                        <a:lnTo>
                          <a:pt x="217" y="15"/>
                        </a:lnTo>
                        <a:lnTo>
                          <a:pt x="235" y="10"/>
                        </a:lnTo>
                        <a:lnTo>
                          <a:pt x="254" y="5"/>
                        </a:lnTo>
                        <a:lnTo>
                          <a:pt x="273" y="2"/>
                        </a:lnTo>
                        <a:lnTo>
                          <a:pt x="293" y="1"/>
                        </a:lnTo>
                        <a:lnTo>
                          <a:pt x="312" y="0"/>
                        </a:lnTo>
                        <a:lnTo>
                          <a:pt x="333" y="0"/>
                        </a:lnTo>
                        <a:lnTo>
                          <a:pt x="353" y="1"/>
                        </a:lnTo>
                        <a:lnTo>
                          <a:pt x="374" y="2"/>
                        </a:lnTo>
                        <a:lnTo>
                          <a:pt x="395" y="5"/>
                        </a:lnTo>
                        <a:lnTo>
                          <a:pt x="416" y="10"/>
                        </a:lnTo>
                        <a:close/>
                      </a:path>
                    </a:pathLst>
                  </a:cu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68" name="Google Shape;1868;g3f95de07730_1_1266"/>
                  <p:cNvSpPr/>
                  <p:nvPr/>
                </p:nvSpPr>
                <p:spPr>
                  <a:xfrm>
                    <a:off x="3073994" y="4626493"/>
                    <a:ext cx="22461" cy="23410"/>
                  </a:xfrm>
                  <a:custGeom>
                    <a:avLst/>
                    <a:gdLst/>
                    <a:ahLst/>
                    <a:cxnLst/>
                    <a:rect l="l" t="t" r="r" b="b"/>
                    <a:pathLst>
                      <a:path w="429" h="440" extrusionOk="0">
                        <a:moveTo>
                          <a:pt x="214" y="5"/>
                        </a:moveTo>
                        <a:lnTo>
                          <a:pt x="236" y="12"/>
                        </a:lnTo>
                        <a:lnTo>
                          <a:pt x="257" y="20"/>
                        </a:lnTo>
                        <a:lnTo>
                          <a:pt x="278" y="30"/>
                        </a:lnTo>
                        <a:lnTo>
                          <a:pt x="297" y="42"/>
                        </a:lnTo>
                        <a:lnTo>
                          <a:pt x="316" y="55"/>
                        </a:lnTo>
                        <a:lnTo>
                          <a:pt x="333" y="70"/>
                        </a:lnTo>
                        <a:lnTo>
                          <a:pt x="350" y="86"/>
                        </a:lnTo>
                        <a:lnTo>
                          <a:pt x="365" y="103"/>
                        </a:lnTo>
                        <a:lnTo>
                          <a:pt x="379" y="122"/>
                        </a:lnTo>
                        <a:lnTo>
                          <a:pt x="392" y="141"/>
                        </a:lnTo>
                        <a:lnTo>
                          <a:pt x="402" y="162"/>
                        </a:lnTo>
                        <a:lnTo>
                          <a:pt x="411" y="182"/>
                        </a:lnTo>
                        <a:lnTo>
                          <a:pt x="419" y="204"/>
                        </a:lnTo>
                        <a:lnTo>
                          <a:pt x="424" y="225"/>
                        </a:lnTo>
                        <a:lnTo>
                          <a:pt x="427" y="247"/>
                        </a:lnTo>
                        <a:lnTo>
                          <a:pt x="429" y="269"/>
                        </a:lnTo>
                        <a:lnTo>
                          <a:pt x="427" y="280"/>
                        </a:lnTo>
                        <a:lnTo>
                          <a:pt x="427" y="291"/>
                        </a:lnTo>
                        <a:lnTo>
                          <a:pt x="425" y="301"/>
                        </a:lnTo>
                        <a:lnTo>
                          <a:pt x="424" y="311"/>
                        </a:lnTo>
                        <a:lnTo>
                          <a:pt x="421" y="321"/>
                        </a:lnTo>
                        <a:lnTo>
                          <a:pt x="419" y="331"/>
                        </a:lnTo>
                        <a:lnTo>
                          <a:pt x="415" y="340"/>
                        </a:lnTo>
                        <a:lnTo>
                          <a:pt x="411" y="349"/>
                        </a:lnTo>
                        <a:lnTo>
                          <a:pt x="402" y="365"/>
                        </a:lnTo>
                        <a:lnTo>
                          <a:pt x="392" y="381"/>
                        </a:lnTo>
                        <a:lnTo>
                          <a:pt x="379" y="394"/>
                        </a:lnTo>
                        <a:lnTo>
                          <a:pt x="365" y="406"/>
                        </a:lnTo>
                        <a:lnTo>
                          <a:pt x="350" y="416"/>
                        </a:lnTo>
                        <a:lnTo>
                          <a:pt x="333" y="425"/>
                        </a:lnTo>
                        <a:lnTo>
                          <a:pt x="316" y="432"/>
                        </a:lnTo>
                        <a:lnTo>
                          <a:pt x="297" y="436"/>
                        </a:lnTo>
                        <a:lnTo>
                          <a:pt x="278" y="440"/>
                        </a:lnTo>
                        <a:lnTo>
                          <a:pt x="257" y="440"/>
                        </a:lnTo>
                        <a:lnTo>
                          <a:pt x="236" y="439"/>
                        </a:lnTo>
                        <a:lnTo>
                          <a:pt x="214" y="434"/>
                        </a:lnTo>
                        <a:lnTo>
                          <a:pt x="192" y="429"/>
                        </a:lnTo>
                        <a:lnTo>
                          <a:pt x="170" y="420"/>
                        </a:lnTo>
                        <a:lnTo>
                          <a:pt x="151" y="410"/>
                        </a:lnTo>
                        <a:lnTo>
                          <a:pt x="131" y="399"/>
                        </a:lnTo>
                        <a:lnTo>
                          <a:pt x="112" y="385"/>
                        </a:lnTo>
                        <a:lnTo>
                          <a:pt x="94" y="370"/>
                        </a:lnTo>
                        <a:lnTo>
                          <a:pt x="77" y="354"/>
                        </a:lnTo>
                        <a:lnTo>
                          <a:pt x="62" y="337"/>
                        </a:lnTo>
                        <a:lnTo>
                          <a:pt x="49" y="318"/>
                        </a:lnTo>
                        <a:lnTo>
                          <a:pt x="36" y="299"/>
                        </a:lnTo>
                        <a:lnTo>
                          <a:pt x="25" y="279"/>
                        </a:lnTo>
                        <a:lnTo>
                          <a:pt x="16" y="258"/>
                        </a:lnTo>
                        <a:lnTo>
                          <a:pt x="10" y="237"/>
                        </a:lnTo>
                        <a:lnTo>
                          <a:pt x="4" y="215"/>
                        </a:lnTo>
                        <a:lnTo>
                          <a:pt x="1" y="193"/>
                        </a:lnTo>
                        <a:lnTo>
                          <a:pt x="0" y="170"/>
                        </a:lnTo>
                        <a:lnTo>
                          <a:pt x="0" y="159"/>
                        </a:lnTo>
                        <a:lnTo>
                          <a:pt x="1" y="149"/>
                        </a:lnTo>
                        <a:lnTo>
                          <a:pt x="2" y="138"/>
                        </a:lnTo>
                        <a:lnTo>
                          <a:pt x="4" y="128"/>
                        </a:lnTo>
                        <a:lnTo>
                          <a:pt x="7" y="118"/>
                        </a:lnTo>
                        <a:lnTo>
                          <a:pt x="10" y="109"/>
                        </a:lnTo>
                        <a:lnTo>
                          <a:pt x="13" y="101"/>
                        </a:lnTo>
                        <a:lnTo>
                          <a:pt x="16" y="92"/>
                        </a:lnTo>
                        <a:lnTo>
                          <a:pt x="25" y="75"/>
                        </a:lnTo>
                        <a:lnTo>
                          <a:pt x="36" y="60"/>
                        </a:lnTo>
                        <a:lnTo>
                          <a:pt x="49" y="46"/>
                        </a:lnTo>
                        <a:lnTo>
                          <a:pt x="62" y="34"/>
                        </a:lnTo>
                        <a:lnTo>
                          <a:pt x="77" y="23"/>
                        </a:lnTo>
                        <a:lnTo>
                          <a:pt x="94" y="15"/>
                        </a:lnTo>
                        <a:lnTo>
                          <a:pt x="112" y="9"/>
                        </a:lnTo>
                        <a:lnTo>
                          <a:pt x="131" y="3"/>
                        </a:lnTo>
                        <a:lnTo>
                          <a:pt x="151" y="1"/>
                        </a:lnTo>
                        <a:lnTo>
                          <a:pt x="170" y="0"/>
                        </a:lnTo>
                        <a:lnTo>
                          <a:pt x="192" y="2"/>
                        </a:lnTo>
                        <a:lnTo>
                          <a:pt x="214" y="5"/>
                        </a:lnTo>
                        <a:close/>
                      </a:path>
                    </a:pathLst>
                  </a:custGeom>
                  <a:solidFill>
                    <a:srgbClr val="B3B3B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69" name="Google Shape;1869;g3f95de07730_1_1266"/>
                  <p:cNvSpPr/>
                  <p:nvPr/>
                </p:nvSpPr>
                <p:spPr>
                  <a:xfrm>
                    <a:off x="3078106" y="4630922"/>
                    <a:ext cx="14236" cy="14552"/>
                  </a:xfrm>
                  <a:custGeom>
                    <a:avLst/>
                    <a:gdLst/>
                    <a:ahLst/>
                    <a:cxnLst/>
                    <a:rect l="l" t="t" r="r" b="b"/>
                    <a:pathLst>
                      <a:path w="271" h="278" extrusionOk="0">
                        <a:moveTo>
                          <a:pt x="135" y="3"/>
                        </a:moveTo>
                        <a:lnTo>
                          <a:pt x="149" y="7"/>
                        </a:lnTo>
                        <a:lnTo>
                          <a:pt x="162" y="12"/>
                        </a:lnTo>
                        <a:lnTo>
                          <a:pt x="176" y="18"/>
                        </a:lnTo>
                        <a:lnTo>
                          <a:pt x="188" y="26"/>
                        </a:lnTo>
                        <a:lnTo>
                          <a:pt x="200" y="34"/>
                        </a:lnTo>
                        <a:lnTo>
                          <a:pt x="211" y="44"/>
                        </a:lnTo>
                        <a:lnTo>
                          <a:pt x="221" y="54"/>
                        </a:lnTo>
                        <a:lnTo>
                          <a:pt x="231" y="65"/>
                        </a:lnTo>
                        <a:lnTo>
                          <a:pt x="240" y="76"/>
                        </a:lnTo>
                        <a:lnTo>
                          <a:pt x="248" y="89"/>
                        </a:lnTo>
                        <a:lnTo>
                          <a:pt x="254" y="102"/>
                        </a:lnTo>
                        <a:lnTo>
                          <a:pt x="260" y="115"/>
                        </a:lnTo>
                        <a:lnTo>
                          <a:pt x="264" y="128"/>
                        </a:lnTo>
                        <a:lnTo>
                          <a:pt x="268" y="143"/>
                        </a:lnTo>
                        <a:lnTo>
                          <a:pt x="270" y="156"/>
                        </a:lnTo>
                        <a:lnTo>
                          <a:pt x="271" y="170"/>
                        </a:lnTo>
                        <a:lnTo>
                          <a:pt x="270" y="184"/>
                        </a:lnTo>
                        <a:lnTo>
                          <a:pt x="268" y="197"/>
                        </a:lnTo>
                        <a:lnTo>
                          <a:pt x="264" y="209"/>
                        </a:lnTo>
                        <a:lnTo>
                          <a:pt x="260" y="220"/>
                        </a:lnTo>
                        <a:lnTo>
                          <a:pt x="254" y="231"/>
                        </a:lnTo>
                        <a:lnTo>
                          <a:pt x="248" y="241"/>
                        </a:lnTo>
                        <a:lnTo>
                          <a:pt x="240" y="249"/>
                        </a:lnTo>
                        <a:lnTo>
                          <a:pt x="231" y="257"/>
                        </a:lnTo>
                        <a:lnTo>
                          <a:pt x="221" y="263"/>
                        </a:lnTo>
                        <a:lnTo>
                          <a:pt x="211" y="269"/>
                        </a:lnTo>
                        <a:lnTo>
                          <a:pt x="200" y="273"/>
                        </a:lnTo>
                        <a:lnTo>
                          <a:pt x="188" y="277"/>
                        </a:lnTo>
                        <a:lnTo>
                          <a:pt x="176" y="278"/>
                        </a:lnTo>
                        <a:lnTo>
                          <a:pt x="162" y="278"/>
                        </a:lnTo>
                        <a:lnTo>
                          <a:pt x="149" y="277"/>
                        </a:lnTo>
                        <a:lnTo>
                          <a:pt x="135" y="275"/>
                        </a:lnTo>
                        <a:lnTo>
                          <a:pt x="121" y="271"/>
                        </a:lnTo>
                        <a:lnTo>
                          <a:pt x="107" y="266"/>
                        </a:lnTo>
                        <a:lnTo>
                          <a:pt x="95" y="259"/>
                        </a:lnTo>
                        <a:lnTo>
                          <a:pt x="83" y="252"/>
                        </a:lnTo>
                        <a:lnTo>
                          <a:pt x="70" y="243"/>
                        </a:lnTo>
                        <a:lnTo>
                          <a:pt x="59" y="235"/>
                        </a:lnTo>
                        <a:lnTo>
                          <a:pt x="48" y="224"/>
                        </a:lnTo>
                        <a:lnTo>
                          <a:pt x="39" y="212"/>
                        </a:lnTo>
                        <a:lnTo>
                          <a:pt x="31" y="201"/>
                        </a:lnTo>
                        <a:lnTo>
                          <a:pt x="23" y="189"/>
                        </a:lnTo>
                        <a:lnTo>
                          <a:pt x="15" y="176"/>
                        </a:lnTo>
                        <a:lnTo>
                          <a:pt x="9" y="164"/>
                        </a:lnTo>
                        <a:lnTo>
                          <a:pt x="5" y="149"/>
                        </a:lnTo>
                        <a:lnTo>
                          <a:pt x="2" y="136"/>
                        </a:lnTo>
                        <a:lnTo>
                          <a:pt x="0" y="122"/>
                        </a:lnTo>
                        <a:lnTo>
                          <a:pt x="0" y="108"/>
                        </a:lnTo>
                        <a:lnTo>
                          <a:pt x="0" y="94"/>
                        </a:lnTo>
                        <a:lnTo>
                          <a:pt x="2" y="81"/>
                        </a:lnTo>
                        <a:lnTo>
                          <a:pt x="5" y="68"/>
                        </a:lnTo>
                        <a:lnTo>
                          <a:pt x="9" y="57"/>
                        </a:lnTo>
                        <a:lnTo>
                          <a:pt x="15" y="47"/>
                        </a:lnTo>
                        <a:lnTo>
                          <a:pt x="23" y="37"/>
                        </a:lnTo>
                        <a:lnTo>
                          <a:pt x="31" y="28"/>
                        </a:lnTo>
                        <a:lnTo>
                          <a:pt x="39" y="21"/>
                        </a:lnTo>
                        <a:lnTo>
                          <a:pt x="48" y="14"/>
                        </a:lnTo>
                        <a:lnTo>
                          <a:pt x="59" y="9"/>
                        </a:lnTo>
                        <a:lnTo>
                          <a:pt x="70" y="5"/>
                        </a:lnTo>
                        <a:lnTo>
                          <a:pt x="83" y="2"/>
                        </a:lnTo>
                        <a:lnTo>
                          <a:pt x="95" y="0"/>
                        </a:lnTo>
                        <a:lnTo>
                          <a:pt x="107" y="0"/>
                        </a:lnTo>
                        <a:lnTo>
                          <a:pt x="121" y="1"/>
                        </a:lnTo>
                        <a:lnTo>
                          <a:pt x="135" y="3"/>
                        </a:lnTo>
                        <a:close/>
                      </a:path>
                    </a:pathLst>
                  </a:custGeom>
                  <a:gradFill>
                    <a:gsLst>
                      <a:gs pos="0">
                        <a:srgbClr val="006994"/>
                      </a:gs>
                      <a:gs pos="50000">
                        <a:srgbClr val="009AD7"/>
                      </a:gs>
                      <a:gs pos="100000">
                        <a:srgbClr val="00B8FF"/>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nvGrpSpPr>
                <p:cNvPr id="1870" name="Google Shape;1870;g3f95de07730_1_1266"/>
                <p:cNvGrpSpPr/>
                <p:nvPr/>
              </p:nvGrpSpPr>
              <p:grpSpPr>
                <a:xfrm>
                  <a:off x="2939904" y="4690008"/>
                  <a:ext cx="145198" cy="153849"/>
                  <a:chOff x="5967413" y="-3362325"/>
                  <a:chExt cx="1133478" cy="1454150"/>
                </a:xfrm>
              </p:grpSpPr>
              <p:sp>
                <p:nvSpPr>
                  <p:cNvPr id="1871" name="Google Shape;1871;g3f95de07730_1_126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72" name="Google Shape;1872;g3f95de07730_1_126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73" name="Google Shape;1873;g3f95de07730_1_126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74" name="Google Shape;1874;g3f95de07730_1_126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75" name="Google Shape;1875;g3f95de07730_1_126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76" name="Google Shape;1876;g3f95de07730_1_126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77" name="Google Shape;1877;g3f95de07730_1_126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78" name="Google Shape;1878;g3f95de07730_1_126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79" name="Google Shape;1879;g3f95de07730_1_126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80" name="Google Shape;1880;g3f95de07730_1_126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81" name="Google Shape;1881;g3f95de07730_1_126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82" name="Google Shape;1882;g3f95de07730_1_126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83" name="Google Shape;1883;g3f95de07730_1_126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84" name="Google Shape;1884;g3f95de07730_1_126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sp>
            <p:nvSpPr>
              <p:cNvPr id="1885" name="Google Shape;1885;g3f95de07730_1_1266"/>
              <p:cNvSpPr txBox="1"/>
              <p:nvPr/>
            </p:nvSpPr>
            <p:spPr>
              <a:xfrm>
                <a:off x="2866069" y="5491069"/>
                <a:ext cx="92700" cy="52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400"/>
                  <a:buFont typeface="Arial"/>
                  <a:buNone/>
                </a:pPr>
                <a:r>
                  <a:rPr lang="en-US" sz="400" b="1" i="0" u="none" strike="noStrike" cap="none">
                    <a:solidFill>
                      <a:srgbClr val="3F3F3F"/>
                    </a:solidFill>
                    <a:latin typeface="Roboto"/>
                    <a:ea typeface="Roboto"/>
                    <a:cs typeface="Roboto"/>
                    <a:sym typeface="Roboto"/>
                  </a:rPr>
                  <a:t>WN</a:t>
                </a:r>
                <a:endParaRPr sz="400" b="1" i="0" u="none" strike="noStrike" cap="none">
                  <a:solidFill>
                    <a:srgbClr val="3F3F3F"/>
                  </a:solidFill>
                  <a:latin typeface="Roboto"/>
                  <a:ea typeface="Roboto"/>
                  <a:cs typeface="Roboto"/>
                  <a:sym typeface="Roboto"/>
                </a:endParaRPr>
              </a:p>
            </p:txBody>
          </p:sp>
        </p:grpSp>
        <p:grpSp>
          <p:nvGrpSpPr>
            <p:cNvPr id="1886" name="Google Shape;1886;g3f95de07730_1_1266"/>
            <p:cNvGrpSpPr/>
            <p:nvPr/>
          </p:nvGrpSpPr>
          <p:grpSpPr>
            <a:xfrm>
              <a:off x="5266122" y="5045397"/>
              <a:ext cx="376733" cy="448726"/>
              <a:chOff x="2700762" y="5095926"/>
              <a:chExt cx="376733" cy="448726"/>
            </a:xfrm>
          </p:grpSpPr>
          <p:grpSp>
            <p:nvGrpSpPr>
              <p:cNvPr id="1887" name="Google Shape;1887;g3f95de07730_1_1266"/>
              <p:cNvGrpSpPr/>
              <p:nvPr/>
            </p:nvGrpSpPr>
            <p:grpSpPr>
              <a:xfrm>
                <a:off x="2700762" y="5095926"/>
                <a:ext cx="376733" cy="448726"/>
                <a:chOff x="2939904" y="4395131"/>
                <a:chExt cx="376733" cy="448726"/>
              </a:xfrm>
            </p:grpSpPr>
            <p:grpSp>
              <p:nvGrpSpPr>
                <p:cNvPr id="1888" name="Google Shape;1888;g3f95de07730_1_1266"/>
                <p:cNvGrpSpPr/>
                <p:nvPr/>
              </p:nvGrpSpPr>
              <p:grpSpPr>
                <a:xfrm>
                  <a:off x="3040778" y="4395131"/>
                  <a:ext cx="275858" cy="376772"/>
                  <a:chOff x="3040778" y="4395131"/>
                  <a:chExt cx="275858" cy="376772"/>
                </a:xfrm>
              </p:grpSpPr>
              <p:sp>
                <p:nvSpPr>
                  <p:cNvPr id="1889" name="Google Shape;1889;g3f95de07730_1_1266"/>
                  <p:cNvSpPr/>
                  <p:nvPr/>
                </p:nvSpPr>
                <p:spPr>
                  <a:xfrm>
                    <a:off x="3040778" y="4395131"/>
                    <a:ext cx="275858" cy="376772"/>
                  </a:xfrm>
                  <a:custGeom>
                    <a:avLst/>
                    <a:gdLst/>
                    <a:ahLst/>
                    <a:cxnLst/>
                    <a:rect l="l" t="t" r="r" b="b"/>
                    <a:pathLst>
                      <a:path w="5235" h="7147" extrusionOk="0">
                        <a:moveTo>
                          <a:pt x="3501" y="0"/>
                        </a:moveTo>
                        <a:lnTo>
                          <a:pt x="0" y="2049"/>
                        </a:lnTo>
                        <a:lnTo>
                          <a:pt x="16" y="6095"/>
                        </a:lnTo>
                        <a:lnTo>
                          <a:pt x="1785" y="7147"/>
                        </a:lnTo>
                        <a:lnTo>
                          <a:pt x="5199" y="5045"/>
                        </a:lnTo>
                        <a:lnTo>
                          <a:pt x="5235" y="981"/>
                        </a:lnTo>
                        <a:lnTo>
                          <a:pt x="3501" y="0"/>
                        </a:lnTo>
                        <a:close/>
                      </a:path>
                    </a:pathLst>
                  </a:custGeom>
                  <a:solidFill>
                    <a:srgbClr val="9999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90" name="Google Shape;1890;g3f95de07730_1_1266"/>
                  <p:cNvSpPr/>
                  <p:nvPr/>
                </p:nvSpPr>
                <p:spPr>
                  <a:xfrm>
                    <a:off x="3134100" y="4449542"/>
                    <a:ext cx="182527" cy="322351"/>
                  </a:xfrm>
                  <a:custGeom>
                    <a:avLst/>
                    <a:gdLst/>
                    <a:ahLst/>
                    <a:cxnLst/>
                    <a:rect l="l" t="t" r="r" b="b"/>
                    <a:pathLst>
                      <a:path w="3464" h="6117" extrusionOk="0">
                        <a:moveTo>
                          <a:pt x="0" y="6107"/>
                        </a:moveTo>
                        <a:lnTo>
                          <a:pt x="15" y="6117"/>
                        </a:lnTo>
                        <a:lnTo>
                          <a:pt x="3429" y="4015"/>
                        </a:lnTo>
                        <a:lnTo>
                          <a:pt x="3464" y="0"/>
                        </a:lnTo>
                        <a:lnTo>
                          <a:pt x="15" y="2053"/>
                        </a:lnTo>
                        <a:lnTo>
                          <a:pt x="0" y="6107"/>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91" name="Google Shape;1891;g3f95de07730_1_1266"/>
                  <p:cNvSpPr/>
                  <p:nvPr/>
                </p:nvSpPr>
                <p:spPr>
                  <a:xfrm>
                    <a:off x="3040778" y="4495729"/>
                    <a:ext cx="108821" cy="276174"/>
                  </a:xfrm>
                  <a:custGeom>
                    <a:avLst/>
                    <a:gdLst/>
                    <a:ahLst/>
                    <a:cxnLst/>
                    <a:rect l="l" t="t" r="r" b="b"/>
                    <a:pathLst>
                      <a:path w="2066" h="5241" extrusionOk="0">
                        <a:moveTo>
                          <a:pt x="244" y="0"/>
                        </a:moveTo>
                        <a:lnTo>
                          <a:pt x="0" y="143"/>
                        </a:lnTo>
                        <a:lnTo>
                          <a:pt x="16" y="4189"/>
                        </a:lnTo>
                        <a:lnTo>
                          <a:pt x="1785" y="5241"/>
                        </a:lnTo>
                        <a:lnTo>
                          <a:pt x="2066" y="5068"/>
                        </a:lnTo>
                        <a:lnTo>
                          <a:pt x="2066" y="984"/>
                        </a:lnTo>
                        <a:lnTo>
                          <a:pt x="244" y="0"/>
                        </a:lnTo>
                        <a:close/>
                      </a:path>
                    </a:pathLst>
                  </a:custGeom>
                  <a:gradFill>
                    <a:gsLst>
                      <a:gs pos="0">
                        <a:srgbClr val="F2F2F2"/>
                      </a:gs>
                      <a:gs pos="35000">
                        <a:srgbClr val="C3C3C3"/>
                      </a:gs>
                      <a:gs pos="40000">
                        <a:srgbClr val="F2F2F2"/>
                      </a:gs>
                      <a:gs pos="100000">
                        <a:srgbClr val="D8D8D8"/>
                      </a:gs>
                    </a:gsLst>
                    <a:lin ang="360000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92" name="Google Shape;1892;g3f95de07730_1_1266"/>
                  <p:cNvSpPr/>
                  <p:nvPr/>
                </p:nvSpPr>
                <p:spPr>
                  <a:xfrm>
                    <a:off x="3040778" y="4503005"/>
                    <a:ext cx="94905" cy="268890"/>
                  </a:xfrm>
                  <a:custGeom>
                    <a:avLst/>
                    <a:gdLst/>
                    <a:ahLst/>
                    <a:cxnLst/>
                    <a:rect l="l" t="t" r="r" b="b"/>
                    <a:pathLst>
                      <a:path w="1803" h="5103" extrusionOk="0">
                        <a:moveTo>
                          <a:pt x="10" y="0"/>
                        </a:moveTo>
                        <a:lnTo>
                          <a:pt x="0" y="5"/>
                        </a:lnTo>
                        <a:lnTo>
                          <a:pt x="16" y="4051"/>
                        </a:lnTo>
                        <a:lnTo>
                          <a:pt x="1785" y="5103"/>
                        </a:lnTo>
                        <a:lnTo>
                          <a:pt x="1786" y="5102"/>
                        </a:lnTo>
                        <a:lnTo>
                          <a:pt x="1803" y="1039"/>
                        </a:lnTo>
                        <a:lnTo>
                          <a:pt x="10" y="0"/>
                        </a:lnTo>
                        <a:close/>
                      </a:path>
                    </a:pathLst>
                  </a:custGeom>
                  <a:gradFill>
                    <a:gsLst>
                      <a:gs pos="0">
                        <a:srgbClr val="7F7F7F"/>
                      </a:gs>
                      <a:gs pos="12000">
                        <a:srgbClr val="7F7F7F"/>
                      </a:gs>
                      <a:gs pos="100000">
                        <a:srgbClr val="A5A5A5"/>
                      </a:gs>
                    </a:gsLst>
                    <a:lin ang="7200017"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93" name="Google Shape;1893;g3f95de07730_1_1266"/>
                  <p:cNvSpPr/>
                  <p:nvPr/>
                </p:nvSpPr>
                <p:spPr>
                  <a:xfrm>
                    <a:off x="3052483" y="4534955"/>
                    <a:ext cx="68332" cy="58208"/>
                  </a:xfrm>
                  <a:custGeom>
                    <a:avLst/>
                    <a:gdLst/>
                    <a:ahLst/>
                    <a:cxnLst/>
                    <a:rect l="l" t="t" r="r" b="b"/>
                    <a:pathLst>
                      <a:path w="1296" h="1102" extrusionOk="0">
                        <a:moveTo>
                          <a:pt x="0" y="0"/>
                        </a:moveTo>
                        <a:lnTo>
                          <a:pt x="1296" y="752"/>
                        </a:lnTo>
                        <a:lnTo>
                          <a:pt x="1296" y="1102"/>
                        </a:lnTo>
                        <a:lnTo>
                          <a:pt x="0" y="351"/>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94" name="Google Shape;1894;g3f95de07730_1_1266"/>
                  <p:cNvSpPr/>
                  <p:nvPr/>
                </p:nvSpPr>
                <p:spPr>
                  <a:xfrm>
                    <a:off x="3102782" y="4589999"/>
                    <a:ext cx="18032" cy="15501"/>
                  </a:xfrm>
                  <a:custGeom>
                    <a:avLst/>
                    <a:gdLst/>
                    <a:ahLst/>
                    <a:cxnLst/>
                    <a:rect l="l" t="t" r="r" b="b"/>
                    <a:pathLst>
                      <a:path w="346" h="294" extrusionOk="0">
                        <a:moveTo>
                          <a:pt x="0" y="0"/>
                        </a:moveTo>
                        <a:lnTo>
                          <a:pt x="346" y="201"/>
                        </a:lnTo>
                        <a:lnTo>
                          <a:pt x="346" y="294"/>
                        </a:lnTo>
                        <a:lnTo>
                          <a:pt x="0" y="93"/>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95" name="Google Shape;1895;g3f95de07730_1_1266"/>
                  <p:cNvSpPr/>
                  <p:nvPr/>
                </p:nvSpPr>
                <p:spPr>
                  <a:xfrm>
                    <a:off x="3063238" y="4615738"/>
                    <a:ext cx="43971" cy="44921"/>
                  </a:xfrm>
                  <a:custGeom>
                    <a:avLst/>
                    <a:gdLst/>
                    <a:ahLst/>
                    <a:cxnLst/>
                    <a:rect l="l" t="t" r="r" b="b"/>
                    <a:pathLst>
                      <a:path w="832" h="853" extrusionOk="0">
                        <a:moveTo>
                          <a:pt x="416" y="10"/>
                        </a:moveTo>
                        <a:lnTo>
                          <a:pt x="438" y="15"/>
                        </a:lnTo>
                        <a:lnTo>
                          <a:pt x="459" y="22"/>
                        </a:lnTo>
                        <a:lnTo>
                          <a:pt x="479" y="30"/>
                        </a:lnTo>
                        <a:lnTo>
                          <a:pt x="500" y="37"/>
                        </a:lnTo>
                        <a:lnTo>
                          <a:pt x="520" y="47"/>
                        </a:lnTo>
                        <a:lnTo>
                          <a:pt x="540" y="57"/>
                        </a:lnTo>
                        <a:lnTo>
                          <a:pt x="559" y="68"/>
                        </a:lnTo>
                        <a:lnTo>
                          <a:pt x="577" y="79"/>
                        </a:lnTo>
                        <a:lnTo>
                          <a:pt x="596" y="93"/>
                        </a:lnTo>
                        <a:lnTo>
                          <a:pt x="614" y="106"/>
                        </a:lnTo>
                        <a:lnTo>
                          <a:pt x="632" y="119"/>
                        </a:lnTo>
                        <a:lnTo>
                          <a:pt x="648" y="135"/>
                        </a:lnTo>
                        <a:lnTo>
                          <a:pt x="665" y="149"/>
                        </a:lnTo>
                        <a:lnTo>
                          <a:pt x="680" y="166"/>
                        </a:lnTo>
                        <a:lnTo>
                          <a:pt x="696" y="182"/>
                        </a:lnTo>
                        <a:lnTo>
                          <a:pt x="710" y="199"/>
                        </a:lnTo>
                        <a:lnTo>
                          <a:pt x="724" y="217"/>
                        </a:lnTo>
                        <a:lnTo>
                          <a:pt x="737" y="235"/>
                        </a:lnTo>
                        <a:lnTo>
                          <a:pt x="749" y="253"/>
                        </a:lnTo>
                        <a:lnTo>
                          <a:pt x="760" y="272"/>
                        </a:lnTo>
                        <a:lnTo>
                          <a:pt x="771" y="292"/>
                        </a:lnTo>
                        <a:lnTo>
                          <a:pt x="781" y="311"/>
                        </a:lnTo>
                        <a:lnTo>
                          <a:pt x="791" y="332"/>
                        </a:lnTo>
                        <a:lnTo>
                          <a:pt x="799" y="352"/>
                        </a:lnTo>
                        <a:lnTo>
                          <a:pt x="807" y="373"/>
                        </a:lnTo>
                        <a:lnTo>
                          <a:pt x="813" y="393"/>
                        </a:lnTo>
                        <a:lnTo>
                          <a:pt x="819" y="414"/>
                        </a:lnTo>
                        <a:lnTo>
                          <a:pt x="823" y="435"/>
                        </a:lnTo>
                        <a:lnTo>
                          <a:pt x="827" y="457"/>
                        </a:lnTo>
                        <a:lnTo>
                          <a:pt x="830" y="478"/>
                        </a:lnTo>
                        <a:lnTo>
                          <a:pt x="831" y="499"/>
                        </a:lnTo>
                        <a:lnTo>
                          <a:pt x="832" y="522"/>
                        </a:lnTo>
                        <a:lnTo>
                          <a:pt x="831" y="543"/>
                        </a:lnTo>
                        <a:lnTo>
                          <a:pt x="830" y="564"/>
                        </a:lnTo>
                        <a:lnTo>
                          <a:pt x="827" y="584"/>
                        </a:lnTo>
                        <a:lnTo>
                          <a:pt x="823" y="604"/>
                        </a:lnTo>
                        <a:lnTo>
                          <a:pt x="819" y="622"/>
                        </a:lnTo>
                        <a:lnTo>
                          <a:pt x="813" y="641"/>
                        </a:lnTo>
                        <a:lnTo>
                          <a:pt x="807" y="659"/>
                        </a:lnTo>
                        <a:lnTo>
                          <a:pt x="799" y="676"/>
                        </a:lnTo>
                        <a:lnTo>
                          <a:pt x="791" y="692"/>
                        </a:lnTo>
                        <a:lnTo>
                          <a:pt x="781" y="708"/>
                        </a:lnTo>
                        <a:lnTo>
                          <a:pt x="771" y="723"/>
                        </a:lnTo>
                        <a:lnTo>
                          <a:pt x="760" y="738"/>
                        </a:lnTo>
                        <a:lnTo>
                          <a:pt x="749" y="751"/>
                        </a:lnTo>
                        <a:lnTo>
                          <a:pt x="737" y="764"/>
                        </a:lnTo>
                        <a:lnTo>
                          <a:pt x="724" y="777"/>
                        </a:lnTo>
                        <a:lnTo>
                          <a:pt x="710" y="788"/>
                        </a:lnTo>
                        <a:lnTo>
                          <a:pt x="696" y="798"/>
                        </a:lnTo>
                        <a:lnTo>
                          <a:pt x="680" y="808"/>
                        </a:lnTo>
                        <a:lnTo>
                          <a:pt x="665" y="816"/>
                        </a:lnTo>
                        <a:lnTo>
                          <a:pt x="648" y="824"/>
                        </a:lnTo>
                        <a:lnTo>
                          <a:pt x="632" y="831"/>
                        </a:lnTo>
                        <a:lnTo>
                          <a:pt x="614" y="837"/>
                        </a:lnTo>
                        <a:lnTo>
                          <a:pt x="596" y="842"/>
                        </a:lnTo>
                        <a:lnTo>
                          <a:pt x="577" y="846"/>
                        </a:lnTo>
                        <a:lnTo>
                          <a:pt x="559" y="850"/>
                        </a:lnTo>
                        <a:lnTo>
                          <a:pt x="540" y="852"/>
                        </a:lnTo>
                        <a:lnTo>
                          <a:pt x="520" y="853"/>
                        </a:lnTo>
                        <a:lnTo>
                          <a:pt x="500" y="853"/>
                        </a:lnTo>
                        <a:lnTo>
                          <a:pt x="479" y="852"/>
                        </a:lnTo>
                        <a:lnTo>
                          <a:pt x="459" y="850"/>
                        </a:lnTo>
                        <a:lnTo>
                          <a:pt x="438" y="846"/>
                        </a:lnTo>
                        <a:lnTo>
                          <a:pt x="416" y="842"/>
                        </a:lnTo>
                        <a:lnTo>
                          <a:pt x="395" y="836"/>
                        </a:lnTo>
                        <a:lnTo>
                          <a:pt x="374" y="830"/>
                        </a:lnTo>
                        <a:lnTo>
                          <a:pt x="353" y="823"/>
                        </a:lnTo>
                        <a:lnTo>
                          <a:pt x="333" y="814"/>
                        </a:lnTo>
                        <a:lnTo>
                          <a:pt x="312" y="805"/>
                        </a:lnTo>
                        <a:lnTo>
                          <a:pt x="293" y="795"/>
                        </a:lnTo>
                        <a:lnTo>
                          <a:pt x="273" y="784"/>
                        </a:lnTo>
                        <a:lnTo>
                          <a:pt x="254" y="772"/>
                        </a:lnTo>
                        <a:lnTo>
                          <a:pt x="235" y="760"/>
                        </a:lnTo>
                        <a:lnTo>
                          <a:pt x="217" y="747"/>
                        </a:lnTo>
                        <a:lnTo>
                          <a:pt x="201" y="732"/>
                        </a:lnTo>
                        <a:lnTo>
                          <a:pt x="183" y="718"/>
                        </a:lnTo>
                        <a:lnTo>
                          <a:pt x="168" y="702"/>
                        </a:lnTo>
                        <a:lnTo>
                          <a:pt x="151" y="687"/>
                        </a:lnTo>
                        <a:lnTo>
                          <a:pt x="137" y="670"/>
                        </a:lnTo>
                        <a:lnTo>
                          <a:pt x="122" y="652"/>
                        </a:lnTo>
                        <a:lnTo>
                          <a:pt x="108" y="635"/>
                        </a:lnTo>
                        <a:lnTo>
                          <a:pt x="96" y="617"/>
                        </a:lnTo>
                        <a:lnTo>
                          <a:pt x="82" y="598"/>
                        </a:lnTo>
                        <a:lnTo>
                          <a:pt x="71" y="579"/>
                        </a:lnTo>
                        <a:lnTo>
                          <a:pt x="60" y="560"/>
                        </a:lnTo>
                        <a:lnTo>
                          <a:pt x="50" y="540"/>
                        </a:lnTo>
                        <a:lnTo>
                          <a:pt x="41" y="521"/>
                        </a:lnTo>
                        <a:lnTo>
                          <a:pt x="32" y="499"/>
                        </a:lnTo>
                        <a:lnTo>
                          <a:pt x="26" y="479"/>
                        </a:lnTo>
                        <a:lnTo>
                          <a:pt x="19" y="458"/>
                        </a:lnTo>
                        <a:lnTo>
                          <a:pt x="14" y="437"/>
                        </a:lnTo>
                        <a:lnTo>
                          <a:pt x="8" y="416"/>
                        </a:lnTo>
                        <a:lnTo>
                          <a:pt x="5" y="395"/>
                        </a:lnTo>
                        <a:lnTo>
                          <a:pt x="2" y="373"/>
                        </a:lnTo>
                        <a:lnTo>
                          <a:pt x="0" y="352"/>
                        </a:lnTo>
                        <a:lnTo>
                          <a:pt x="0" y="331"/>
                        </a:lnTo>
                        <a:lnTo>
                          <a:pt x="0" y="309"/>
                        </a:lnTo>
                        <a:lnTo>
                          <a:pt x="2" y="289"/>
                        </a:lnTo>
                        <a:lnTo>
                          <a:pt x="5" y="268"/>
                        </a:lnTo>
                        <a:lnTo>
                          <a:pt x="8" y="249"/>
                        </a:lnTo>
                        <a:lnTo>
                          <a:pt x="14" y="230"/>
                        </a:lnTo>
                        <a:lnTo>
                          <a:pt x="19" y="211"/>
                        </a:lnTo>
                        <a:lnTo>
                          <a:pt x="26" y="194"/>
                        </a:lnTo>
                        <a:lnTo>
                          <a:pt x="32" y="176"/>
                        </a:lnTo>
                        <a:lnTo>
                          <a:pt x="41" y="159"/>
                        </a:lnTo>
                        <a:lnTo>
                          <a:pt x="50" y="144"/>
                        </a:lnTo>
                        <a:lnTo>
                          <a:pt x="60" y="128"/>
                        </a:lnTo>
                        <a:lnTo>
                          <a:pt x="71" y="114"/>
                        </a:lnTo>
                        <a:lnTo>
                          <a:pt x="82" y="100"/>
                        </a:lnTo>
                        <a:lnTo>
                          <a:pt x="96" y="87"/>
                        </a:lnTo>
                        <a:lnTo>
                          <a:pt x="108" y="76"/>
                        </a:lnTo>
                        <a:lnTo>
                          <a:pt x="122" y="64"/>
                        </a:lnTo>
                        <a:lnTo>
                          <a:pt x="137" y="54"/>
                        </a:lnTo>
                        <a:lnTo>
                          <a:pt x="151" y="44"/>
                        </a:lnTo>
                        <a:lnTo>
                          <a:pt x="168" y="35"/>
                        </a:lnTo>
                        <a:lnTo>
                          <a:pt x="183" y="27"/>
                        </a:lnTo>
                        <a:lnTo>
                          <a:pt x="201" y="21"/>
                        </a:lnTo>
                        <a:lnTo>
                          <a:pt x="217" y="15"/>
                        </a:lnTo>
                        <a:lnTo>
                          <a:pt x="235" y="10"/>
                        </a:lnTo>
                        <a:lnTo>
                          <a:pt x="254" y="5"/>
                        </a:lnTo>
                        <a:lnTo>
                          <a:pt x="273" y="2"/>
                        </a:lnTo>
                        <a:lnTo>
                          <a:pt x="293" y="1"/>
                        </a:lnTo>
                        <a:lnTo>
                          <a:pt x="312" y="0"/>
                        </a:lnTo>
                        <a:lnTo>
                          <a:pt x="333" y="0"/>
                        </a:lnTo>
                        <a:lnTo>
                          <a:pt x="353" y="1"/>
                        </a:lnTo>
                        <a:lnTo>
                          <a:pt x="374" y="2"/>
                        </a:lnTo>
                        <a:lnTo>
                          <a:pt x="395" y="5"/>
                        </a:lnTo>
                        <a:lnTo>
                          <a:pt x="416" y="10"/>
                        </a:lnTo>
                        <a:close/>
                      </a:path>
                    </a:pathLst>
                  </a:cu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96" name="Google Shape;1896;g3f95de07730_1_1266"/>
                  <p:cNvSpPr/>
                  <p:nvPr/>
                </p:nvSpPr>
                <p:spPr>
                  <a:xfrm>
                    <a:off x="3073994" y="4626493"/>
                    <a:ext cx="22461" cy="23410"/>
                  </a:xfrm>
                  <a:custGeom>
                    <a:avLst/>
                    <a:gdLst/>
                    <a:ahLst/>
                    <a:cxnLst/>
                    <a:rect l="l" t="t" r="r" b="b"/>
                    <a:pathLst>
                      <a:path w="429" h="440" extrusionOk="0">
                        <a:moveTo>
                          <a:pt x="214" y="5"/>
                        </a:moveTo>
                        <a:lnTo>
                          <a:pt x="236" y="12"/>
                        </a:lnTo>
                        <a:lnTo>
                          <a:pt x="257" y="20"/>
                        </a:lnTo>
                        <a:lnTo>
                          <a:pt x="278" y="30"/>
                        </a:lnTo>
                        <a:lnTo>
                          <a:pt x="297" y="42"/>
                        </a:lnTo>
                        <a:lnTo>
                          <a:pt x="316" y="55"/>
                        </a:lnTo>
                        <a:lnTo>
                          <a:pt x="333" y="70"/>
                        </a:lnTo>
                        <a:lnTo>
                          <a:pt x="350" y="86"/>
                        </a:lnTo>
                        <a:lnTo>
                          <a:pt x="365" y="103"/>
                        </a:lnTo>
                        <a:lnTo>
                          <a:pt x="379" y="122"/>
                        </a:lnTo>
                        <a:lnTo>
                          <a:pt x="392" y="141"/>
                        </a:lnTo>
                        <a:lnTo>
                          <a:pt x="402" y="162"/>
                        </a:lnTo>
                        <a:lnTo>
                          <a:pt x="411" y="182"/>
                        </a:lnTo>
                        <a:lnTo>
                          <a:pt x="419" y="204"/>
                        </a:lnTo>
                        <a:lnTo>
                          <a:pt x="424" y="225"/>
                        </a:lnTo>
                        <a:lnTo>
                          <a:pt x="427" y="247"/>
                        </a:lnTo>
                        <a:lnTo>
                          <a:pt x="429" y="269"/>
                        </a:lnTo>
                        <a:lnTo>
                          <a:pt x="427" y="280"/>
                        </a:lnTo>
                        <a:lnTo>
                          <a:pt x="427" y="291"/>
                        </a:lnTo>
                        <a:lnTo>
                          <a:pt x="425" y="301"/>
                        </a:lnTo>
                        <a:lnTo>
                          <a:pt x="424" y="311"/>
                        </a:lnTo>
                        <a:lnTo>
                          <a:pt x="421" y="321"/>
                        </a:lnTo>
                        <a:lnTo>
                          <a:pt x="419" y="331"/>
                        </a:lnTo>
                        <a:lnTo>
                          <a:pt x="415" y="340"/>
                        </a:lnTo>
                        <a:lnTo>
                          <a:pt x="411" y="349"/>
                        </a:lnTo>
                        <a:lnTo>
                          <a:pt x="402" y="365"/>
                        </a:lnTo>
                        <a:lnTo>
                          <a:pt x="392" y="381"/>
                        </a:lnTo>
                        <a:lnTo>
                          <a:pt x="379" y="394"/>
                        </a:lnTo>
                        <a:lnTo>
                          <a:pt x="365" y="406"/>
                        </a:lnTo>
                        <a:lnTo>
                          <a:pt x="350" y="416"/>
                        </a:lnTo>
                        <a:lnTo>
                          <a:pt x="333" y="425"/>
                        </a:lnTo>
                        <a:lnTo>
                          <a:pt x="316" y="432"/>
                        </a:lnTo>
                        <a:lnTo>
                          <a:pt x="297" y="436"/>
                        </a:lnTo>
                        <a:lnTo>
                          <a:pt x="278" y="440"/>
                        </a:lnTo>
                        <a:lnTo>
                          <a:pt x="257" y="440"/>
                        </a:lnTo>
                        <a:lnTo>
                          <a:pt x="236" y="439"/>
                        </a:lnTo>
                        <a:lnTo>
                          <a:pt x="214" y="434"/>
                        </a:lnTo>
                        <a:lnTo>
                          <a:pt x="192" y="429"/>
                        </a:lnTo>
                        <a:lnTo>
                          <a:pt x="170" y="420"/>
                        </a:lnTo>
                        <a:lnTo>
                          <a:pt x="151" y="410"/>
                        </a:lnTo>
                        <a:lnTo>
                          <a:pt x="131" y="399"/>
                        </a:lnTo>
                        <a:lnTo>
                          <a:pt x="112" y="385"/>
                        </a:lnTo>
                        <a:lnTo>
                          <a:pt x="94" y="370"/>
                        </a:lnTo>
                        <a:lnTo>
                          <a:pt x="77" y="354"/>
                        </a:lnTo>
                        <a:lnTo>
                          <a:pt x="62" y="337"/>
                        </a:lnTo>
                        <a:lnTo>
                          <a:pt x="49" y="318"/>
                        </a:lnTo>
                        <a:lnTo>
                          <a:pt x="36" y="299"/>
                        </a:lnTo>
                        <a:lnTo>
                          <a:pt x="25" y="279"/>
                        </a:lnTo>
                        <a:lnTo>
                          <a:pt x="16" y="258"/>
                        </a:lnTo>
                        <a:lnTo>
                          <a:pt x="10" y="237"/>
                        </a:lnTo>
                        <a:lnTo>
                          <a:pt x="4" y="215"/>
                        </a:lnTo>
                        <a:lnTo>
                          <a:pt x="1" y="193"/>
                        </a:lnTo>
                        <a:lnTo>
                          <a:pt x="0" y="170"/>
                        </a:lnTo>
                        <a:lnTo>
                          <a:pt x="0" y="159"/>
                        </a:lnTo>
                        <a:lnTo>
                          <a:pt x="1" y="149"/>
                        </a:lnTo>
                        <a:lnTo>
                          <a:pt x="2" y="138"/>
                        </a:lnTo>
                        <a:lnTo>
                          <a:pt x="4" y="128"/>
                        </a:lnTo>
                        <a:lnTo>
                          <a:pt x="7" y="118"/>
                        </a:lnTo>
                        <a:lnTo>
                          <a:pt x="10" y="109"/>
                        </a:lnTo>
                        <a:lnTo>
                          <a:pt x="13" y="101"/>
                        </a:lnTo>
                        <a:lnTo>
                          <a:pt x="16" y="92"/>
                        </a:lnTo>
                        <a:lnTo>
                          <a:pt x="25" y="75"/>
                        </a:lnTo>
                        <a:lnTo>
                          <a:pt x="36" y="60"/>
                        </a:lnTo>
                        <a:lnTo>
                          <a:pt x="49" y="46"/>
                        </a:lnTo>
                        <a:lnTo>
                          <a:pt x="62" y="34"/>
                        </a:lnTo>
                        <a:lnTo>
                          <a:pt x="77" y="23"/>
                        </a:lnTo>
                        <a:lnTo>
                          <a:pt x="94" y="15"/>
                        </a:lnTo>
                        <a:lnTo>
                          <a:pt x="112" y="9"/>
                        </a:lnTo>
                        <a:lnTo>
                          <a:pt x="131" y="3"/>
                        </a:lnTo>
                        <a:lnTo>
                          <a:pt x="151" y="1"/>
                        </a:lnTo>
                        <a:lnTo>
                          <a:pt x="170" y="0"/>
                        </a:lnTo>
                        <a:lnTo>
                          <a:pt x="192" y="2"/>
                        </a:lnTo>
                        <a:lnTo>
                          <a:pt x="214" y="5"/>
                        </a:lnTo>
                        <a:close/>
                      </a:path>
                    </a:pathLst>
                  </a:custGeom>
                  <a:solidFill>
                    <a:srgbClr val="B3B3B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897" name="Google Shape;1897;g3f95de07730_1_1266"/>
                  <p:cNvSpPr/>
                  <p:nvPr/>
                </p:nvSpPr>
                <p:spPr>
                  <a:xfrm>
                    <a:off x="3078106" y="4630922"/>
                    <a:ext cx="14236" cy="14552"/>
                  </a:xfrm>
                  <a:custGeom>
                    <a:avLst/>
                    <a:gdLst/>
                    <a:ahLst/>
                    <a:cxnLst/>
                    <a:rect l="l" t="t" r="r" b="b"/>
                    <a:pathLst>
                      <a:path w="271" h="278" extrusionOk="0">
                        <a:moveTo>
                          <a:pt x="135" y="3"/>
                        </a:moveTo>
                        <a:lnTo>
                          <a:pt x="149" y="7"/>
                        </a:lnTo>
                        <a:lnTo>
                          <a:pt x="162" y="12"/>
                        </a:lnTo>
                        <a:lnTo>
                          <a:pt x="176" y="18"/>
                        </a:lnTo>
                        <a:lnTo>
                          <a:pt x="188" y="26"/>
                        </a:lnTo>
                        <a:lnTo>
                          <a:pt x="200" y="34"/>
                        </a:lnTo>
                        <a:lnTo>
                          <a:pt x="211" y="44"/>
                        </a:lnTo>
                        <a:lnTo>
                          <a:pt x="221" y="54"/>
                        </a:lnTo>
                        <a:lnTo>
                          <a:pt x="231" y="65"/>
                        </a:lnTo>
                        <a:lnTo>
                          <a:pt x="240" y="76"/>
                        </a:lnTo>
                        <a:lnTo>
                          <a:pt x="248" y="89"/>
                        </a:lnTo>
                        <a:lnTo>
                          <a:pt x="254" y="102"/>
                        </a:lnTo>
                        <a:lnTo>
                          <a:pt x="260" y="115"/>
                        </a:lnTo>
                        <a:lnTo>
                          <a:pt x="264" y="128"/>
                        </a:lnTo>
                        <a:lnTo>
                          <a:pt x="268" y="143"/>
                        </a:lnTo>
                        <a:lnTo>
                          <a:pt x="270" y="156"/>
                        </a:lnTo>
                        <a:lnTo>
                          <a:pt x="271" y="170"/>
                        </a:lnTo>
                        <a:lnTo>
                          <a:pt x="270" y="184"/>
                        </a:lnTo>
                        <a:lnTo>
                          <a:pt x="268" y="197"/>
                        </a:lnTo>
                        <a:lnTo>
                          <a:pt x="264" y="209"/>
                        </a:lnTo>
                        <a:lnTo>
                          <a:pt x="260" y="220"/>
                        </a:lnTo>
                        <a:lnTo>
                          <a:pt x="254" y="231"/>
                        </a:lnTo>
                        <a:lnTo>
                          <a:pt x="248" y="241"/>
                        </a:lnTo>
                        <a:lnTo>
                          <a:pt x="240" y="249"/>
                        </a:lnTo>
                        <a:lnTo>
                          <a:pt x="231" y="257"/>
                        </a:lnTo>
                        <a:lnTo>
                          <a:pt x="221" y="263"/>
                        </a:lnTo>
                        <a:lnTo>
                          <a:pt x="211" y="269"/>
                        </a:lnTo>
                        <a:lnTo>
                          <a:pt x="200" y="273"/>
                        </a:lnTo>
                        <a:lnTo>
                          <a:pt x="188" y="277"/>
                        </a:lnTo>
                        <a:lnTo>
                          <a:pt x="176" y="278"/>
                        </a:lnTo>
                        <a:lnTo>
                          <a:pt x="162" y="278"/>
                        </a:lnTo>
                        <a:lnTo>
                          <a:pt x="149" y="277"/>
                        </a:lnTo>
                        <a:lnTo>
                          <a:pt x="135" y="275"/>
                        </a:lnTo>
                        <a:lnTo>
                          <a:pt x="121" y="271"/>
                        </a:lnTo>
                        <a:lnTo>
                          <a:pt x="107" y="266"/>
                        </a:lnTo>
                        <a:lnTo>
                          <a:pt x="95" y="259"/>
                        </a:lnTo>
                        <a:lnTo>
                          <a:pt x="83" y="252"/>
                        </a:lnTo>
                        <a:lnTo>
                          <a:pt x="70" y="243"/>
                        </a:lnTo>
                        <a:lnTo>
                          <a:pt x="59" y="235"/>
                        </a:lnTo>
                        <a:lnTo>
                          <a:pt x="48" y="224"/>
                        </a:lnTo>
                        <a:lnTo>
                          <a:pt x="39" y="212"/>
                        </a:lnTo>
                        <a:lnTo>
                          <a:pt x="31" y="201"/>
                        </a:lnTo>
                        <a:lnTo>
                          <a:pt x="23" y="189"/>
                        </a:lnTo>
                        <a:lnTo>
                          <a:pt x="15" y="176"/>
                        </a:lnTo>
                        <a:lnTo>
                          <a:pt x="9" y="164"/>
                        </a:lnTo>
                        <a:lnTo>
                          <a:pt x="5" y="149"/>
                        </a:lnTo>
                        <a:lnTo>
                          <a:pt x="2" y="136"/>
                        </a:lnTo>
                        <a:lnTo>
                          <a:pt x="0" y="122"/>
                        </a:lnTo>
                        <a:lnTo>
                          <a:pt x="0" y="108"/>
                        </a:lnTo>
                        <a:lnTo>
                          <a:pt x="0" y="94"/>
                        </a:lnTo>
                        <a:lnTo>
                          <a:pt x="2" y="81"/>
                        </a:lnTo>
                        <a:lnTo>
                          <a:pt x="5" y="68"/>
                        </a:lnTo>
                        <a:lnTo>
                          <a:pt x="9" y="57"/>
                        </a:lnTo>
                        <a:lnTo>
                          <a:pt x="15" y="47"/>
                        </a:lnTo>
                        <a:lnTo>
                          <a:pt x="23" y="37"/>
                        </a:lnTo>
                        <a:lnTo>
                          <a:pt x="31" y="28"/>
                        </a:lnTo>
                        <a:lnTo>
                          <a:pt x="39" y="21"/>
                        </a:lnTo>
                        <a:lnTo>
                          <a:pt x="48" y="14"/>
                        </a:lnTo>
                        <a:lnTo>
                          <a:pt x="59" y="9"/>
                        </a:lnTo>
                        <a:lnTo>
                          <a:pt x="70" y="5"/>
                        </a:lnTo>
                        <a:lnTo>
                          <a:pt x="83" y="2"/>
                        </a:lnTo>
                        <a:lnTo>
                          <a:pt x="95" y="0"/>
                        </a:lnTo>
                        <a:lnTo>
                          <a:pt x="107" y="0"/>
                        </a:lnTo>
                        <a:lnTo>
                          <a:pt x="121" y="1"/>
                        </a:lnTo>
                        <a:lnTo>
                          <a:pt x="135" y="3"/>
                        </a:lnTo>
                        <a:close/>
                      </a:path>
                    </a:pathLst>
                  </a:custGeom>
                  <a:gradFill>
                    <a:gsLst>
                      <a:gs pos="0">
                        <a:srgbClr val="006994"/>
                      </a:gs>
                      <a:gs pos="50000">
                        <a:srgbClr val="009AD7"/>
                      </a:gs>
                      <a:gs pos="100000">
                        <a:srgbClr val="00B8FF"/>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nvGrpSpPr>
                <p:cNvPr id="1898" name="Google Shape;1898;g3f95de07730_1_1266"/>
                <p:cNvGrpSpPr/>
                <p:nvPr/>
              </p:nvGrpSpPr>
              <p:grpSpPr>
                <a:xfrm>
                  <a:off x="2939904" y="4690008"/>
                  <a:ext cx="145198" cy="153849"/>
                  <a:chOff x="5967413" y="-3362325"/>
                  <a:chExt cx="1133478" cy="1454150"/>
                </a:xfrm>
              </p:grpSpPr>
              <p:sp>
                <p:nvSpPr>
                  <p:cNvPr id="1899" name="Google Shape;1899;g3f95de07730_1_126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00" name="Google Shape;1900;g3f95de07730_1_126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01" name="Google Shape;1901;g3f95de07730_1_126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02" name="Google Shape;1902;g3f95de07730_1_126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03" name="Google Shape;1903;g3f95de07730_1_126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04" name="Google Shape;1904;g3f95de07730_1_126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05" name="Google Shape;1905;g3f95de07730_1_126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06" name="Google Shape;1906;g3f95de07730_1_126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07" name="Google Shape;1907;g3f95de07730_1_126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08" name="Google Shape;1908;g3f95de07730_1_126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09" name="Google Shape;1909;g3f95de07730_1_126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10" name="Google Shape;1910;g3f95de07730_1_126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11" name="Google Shape;1911;g3f95de07730_1_126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12" name="Google Shape;1912;g3f95de07730_1_126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sp>
            <p:nvSpPr>
              <p:cNvPr id="1913" name="Google Shape;1913;g3f95de07730_1_1266"/>
              <p:cNvSpPr txBox="1"/>
              <p:nvPr/>
            </p:nvSpPr>
            <p:spPr>
              <a:xfrm>
                <a:off x="2866069" y="5491069"/>
                <a:ext cx="92700" cy="52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400"/>
                  <a:buFont typeface="Arial"/>
                  <a:buNone/>
                </a:pPr>
                <a:r>
                  <a:rPr lang="en-US" sz="400" b="1" i="0" u="none" strike="noStrike" cap="none">
                    <a:solidFill>
                      <a:srgbClr val="3F3F3F"/>
                    </a:solidFill>
                    <a:latin typeface="Roboto"/>
                    <a:ea typeface="Roboto"/>
                    <a:cs typeface="Roboto"/>
                    <a:sym typeface="Roboto"/>
                  </a:rPr>
                  <a:t>WN</a:t>
                </a:r>
                <a:endParaRPr sz="400" b="1" i="0" u="none" strike="noStrike" cap="none">
                  <a:solidFill>
                    <a:srgbClr val="3F3F3F"/>
                  </a:solidFill>
                  <a:latin typeface="Roboto"/>
                  <a:ea typeface="Roboto"/>
                  <a:cs typeface="Roboto"/>
                  <a:sym typeface="Roboto"/>
                </a:endParaRPr>
              </a:p>
            </p:txBody>
          </p:sp>
        </p:grpSp>
        <p:grpSp>
          <p:nvGrpSpPr>
            <p:cNvPr id="1914" name="Google Shape;1914;g3f95de07730_1_1266"/>
            <p:cNvGrpSpPr/>
            <p:nvPr/>
          </p:nvGrpSpPr>
          <p:grpSpPr>
            <a:xfrm>
              <a:off x="3381495" y="4509068"/>
              <a:ext cx="376733" cy="448726"/>
              <a:chOff x="2700762" y="5095926"/>
              <a:chExt cx="376733" cy="448726"/>
            </a:xfrm>
          </p:grpSpPr>
          <p:grpSp>
            <p:nvGrpSpPr>
              <p:cNvPr id="1915" name="Google Shape;1915;g3f95de07730_1_1266"/>
              <p:cNvGrpSpPr/>
              <p:nvPr/>
            </p:nvGrpSpPr>
            <p:grpSpPr>
              <a:xfrm>
                <a:off x="2700762" y="5095926"/>
                <a:ext cx="376733" cy="448726"/>
                <a:chOff x="2939904" y="4395131"/>
                <a:chExt cx="376733" cy="448726"/>
              </a:xfrm>
            </p:grpSpPr>
            <p:grpSp>
              <p:nvGrpSpPr>
                <p:cNvPr id="1916" name="Google Shape;1916;g3f95de07730_1_1266"/>
                <p:cNvGrpSpPr/>
                <p:nvPr/>
              </p:nvGrpSpPr>
              <p:grpSpPr>
                <a:xfrm>
                  <a:off x="3040778" y="4395131"/>
                  <a:ext cx="275858" cy="376772"/>
                  <a:chOff x="3040778" y="4395131"/>
                  <a:chExt cx="275858" cy="376772"/>
                </a:xfrm>
              </p:grpSpPr>
              <p:sp>
                <p:nvSpPr>
                  <p:cNvPr id="1917" name="Google Shape;1917;g3f95de07730_1_1266"/>
                  <p:cNvSpPr/>
                  <p:nvPr/>
                </p:nvSpPr>
                <p:spPr>
                  <a:xfrm>
                    <a:off x="3040778" y="4395131"/>
                    <a:ext cx="275858" cy="376772"/>
                  </a:xfrm>
                  <a:custGeom>
                    <a:avLst/>
                    <a:gdLst/>
                    <a:ahLst/>
                    <a:cxnLst/>
                    <a:rect l="l" t="t" r="r" b="b"/>
                    <a:pathLst>
                      <a:path w="5235" h="7147" extrusionOk="0">
                        <a:moveTo>
                          <a:pt x="3501" y="0"/>
                        </a:moveTo>
                        <a:lnTo>
                          <a:pt x="0" y="2049"/>
                        </a:lnTo>
                        <a:lnTo>
                          <a:pt x="16" y="6095"/>
                        </a:lnTo>
                        <a:lnTo>
                          <a:pt x="1785" y="7147"/>
                        </a:lnTo>
                        <a:lnTo>
                          <a:pt x="5199" y="5045"/>
                        </a:lnTo>
                        <a:lnTo>
                          <a:pt x="5235" y="981"/>
                        </a:lnTo>
                        <a:lnTo>
                          <a:pt x="3501" y="0"/>
                        </a:lnTo>
                        <a:close/>
                      </a:path>
                    </a:pathLst>
                  </a:custGeom>
                  <a:solidFill>
                    <a:srgbClr val="9999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18" name="Google Shape;1918;g3f95de07730_1_1266"/>
                  <p:cNvSpPr/>
                  <p:nvPr/>
                </p:nvSpPr>
                <p:spPr>
                  <a:xfrm>
                    <a:off x="3134100" y="4449542"/>
                    <a:ext cx="182527" cy="322351"/>
                  </a:xfrm>
                  <a:custGeom>
                    <a:avLst/>
                    <a:gdLst/>
                    <a:ahLst/>
                    <a:cxnLst/>
                    <a:rect l="l" t="t" r="r" b="b"/>
                    <a:pathLst>
                      <a:path w="3464" h="6117" extrusionOk="0">
                        <a:moveTo>
                          <a:pt x="0" y="6107"/>
                        </a:moveTo>
                        <a:lnTo>
                          <a:pt x="15" y="6117"/>
                        </a:lnTo>
                        <a:lnTo>
                          <a:pt x="3429" y="4015"/>
                        </a:lnTo>
                        <a:lnTo>
                          <a:pt x="3464" y="0"/>
                        </a:lnTo>
                        <a:lnTo>
                          <a:pt x="15" y="2053"/>
                        </a:lnTo>
                        <a:lnTo>
                          <a:pt x="0" y="6107"/>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19" name="Google Shape;1919;g3f95de07730_1_1266"/>
                  <p:cNvSpPr/>
                  <p:nvPr/>
                </p:nvSpPr>
                <p:spPr>
                  <a:xfrm>
                    <a:off x="3040778" y="4495729"/>
                    <a:ext cx="108821" cy="276174"/>
                  </a:xfrm>
                  <a:custGeom>
                    <a:avLst/>
                    <a:gdLst/>
                    <a:ahLst/>
                    <a:cxnLst/>
                    <a:rect l="l" t="t" r="r" b="b"/>
                    <a:pathLst>
                      <a:path w="2066" h="5241" extrusionOk="0">
                        <a:moveTo>
                          <a:pt x="244" y="0"/>
                        </a:moveTo>
                        <a:lnTo>
                          <a:pt x="0" y="143"/>
                        </a:lnTo>
                        <a:lnTo>
                          <a:pt x="16" y="4189"/>
                        </a:lnTo>
                        <a:lnTo>
                          <a:pt x="1785" y="5241"/>
                        </a:lnTo>
                        <a:lnTo>
                          <a:pt x="2066" y="5068"/>
                        </a:lnTo>
                        <a:lnTo>
                          <a:pt x="2066" y="984"/>
                        </a:lnTo>
                        <a:lnTo>
                          <a:pt x="244" y="0"/>
                        </a:lnTo>
                        <a:close/>
                      </a:path>
                    </a:pathLst>
                  </a:custGeom>
                  <a:gradFill>
                    <a:gsLst>
                      <a:gs pos="0">
                        <a:srgbClr val="F2F2F2"/>
                      </a:gs>
                      <a:gs pos="35000">
                        <a:srgbClr val="C3C3C3"/>
                      </a:gs>
                      <a:gs pos="40000">
                        <a:srgbClr val="F2F2F2"/>
                      </a:gs>
                      <a:gs pos="100000">
                        <a:srgbClr val="D8D8D8"/>
                      </a:gs>
                    </a:gsLst>
                    <a:lin ang="360000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20" name="Google Shape;1920;g3f95de07730_1_1266"/>
                  <p:cNvSpPr/>
                  <p:nvPr/>
                </p:nvSpPr>
                <p:spPr>
                  <a:xfrm>
                    <a:off x="3040778" y="4503005"/>
                    <a:ext cx="94905" cy="268890"/>
                  </a:xfrm>
                  <a:custGeom>
                    <a:avLst/>
                    <a:gdLst/>
                    <a:ahLst/>
                    <a:cxnLst/>
                    <a:rect l="l" t="t" r="r" b="b"/>
                    <a:pathLst>
                      <a:path w="1803" h="5103" extrusionOk="0">
                        <a:moveTo>
                          <a:pt x="10" y="0"/>
                        </a:moveTo>
                        <a:lnTo>
                          <a:pt x="0" y="5"/>
                        </a:lnTo>
                        <a:lnTo>
                          <a:pt x="16" y="4051"/>
                        </a:lnTo>
                        <a:lnTo>
                          <a:pt x="1785" y="5103"/>
                        </a:lnTo>
                        <a:lnTo>
                          <a:pt x="1786" y="5102"/>
                        </a:lnTo>
                        <a:lnTo>
                          <a:pt x="1803" y="1039"/>
                        </a:lnTo>
                        <a:lnTo>
                          <a:pt x="10" y="0"/>
                        </a:lnTo>
                        <a:close/>
                      </a:path>
                    </a:pathLst>
                  </a:custGeom>
                  <a:gradFill>
                    <a:gsLst>
                      <a:gs pos="0">
                        <a:srgbClr val="7F7F7F"/>
                      </a:gs>
                      <a:gs pos="12000">
                        <a:srgbClr val="7F7F7F"/>
                      </a:gs>
                      <a:gs pos="100000">
                        <a:srgbClr val="A5A5A5"/>
                      </a:gs>
                    </a:gsLst>
                    <a:lin ang="7200017"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21" name="Google Shape;1921;g3f95de07730_1_1266"/>
                  <p:cNvSpPr/>
                  <p:nvPr/>
                </p:nvSpPr>
                <p:spPr>
                  <a:xfrm>
                    <a:off x="3052483" y="4534955"/>
                    <a:ext cx="68332" cy="58208"/>
                  </a:xfrm>
                  <a:custGeom>
                    <a:avLst/>
                    <a:gdLst/>
                    <a:ahLst/>
                    <a:cxnLst/>
                    <a:rect l="l" t="t" r="r" b="b"/>
                    <a:pathLst>
                      <a:path w="1296" h="1102" extrusionOk="0">
                        <a:moveTo>
                          <a:pt x="0" y="0"/>
                        </a:moveTo>
                        <a:lnTo>
                          <a:pt x="1296" y="752"/>
                        </a:lnTo>
                        <a:lnTo>
                          <a:pt x="1296" y="1102"/>
                        </a:lnTo>
                        <a:lnTo>
                          <a:pt x="0" y="351"/>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22" name="Google Shape;1922;g3f95de07730_1_1266"/>
                  <p:cNvSpPr/>
                  <p:nvPr/>
                </p:nvSpPr>
                <p:spPr>
                  <a:xfrm>
                    <a:off x="3102782" y="4589999"/>
                    <a:ext cx="18032" cy="15501"/>
                  </a:xfrm>
                  <a:custGeom>
                    <a:avLst/>
                    <a:gdLst/>
                    <a:ahLst/>
                    <a:cxnLst/>
                    <a:rect l="l" t="t" r="r" b="b"/>
                    <a:pathLst>
                      <a:path w="346" h="294" extrusionOk="0">
                        <a:moveTo>
                          <a:pt x="0" y="0"/>
                        </a:moveTo>
                        <a:lnTo>
                          <a:pt x="346" y="201"/>
                        </a:lnTo>
                        <a:lnTo>
                          <a:pt x="346" y="294"/>
                        </a:lnTo>
                        <a:lnTo>
                          <a:pt x="0" y="93"/>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23" name="Google Shape;1923;g3f95de07730_1_1266"/>
                  <p:cNvSpPr/>
                  <p:nvPr/>
                </p:nvSpPr>
                <p:spPr>
                  <a:xfrm>
                    <a:off x="3063238" y="4615738"/>
                    <a:ext cx="43971" cy="44921"/>
                  </a:xfrm>
                  <a:custGeom>
                    <a:avLst/>
                    <a:gdLst/>
                    <a:ahLst/>
                    <a:cxnLst/>
                    <a:rect l="l" t="t" r="r" b="b"/>
                    <a:pathLst>
                      <a:path w="832" h="853" extrusionOk="0">
                        <a:moveTo>
                          <a:pt x="416" y="10"/>
                        </a:moveTo>
                        <a:lnTo>
                          <a:pt x="438" y="15"/>
                        </a:lnTo>
                        <a:lnTo>
                          <a:pt x="459" y="22"/>
                        </a:lnTo>
                        <a:lnTo>
                          <a:pt x="479" y="30"/>
                        </a:lnTo>
                        <a:lnTo>
                          <a:pt x="500" y="37"/>
                        </a:lnTo>
                        <a:lnTo>
                          <a:pt x="520" y="47"/>
                        </a:lnTo>
                        <a:lnTo>
                          <a:pt x="540" y="57"/>
                        </a:lnTo>
                        <a:lnTo>
                          <a:pt x="559" y="68"/>
                        </a:lnTo>
                        <a:lnTo>
                          <a:pt x="577" y="79"/>
                        </a:lnTo>
                        <a:lnTo>
                          <a:pt x="596" y="93"/>
                        </a:lnTo>
                        <a:lnTo>
                          <a:pt x="614" y="106"/>
                        </a:lnTo>
                        <a:lnTo>
                          <a:pt x="632" y="119"/>
                        </a:lnTo>
                        <a:lnTo>
                          <a:pt x="648" y="135"/>
                        </a:lnTo>
                        <a:lnTo>
                          <a:pt x="665" y="149"/>
                        </a:lnTo>
                        <a:lnTo>
                          <a:pt x="680" y="166"/>
                        </a:lnTo>
                        <a:lnTo>
                          <a:pt x="696" y="182"/>
                        </a:lnTo>
                        <a:lnTo>
                          <a:pt x="710" y="199"/>
                        </a:lnTo>
                        <a:lnTo>
                          <a:pt x="724" y="217"/>
                        </a:lnTo>
                        <a:lnTo>
                          <a:pt x="737" y="235"/>
                        </a:lnTo>
                        <a:lnTo>
                          <a:pt x="749" y="253"/>
                        </a:lnTo>
                        <a:lnTo>
                          <a:pt x="760" y="272"/>
                        </a:lnTo>
                        <a:lnTo>
                          <a:pt x="771" y="292"/>
                        </a:lnTo>
                        <a:lnTo>
                          <a:pt x="781" y="311"/>
                        </a:lnTo>
                        <a:lnTo>
                          <a:pt x="791" y="332"/>
                        </a:lnTo>
                        <a:lnTo>
                          <a:pt x="799" y="352"/>
                        </a:lnTo>
                        <a:lnTo>
                          <a:pt x="807" y="373"/>
                        </a:lnTo>
                        <a:lnTo>
                          <a:pt x="813" y="393"/>
                        </a:lnTo>
                        <a:lnTo>
                          <a:pt x="819" y="414"/>
                        </a:lnTo>
                        <a:lnTo>
                          <a:pt x="823" y="435"/>
                        </a:lnTo>
                        <a:lnTo>
                          <a:pt x="827" y="457"/>
                        </a:lnTo>
                        <a:lnTo>
                          <a:pt x="830" y="478"/>
                        </a:lnTo>
                        <a:lnTo>
                          <a:pt x="831" y="499"/>
                        </a:lnTo>
                        <a:lnTo>
                          <a:pt x="832" y="522"/>
                        </a:lnTo>
                        <a:lnTo>
                          <a:pt x="831" y="543"/>
                        </a:lnTo>
                        <a:lnTo>
                          <a:pt x="830" y="564"/>
                        </a:lnTo>
                        <a:lnTo>
                          <a:pt x="827" y="584"/>
                        </a:lnTo>
                        <a:lnTo>
                          <a:pt x="823" y="604"/>
                        </a:lnTo>
                        <a:lnTo>
                          <a:pt x="819" y="622"/>
                        </a:lnTo>
                        <a:lnTo>
                          <a:pt x="813" y="641"/>
                        </a:lnTo>
                        <a:lnTo>
                          <a:pt x="807" y="659"/>
                        </a:lnTo>
                        <a:lnTo>
                          <a:pt x="799" y="676"/>
                        </a:lnTo>
                        <a:lnTo>
                          <a:pt x="791" y="692"/>
                        </a:lnTo>
                        <a:lnTo>
                          <a:pt x="781" y="708"/>
                        </a:lnTo>
                        <a:lnTo>
                          <a:pt x="771" y="723"/>
                        </a:lnTo>
                        <a:lnTo>
                          <a:pt x="760" y="738"/>
                        </a:lnTo>
                        <a:lnTo>
                          <a:pt x="749" y="751"/>
                        </a:lnTo>
                        <a:lnTo>
                          <a:pt x="737" y="764"/>
                        </a:lnTo>
                        <a:lnTo>
                          <a:pt x="724" y="777"/>
                        </a:lnTo>
                        <a:lnTo>
                          <a:pt x="710" y="788"/>
                        </a:lnTo>
                        <a:lnTo>
                          <a:pt x="696" y="798"/>
                        </a:lnTo>
                        <a:lnTo>
                          <a:pt x="680" y="808"/>
                        </a:lnTo>
                        <a:lnTo>
                          <a:pt x="665" y="816"/>
                        </a:lnTo>
                        <a:lnTo>
                          <a:pt x="648" y="824"/>
                        </a:lnTo>
                        <a:lnTo>
                          <a:pt x="632" y="831"/>
                        </a:lnTo>
                        <a:lnTo>
                          <a:pt x="614" y="837"/>
                        </a:lnTo>
                        <a:lnTo>
                          <a:pt x="596" y="842"/>
                        </a:lnTo>
                        <a:lnTo>
                          <a:pt x="577" y="846"/>
                        </a:lnTo>
                        <a:lnTo>
                          <a:pt x="559" y="850"/>
                        </a:lnTo>
                        <a:lnTo>
                          <a:pt x="540" y="852"/>
                        </a:lnTo>
                        <a:lnTo>
                          <a:pt x="520" y="853"/>
                        </a:lnTo>
                        <a:lnTo>
                          <a:pt x="500" y="853"/>
                        </a:lnTo>
                        <a:lnTo>
                          <a:pt x="479" y="852"/>
                        </a:lnTo>
                        <a:lnTo>
                          <a:pt x="459" y="850"/>
                        </a:lnTo>
                        <a:lnTo>
                          <a:pt x="438" y="846"/>
                        </a:lnTo>
                        <a:lnTo>
                          <a:pt x="416" y="842"/>
                        </a:lnTo>
                        <a:lnTo>
                          <a:pt x="395" y="836"/>
                        </a:lnTo>
                        <a:lnTo>
                          <a:pt x="374" y="830"/>
                        </a:lnTo>
                        <a:lnTo>
                          <a:pt x="353" y="823"/>
                        </a:lnTo>
                        <a:lnTo>
                          <a:pt x="333" y="814"/>
                        </a:lnTo>
                        <a:lnTo>
                          <a:pt x="312" y="805"/>
                        </a:lnTo>
                        <a:lnTo>
                          <a:pt x="293" y="795"/>
                        </a:lnTo>
                        <a:lnTo>
                          <a:pt x="273" y="784"/>
                        </a:lnTo>
                        <a:lnTo>
                          <a:pt x="254" y="772"/>
                        </a:lnTo>
                        <a:lnTo>
                          <a:pt x="235" y="760"/>
                        </a:lnTo>
                        <a:lnTo>
                          <a:pt x="217" y="747"/>
                        </a:lnTo>
                        <a:lnTo>
                          <a:pt x="201" y="732"/>
                        </a:lnTo>
                        <a:lnTo>
                          <a:pt x="183" y="718"/>
                        </a:lnTo>
                        <a:lnTo>
                          <a:pt x="168" y="702"/>
                        </a:lnTo>
                        <a:lnTo>
                          <a:pt x="151" y="687"/>
                        </a:lnTo>
                        <a:lnTo>
                          <a:pt x="137" y="670"/>
                        </a:lnTo>
                        <a:lnTo>
                          <a:pt x="122" y="652"/>
                        </a:lnTo>
                        <a:lnTo>
                          <a:pt x="108" y="635"/>
                        </a:lnTo>
                        <a:lnTo>
                          <a:pt x="96" y="617"/>
                        </a:lnTo>
                        <a:lnTo>
                          <a:pt x="82" y="598"/>
                        </a:lnTo>
                        <a:lnTo>
                          <a:pt x="71" y="579"/>
                        </a:lnTo>
                        <a:lnTo>
                          <a:pt x="60" y="560"/>
                        </a:lnTo>
                        <a:lnTo>
                          <a:pt x="50" y="540"/>
                        </a:lnTo>
                        <a:lnTo>
                          <a:pt x="41" y="521"/>
                        </a:lnTo>
                        <a:lnTo>
                          <a:pt x="32" y="499"/>
                        </a:lnTo>
                        <a:lnTo>
                          <a:pt x="26" y="479"/>
                        </a:lnTo>
                        <a:lnTo>
                          <a:pt x="19" y="458"/>
                        </a:lnTo>
                        <a:lnTo>
                          <a:pt x="14" y="437"/>
                        </a:lnTo>
                        <a:lnTo>
                          <a:pt x="8" y="416"/>
                        </a:lnTo>
                        <a:lnTo>
                          <a:pt x="5" y="395"/>
                        </a:lnTo>
                        <a:lnTo>
                          <a:pt x="2" y="373"/>
                        </a:lnTo>
                        <a:lnTo>
                          <a:pt x="0" y="352"/>
                        </a:lnTo>
                        <a:lnTo>
                          <a:pt x="0" y="331"/>
                        </a:lnTo>
                        <a:lnTo>
                          <a:pt x="0" y="309"/>
                        </a:lnTo>
                        <a:lnTo>
                          <a:pt x="2" y="289"/>
                        </a:lnTo>
                        <a:lnTo>
                          <a:pt x="5" y="268"/>
                        </a:lnTo>
                        <a:lnTo>
                          <a:pt x="8" y="249"/>
                        </a:lnTo>
                        <a:lnTo>
                          <a:pt x="14" y="230"/>
                        </a:lnTo>
                        <a:lnTo>
                          <a:pt x="19" y="211"/>
                        </a:lnTo>
                        <a:lnTo>
                          <a:pt x="26" y="194"/>
                        </a:lnTo>
                        <a:lnTo>
                          <a:pt x="32" y="176"/>
                        </a:lnTo>
                        <a:lnTo>
                          <a:pt x="41" y="159"/>
                        </a:lnTo>
                        <a:lnTo>
                          <a:pt x="50" y="144"/>
                        </a:lnTo>
                        <a:lnTo>
                          <a:pt x="60" y="128"/>
                        </a:lnTo>
                        <a:lnTo>
                          <a:pt x="71" y="114"/>
                        </a:lnTo>
                        <a:lnTo>
                          <a:pt x="82" y="100"/>
                        </a:lnTo>
                        <a:lnTo>
                          <a:pt x="96" y="87"/>
                        </a:lnTo>
                        <a:lnTo>
                          <a:pt x="108" y="76"/>
                        </a:lnTo>
                        <a:lnTo>
                          <a:pt x="122" y="64"/>
                        </a:lnTo>
                        <a:lnTo>
                          <a:pt x="137" y="54"/>
                        </a:lnTo>
                        <a:lnTo>
                          <a:pt x="151" y="44"/>
                        </a:lnTo>
                        <a:lnTo>
                          <a:pt x="168" y="35"/>
                        </a:lnTo>
                        <a:lnTo>
                          <a:pt x="183" y="27"/>
                        </a:lnTo>
                        <a:lnTo>
                          <a:pt x="201" y="21"/>
                        </a:lnTo>
                        <a:lnTo>
                          <a:pt x="217" y="15"/>
                        </a:lnTo>
                        <a:lnTo>
                          <a:pt x="235" y="10"/>
                        </a:lnTo>
                        <a:lnTo>
                          <a:pt x="254" y="5"/>
                        </a:lnTo>
                        <a:lnTo>
                          <a:pt x="273" y="2"/>
                        </a:lnTo>
                        <a:lnTo>
                          <a:pt x="293" y="1"/>
                        </a:lnTo>
                        <a:lnTo>
                          <a:pt x="312" y="0"/>
                        </a:lnTo>
                        <a:lnTo>
                          <a:pt x="333" y="0"/>
                        </a:lnTo>
                        <a:lnTo>
                          <a:pt x="353" y="1"/>
                        </a:lnTo>
                        <a:lnTo>
                          <a:pt x="374" y="2"/>
                        </a:lnTo>
                        <a:lnTo>
                          <a:pt x="395" y="5"/>
                        </a:lnTo>
                        <a:lnTo>
                          <a:pt x="416" y="10"/>
                        </a:lnTo>
                        <a:close/>
                      </a:path>
                    </a:pathLst>
                  </a:cu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24" name="Google Shape;1924;g3f95de07730_1_1266"/>
                  <p:cNvSpPr/>
                  <p:nvPr/>
                </p:nvSpPr>
                <p:spPr>
                  <a:xfrm>
                    <a:off x="3073994" y="4626493"/>
                    <a:ext cx="22461" cy="23410"/>
                  </a:xfrm>
                  <a:custGeom>
                    <a:avLst/>
                    <a:gdLst/>
                    <a:ahLst/>
                    <a:cxnLst/>
                    <a:rect l="l" t="t" r="r" b="b"/>
                    <a:pathLst>
                      <a:path w="429" h="440" extrusionOk="0">
                        <a:moveTo>
                          <a:pt x="214" y="5"/>
                        </a:moveTo>
                        <a:lnTo>
                          <a:pt x="236" y="12"/>
                        </a:lnTo>
                        <a:lnTo>
                          <a:pt x="257" y="20"/>
                        </a:lnTo>
                        <a:lnTo>
                          <a:pt x="278" y="30"/>
                        </a:lnTo>
                        <a:lnTo>
                          <a:pt x="297" y="42"/>
                        </a:lnTo>
                        <a:lnTo>
                          <a:pt x="316" y="55"/>
                        </a:lnTo>
                        <a:lnTo>
                          <a:pt x="333" y="70"/>
                        </a:lnTo>
                        <a:lnTo>
                          <a:pt x="350" y="86"/>
                        </a:lnTo>
                        <a:lnTo>
                          <a:pt x="365" y="103"/>
                        </a:lnTo>
                        <a:lnTo>
                          <a:pt x="379" y="122"/>
                        </a:lnTo>
                        <a:lnTo>
                          <a:pt x="392" y="141"/>
                        </a:lnTo>
                        <a:lnTo>
                          <a:pt x="402" y="162"/>
                        </a:lnTo>
                        <a:lnTo>
                          <a:pt x="411" y="182"/>
                        </a:lnTo>
                        <a:lnTo>
                          <a:pt x="419" y="204"/>
                        </a:lnTo>
                        <a:lnTo>
                          <a:pt x="424" y="225"/>
                        </a:lnTo>
                        <a:lnTo>
                          <a:pt x="427" y="247"/>
                        </a:lnTo>
                        <a:lnTo>
                          <a:pt x="429" y="269"/>
                        </a:lnTo>
                        <a:lnTo>
                          <a:pt x="427" y="280"/>
                        </a:lnTo>
                        <a:lnTo>
                          <a:pt x="427" y="291"/>
                        </a:lnTo>
                        <a:lnTo>
                          <a:pt x="425" y="301"/>
                        </a:lnTo>
                        <a:lnTo>
                          <a:pt x="424" y="311"/>
                        </a:lnTo>
                        <a:lnTo>
                          <a:pt x="421" y="321"/>
                        </a:lnTo>
                        <a:lnTo>
                          <a:pt x="419" y="331"/>
                        </a:lnTo>
                        <a:lnTo>
                          <a:pt x="415" y="340"/>
                        </a:lnTo>
                        <a:lnTo>
                          <a:pt x="411" y="349"/>
                        </a:lnTo>
                        <a:lnTo>
                          <a:pt x="402" y="365"/>
                        </a:lnTo>
                        <a:lnTo>
                          <a:pt x="392" y="381"/>
                        </a:lnTo>
                        <a:lnTo>
                          <a:pt x="379" y="394"/>
                        </a:lnTo>
                        <a:lnTo>
                          <a:pt x="365" y="406"/>
                        </a:lnTo>
                        <a:lnTo>
                          <a:pt x="350" y="416"/>
                        </a:lnTo>
                        <a:lnTo>
                          <a:pt x="333" y="425"/>
                        </a:lnTo>
                        <a:lnTo>
                          <a:pt x="316" y="432"/>
                        </a:lnTo>
                        <a:lnTo>
                          <a:pt x="297" y="436"/>
                        </a:lnTo>
                        <a:lnTo>
                          <a:pt x="278" y="440"/>
                        </a:lnTo>
                        <a:lnTo>
                          <a:pt x="257" y="440"/>
                        </a:lnTo>
                        <a:lnTo>
                          <a:pt x="236" y="439"/>
                        </a:lnTo>
                        <a:lnTo>
                          <a:pt x="214" y="434"/>
                        </a:lnTo>
                        <a:lnTo>
                          <a:pt x="192" y="429"/>
                        </a:lnTo>
                        <a:lnTo>
                          <a:pt x="170" y="420"/>
                        </a:lnTo>
                        <a:lnTo>
                          <a:pt x="151" y="410"/>
                        </a:lnTo>
                        <a:lnTo>
                          <a:pt x="131" y="399"/>
                        </a:lnTo>
                        <a:lnTo>
                          <a:pt x="112" y="385"/>
                        </a:lnTo>
                        <a:lnTo>
                          <a:pt x="94" y="370"/>
                        </a:lnTo>
                        <a:lnTo>
                          <a:pt x="77" y="354"/>
                        </a:lnTo>
                        <a:lnTo>
                          <a:pt x="62" y="337"/>
                        </a:lnTo>
                        <a:lnTo>
                          <a:pt x="49" y="318"/>
                        </a:lnTo>
                        <a:lnTo>
                          <a:pt x="36" y="299"/>
                        </a:lnTo>
                        <a:lnTo>
                          <a:pt x="25" y="279"/>
                        </a:lnTo>
                        <a:lnTo>
                          <a:pt x="16" y="258"/>
                        </a:lnTo>
                        <a:lnTo>
                          <a:pt x="10" y="237"/>
                        </a:lnTo>
                        <a:lnTo>
                          <a:pt x="4" y="215"/>
                        </a:lnTo>
                        <a:lnTo>
                          <a:pt x="1" y="193"/>
                        </a:lnTo>
                        <a:lnTo>
                          <a:pt x="0" y="170"/>
                        </a:lnTo>
                        <a:lnTo>
                          <a:pt x="0" y="159"/>
                        </a:lnTo>
                        <a:lnTo>
                          <a:pt x="1" y="149"/>
                        </a:lnTo>
                        <a:lnTo>
                          <a:pt x="2" y="138"/>
                        </a:lnTo>
                        <a:lnTo>
                          <a:pt x="4" y="128"/>
                        </a:lnTo>
                        <a:lnTo>
                          <a:pt x="7" y="118"/>
                        </a:lnTo>
                        <a:lnTo>
                          <a:pt x="10" y="109"/>
                        </a:lnTo>
                        <a:lnTo>
                          <a:pt x="13" y="101"/>
                        </a:lnTo>
                        <a:lnTo>
                          <a:pt x="16" y="92"/>
                        </a:lnTo>
                        <a:lnTo>
                          <a:pt x="25" y="75"/>
                        </a:lnTo>
                        <a:lnTo>
                          <a:pt x="36" y="60"/>
                        </a:lnTo>
                        <a:lnTo>
                          <a:pt x="49" y="46"/>
                        </a:lnTo>
                        <a:lnTo>
                          <a:pt x="62" y="34"/>
                        </a:lnTo>
                        <a:lnTo>
                          <a:pt x="77" y="23"/>
                        </a:lnTo>
                        <a:lnTo>
                          <a:pt x="94" y="15"/>
                        </a:lnTo>
                        <a:lnTo>
                          <a:pt x="112" y="9"/>
                        </a:lnTo>
                        <a:lnTo>
                          <a:pt x="131" y="3"/>
                        </a:lnTo>
                        <a:lnTo>
                          <a:pt x="151" y="1"/>
                        </a:lnTo>
                        <a:lnTo>
                          <a:pt x="170" y="0"/>
                        </a:lnTo>
                        <a:lnTo>
                          <a:pt x="192" y="2"/>
                        </a:lnTo>
                        <a:lnTo>
                          <a:pt x="214" y="5"/>
                        </a:lnTo>
                        <a:close/>
                      </a:path>
                    </a:pathLst>
                  </a:custGeom>
                  <a:solidFill>
                    <a:srgbClr val="B3B3B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25" name="Google Shape;1925;g3f95de07730_1_1266"/>
                  <p:cNvSpPr/>
                  <p:nvPr/>
                </p:nvSpPr>
                <p:spPr>
                  <a:xfrm>
                    <a:off x="3078106" y="4630922"/>
                    <a:ext cx="14236" cy="14552"/>
                  </a:xfrm>
                  <a:custGeom>
                    <a:avLst/>
                    <a:gdLst/>
                    <a:ahLst/>
                    <a:cxnLst/>
                    <a:rect l="l" t="t" r="r" b="b"/>
                    <a:pathLst>
                      <a:path w="271" h="278" extrusionOk="0">
                        <a:moveTo>
                          <a:pt x="135" y="3"/>
                        </a:moveTo>
                        <a:lnTo>
                          <a:pt x="149" y="7"/>
                        </a:lnTo>
                        <a:lnTo>
                          <a:pt x="162" y="12"/>
                        </a:lnTo>
                        <a:lnTo>
                          <a:pt x="176" y="18"/>
                        </a:lnTo>
                        <a:lnTo>
                          <a:pt x="188" y="26"/>
                        </a:lnTo>
                        <a:lnTo>
                          <a:pt x="200" y="34"/>
                        </a:lnTo>
                        <a:lnTo>
                          <a:pt x="211" y="44"/>
                        </a:lnTo>
                        <a:lnTo>
                          <a:pt x="221" y="54"/>
                        </a:lnTo>
                        <a:lnTo>
                          <a:pt x="231" y="65"/>
                        </a:lnTo>
                        <a:lnTo>
                          <a:pt x="240" y="76"/>
                        </a:lnTo>
                        <a:lnTo>
                          <a:pt x="248" y="89"/>
                        </a:lnTo>
                        <a:lnTo>
                          <a:pt x="254" y="102"/>
                        </a:lnTo>
                        <a:lnTo>
                          <a:pt x="260" y="115"/>
                        </a:lnTo>
                        <a:lnTo>
                          <a:pt x="264" y="128"/>
                        </a:lnTo>
                        <a:lnTo>
                          <a:pt x="268" y="143"/>
                        </a:lnTo>
                        <a:lnTo>
                          <a:pt x="270" y="156"/>
                        </a:lnTo>
                        <a:lnTo>
                          <a:pt x="271" y="170"/>
                        </a:lnTo>
                        <a:lnTo>
                          <a:pt x="270" y="184"/>
                        </a:lnTo>
                        <a:lnTo>
                          <a:pt x="268" y="197"/>
                        </a:lnTo>
                        <a:lnTo>
                          <a:pt x="264" y="209"/>
                        </a:lnTo>
                        <a:lnTo>
                          <a:pt x="260" y="220"/>
                        </a:lnTo>
                        <a:lnTo>
                          <a:pt x="254" y="231"/>
                        </a:lnTo>
                        <a:lnTo>
                          <a:pt x="248" y="241"/>
                        </a:lnTo>
                        <a:lnTo>
                          <a:pt x="240" y="249"/>
                        </a:lnTo>
                        <a:lnTo>
                          <a:pt x="231" y="257"/>
                        </a:lnTo>
                        <a:lnTo>
                          <a:pt x="221" y="263"/>
                        </a:lnTo>
                        <a:lnTo>
                          <a:pt x="211" y="269"/>
                        </a:lnTo>
                        <a:lnTo>
                          <a:pt x="200" y="273"/>
                        </a:lnTo>
                        <a:lnTo>
                          <a:pt x="188" y="277"/>
                        </a:lnTo>
                        <a:lnTo>
                          <a:pt x="176" y="278"/>
                        </a:lnTo>
                        <a:lnTo>
                          <a:pt x="162" y="278"/>
                        </a:lnTo>
                        <a:lnTo>
                          <a:pt x="149" y="277"/>
                        </a:lnTo>
                        <a:lnTo>
                          <a:pt x="135" y="275"/>
                        </a:lnTo>
                        <a:lnTo>
                          <a:pt x="121" y="271"/>
                        </a:lnTo>
                        <a:lnTo>
                          <a:pt x="107" y="266"/>
                        </a:lnTo>
                        <a:lnTo>
                          <a:pt x="95" y="259"/>
                        </a:lnTo>
                        <a:lnTo>
                          <a:pt x="83" y="252"/>
                        </a:lnTo>
                        <a:lnTo>
                          <a:pt x="70" y="243"/>
                        </a:lnTo>
                        <a:lnTo>
                          <a:pt x="59" y="235"/>
                        </a:lnTo>
                        <a:lnTo>
                          <a:pt x="48" y="224"/>
                        </a:lnTo>
                        <a:lnTo>
                          <a:pt x="39" y="212"/>
                        </a:lnTo>
                        <a:lnTo>
                          <a:pt x="31" y="201"/>
                        </a:lnTo>
                        <a:lnTo>
                          <a:pt x="23" y="189"/>
                        </a:lnTo>
                        <a:lnTo>
                          <a:pt x="15" y="176"/>
                        </a:lnTo>
                        <a:lnTo>
                          <a:pt x="9" y="164"/>
                        </a:lnTo>
                        <a:lnTo>
                          <a:pt x="5" y="149"/>
                        </a:lnTo>
                        <a:lnTo>
                          <a:pt x="2" y="136"/>
                        </a:lnTo>
                        <a:lnTo>
                          <a:pt x="0" y="122"/>
                        </a:lnTo>
                        <a:lnTo>
                          <a:pt x="0" y="108"/>
                        </a:lnTo>
                        <a:lnTo>
                          <a:pt x="0" y="94"/>
                        </a:lnTo>
                        <a:lnTo>
                          <a:pt x="2" y="81"/>
                        </a:lnTo>
                        <a:lnTo>
                          <a:pt x="5" y="68"/>
                        </a:lnTo>
                        <a:lnTo>
                          <a:pt x="9" y="57"/>
                        </a:lnTo>
                        <a:lnTo>
                          <a:pt x="15" y="47"/>
                        </a:lnTo>
                        <a:lnTo>
                          <a:pt x="23" y="37"/>
                        </a:lnTo>
                        <a:lnTo>
                          <a:pt x="31" y="28"/>
                        </a:lnTo>
                        <a:lnTo>
                          <a:pt x="39" y="21"/>
                        </a:lnTo>
                        <a:lnTo>
                          <a:pt x="48" y="14"/>
                        </a:lnTo>
                        <a:lnTo>
                          <a:pt x="59" y="9"/>
                        </a:lnTo>
                        <a:lnTo>
                          <a:pt x="70" y="5"/>
                        </a:lnTo>
                        <a:lnTo>
                          <a:pt x="83" y="2"/>
                        </a:lnTo>
                        <a:lnTo>
                          <a:pt x="95" y="0"/>
                        </a:lnTo>
                        <a:lnTo>
                          <a:pt x="107" y="0"/>
                        </a:lnTo>
                        <a:lnTo>
                          <a:pt x="121" y="1"/>
                        </a:lnTo>
                        <a:lnTo>
                          <a:pt x="135" y="3"/>
                        </a:lnTo>
                        <a:close/>
                      </a:path>
                    </a:pathLst>
                  </a:custGeom>
                  <a:gradFill>
                    <a:gsLst>
                      <a:gs pos="0">
                        <a:srgbClr val="006994"/>
                      </a:gs>
                      <a:gs pos="50000">
                        <a:srgbClr val="009AD7"/>
                      </a:gs>
                      <a:gs pos="100000">
                        <a:srgbClr val="00B8FF"/>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nvGrpSpPr>
                <p:cNvPr id="1926" name="Google Shape;1926;g3f95de07730_1_1266"/>
                <p:cNvGrpSpPr/>
                <p:nvPr/>
              </p:nvGrpSpPr>
              <p:grpSpPr>
                <a:xfrm>
                  <a:off x="2939904" y="4690008"/>
                  <a:ext cx="145198" cy="153849"/>
                  <a:chOff x="5967413" y="-3362325"/>
                  <a:chExt cx="1133478" cy="1454150"/>
                </a:xfrm>
              </p:grpSpPr>
              <p:sp>
                <p:nvSpPr>
                  <p:cNvPr id="1927" name="Google Shape;1927;g3f95de07730_1_126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28" name="Google Shape;1928;g3f95de07730_1_126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29" name="Google Shape;1929;g3f95de07730_1_126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30" name="Google Shape;1930;g3f95de07730_1_126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31" name="Google Shape;1931;g3f95de07730_1_126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32" name="Google Shape;1932;g3f95de07730_1_126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33" name="Google Shape;1933;g3f95de07730_1_126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34" name="Google Shape;1934;g3f95de07730_1_126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35" name="Google Shape;1935;g3f95de07730_1_126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36" name="Google Shape;1936;g3f95de07730_1_126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37" name="Google Shape;1937;g3f95de07730_1_126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38" name="Google Shape;1938;g3f95de07730_1_126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39" name="Google Shape;1939;g3f95de07730_1_126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40" name="Google Shape;1940;g3f95de07730_1_126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sp>
            <p:nvSpPr>
              <p:cNvPr id="1941" name="Google Shape;1941;g3f95de07730_1_1266"/>
              <p:cNvSpPr txBox="1"/>
              <p:nvPr/>
            </p:nvSpPr>
            <p:spPr>
              <a:xfrm>
                <a:off x="2866069" y="5491069"/>
                <a:ext cx="92700" cy="52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400"/>
                  <a:buFont typeface="Arial"/>
                  <a:buNone/>
                </a:pPr>
                <a:r>
                  <a:rPr lang="en-US" sz="400" b="1" i="0" u="none" strike="noStrike" cap="none">
                    <a:solidFill>
                      <a:srgbClr val="3F3F3F"/>
                    </a:solidFill>
                    <a:latin typeface="Roboto"/>
                    <a:ea typeface="Roboto"/>
                    <a:cs typeface="Roboto"/>
                    <a:sym typeface="Roboto"/>
                  </a:rPr>
                  <a:t>WN</a:t>
                </a:r>
                <a:endParaRPr sz="400" b="1" i="0" u="none" strike="noStrike" cap="none">
                  <a:solidFill>
                    <a:srgbClr val="3F3F3F"/>
                  </a:solidFill>
                  <a:latin typeface="Roboto"/>
                  <a:ea typeface="Roboto"/>
                  <a:cs typeface="Roboto"/>
                  <a:sym typeface="Roboto"/>
                </a:endParaRPr>
              </a:p>
            </p:txBody>
          </p:sp>
        </p:grpSp>
        <p:grpSp>
          <p:nvGrpSpPr>
            <p:cNvPr id="1942" name="Google Shape;1942;g3f95de07730_1_1266"/>
            <p:cNvGrpSpPr/>
            <p:nvPr/>
          </p:nvGrpSpPr>
          <p:grpSpPr>
            <a:xfrm>
              <a:off x="3852652" y="4509068"/>
              <a:ext cx="376733" cy="448726"/>
              <a:chOff x="2700762" y="5095926"/>
              <a:chExt cx="376733" cy="448726"/>
            </a:xfrm>
          </p:grpSpPr>
          <p:grpSp>
            <p:nvGrpSpPr>
              <p:cNvPr id="1943" name="Google Shape;1943;g3f95de07730_1_1266"/>
              <p:cNvGrpSpPr/>
              <p:nvPr/>
            </p:nvGrpSpPr>
            <p:grpSpPr>
              <a:xfrm>
                <a:off x="2700762" y="5095926"/>
                <a:ext cx="376733" cy="448726"/>
                <a:chOff x="2939904" y="4395131"/>
                <a:chExt cx="376733" cy="448726"/>
              </a:xfrm>
            </p:grpSpPr>
            <p:grpSp>
              <p:nvGrpSpPr>
                <p:cNvPr id="1944" name="Google Shape;1944;g3f95de07730_1_1266"/>
                <p:cNvGrpSpPr/>
                <p:nvPr/>
              </p:nvGrpSpPr>
              <p:grpSpPr>
                <a:xfrm>
                  <a:off x="3040778" y="4395131"/>
                  <a:ext cx="275858" cy="376772"/>
                  <a:chOff x="3040778" y="4395131"/>
                  <a:chExt cx="275858" cy="376772"/>
                </a:xfrm>
              </p:grpSpPr>
              <p:sp>
                <p:nvSpPr>
                  <p:cNvPr id="1945" name="Google Shape;1945;g3f95de07730_1_1266"/>
                  <p:cNvSpPr/>
                  <p:nvPr/>
                </p:nvSpPr>
                <p:spPr>
                  <a:xfrm>
                    <a:off x="3040778" y="4395131"/>
                    <a:ext cx="275858" cy="376772"/>
                  </a:xfrm>
                  <a:custGeom>
                    <a:avLst/>
                    <a:gdLst/>
                    <a:ahLst/>
                    <a:cxnLst/>
                    <a:rect l="l" t="t" r="r" b="b"/>
                    <a:pathLst>
                      <a:path w="5235" h="7147" extrusionOk="0">
                        <a:moveTo>
                          <a:pt x="3501" y="0"/>
                        </a:moveTo>
                        <a:lnTo>
                          <a:pt x="0" y="2049"/>
                        </a:lnTo>
                        <a:lnTo>
                          <a:pt x="16" y="6095"/>
                        </a:lnTo>
                        <a:lnTo>
                          <a:pt x="1785" y="7147"/>
                        </a:lnTo>
                        <a:lnTo>
                          <a:pt x="5199" y="5045"/>
                        </a:lnTo>
                        <a:lnTo>
                          <a:pt x="5235" y="981"/>
                        </a:lnTo>
                        <a:lnTo>
                          <a:pt x="3501" y="0"/>
                        </a:lnTo>
                        <a:close/>
                      </a:path>
                    </a:pathLst>
                  </a:custGeom>
                  <a:solidFill>
                    <a:srgbClr val="9999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46" name="Google Shape;1946;g3f95de07730_1_1266"/>
                  <p:cNvSpPr/>
                  <p:nvPr/>
                </p:nvSpPr>
                <p:spPr>
                  <a:xfrm>
                    <a:off x="3134100" y="4449542"/>
                    <a:ext cx="182527" cy="322351"/>
                  </a:xfrm>
                  <a:custGeom>
                    <a:avLst/>
                    <a:gdLst/>
                    <a:ahLst/>
                    <a:cxnLst/>
                    <a:rect l="l" t="t" r="r" b="b"/>
                    <a:pathLst>
                      <a:path w="3464" h="6117" extrusionOk="0">
                        <a:moveTo>
                          <a:pt x="0" y="6107"/>
                        </a:moveTo>
                        <a:lnTo>
                          <a:pt x="15" y="6117"/>
                        </a:lnTo>
                        <a:lnTo>
                          <a:pt x="3429" y="4015"/>
                        </a:lnTo>
                        <a:lnTo>
                          <a:pt x="3464" y="0"/>
                        </a:lnTo>
                        <a:lnTo>
                          <a:pt x="15" y="2053"/>
                        </a:lnTo>
                        <a:lnTo>
                          <a:pt x="0" y="6107"/>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47" name="Google Shape;1947;g3f95de07730_1_1266"/>
                  <p:cNvSpPr/>
                  <p:nvPr/>
                </p:nvSpPr>
                <p:spPr>
                  <a:xfrm>
                    <a:off x="3040778" y="4495729"/>
                    <a:ext cx="108821" cy="276174"/>
                  </a:xfrm>
                  <a:custGeom>
                    <a:avLst/>
                    <a:gdLst/>
                    <a:ahLst/>
                    <a:cxnLst/>
                    <a:rect l="l" t="t" r="r" b="b"/>
                    <a:pathLst>
                      <a:path w="2066" h="5241" extrusionOk="0">
                        <a:moveTo>
                          <a:pt x="244" y="0"/>
                        </a:moveTo>
                        <a:lnTo>
                          <a:pt x="0" y="143"/>
                        </a:lnTo>
                        <a:lnTo>
                          <a:pt x="16" y="4189"/>
                        </a:lnTo>
                        <a:lnTo>
                          <a:pt x="1785" y="5241"/>
                        </a:lnTo>
                        <a:lnTo>
                          <a:pt x="2066" y="5068"/>
                        </a:lnTo>
                        <a:lnTo>
                          <a:pt x="2066" y="984"/>
                        </a:lnTo>
                        <a:lnTo>
                          <a:pt x="244" y="0"/>
                        </a:lnTo>
                        <a:close/>
                      </a:path>
                    </a:pathLst>
                  </a:custGeom>
                  <a:gradFill>
                    <a:gsLst>
                      <a:gs pos="0">
                        <a:srgbClr val="F2F2F2"/>
                      </a:gs>
                      <a:gs pos="35000">
                        <a:srgbClr val="C3C3C3"/>
                      </a:gs>
                      <a:gs pos="40000">
                        <a:srgbClr val="F2F2F2"/>
                      </a:gs>
                      <a:gs pos="100000">
                        <a:srgbClr val="D8D8D8"/>
                      </a:gs>
                    </a:gsLst>
                    <a:lin ang="360000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48" name="Google Shape;1948;g3f95de07730_1_1266"/>
                  <p:cNvSpPr/>
                  <p:nvPr/>
                </p:nvSpPr>
                <p:spPr>
                  <a:xfrm>
                    <a:off x="3040778" y="4503005"/>
                    <a:ext cx="94905" cy="268890"/>
                  </a:xfrm>
                  <a:custGeom>
                    <a:avLst/>
                    <a:gdLst/>
                    <a:ahLst/>
                    <a:cxnLst/>
                    <a:rect l="l" t="t" r="r" b="b"/>
                    <a:pathLst>
                      <a:path w="1803" h="5103" extrusionOk="0">
                        <a:moveTo>
                          <a:pt x="10" y="0"/>
                        </a:moveTo>
                        <a:lnTo>
                          <a:pt x="0" y="5"/>
                        </a:lnTo>
                        <a:lnTo>
                          <a:pt x="16" y="4051"/>
                        </a:lnTo>
                        <a:lnTo>
                          <a:pt x="1785" y="5103"/>
                        </a:lnTo>
                        <a:lnTo>
                          <a:pt x="1786" y="5102"/>
                        </a:lnTo>
                        <a:lnTo>
                          <a:pt x="1803" y="1039"/>
                        </a:lnTo>
                        <a:lnTo>
                          <a:pt x="10" y="0"/>
                        </a:lnTo>
                        <a:close/>
                      </a:path>
                    </a:pathLst>
                  </a:custGeom>
                  <a:gradFill>
                    <a:gsLst>
                      <a:gs pos="0">
                        <a:srgbClr val="7F7F7F"/>
                      </a:gs>
                      <a:gs pos="12000">
                        <a:srgbClr val="7F7F7F"/>
                      </a:gs>
                      <a:gs pos="100000">
                        <a:srgbClr val="A5A5A5"/>
                      </a:gs>
                    </a:gsLst>
                    <a:lin ang="7200017"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49" name="Google Shape;1949;g3f95de07730_1_1266"/>
                  <p:cNvSpPr/>
                  <p:nvPr/>
                </p:nvSpPr>
                <p:spPr>
                  <a:xfrm>
                    <a:off x="3052483" y="4534955"/>
                    <a:ext cx="68332" cy="58208"/>
                  </a:xfrm>
                  <a:custGeom>
                    <a:avLst/>
                    <a:gdLst/>
                    <a:ahLst/>
                    <a:cxnLst/>
                    <a:rect l="l" t="t" r="r" b="b"/>
                    <a:pathLst>
                      <a:path w="1296" h="1102" extrusionOk="0">
                        <a:moveTo>
                          <a:pt x="0" y="0"/>
                        </a:moveTo>
                        <a:lnTo>
                          <a:pt x="1296" y="752"/>
                        </a:lnTo>
                        <a:lnTo>
                          <a:pt x="1296" y="1102"/>
                        </a:lnTo>
                        <a:lnTo>
                          <a:pt x="0" y="351"/>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50" name="Google Shape;1950;g3f95de07730_1_1266"/>
                  <p:cNvSpPr/>
                  <p:nvPr/>
                </p:nvSpPr>
                <p:spPr>
                  <a:xfrm>
                    <a:off x="3102782" y="4589999"/>
                    <a:ext cx="18032" cy="15501"/>
                  </a:xfrm>
                  <a:custGeom>
                    <a:avLst/>
                    <a:gdLst/>
                    <a:ahLst/>
                    <a:cxnLst/>
                    <a:rect l="l" t="t" r="r" b="b"/>
                    <a:pathLst>
                      <a:path w="346" h="294" extrusionOk="0">
                        <a:moveTo>
                          <a:pt x="0" y="0"/>
                        </a:moveTo>
                        <a:lnTo>
                          <a:pt x="346" y="201"/>
                        </a:lnTo>
                        <a:lnTo>
                          <a:pt x="346" y="294"/>
                        </a:lnTo>
                        <a:lnTo>
                          <a:pt x="0" y="93"/>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51" name="Google Shape;1951;g3f95de07730_1_1266"/>
                  <p:cNvSpPr/>
                  <p:nvPr/>
                </p:nvSpPr>
                <p:spPr>
                  <a:xfrm>
                    <a:off x="3063238" y="4615738"/>
                    <a:ext cx="43971" cy="44921"/>
                  </a:xfrm>
                  <a:custGeom>
                    <a:avLst/>
                    <a:gdLst/>
                    <a:ahLst/>
                    <a:cxnLst/>
                    <a:rect l="l" t="t" r="r" b="b"/>
                    <a:pathLst>
                      <a:path w="832" h="853" extrusionOk="0">
                        <a:moveTo>
                          <a:pt x="416" y="10"/>
                        </a:moveTo>
                        <a:lnTo>
                          <a:pt x="438" y="15"/>
                        </a:lnTo>
                        <a:lnTo>
                          <a:pt x="459" y="22"/>
                        </a:lnTo>
                        <a:lnTo>
                          <a:pt x="479" y="30"/>
                        </a:lnTo>
                        <a:lnTo>
                          <a:pt x="500" y="37"/>
                        </a:lnTo>
                        <a:lnTo>
                          <a:pt x="520" y="47"/>
                        </a:lnTo>
                        <a:lnTo>
                          <a:pt x="540" y="57"/>
                        </a:lnTo>
                        <a:lnTo>
                          <a:pt x="559" y="68"/>
                        </a:lnTo>
                        <a:lnTo>
                          <a:pt x="577" y="79"/>
                        </a:lnTo>
                        <a:lnTo>
                          <a:pt x="596" y="93"/>
                        </a:lnTo>
                        <a:lnTo>
                          <a:pt x="614" y="106"/>
                        </a:lnTo>
                        <a:lnTo>
                          <a:pt x="632" y="119"/>
                        </a:lnTo>
                        <a:lnTo>
                          <a:pt x="648" y="135"/>
                        </a:lnTo>
                        <a:lnTo>
                          <a:pt x="665" y="149"/>
                        </a:lnTo>
                        <a:lnTo>
                          <a:pt x="680" y="166"/>
                        </a:lnTo>
                        <a:lnTo>
                          <a:pt x="696" y="182"/>
                        </a:lnTo>
                        <a:lnTo>
                          <a:pt x="710" y="199"/>
                        </a:lnTo>
                        <a:lnTo>
                          <a:pt x="724" y="217"/>
                        </a:lnTo>
                        <a:lnTo>
                          <a:pt x="737" y="235"/>
                        </a:lnTo>
                        <a:lnTo>
                          <a:pt x="749" y="253"/>
                        </a:lnTo>
                        <a:lnTo>
                          <a:pt x="760" y="272"/>
                        </a:lnTo>
                        <a:lnTo>
                          <a:pt x="771" y="292"/>
                        </a:lnTo>
                        <a:lnTo>
                          <a:pt x="781" y="311"/>
                        </a:lnTo>
                        <a:lnTo>
                          <a:pt x="791" y="332"/>
                        </a:lnTo>
                        <a:lnTo>
                          <a:pt x="799" y="352"/>
                        </a:lnTo>
                        <a:lnTo>
                          <a:pt x="807" y="373"/>
                        </a:lnTo>
                        <a:lnTo>
                          <a:pt x="813" y="393"/>
                        </a:lnTo>
                        <a:lnTo>
                          <a:pt x="819" y="414"/>
                        </a:lnTo>
                        <a:lnTo>
                          <a:pt x="823" y="435"/>
                        </a:lnTo>
                        <a:lnTo>
                          <a:pt x="827" y="457"/>
                        </a:lnTo>
                        <a:lnTo>
                          <a:pt x="830" y="478"/>
                        </a:lnTo>
                        <a:lnTo>
                          <a:pt x="831" y="499"/>
                        </a:lnTo>
                        <a:lnTo>
                          <a:pt x="832" y="522"/>
                        </a:lnTo>
                        <a:lnTo>
                          <a:pt x="831" y="543"/>
                        </a:lnTo>
                        <a:lnTo>
                          <a:pt x="830" y="564"/>
                        </a:lnTo>
                        <a:lnTo>
                          <a:pt x="827" y="584"/>
                        </a:lnTo>
                        <a:lnTo>
                          <a:pt x="823" y="604"/>
                        </a:lnTo>
                        <a:lnTo>
                          <a:pt x="819" y="622"/>
                        </a:lnTo>
                        <a:lnTo>
                          <a:pt x="813" y="641"/>
                        </a:lnTo>
                        <a:lnTo>
                          <a:pt x="807" y="659"/>
                        </a:lnTo>
                        <a:lnTo>
                          <a:pt x="799" y="676"/>
                        </a:lnTo>
                        <a:lnTo>
                          <a:pt x="791" y="692"/>
                        </a:lnTo>
                        <a:lnTo>
                          <a:pt x="781" y="708"/>
                        </a:lnTo>
                        <a:lnTo>
                          <a:pt x="771" y="723"/>
                        </a:lnTo>
                        <a:lnTo>
                          <a:pt x="760" y="738"/>
                        </a:lnTo>
                        <a:lnTo>
                          <a:pt x="749" y="751"/>
                        </a:lnTo>
                        <a:lnTo>
                          <a:pt x="737" y="764"/>
                        </a:lnTo>
                        <a:lnTo>
                          <a:pt x="724" y="777"/>
                        </a:lnTo>
                        <a:lnTo>
                          <a:pt x="710" y="788"/>
                        </a:lnTo>
                        <a:lnTo>
                          <a:pt x="696" y="798"/>
                        </a:lnTo>
                        <a:lnTo>
                          <a:pt x="680" y="808"/>
                        </a:lnTo>
                        <a:lnTo>
                          <a:pt x="665" y="816"/>
                        </a:lnTo>
                        <a:lnTo>
                          <a:pt x="648" y="824"/>
                        </a:lnTo>
                        <a:lnTo>
                          <a:pt x="632" y="831"/>
                        </a:lnTo>
                        <a:lnTo>
                          <a:pt x="614" y="837"/>
                        </a:lnTo>
                        <a:lnTo>
                          <a:pt x="596" y="842"/>
                        </a:lnTo>
                        <a:lnTo>
                          <a:pt x="577" y="846"/>
                        </a:lnTo>
                        <a:lnTo>
                          <a:pt x="559" y="850"/>
                        </a:lnTo>
                        <a:lnTo>
                          <a:pt x="540" y="852"/>
                        </a:lnTo>
                        <a:lnTo>
                          <a:pt x="520" y="853"/>
                        </a:lnTo>
                        <a:lnTo>
                          <a:pt x="500" y="853"/>
                        </a:lnTo>
                        <a:lnTo>
                          <a:pt x="479" y="852"/>
                        </a:lnTo>
                        <a:lnTo>
                          <a:pt x="459" y="850"/>
                        </a:lnTo>
                        <a:lnTo>
                          <a:pt x="438" y="846"/>
                        </a:lnTo>
                        <a:lnTo>
                          <a:pt x="416" y="842"/>
                        </a:lnTo>
                        <a:lnTo>
                          <a:pt x="395" y="836"/>
                        </a:lnTo>
                        <a:lnTo>
                          <a:pt x="374" y="830"/>
                        </a:lnTo>
                        <a:lnTo>
                          <a:pt x="353" y="823"/>
                        </a:lnTo>
                        <a:lnTo>
                          <a:pt x="333" y="814"/>
                        </a:lnTo>
                        <a:lnTo>
                          <a:pt x="312" y="805"/>
                        </a:lnTo>
                        <a:lnTo>
                          <a:pt x="293" y="795"/>
                        </a:lnTo>
                        <a:lnTo>
                          <a:pt x="273" y="784"/>
                        </a:lnTo>
                        <a:lnTo>
                          <a:pt x="254" y="772"/>
                        </a:lnTo>
                        <a:lnTo>
                          <a:pt x="235" y="760"/>
                        </a:lnTo>
                        <a:lnTo>
                          <a:pt x="217" y="747"/>
                        </a:lnTo>
                        <a:lnTo>
                          <a:pt x="201" y="732"/>
                        </a:lnTo>
                        <a:lnTo>
                          <a:pt x="183" y="718"/>
                        </a:lnTo>
                        <a:lnTo>
                          <a:pt x="168" y="702"/>
                        </a:lnTo>
                        <a:lnTo>
                          <a:pt x="151" y="687"/>
                        </a:lnTo>
                        <a:lnTo>
                          <a:pt x="137" y="670"/>
                        </a:lnTo>
                        <a:lnTo>
                          <a:pt x="122" y="652"/>
                        </a:lnTo>
                        <a:lnTo>
                          <a:pt x="108" y="635"/>
                        </a:lnTo>
                        <a:lnTo>
                          <a:pt x="96" y="617"/>
                        </a:lnTo>
                        <a:lnTo>
                          <a:pt x="82" y="598"/>
                        </a:lnTo>
                        <a:lnTo>
                          <a:pt x="71" y="579"/>
                        </a:lnTo>
                        <a:lnTo>
                          <a:pt x="60" y="560"/>
                        </a:lnTo>
                        <a:lnTo>
                          <a:pt x="50" y="540"/>
                        </a:lnTo>
                        <a:lnTo>
                          <a:pt x="41" y="521"/>
                        </a:lnTo>
                        <a:lnTo>
                          <a:pt x="32" y="499"/>
                        </a:lnTo>
                        <a:lnTo>
                          <a:pt x="26" y="479"/>
                        </a:lnTo>
                        <a:lnTo>
                          <a:pt x="19" y="458"/>
                        </a:lnTo>
                        <a:lnTo>
                          <a:pt x="14" y="437"/>
                        </a:lnTo>
                        <a:lnTo>
                          <a:pt x="8" y="416"/>
                        </a:lnTo>
                        <a:lnTo>
                          <a:pt x="5" y="395"/>
                        </a:lnTo>
                        <a:lnTo>
                          <a:pt x="2" y="373"/>
                        </a:lnTo>
                        <a:lnTo>
                          <a:pt x="0" y="352"/>
                        </a:lnTo>
                        <a:lnTo>
                          <a:pt x="0" y="331"/>
                        </a:lnTo>
                        <a:lnTo>
                          <a:pt x="0" y="309"/>
                        </a:lnTo>
                        <a:lnTo>
                          <a:pt x="2" y="289"/>
                        </a:lnTo>
                        <a:lnTo>
                          <a:pt x="5" y="268"/>
                        </a:lnTo>
                        <a:lnTo>
                          <a:pt x="8" y="249"/>
                        </a:lnTo>
                        <a:lnTo>
                          <a:pt x="14" y="230"/>
                        </a:lnTo>
                        <a:lnTo>
                          <a:pt x="19" y="211"/>
                        </a:lnTo>
                        <a:lnTo>
                          <a:pt x="26" y="194"/>
                        </a:lnTo>
                        <a:lnTo>
                          <a:pt x="32" y="176"/>
                        </a:lnTo>
                        <a:lnTo>
                          <a:pt x="41" y="159"/>
                        </a:lnTo>
                        <a:lnTo>
                          <a:pt x="50" y="144"/>
                        </a:lnTo>
                        <a:lnTo>
                          <a:pt x="60" y="128"/>
                        </a:lnTo>
                        <a:lnTo>
                          <a:pt x="71" y="114"/>
                        </a:lnTo>
                        <a:lnTo>
                          <a:pt x="82" y="100"/>
                        </a:lnTo>
                        <a:lnTo>
                          <a:pt x="96" y="87"/>
                        </a:lnTo>
                        <a:lnTo>
                          <a:pt x="108" y="76"/>
                        </a:lnTo>
                        <a:lnTo>
                          <a:pt x="122" y="64"/>
                        </a:lnTo>
                        <a:lnTo>
                          <a:pt x="137" y="54"/>
                        </a:lnTo>
                        <a:lnTo>
                          <a:pt x="151" y="44"/>
                        </a:lnTo>
                        <a:lnTo>
                          <a:pt x="168" y="35"/>
                        </a:lnTo>
                        <a:lnTo>
                          <a:pt x="183" y="27"/>
                        </a:lnTo>
                        <a:lnTo>
                          <a:pt x="201" y="21"/>
                        </a:lnTo>
                        <a:lnTo>
                          <a:pt x="217" y="15"/>
                        </a:lnTo>
                        <a:lnTo>
                          <a:pt x="235" y="10"/>
                        </a:lnTo>
                        <a:lnTo>
                          <a:pt x="254" y="5"/>
                        </a:lnTo>
                        <a:lnTo>
                          <a:pt x="273" y="2"/>
                        </a:lnTo>
                        <a:lnTo>
                          <a:pt x="293" y="1"/>
                        </a:lnTo>
                        <a:lnTo>
                          <a:pt x="312" y="0"/>
                        </a:lnTo>
                        <a:lnTo>
                          <a:pt x="333" y="0"/>
                        </a:lnTo>
                        <a:lnTo>
                          <a:pt x="353" y="1"/>
                        </a:lnTo>
                        <a:lnTo>
                          <a:pt x="374" y="2"/>
                        </a:lnTo>
                        <a:lnTo>
                          <a:pt x="395" y="5"/>
                        </a:lnTo>
                        <a:lnTo>
                          <a:pt x="416" y="10"/>
                        </a:lnTo>
                        <a:close/>
                      </a:path>
                    </a:pathLst>
                  </a:cu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52" name="Google Shape;1952;g3f95de07730_1_1266"/>
                  <p:cNvSpPr/>
                  <p:nvPr/>
                </p:nvSpPr>
                <p:spPr>
                  <a:xfrm>
                    <a:off x="3073994" y="4626493"/>
                    <a:ext cx="22461" cy="23410"/>
                  </a:xfrm>
                  <a:custGeom>
                    <a:avLst/>
                    <a:gdLst/>
                    <a:ahLst/>
                    <a:cxnLst/>
                    <a:rect l="l" t="t" r="r" b="b"/>
                    <a:pathLst>
                      <a:path w="429" h="440" extrusionOk="0">
                        <a:moveTo>
                          <a:pt x="214" y="5"/>
                        </a:moveTo>
                        <a:lnTo>
                          <a:pt x="236" y="12"/>
                        </a:lnTo>
                        <a:lnTo>
                          <a:pt x="257" y="20"/>
                        </a:lnTo>
                        <a:lnTo>
                          <a:pt x="278" y="30"/>
                        </a:lnTo>
                        <a:lnTo>
                          <a:pt x="297" y="42"/>
                        </a:lnTo>
                        <a:lnTo>
                          <a:pt x="316" y="55"/>
                        </a:lnTo>
                        <a:lnTo>
                          <a:pt x="333" y="70"/>
                        </a:lnTo>
                        <a:lnTo>
                          <a:pt x="350" y="86"/>
                        </a:lnTo>
                        <a:lnTo>
                          <a:pt x="365" y="103"/>
                        </a:lnTo>
                        <a:lnTo>
                          <a:pt x="379" y="122"/>
                        </a:lnTo>
                        <a:lnTo>
                          <a:pt x="392" y="141"/>
                        </a:lnTo>
                        <a:lnTo>
                          <a:pt x="402" y="162"/>
                        </a:lnTo>
                        <a:lnTo>
                          <a:pt x="411" y="182"/>
                        </a:lnTo>
                        <a:lnTo>
                          <a:pt x="419" y="204"/>
                        </a:lnTo>
                        <a:lnTo>
                          <a:pt x="424" y="225"/>
                        </a:lnTo>
                        <a:lnTo>
                          <a:pt x="427" y="247"/>
                        </a:lnTo>
                        <a:lnTo>
                          <a:pt x="429" y="269"/>
                        </a:lnTo>
                        <a:lnTo>
                          <a:pt x="427" y="280"/>
                        </a:lnTo>
                        <a:lnTo>
                          <a:pt x="427" y="291"/>
                        </a:lnTo>
                        <a:lnTo>
                          <a:pt x="425" y="301"/>
                        </a:lnTo>
                        <a:lnTo>
                          <a:pt x="424" y="311"/>
                        </a:lnTo>
                        <a:lnTo>
                          <a:pt x="421" y="321"/>
                        </a:lnTo>
                        <a:lnTo>
                          <a:pt x="419" y="331"/>
                        </a:lnTo>
                        <a:lnTo>
                          <a:pt x="415" y="340"/>
                        </a:lnTo>
                        <a:lnTo>
                          <a:pt x="411" y="349"/>
                        </a:lnTo>
                        <a:lnTo>
                          <a:pt x="402" y="365"/>
                        </a:lnTo>
                        <a:lnTo>
                          <a:pt x="392" y="381"/>
                        </a:lnTo>
                        <a:lnTo>
                          <a:pt x="379" y="394"/>
                        </a:lnTo>
                        <a:lnTo>
                          <a:pt x="365" y="406"/>
                        </a:lnTo>
                        <a:lnTo>
                          <a:pt x="350" y="416"/>
                        </a:lnTo>
                        <a:lnTo>
                          <a:pt x="333" y="425"/>
                        </a:lnTo>
                        <a:lnTo>
                          <a:pt x="316" y="432"/>
                        </a:lnTo>
                        <a:lnTo>
                          <a:pt x="297" y="436"/>
                        </a:lnTo>
                        <a:lnTo>
                          <a:pt x="278" y="440"/>
                        </a:lnTo>
                        <a:lnTo>
                          <a:pt x="257" y="440"/>
                        </a:lnTo>
                        <a:lnTo>
                          <a:pt x="236" y="439"/>
                        </a:lnTo>
                        <a:lnTo>
                          <a:pt x="214" y="434"/>
                        </a:lnTo>
                        <a:lnTo>
                          <a:pt x="192" y="429"/>
                        </a:lnTo>
                        <a:lnTo>
                          <a:pt x="170" y="420"/>
                        </a:lnTo>
                        <a:lnTo>
                          <a:pt x="151" y="410"/>
                        </a:lnTo>
                        <a:lnTo>
                          <a:pt x="131" y="399"/>
                        </a:lnTo>
                        <a:lnTo>
                          <a:pt x="112" y="385"/>
                        </a:lnTo>
                        <a:lnTo>
                          <a:pt x="94" y="370"/>
                        </a:lnTo>
                        <a:lnTo>
                          <a:pt x="77" y="354"/>
                        </a:lnTo>
                        <a:lnTo>
                          <a:pt x="62" y="337"/>
                        </a:lnTo>
                        <a:lnTo>
                          <a:pt x="49" y="318"/>
                        </a:lnTo>
                        <a:lnTo>
                          <a:pt x="36" y="299"/>
                        </a:lnTo>
                        <a:lnTo>
                          <a:pt x="25" y="279"/>
                        </a:lnTo>
                        <a:lnTo>
                          <a:pt x="16" y="258"/>
                        </a:lnTo>
                        <a:lnTo>
                          <a:pt x="10" y="237"/>
                        </a:lnTo>
                        <a:lnTo>
                          <a:pt x="4" y="215"/>
                        </a:lnTo>
                        <a:lnTo>
                          <a:pt x="1" y="193"/>
                        </a:lnTo>
                        <a:lnTo>
                          <a:pt x="0" y="170"/>
                        </a:lnTo>
                        <a:lnTo>
                          <a:pt x="0" y="159"/>
                        </a:lnTo>
                        <a:lnTo>
                          <a:pt x="1" y="149"/>
                        </a:lnTo>
                        <a:lnTo>
                          <a:pt x="2" y="138"/>
                        </a:lnTo>
                        <a:lnTo>
                          <a:pt x="4" y="128"/>
                        </a:lnTo>
                        <a:lnTo>
                          <a:pt x="7" y="118"/>
                        </a:lnTo>
                        <a:lnTo>
                          <a:pt x="10" y="109"/>
                        </a:lnTo>
                        <a:lnTo>
                          <a:pt x="13" y="101"/>
                        </a:lnTo>
                        <a:lnTo>
                          <a:pt x="16" y="92"/>
                        </a:lnTo>
                        <a:lnTo>
                          <a:pt x="25" y="75"/>
                        </a:lnTo>
                        <a:lnTo>
                          <a:pt x="36" y="60"/>
                        </a:lnTo>
                        <a:lnTo>
                          <a:pt x="49" y="46"/>
                        </a:lnTo>
                        <a:lnTo>
                          <a:pt x="62" y="34"/>
                        </a:lnTo>
                        <a:lnTo>
                          <a:pt x="77" y="23"/>
                        </a:lnTo>
                        <a:lnTo>
                          <a:pt x="94" y="15"/>
                        </a:lnTo>
                        <a:lnTo>
                          <a:pt x="112" y="9"/>
                        </a:lnTo>
                        <a:lnTo>
                          <a:pt x="131" y="3"/>
                        </a:lnTo>
                        <a:lnTo>
                          <a:pt x="151" y="1"/>
                        </a:lnTo>
                        <a:lnTo>
                          <a:pt x="170" y="0"/>
                        </a:lnTo>
                        <a:lnTo>
                          <a:pt x="192" y="2"/>
                        </a:lnTo>
                        <a:lnTo>
                          <a:pt x="214" y="5"/>
                        </a:lnTo>
                        <a:close/>
                      </a:path>
                    </a:pathLst>
                  </a:custGeom>
                  <a:solidFill>
                    <a:srgbClr val="B3B3B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53" name="Google Shape;1953;g3f95de07730_1_1266"/>
                  <p:cNvSpPr/>
                  <p:nvPr/>
                </p:nvSpPr>
                <p:spPr>
                  <a:xfrm>
                    <a:off x="3078106" y="4630922"/>
                    <a:ext cx="14236" cy="14552"/>
                  </a:xfrm>
                  <a:custGeom>
                    <a:avLst/>
                    <a:gdLst/>
                    <a:ahLst/>
                    <a:cxnLst/>
                    <a:rect l="l" t="t" r="r" b="b"/>
                    <a:pathLst>
                      <a:path w="271" h="278" extrusionOk="0">
                        <a:moveTo>
                          <a:pt x="135" y="3"/>
                        </a:moveTo>
                        <a:lnTo>
                          <a:pt x="149" y="7"/>
                        </a:lnTo>
                        <a:lnTo>
                          <a:pt x="162" y="12"/>
                        </a:lnTo>
                        <a:lnTo>
                          <a:pt x="176" y="18"/>
                        </a:lnTo>
                        <a:lnTo>
                          <a:pt x="188" y="26"/>
                        </a:lnTo>
                        <a:lnTo>
                          <a:pt x="200" y="34"/>
                        </a:lnTo>
                        <a:lnTo>
                          <a:pt x="211" y="44"/>
                        </a:lnTo>
                        <a:lnTo>
                          <a:pt x="221" y="54"/>
                        </a:lnTo>
                        <a:lnTo>
                          <a:pt x="231" y="65"/>
                        </a:lnTo>
                        <a:lnTo>
                          <a:pt x="240" y="76"/>
                        </a:lnTo>
                        <a:lnTo>
                          <a:pt x="248" y="89"/>
                        </a:lnTo>
                        <a:lnTo>
                          <a:pt x="254" y="102"/>
                        </a:lnTo>
                        <a:lnTo>
                          <a:pt x="260" y="115"/>
                        </a:lnTo>
                        <a:lnTo>
                          <a:pt x="264" y="128"/>
                        </a:lnTo>
                        <a:lnTo>
                          <a:pt x="268" y="143"/>
                        </a:lnTo>
                        <a:lnTo>
                          <a:pt x="270" y="156"/>
                        </a:lnTo>
                        <a:lnTo>
                          <a:pt x="271" y="170"/>
                        </a:lnTo>
                        <a:lnTo>
                          <a:pt x="270" y="184"/>
                        </a:lnTo>
                        <a:lnTo>
                          <a:pt x="268" y="197"/>
                        </a:lnTo>
                        <a:lnTo>
                          <a:pt x="264" y="209"/>
                        </a:lnTo>
                        <a:lnTo>
                          <a:pt x="260" y="220"/>
                        </a:lnTo>
                        <a:lnTo>
                          <a:pt x="254" y="231"/>
                        </a:lnTo>
                        <a:lnTo>
                          <a:pt x="248" y="241"/>
                        </a:lnTo>
                        <a:lnTo>
                          <a:pt x="240" y="249"/>
                        </a:lnTo>
                        <a:lnTo>
                          <a:pt x="231" y="257"/>
                        </a:lnTo>
                        <a:lnTo>
                          <a:pt x="221" y="263"/>
                        </a:lnTo>
                        <a:lnTo>
                          <a:pt x="211" y="269"/>
                        </a:lnTo>
                        <a:lnTo>
                          <a:pt x="200" y="273"/>
                        </a:lnTo>
                        <a:lnTo>
                          <a:pt x="188" y="277"/>
                        </a:lnTo>
                        <a:lnTo>
                          <a:pt x="176" y="278"/>
                        </a:lnTo>
                        <a:lnTo>
                          <a:pt x="162" y="278"/>
                        </a:lnTo>
                        <a:lnTo>
                          <a:pt x="149" y="277"/>
                        </a:lnTo>
                        <a:lnTo>
                          <a:pt x="135" y="275"/>
                        </a:lnTo>
                        <a:lnTo>
                          <a:pt x="121" y="271"/>
                        </a:lnTo>
                        <a:lnTo>
                          <a:pt x="107" y="266"/>
                        </a:lnTo>
                        <a:lnTo>
                          <a:pt x="95" y="259"/>
                        </a:lnTo>
                        <a:lnTo>
                          <a:pt x="83" y="252"/>
                        </a:lnTo>
                        <a:lnTo>
                          <a:pt x="70" y="243"/>
                        </a:lnTo>
                        <a:lnTo>
                          <a:pt x="59" y="235"/>
                        </a:lnTo>
                        <a:lnTo>
                          <a:pt x="48" y="224"/>
                        </a:lnTo>
                        <a:lnTo>
                          <a:pt x="39" y="212"/>
                        </a:lnTo>
                        <a:lnTo>
                          <a:pt x="31" y="201"/>
                        </a:lnTo>
                        <a:lnTo>
                          <a:pt x="23" y="189"/>
                        </a:lnTo>
                        <a:lnTo>
                          <a:pt x="15" y="176"/>
                        </a:lnTo>
                        <a:lnTo>
                          <a:pt x="9" y="164"/>
                        </a:lnTo>
                        <a:lnTo>
                          <a:pt x="5" y="149"/>
                        </a:lnTo>
                        <a:lnTo>
                          <a:pt x="2" y="136"/>
                        </a:lnTo>
                        <a:lnTo>
                          <a:pt x="0" y="122"/>
                        </a:lnTo>
                        <a:lnTo>
                          <a:pt x="0" y="108"/>
                        </a:lnTo>
                        <a:lnTo>
                          <a:pt x="0" y="94"/>
                        </a:lnTo>
                        <a:lnTo>
                          <a:pt x="2" y="81"/>
                        </a:lnTo>
                        <a:lnTo>
                          <a:pt x="5" y="68"/>
                        </a:lnTo>
                        <a:lnTo>
                          <a:pt x="9" y="57"/>
                        </a:lnTo>
                        <a:lnTo>
                          <a:pt x="15" y="47"/>
                        </a:lnTo>
                        <a:lnTo>
                          <a:pt x="23" y="37"/>
                        </a:lnTo>
                        <a:lnTo>
                          <a:pt x="31" y="28"/>
                        </a:lnTo>
                        <a:lnTo>
                          <a:pt x="39" y="21"/>
                        </a:lnTo>
                        <a:lnTo>
                          <a:pt x="48" y="14"/>
                        </a:lnTo>
                        <a:lnTo>
                          <a:pt x="59" y="9"/>
                        </a:lnTo>
                        <a:lnTo>
                          <a:pt x="70" y="5"/>
                        </a:lnTo>
                        <a:lnTo>
                          <a:pt x="83" y="2"/>
                        </a:lnTo>
                        <a:lnTo>
                          <a:pt x="95" y="0"/>
                        </a:lnTo>
                        <a:lnTo>
                          <a:pt x="107" y="0"/>
                        </a:lnTo>
                        <a:lnTo>
                          <a:pt x="121" y="1"/>
                        </a:lnTo>
                        <a:lnTo>
                          <a:pt x="135" y="3"/>
                        </a:lnTo>
                        <a:close/>
                      </a:path>
                    </a:pathLst>
                  </a:custGeom>
                  <a:gradFill>
                    <a:gsLst>
                      <a:gs pos="0">
                        <a:srgbClr val="006994"/>
                      </a:gs>
                      <a:gs pos="50000">
                        <a:srgbClr val="009AD7"/>
                      </a:gs>
                      <a:gs pos="100000">
                        <a:srgbClr val="00B8FF"/>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nvGrpSpPr>
                <p:cNvPr id="1954" name="Google Shape;1954;g3f95de07730_1_1266"/>
                <p:cNvGrpSpPr/>
                <p:nvPr/>
              </p:nvGrpSpPr>
              <p:grpSpPr>
                <a:xfrm>
                  <a:off x="2939904" y="4690008"/>
                  <a:ext cx="145198" cy="153849"/>
                  <a:chOff x="5967413" y="-3362325"/>
                  <a:chExt cx="1133478" cy="1454150"/>
                </a:xfrm>
              </p:grpSpPr>
              <p:sp>
                <p:nvSpPr>
                  <p:cNvPr id="1955" name="Google Shape;1955;g3f95de07730_1_1266"/>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56" name="Google Shape;1956;g3f95de07730_1_1266"/>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57" name="Google Shape;1957;g3f95de07730_1_1266"/>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58" name="Google Shape;1958;g3f95de07730_1_1266"/>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59" name="Google Shape;1959;g3f95de07730_1_1266"/>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60" name="Google Shape;1960;g3f95de07730_1_1266"/>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61" name="Google Shape;1961;g3f95de07730_1_1266"/>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62" name="Google Shape;1962;g3f95de07730_1_1266"/>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63" name="Google Shape;1963;g3f95de07730_1_1266"/>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64" name="Google Shape;1964;g3f95de07730_1_1266"/>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65" name="Google Shape;1965;g3f95de07730_1_1266"/>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66" name="Google Shape;1966;g3f95de07730_1_1266"/>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67" name="Google Shape;1967;g3f95de07730_1_1266"/>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1968" name="Google Shape;1968;g3f95de07730_1_1266"/>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grpSp>
          <p:sp>
            <p:nvSpPr>
              <p:cNvPr id="1969" name="Google Shape;1969;g3f95de07730_1_1266"/>
              <p:cNvSpPr txBox="1"/>
              <p:nvPr/>
            </p:nvSpPr>
            <p:spPr>
              <a:xfrm>
                <a:off x="2866069" y="5491069"/>
                <a:ext cx="92700" cy="52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400"/>
                  <a:buFont typeface="Arial"/>
                  <a:buNone/>
                </a:pPr>
                <a:r>
                  <a:rPr lang="en-US" sz="400" b="1" i="0" u="none" strike="noStrike" cap="none">
                    <a:solidFill>
                      <a:srgbClr val="3F3F3F"/>
                    </a:solidFill>
                    <a:latin typeface="Roboto"/>
                    <a:ea typeface="Roboto"/>
                    <a:cs typeface="Roboto"/>
                    <a:sym typeface="Roboto"/>
                  </a:rPr>
                  <a:t>WN</a:t>
                </a:r>
                <a:endParaRPr sz="400" b="1" i="0" u="none" strike="noStrike" cap="none">
                  <a:solidFill>
                    <a:srgbClr val="3F3F3F"/>
                  </a:solidFill>
                  <a:latin typeface="Roboto"/>
                  <a:ea typeface="Roboto"/>
                  <a:cs typeface="Roboto"/>
                  <a:sym typeface="Roboto"/>
                </a:endParaRPr>
              </a:p>
            </p:txBody>
          </p:sp>
        </p:grpSp>
        <p:sp>
          <p:nvSpPr>
            <p:cNvPr id="1970" name="Google Shape;1970;g3f95de07730_1_1266"/>
            <p:cNvSpPr txBox="1"/>
            <p:nvPr/>
          </p:nvSpPr>
          <p:spPr>
            <a:xfrm>
              <a:off x="4437808" y="2863981"/>
              <a:ext cx="154500" cy="2910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3F3F3F"/>
                  </a:solidFill>
                  <a:latin typeface="Roboto"/>
                  <a:ea typeface="Roboto"/>
                  <a:cs typeface="Roboto"/>
                  <a:sym typeface="Roboto"/>
                </a:rPr>
                <a:t>2</a:t>
              </a:r>
              <a:endParaRPr sz="2200" b="1" i="0" u="none" strike="noStrike" cap="none">
                <a:solidFill>
                  <a:srgbClr val="3F3F3F"/>
                </a:solidFill>
                <a:latin typeface="Roboto"/>
                <a:ea typeface="Roboto"/>
                <a:cs typeface="Roboto"/>
                <a:sym typeface="Roboto"/>
              </a:endParaRPr>
            </a:p>
          </p:txBody>
        </p:sp>
        <p:sp>
          <p:nvSpPr>
            <p:cNvPr id="1971" name="Google Shape;1971;g3f95de07730_1_1266"/>
            <p:cNvSpPr/>
            <p:nvPr/>
          </p:nvSpPr>
          <p:spPr>
            <a:xfrm>
              <a:off x="662999" y="1473200"/>
              <a:ext cx="1767900" cy="225300"/>
            </a:xfrm>
            <a:prstGeom prst="round2SameRect">
              <a:avLst>
                <a:gd name="adj1" fmla="val 13520"/>
                <a:gd name="adj2" fmla="val 0"/>
              </a:avLst>
            </a:prstGeom>
            <a:solidFill>
              <a:srgbClr val="2D75B6"/>
            </a:solidFill>
            <a:ln>
              <a:noFill/>
            </a:ln>
          </p:spPr>
          <p:txBody>
            <a:bodyPr spcFirstLastPara="1" wrap="square" lIns="72000" tIns="36000" rIns="72000" bIns="36000" anchor="ctr" anchorCtr="0">
              <a:noAutofit/>
            </a:bodyPr>
            <a:lstStyle/>
            <a:p>
              <a:pPr marL="0" marR="0" lvl="0" indent="0" algn="ctr" rtl="0">
                <a:lnSpc>
                  <a:spcPct val="90000"/>
                </a:lnSpc>
                <a:spcBef>
                  <a:spcPts val="0"/>
                </a:spcBef>
                <a:spcAft>
                  <a:spcPts val="0"/>
                </a:spcAft>
                <a:buClr>
                  <a:srgbClr val="000000"/>
                </a:buClr>
                <a:buSzPts val="900"/>
                <a:buFont typeface="Arial"/>
                <a:buNone/>
              </a:pPr>
              <a:r>
                <a:rPr lang="en-US" sz="900" b="1" i="0" u="none" strike="noStrike" cap="none">
                  <a:solidFill>
                    <a:schemeClr val="lt1"/>
                  </a:solidFill>
                  <a:latin typeface="Roboto"/>
                  <a:ea typeface="Roboto"/>
                  <a:cs typeface="Roboto"/>
                  <a:sym typeface="Roboto"/>
                </a:rPr>
                <a:t>SUBMIT HOST</a:t>
              </a:r>
              <a:endParaRPr sz="1400" b="0" i="0" u="none" strike="noStrike" cap="none">
                <a:solidFill>
                  <a:srgbClr val="000000"/>
                </a:solidFill>
                <a:latin typeface="Arial"/>
                <a:ea typeface="Arial"/>
                <a:cs typeface="Arial"/>
                <a:sym typeface="Arial"/>
              </a:endParaRPr>
            </a:p>
          </p:txBody>
        </p:sp>
        <p:sp>
          <p:nvSpPr>
            <p:cNvPr id="1972" name="Google Shape;1972;g3f95de07730_1_1266"/>
            <p:cNvSpPr/>
            <p:nvPr/>
          </p:nvSpPr>
          <p:spPr>
            <a:xfrm>
              <a:off x="1430395" y="4304220"/>
              <a:ext cx="228600" cy="228600"/>
            </a:xfrm>
            <a:prstGeom prst="ellipse">
              <a:avLst/>
            </a:prstGeom>
            <a:noFill/>
            <a:ln w="9525" cap="flat" cmpd="sng">
              <a:solidFill>
                <a:srgbClr val="A5A5A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endParaRPr sz="600" b="1" i="0" u="none" strike="noStrike" cap="none">
                <a:solidFill>
                  <a:schemeClr val="lt1"/>
                </a:solidFill>
                <a:latin typeface="Roboto"/>
                <a:ea typeface="Roboto"/>
                <a:cs typeface="Roboto"/>
                <a:sym typeface="Roboto"/>
              </a:endParaRPr>
            </a:p>
          </p:txBody>
        </p:sp>
        <p:sp>
          <p:nvSpPr>
            <p:cNvPr id="1973" name="Google Shape;1973;g3f95de07730_1_1266"/>
            <p:cNvSpPr/>
            <p:nvPr/>
          </p:nvSpPr>
          <p:spPr>
            <a:xfrm>
              <a:off x="1430395" y="4919007"/>
              <a:ext cx="228600" cy="228600"/>
            </a:xfrm>
            <a:prstGeom prst="ellipse">
              <a:avLst/>
            </a:prstGeom>
            <a:noFill/>
            <a:ln w="9525" cap="flat" cmpd="sng">
              <a:solidFill>
                <a:srgbClr val="A5A5A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endParaRPr sz="600" b="1" i="0" u="none" strike="noStrike" cap="none">
                <a:solidFill>
                  <a:schemeClr val="lt1"/>
                </a:solidFill>
                <a:latin typeface="Roboto"/>
                <a:ea typeface="Roboto"/>
                <a:cs typeface="Roboto"/>
                <a:sym typeface="Roboto"/>
              </a:endParaRPr>
            </a:p>
          </p:txBody>
        </p:sp>
        <p:sp>
          <p:nvSpPr>
            <p:cNvPr id="1974" name="Google Shape;1974;g3f95de07730_1_1266"/>
            <p:cNvSpPr/>
            <p:nvPr/>
          </p:nvSpPr>
          <p:spPr>
            <a:xfrm>
              <a:off x="1104987" y="4608883"/>
              <a:ext cx="228600" cy="228600"/>
            </a:xfrm>
            <a:prstGeom prst="ellipse">
              <a:avLst/>
            </a:prstGeom>
            <a:noFill/>
            <a:ln w="9525" cap="flat" cmpd="sng">
              <a:solidFill>
                <a:srgbClr val="A5A5A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endParaRPr sz="600" b="1" i="0" u="none" strike="noStrike" cap="none">
                <a:solidFill>
                  <a:schemeClr val="lt1"/>
                </a:solidFill>
                <a:latin typeface="Roboto"/>
                <a:ea typeface="Roboto"/>
                <a:cs typeface="Roboto"/>
                <a:sym typeface="Roboto"/>
              </a:endParaRPr>
            </a:p>
          </p:txBody>
        </p:sp>
        <p:sp>
          <p:nvSpPr>
            <p:cNvPr id="1975" name="Google Shape;1975;g3f95de07730_1_1266"/>
            <p:cNvSpPr/>
            <p:nvPr/>
          </p:nvSpPr>
          <p:spPr>
            <a:xfrm>
              <a:off x="1763983" y="4608883"/>
              <a:ext cx="228600" cy="228600"/>
            </a:xfrm>
            <a:prstGeom prst="ellipse">
              <a:avLst/>
            </a:prstGeom>
            <a:noFill/>
            <a:ln w="9525" cap="flat" cmpd="sng">
              <a:solidFill>
                <a:srgbClr val="A5A5A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endParaRPr sz="600" b="1" i="0" u="none" strike="noStrike" cap="none">
                <a:solidFill>
                  <a:schemeClr val="lt1"/>
                </a:solidFill>
                <a:latin typeface="Roboto"/>
                <a:ea typeface="Roboto"/>
                <a:cs typeface="Roboto"/>
                <a:sym typeface="Roboto"/>
              </a:endParaRPr>
            </a:p>
          </p:txBody>
        </p:sp>
        <p:sp>
          <p:nvSpPr>
            <p:cNvPr id="1976" name="Google Shape;1976;g3f95de07730_1_1266"/>
            <p:cNvSpPr/>
            <p:nvPr/>
          </p:nvSpPr>
          <p:spPr>
            <a:xfrm>
              <a:off x="1450233" y="4324058"/>
              <a:ext cx="189000" cy="1890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en-US" sz="600" b="1" i="0" u="none" strike="noStrike" cap="none">
                  <a:solidFill>
                    <a:schemeClr val="lt1"/>
                  </a:solidFill>
                  <a:latin typeface="Roboto"/>
                  <a:ea typeface="Roboto"/>
                  <a:cs typeface="Roboto"/>
                  <a:sym typeface="Roboto"/>
                </a:rPr>
                <a:t>X</a:t>
              </a:r>
              <a:endParaRPr sz="1400" b="0" i="0" u="none" strike="noStrike" cap="none">
                <a:solidFill>
                  <a:srgbClr val="000000"/>
                </a:solidFill>
                <a:latin typeface="Arial"/>
                <a:ea typeface="Arial"/>
                <a:cs typeface="Arial"/>
                <a:sym typeface="Arial"/>
              </a:endParaRPr>
            </a:p>
          </p:txBody>
        </p:sp>
        <p:sp>
          <p:nvSpPr>
            <p:cNvPr id="1977" name="Google Shape;1977;g3f95de07730_1_1266"/>
            <p:cNvSpPr/>
            <p:nvPr/>
          </p:nvSpPr>
          <p:spPr>
            <a:xfrm>
              <a:off x="1450233" y="4938845"/>
              <a:ext cx="189000" cy="1890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en-US" sz="600" b="1" i="0" u="none" strike="noStrike" cap="none">
                  <a:solidFill>
                    <a:schemeClr val="lt1"/>
                  </a:solidFill>
                  <a:latin typeface="Roboto"/>
                  <a:ea typeface="Roboto"/>
                  <a:cs typeface="Roboto"/>
                  <a:sym typeface="Roboto"/>
                </a:rPr>
                <a:t>Y</a:t>
              </a:r>
              <a:endParaRPr sz="1400" b="0" i="0" u="none" strike="noStrike" cap="none">
                <a:solidFill>
                  <a:srgbClr val="000000"/>
                </a:solidFill>
                <a:latin typeface="Arial"/>
                <a:ea typeface="Arial"/>
                <a:cs typeface="Arial"/>
                <a:sym typeface="Arial"/>
              </a:endParaRPr>
            </a:p>
          </p:txBody>
        </p:sp>
        <p:sp>
          <p:nvSpPr>
            <p:cNvPr id="1978" name="Google Shape;1978;g3f95de07730_1_1266"/>
            <p:cNvSpPr/>
            <p:nvPr/>
          </p:nvSpPr>
          <p:spPr>
            <a:xfrm>
              <a:off x="1125740" y="4628721"/>
              <a:ext cx="189000" cy="1890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en-US" sz="600" b="1" i="0" u="none" strike="noStrike" cap="none">
                  <a:solidFill>
                    <a:schemeClr val="lt1"/>
                  </a:solidFill>
                  <a:latin typeface="Roboto"/>
                  <a:ea typeface="Roboto"/>
                  <a:cs typeface="Roboto"/>
                  <a:sym typeface="Roboto"/>
                </a:rPr>
                <a:t>W</a:t>
              </a:r>
              <a:endParaRPr sz="1400" b="0" i="0" u="none" strike="noStrike" cap="none">
                <a:solidFill>
                  <a:srgbClr val="000000"/>
                </a:solidFill>
                <a:latin typeface="Arial"/>
                <a:ea typeface="Arial"/>
                <a:cs typeface="Arial"/>
                <a:sym typeface="Arial"/>
              </a:endParaRPr>
            </a:p>
          </p:txBody>
        </p:sp>
        <p:sp>
          <p:nvSpPr>
            <p:cNvPr id="1979" name="Google Shape;1979;g3f95de07730_1_1266"/>
            <p:cNvSpPr/>
            <p:nvPr/>
          </p:nvSpPr>
          <p:spPr>
            <a:xfrm>
              <a:off x="1784736" y="4628721"/>
              <a:ext cx="189000" cy="1890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en-US" sz="600" b="1" i="0" u="none" strike="noStrike" cap="none">
                  <a:solidFill>
                    <a:schemeClr val="lt1"/>
                  </a:solidFill>
                  <a:latin typeface="Roboto"/>
                  <a:ea typeface="Roboto"/>
                  <a:cs typeface="Roboto"/>
                  <a:sym typeface="Roboto"/>
                </a:rPr>
                <a:t>J</a:t>
              </a:r>
              <a:endParaRPr sz="1400" b="0" i="0" u="none" strike="noStrike" cap="none">
                <a:solidFill>
                  <a:srgbClr val="000000"/>
                </a:solidFill>
                <a:latin typeface="Arial"/>
                <a:ea typeface="Arial"/>
                <a:cs typeface="Arial"/>
                <a:sym typeface="Arial"/>
              </a:endParaRPr>
            </a:p>
          </p:txBody>
        </p:sp>
        <p:cxnSp>
          <p:nvCxnSpPr>
            <p:cNvPr id="1980" name="Google Shape;1980;g3f95de07730_1_1266"/>
            <p:cNvCxnSpPr/>
            <p:nvPr/>
          </p:nvCxnSpPr>
          <p:spPr>
            <a:xfrm flipH="1">
              <a:off x="1322051" y="4520166"/>
              <a:ext cx="121800" cy="107700"/>
            </a:xfrm>
            <a:prstGeom prst="straightConnector1">
              <a:avLst/>
            </a:prstGeom>
            <a:noFill/>
            <a:ln w="19050" cap="flat" cmpd="sng">
              <a:solidFill>
                <a:srgbClr val="A5A5A5"/>
              </a:solidFill>
              <a:prstDash val="solid"/>
              <a:miter lim="8000"/>
              <a:headEnd type="none" w="sm" len="sm"/>
              <a:tailEnd type="triangle" w="med" len="med"/>
            </a:ln>
          </p:spPr>
        </p:cxnSp>
        <p:cxnSp>
          <p:nvCxnSpPr>
            <p:cNvPr id="1981" name="Google Shape;1981;g3f95de07730_1_1266"/>
            <p:cNvCxnSpPr/>
            <p:nvPr/>
          </p:nvCxnSpPr>
          <p:spPr>
            <a:xfrm>
              <a:off x="1648666" y="4520166"/>
              <a:ext cx="127500" cy="107700"/>
            </a:xfrm>
            <a:prstGeom prst="straightConnector1">
              <a:avLst/>
            </a:prstGeom>
            <a:noFill/>
            <a:ln w="19050" cap="flat" cmpd="sng">
              <a:solidFill>
                <a:srgbClr val="A5A5A5"/>
              </a:solidFill>
              <a:prstDash val="solid"/>
              <a:miter lim="8000"/>
              <a:headEnd type="none" w="sm" len="sm"/>
              <a:tailEnd type="triangle" w="med" len="med"/>
            </a:ln>
          </p:spPr>
        </p:cxnSp>
        <p:cxnSp>
          <p:nvCxnSpPr>
            <p:cNvPr id="1982" name="Google Shape;1982;g3f95de07730_1_1266"/>
            <p:cNvCxnSpPr/>
            <p:nvPr/>
          </p:nvCxnSpPr>
          <p:spPr>
            <a:xfrm flipH="1">
              <a:off x="1648642" y="4825695"/>
              <a:ext cx="127500" cy="111600"/>
            </a:xfrm>
            <a:prstGeom prst="straightConnector1">
              <a:avLst/>
            </a:prstGeom>
            <a:noFill/>
            <a:ln w="19050" cap="flat" cmpd="sng">
              <a:solidFill>
                <a:srgbClr val="A5A5A5"/>
              </a:solidFill>
              <a:prstDash val="solid"/>
              <a:miter lim="8000"/>
              <a:headEnd type="none" w="sm" len="sm"/>
              <a:tailEnd type="triangle" w="med" len="med"/>
            </a:ln>
          </p:spPr>
        </p:cxnSp>
        <p:cxnSp>
          <p:nvCxnSpPr>
            <p:cNvPr id="1983" name="Google Shape;1983;g3f95de07730_1_1266"/>
            <p:cNvCxnSpPr/>
            <p:nvPr/>
          </p:nvCxnSpPr>
          <p:spPr>
            <a:xfrm>
              <a:off x="1321962" y="4825695"/>
              <a:ext cx="121800" cy="111600"/>
            </a:xfrm>
            <a:prstGeom prst="straightConnector1">
              <a:avLst/>
            </a:prstGeom>
            <a:noFill/>
            <a:ln w="19050" cap="flat" cmpd="sng">
              <a:solidFill>
                <a:srgbClr val="A5A5A5"/>
              </a:solidFill>
              <a:prstDash val="solid"/>
              <a:miter lim="8000"/>
              <a:headEnd type="none" w="sm" len="sm"/>
              <a:tailEnd type="triangle" w="med" len="med"/>
            </a:ln>
          </p:spPr>
        </p:cxnSp>
        <p:sp>
          <p:nvSpPr>
            <p:cNvPr id="1984" name="Google Shape;1984;g3f95de07730_1_1266"/>
            <p:cNvSpPr/>
            <p:nvPr/>
          </p:nvSpPr>
          <p:spPr>
            <a:xfrm>
              <a:off x="1441701" y="1931787"/>
              <a:ext cx="207900" cy="2079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en-US" sz="600" b="1" i="0" u="none" strike="noStrike" cap="none">
                  <a:solidFill>
                    <a:schemeClr val="lt1"/>
                  </a:solidFill>
                  <a:latin typeface="Roboto"/>
                  <a:ea typeface="Roboto"/>
                  <a:cs typeface="Roboto"/>
                  <a:sym typeface="Roboto"/>
                </a:rPr>
                <a:t>X</a:t>
              </a:r>
              <a:endParaRPr sz="1400" b="0" i="0" u="none" strike="noStrike" cap="none">
                <a:solidFill>
                  <a:srgbClr val="000000"/>
                </a:solidFill>
                <a:latin typeface="Arial"/>
                <a:ea typeface="Arial"/>
                <a:cs typeface="Arial"/>
                <a:sym typeface="Arial"/>
              </a:endParaRPr>
            </a:p>
          </p:txBody>
        </p:sp>
        <p:sp>
          <p:nvSpPr>
            <p:cNvPr id="1985" name="Google Shape;1985;g3f95de07730_1_1266"/>
            <p:cNvSpPr/>
            <p:nvPr/>
          </p:nvSpPr>
          <p:spPr>
            <a:xfrm>
              <a:off x="1441701" y="2546574"/>
              <a:ext cx="207900" cy="2079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en-US" sz="600" b="1" i="0" u="none" strike="noStrike" cap="none">
                  <a:solidFill>
                    <a:schemeClr val="lt1"/>
                  </a:solidFill>
                  <a:latin typeface="Roboto"/>
                  <a:ea typeface="Roboto"/>
                  <a:cs typeface="Roboto"/>
                  <a:sym typeface="Roboto"/>
                </a:rPr>
                <a:t>Y</a:t>
              </a:r>
              <a:endParaRPr sz="1400" b="0" i="0" u="none" strike="noStrike" cap="none">
                <a:solidFill>
                  <a:srgbClr val="000000"/>
                </a:solidFill>
                <a:latin typeface="Arial"/>
                <a:ea typeface="Arial"/>
                <a:cs typeface="Arial"/>
                <a:sym typeface="Arial"/>
              </a:endParaRPr>
            </a:p>
          </p:txBody>
        </p:sp>
        <p:sp>
          <p:nvSpPr>
            <p:cNvPr id="1986" name="Google Shape;1986;g3f95de07730_1_1266"/>
            <p:cNvSpPr/>
            <p:nvPr/>
          </p:nvSpPr>
          <p:spPr>
            <a:xfrm>
              <a:off x="1116293" y="2236450"/>
              <a:ext cx="207900" cy="2079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en-US" sz="600" b="1" i="0" u="none" strike="noStrike" cap="none">
                  <a:solidFill>
                    <a:schemeClr val="lt1"/>
                  </a:solidFill>
                  <a:latin typeface="Roboto"/>
                  <a:ea typeface="Roboto"/>
                  <a:cs typeface="Roboto"/>
                  <a:sym typeface="Roboto"/>
                </a:rPr>
                <a:t>J</a:t>
              </a:r>
              <a:endParaRPr sz="1400" b="0" i="0" u="none" strike="noStrike" cap="none">
                <a:solidFill>
                  <a:srgbClr val="000000"/>
                </a:solidFill>
                <a:latin typeface="Arial"/>
                <a:ea typeface="Arial"/>
                <a:cs typeface="Arial"/>
                <a:sym typeface="Arial"/>
              </a:endParaRPr>
            </a:p>
          </p:txBody>
        </p:sp>
        <p:sp>
          <p:nvSpPr>
            <p:cNvPr id="1987" name="Google Shape;1987;g3f95de07730_1_1266"/>
            <p:cNvSpPr/>
            <p:nvPr/>
          </p:nvSpPr>
          <p:spPr>
            <a:xfrm>
              <a:off x="1775289" y="2236450"/>
              <a:ext cx="207900" cy="2079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en-US" sz="600" b="1" i="0" u="none" strike="noStrike" cap="none">
                  <a:solidFill>
                    <a:schemeClr val="lt1"/>
                  </a:solidFill>
                  <a:latin typeface="Roboto"/>
                  <a:ea typeface="Roboto"/>
                  <a:cs typeface="Roboto"/>
                  <a:sym typeface="Roboto"/>
                </a:rPr>
                <a:t>W</a:t>
              </a:r>
              <a:endParaRPr sz="1400" b="0" i="0" u="none" strike="noStrike" cap="none">
                <a:solidFill>
                  <a:srgbClr val="000000"/>
                </a:solidFill>
                <a:latin typeface="Arial"/>
                <a:ea typeface="Arial"/>
                <a:cs typeface="Arial"/>
                <a:sym typeface="Arial"/>
              </a:endParaRPr>
            </a:p>
          </p:txBody>
        </p:sp>
        <p:sp>
          <p:nvSpPr>
            <p:cNvPr id="1988" name="Google Shape;1988;g3f95de07730_1_1266"/>
            <p:cNvSpPr txBox="1"/>
            <p:nvPr/>
          </p:nvSpPr>
          <p:spPr>
            <a:xfrm>
              <a:off x="977946" y="1743357"/>
              <a:ext cx="1135200" cy="1191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1" u="none" strike="noStrike" cap="none">
                  <a:solidFill>
                    <a:srgbClr val="7F7F7F"/>
                  </a:solidFill>
                  <a:latin typeface="Roboto"/>
                  <a:ea typeface="Roboto"/>
                  <a:cs typeface="Roboto"/>
                  <a:sym typeface="Roboto"/>
                </a:rPr>
                <a:t>Abstract Workflows</a:t>
              </a:r>
              <a:endParaRPr sz="900" b="0" i="1" u="none" strike="noStrike" cap="none">
                <a:solidFill>
                  <a:srgbClr val="7F7F7F"/>
                </a:solidFill>
                <a:latin typeface="Roboto"/>
                <a:ea typeface="Roboto"/>
                <a:cs typeface="Roboto"/>
                <a:sym typeface="Roboto"/>
              </a:endParaRPr>
            </a:p>
          </p:txBody>
        </p:sp>
        <p:cxnSp>
          <p:nvCxnSpPr>
            <p:cNvPr id="1989" name="Google Shape;1989;g3f95de07730_1_1266"/>
            <p:cNvCxnSpPr/>
            <p:nvPr/>
          </p:nvCxnSpPr>
          <p:spPr>
            <a:xfrm flipH="1">
              <a:off x="1322051" y="2134167"/>
              <a:ext cx="121800" cy="107700"/>
            </a:xfrm>
            <a:prstGeom prst="straightConnector1">
              <a:avLst/>
            </a:prstGeom>
            <a:noFill/>
            <a:ln w="19050" cap="flat" cmpd="sng">
              <a:solidFill>
                <a:srgbClr val="A5A5A5"/>
              </a:solidFill>
              <a:prstDash val="solid"/>
              <a:miter lim="8000"/>
              <a:headEnd type="none" w="sm" len="sm"/>
              <a:tailEnd type="triangle" w="med" len="med"/>
            </a:ln>
          </p:spPr>
        </p:cxnSp>
        <p:cxnSp>
          <p:nvCxnSpPr>
            <p:cNvPr id="1990" name="Google Shape;1990;g3f95de07730_1_1266"/>
            <p:cNvCxnSpPr/>
            <p:nvPr/>
          </p:nvCxnSpPr>
          <p:spPr>
            <a:xfrm>
              <a:off x="1648666" y="2134167"/>
              <a:ext cx="127500" cy="107700"/>
            </a:xfrm>
            <a:prstGeom prst="straightConnector1">
              <a:avLst/>
            </a:prstGeom>
            <a:noFill/>
            <a:ln w="19050" cap="flat" cmpd="sng">
              <a:solidFill>
                <a:srgbClr val="A5A5A5"/>
              </a:solidFill>
              <a:prstDash val="solid"/>
              <a:miter lim="8000"/>
              <a:headEnd type="none" w="sm" len="sm"/>
              <a:tailEnd type="triangle" w="med" len="med"/>
            </a:ln>
          </p:spPr>
        </p:cxnSp>
        <p:cxnSp>
          <p:nvCxnSpPr>
            <p:cNvPr id="1991" name="Google Shape;1991;g3f95de07730_1_1266"/>
            <p:cNvCxnSpPr/>
            <p:nvPr/>
          </p:nvCxnSpPr>
          <p:spPr>
            <a:xfrm flipH="1">
              <a:off x="1648642" y="2439696"/>
              <a:ext cx="127500" cy="111600"/>
            </a:xfrm>
            <a:prstGeom prst="straightConnector1">
              <a:avLst/>
            </a:prstGeom>
            <a:noFill/>
            <a:ln w="19050" cap="flat" cmpd="sng">
              <a:solidFill>
                <a:srgbClr val="A5A5A5"/>
              </a:solidFill>
              <a:prstDash val="solid"/>
              <a:miter lim="8000"/>
              <a:headEnd type="none" w="sm" len="sm"/>
              <a:tailEnd type="triangle" w="med" len="med"/>
            </a:ln>
          </p:spPr>
        </p:cxnSp>
        <p:cxnSp>
          <p:nvCxnSpPr>
            <p:cNvPr id="1992" name="Google Shape;1992;g3f95de07730_1_1266"/>
            <p:cNvCxnSpPr/>
            <p:nvPr/>
          </p:nvCxnSpPr>
          <p:spPr>
            <a:xfrm>
              <a:off x="1321962" y="2439696"/>
              <a:ext cx="121800" cy="111600"/>
            </a:xfrm>
            <a:prstGeom prst="straightConnector1">
              <a:avLst/>
            </a:prstGeom>
            <a:noFill/>
            <a:ln w="19050" cap="flat" cmpd="sng">
              <a:solidFill>
                <a:srgbClr val="A5A5A5"/>
              </a:solidFill>
              <a:prstDash val="solid"/>
              <a:miter lim="8000"/>
              <a:headEnd type="none" w="sm" len="sm"/>
              <a:tailEnd type="triangle" w="med" len="med"/>
            </a:ln>
          </p:spPr>
        </p:cxnSp>
        <p:sp>
          <p:nvSpPr>
            <p:cNvPr id="1993" name="Google Shape;1993;g3f95de07730_1_1266"/>
            <p:cNvSpPr/>
            <p:nvPr/>
          </p:nvSpPr>
          <p:spPr>
            <a:xfrm>
              <a:off x="1102323" y="3089424"/>
              <a:ext cx="880800" cy="195900"/>
            </a:xfrm>
            <a:prstGeom prst="roundRect">
              <a:avLst>
                <a:gd name="adj" fmla="val 16667"/>
              </a:avLst>
            </a:prstGeom>
            <a:solidFill>
              <a:srgbClr val="2D75B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1"/>
                  </a:solidFill>
                  <a:latin typeface="Roboto"/>
                  <a:ea typeface="Roboto"/>
                  <a:cs typeface="Roboto"/>
                  <a:sym typeface="Roboto"/>
                </a:rPr>
                <a:t>Pegasus Planner</a:t>
              </a:r>
              <a:endParaRPr sz="1400" b="0" i="0" u="none" strike="noStrike" cap="none">
                <a:solidFill>
                  <a:srgbClr val="000000"/>
                </a:solidFill>
                <a:latin typeface="Arial"/>
                <a:ea typeface="Arial"/>
                <a:cs typeface="Arial"/>
                <a:sym typeface="Arial"/>
              </a:endParaRPr>
            </a:p>
          </p:txBody>
        </p:sp>
        <p:sp>
          <p:nvSpPr>
            <p:cNvPr id="1994" name="Google Shape;1994;g3f95de07730_1_1266"/>
            <p:cNvSpPr/>
            <p:nvPr/>
          </p:nvSpPr>
          <p:spPr>
            <a:xfrm>
              <a:off x="1423244" y="2807260"/>
              <a:ext cx="238800" cy="229200"/>
            </a:xfrm>
            <a:prstGeom prst="downArrow">
              <a:avLst>
                <a:gd name="adj1" fmla="val 68119"/>
                <a:gd name="adj2" fmla="val 50000"/>
              </a:avLst>
            </a:prstGeom>
            <a:gradFill>
              <a:gsLst>
                <a:gs pos="0">
                  <a:srgbClr val="BFBFBF">
                    <a:alpha val="0"/>
                  </a:srgbClr>
                </a:gs>
                <a:gs pos="85000">
                  <a:srgbClr val="BFBFBF"/>
                </a:gs>
                <a:gs pos="100000">
                  <a:srgbClr val="BFBFB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1995" name="Google Shape;1995;g3f95de07730_1_1266"/>
            <p:cNvSpPr/>
            <p:nvPr/>
          </p:nvSpPr>
          <p:spPr>
            <a:xfrm>
              <a:off x="1423244" y="3338268"/>
              <a:ext cx="238800" cy="229200"/>
            </a:xfrm>
            <a:prstGeom prst="downArrow">
              <a:avLst>
                <a:gd name="adj1" fmla="val 68119"/>
                <a:gd name="adj2" fmla="val 50000"/>
              </a:avLst>
            </a:prstGeom>
            <a:gradFill>
              <a:gsLst>
                <a:gs pos="0">
                  <a:srgbClr val="BFBFBF">
                    <a:alpha val="0"/>
                  </a:srgbClr>
                </a:gs>
                <a:gs pos="85000">
                  <a:srgbClr val="BFBFBF"/>
                </a:gs>
                <a:gs pos="100000">
                  <a:srgbClr val="BFBFB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1996" name="Google Shape;1996;g3f95de07730_1_1266"/>
            <p:cNvSpPr/>
            <p:nvPr/>
          </p:nvSpPr>
          <p:spPr>
            <a:xfrm>
              <a:off x="1441701" y="3620433"/>
              <a:ext cx="207900" cy="2079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chemeClr val="lt1"/>
                </a:solidFill>
                <a:latin typeface="Roboto"/>
                <a:ea typeface="Roboto"/>
                <a:cs typeface="Roboto"/>
                <a:sym typeface="Roboto"/>
              </a:endParaRPr>
            </a:p>
          </p:txBody>
        </p:sp>
        <p:sp>
          <p:nvSpPr>
            <p:cNvPr id="1997" name="Google Shape;1997;g3f95de07730_1_1266"/>
            <p:cNvSpPr/>
            <p:nvPr/>
          </p:nvSpPr>
          <p:spPr>
            <a:xfrm>
              <a:off x="1441701" y="3969110"/>
              <a:ext cx="207900" cy="207900"/>
            </a:xfrm>
            <a:prstGeom prst="ellipse">
              <a:avLst/>
            </a:prstGeom>
            <a:solidFill>
              <a:srgbClr val="74CA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chemeClr val="lt1"/>
                </a:solidFill>
                <a:latin typeface="Roboto"/>
                <a:ea typeface="Roboto"/>
                <a:cs typeface="Roboto"/>
                <a:sym typeface="Roboto"/>
              </a:endParaRPr>
            </a:p>
          </p:txBody>
        </p:sp>
        <p:sp>
          <p:nvSpPr>
            <p:cNvPr id="1998" name="Google Shape;1998;g3f95de07730_1_1266"/>
            <p:cNvSpPr/>
            <p:nvPr/>
          </p:nvSpPr>
          <p:spPr>
            <a:xfrm>
              <a:off x="1441701" y="5284029"/>
              <a:ext cx="207900" cy="207900"/>
            </a:xfrm>
            <a:prstGeom prst="ellipse">
              <a:avLst/>
            </a:prstGeom>
            <a:solidFill>
              <a:srgbClr val="119D9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chemeClr val="lt1"/>
                </a:solidFill>
                <a:latin typeface="Roboto"/>
                <a:ea typeface="Roboto"/>
                <a:cs typeface="Roboto"/>
                <a:sym typeface="Roboto"/>
              </a:endParaRPr>
            </a:p>
          </p:txBody>
        </p:sp>
        <p:sp>
          <p:nvSpPr>
            <p:cNvPr id="1999" name="Google Shape;1999;g3f95de07730_1_1266"/>
            <p:cNvSpPr/>
            <p:nvPr/>
          </p:nvSpPr>
          <p:spPr>
            <a:xfrm>
              <a:off x="1441701" y="5632706"/>
              <a:ext cx="207900" cy="207900"/>
            </a:xfrm>
            <a:prstGeom prst="ellipse">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chemeClr val="lt1"/>
                </a:solidFill>
                <a:latin typeface="Roboto"/>
                <a:ea typeface="Roboto"/>
                <a:cs typeface="Roboto"/>
                <a:sym typeface="Roboto"/>
              </a:endParaRPr>
            </a:p>
          </p:txBody>
        </p:sp>
        <p:sp>
          <p:nvSpPr>
            <p:cNvPr id="2000" name="Google Shape;2000;g3f95de07730_1_1266"/>
            <p:cNvSpPr/>
            <p:nvPr/>
          </p:nvSpPr>
          <p:spPr>
            <a:xfrm>
              <a:off x="1111769" y="6164184"/>
              <a:ext cx="861900" cy="195900"/>
            </a:xfrm>
            <a:prstGeom prst="roundRect">
              <a:avLst>
                <a:gd name="adj" fmla="val 16667"/>
              </a:avLst>
            </a:prstGeom>
            <a:solidFill>
              <a:srgbClr val="2D75B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1"/>
                  </a:solidFill>
                  <a:latin typeface="Roboto"/>
                  <a:ea typeface="Roboto"/>
                  <a:cs typeface="Roboto"/>
                  <a:sym typeface="Roboto"/>
                </a:rPr>
                <a:t>Condor DAGMan</a:t>
              </a:r>
              <a:endParaRPr sz="800" b="1" i="0" u="none" strike="noStrike" cap="none">
                <a:solidFill>
                  <a:schemeClr val="lt1"/>
                </a:solidFill>
                <a:latin typeface="Roboto"/>
                <a:ea typeface="Roboto"/>
                <a:cs typeface="Roboto"/>
                <a:sym typeface="Roboto"/>
              </a:endParaRPr>
            </a:p>
          </p:txBody>
        </p:sp>
        <p:sp>
          <p:nvSpPr>
            <p:cNvPr id="2001" name="Google Shape;2001;g3f95de07730_1_1266"/>
            <p:cNvSpPr/>
            <p:nvPr/>
          </p:nvSpPr>
          <p:spPr>
            <a:xfrm>
              <a:off x="1423244" y="5887706"/>
              <a:ext cx="238800" cy="229200"/>
            </a:xfrm>
            <a:prstGeom prst="downArrow">
              <a:avLst>
                <a:gd name="adj1" fmla="val 68119"/>
                <a:gd name="adj2" fmla="val 50000"/>
              </a:avLst>
            </a:prstGeom>
            <a:gradFill>
              <a:gsLst>
                <a:gs pos="0">
                  <a:srgbClr val="BFBFBF">
                    <a:alpha val="0"/>
                  </a:srgbClr>
                </a:gs>
                <a:gs pos="85000">
                  <a:srgbClr val="BFBFBF"/>
                </a:gs>
                <a:gs pos="100000">
                  <a:srgbClr val="BFBFBF"/>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2002" name="Google Shape;2002;g3f95de07730_1_1266"/>
            <p:cNvSpPr txBox="1"/>
            <p:nvPr/>
          </p:nvSpPr>
          <p:spPr>
            <a:xfrm>
              <a:off x="977945" y="3603459"/>
              <a:ext cx="336600" cy="238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600"/>
                <a:buFont typeface="Arial"/>
                <a:buNone/>
              </a:pPr>
              <a:r>
                <a:rPr lang="en-US" sz="600" b="1" i="0" u="none" strike="noStrike" cap="none">
                  <a:solidFill>
                    <a:srgbClr val="3F3F3F"/>
                  </a:solidFill>
                  <a:latin typeface="Roboto"/>
                  <a:ea typeface="Roboto"/>
                  <a:cs typeface="Roboto"/>
                  <a:sym typeface="Roboto"/>
                </a:rPr>
                <a:t>Workflow Setup </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600"/>
                <a:buFont typeface="Arial"/>
                <a:buNone/>
              </a:pPr>
              <a:r>
                <a:rPr lang="en-US" sz="600" b="1" i="0" u="none" strike="noStrike" cap="none">
                  <a:solidFill>
                    <a:srgbClr val="3F3F3F"/>
                  </a:solidFill>
                  <a:latin typeface="Roboto"/>
                  <a:ea typeface="Roboto"/>
                  <a:cs typeface="Roboto"/>
                  <a:sym typeface="Roboto"/>
                </a:rPr>
                <a:t>Job</a:t>
              </a:r>
              <a:endParaRPr sz="600" b="1" i="0" u="none" strike="noStrike" cap="none">
                <a:solidFill>
                  <a:srgbClr val="3F3F3F"/>
                </a:solidFill>
                <a:latin typeface="Roboto"/>
                <a:ea typeface="Roboto"/>
                <a:cs typeface="Roboto"/>
                <a:sym typeface="Roboto"/>
              </a:endParaRPr>
            </a:p>
          </p:txBody>
        </p:sp>
        <p:sp>
          <p:nvSpPr>
            <p:cNvPr id="2003" name="Google Shape;2003;g3f95de07730_1_1266"/>
            <p:cNvSpPr txBox="1"/>
            <p:nvPr/>
          </p:nvSpPr>
          <p:spPr>
            <a:xfrm>
              <a:off x="977945" y="3951485"/>
              <a:ext cx="336600" cy="238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600"/>
                <a:buFont typeface="Arial"/>
                <a:buNone/>
              </a:pPr>
              <a:r>
                <a:rPr lang="en-US" sz="600" b="1" i="0" u="none" strike="noStrike" cap="none">
                  <a:solidFill>
                    <a:srgbClr val="3F3F3F"/>
                  </a:solidFill>
                  <a:latin typeface="Roboto"/>
                  <a:ea typeface="Roboto"/>
                  <a:cs typeface="Roboto"/>
                  <a:sym typeface="Roboto"/>
                </a:rPr>
                <a:t>Workflow Stagein </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600"/>
                <a:buFont typeface="Arial"/>
                <a:buNone/>
              </a:pPr>
              <a:r>
                <a:rPr lang="en-US" sz="600" b="1" i="0" u="none" strike="noStrike" cap="none">
                  <a:solidFill>
                    <a:srgbClr val="3F3F3F"/>
                  </a:solidFill>
                  <a:latin typeface="Roboto"/>
                  <a:ea typeface="Roboto"/>
                  <a:cs typeface="Roboto"/>
                  <a:sym typeface="Roboto"/>
                </a:rPr>
                <a:t>Job</a:t>
              </a:r>
              <a:endParaRPr sz="600" b="1" i="0" u="none" strike="noStrike" cap="none">
                <a:solidFill>
                  <a:srgbClr val="3F3F3F"/>
                </a:solidFill>
                <a:latin typeface="Roboto"/>
                <a:ea typeface="Roboto"/>
                <a:cs typeface="Roboto"/>
                <a:sym typeface="Roboto"/>
              </a:endParaRPr>
            </a:p>
          </p:txBody>
        </p:sp>
        <p:sp>
          <p:nvSpPr>
            <p:cNvPr id="2004" name="Google Shape;2004;g3f95de07730_1_1266"/>
            <p:cNvSpPr txBox="1"/>
            <p:nvPr/>
          </p:nvSpPr>
          <p:spPr>
            <a:xfrm>
              <a:off x="1743917" y="4361690"/>
              <a:ext cx="372000" cy="1587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600"/>
                <a:buFont typeface="Arial"/>
                <a:buNone/>
              </a:pPr>
              <a:r>
                <a:rPr lang="en-US" sz="600" b="1" i="0" u="none" strike="noStrike" cap="none">
                  <a:solidFill>
                    <a:srgbClr val="3F3F3F"/>
                  </a:solidFill>
                  <a:latin typeface="Roboto"/>
                  <a:ea typeface="Roboto"/>
                  <a:cs typeface="Roboto"/>
                  <a:sym typeface="Roboto"/>
                </a:rPr>
                <a:t>Executable</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600"/>
                <a:buFont typeface="Arial"/>
                <a:buNone/>
              </a:pPr>
              <a:r>
                <a:rPr lang="en-US" sz="600" b="1" i="0" u="none" strike="noStrike" cap="none">
                  <a:solidFill>
                    <a:srgbClr val="3F3F3F"/>
                  </a:solidFill>
                  <a:latin typeface="Roboto"/>
                  <a:ea typeface="Roboto"/>
                  <a:cs typeface="Roboto"/>
                  <a:sym typeface="Roboto"/>
                </a:rPr>
                <a:t>Workflow</a:t>
              </a:r>
              <a:endParaRPr sz="600" b="1" i="0" u="none" strike="noStrike" cap="none">
                <a:solidFill>
                  <a:srgbClr val="3F3F3F"/>
                </a:solidFill>
                <a:latin typeface="Roboto"/>
                <a:ea typeface="Roboto"/>
                <a:cs typeface="Roboto"/>
                <a:sym typeface="Roboto"/>
              </a:endParaRPr>
            </a:p>
          </p:txBody>
        </p:sp>
        <p:sp>
          <p:nvSpPr>
            <p:cNvPr id="2005" name="Google Shape;2005;g3f95de07730_1_1266"/>
            <p:cNvSpPr txBox="1"/>
            <p:nvPr/>
          </p:nvSpPr>
          <p:spPr>
            <a:xfrm>
              <a:off x="977945" y="5264560"/>
              <a:ext cx="336600" cy="238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600"/>
                <a:buFont typeface="Arial"/>
                <a:buNone/>
              </a:pPr>
              <a:r>
                <a:rPr lang="en-US" sz="600" b="1" i="0" u="none" strike="noStrike" cap="none">
                  <a:solidFill>
                    <a:srgbClr val="3F3F3F"/>
                  </a:solidFill>
                  <a:latin typeface="Roboto"/>
                  <a:ea typeface="Roboto"/>
                  <a:cs typeface="Roboto"/>
                  <a:sym typeface="Roboto"/>
                </a:rPr>
                <a:t>Workflow Stageout </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600"/>
                <a:buFont typeface="Arial"/>
                <a:buNone/>
              </a:pPr>
              <a:r>
                <a:rPr lang="en-US" sz="600" b="1" i="0" u="none" strike="noStrike" cap="none">
                  <a:solidFill>
                    <a:srgbClr val="3F3F3F"/>
                  </a:solidFill>
                  <a:latin typeface="Roboto"/>
                  <a:ea typeface="Roboto"/>
                  <a:cs typeface="Roboto"/>
                  <a:sym typeface="Roboto"/>
                </a:rPr>
                <a:t>Job</a:t>
              </a:r>
              <a:endParaRPr sz="600" b="1" i="0" u="none" strike="noStrike" cap="none">
                <a:solidFill>
                  <a:srgbClr val="3F3F3F"/>
                </a:solidFill>
                <a:latin typeface="Roboto"/>
                <a:ea typeface="Roboto"/>
                <a:cs typeface="Roboto"/>
                <a:sym typeface="Roboto"/>
              </a:endParaRPr>
            </a:p>
          </p:txBody>
        </p:sp>
        <p:sp>
          <p:nvSpPr>
            <p:cNvPr id="2006" name="Google Shape;2006;g3f95de07730_1_1266"/>
            <p:cNvSpPr txBox="1"/>
            <p:nvPr/>
          </p:nvSpPr>
          <p:spPr>
            <a:xfrm>
              <a:off x="977945" y="5612587"/>
              <a:ext cx="336600" cy="238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600"/>
                <a:buFont typeface="Arial"/>
                <a:buNone/>
              </a:pPr>
              <a:r>
                <a:rPr lang="en-US" sz="600" b="1" i="0" u="none" strike="noStrike" cap="none">
                  <a:solidFill>
                    <a:srgbClr val="3F3F3F"/>
                  </a:solidFill>
                  <a:latin typeface="Roboto"/>
                  <a:ea typeface="Roboto"/>
                  <a:cs typeface="Roboto"/>
                  <a:sym typeface="Roboto"/>
                </a:rPr>
                <a:t>Data</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600"/>
                <a:buFont typeface="Arial"/>
                <a:buNone/>
              </a:pPr>
              <a:r>
                <a:rPr lang="en-US" sz="600" b="1" i="0" u="none" strike="noStrike" cap="none">
                  <a:solidFill>
                    <a:srgbClr val="3F3F3F"/>
                  </a:solidFill>
                  <a:latin typeface="Roboto"/>
                  <a:ea typeface="Roboto"/>
                  <a:cs typeface="Roboto"/>
                  <a:sym typeface="Roboto"/>
                </a:rPr>
                <a:t>Cleanup </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600"/>
                <a:buFont typeface="Arial"/>
                <a:buNone/>
              </a:pPr>
              <a:r>
                <a:rPr lang="en-US" sz="600" b="1" i="0" u="none" strike="noStrike" cap="none">
                  <a:solidFill>
                    <a:srgbClr val="3F3F3F"/>
                  </a:solidFill>
                  <a:latin typeface="Roboto"/>
                  <a:ea typeface="Roboto"/>
                  <a:cs typeface="Roboto"/>
                  <a:sym typeface="Roboto"/>
                </a:rPr>
                <a:t>Job</a:t>
              </a:r>
              <a:endParaRPr sz="600" b="1" i="0" u="none" strike="noStrike" cap="none">
                <a:solidFill>
                  <a:srgbClr val="3F3F3F"/>
                </a:solidFill>
                <a:latin typeface="Roboto"/>
                <a:ea typeface="Roboto"/>
                <a:cs typeface="Roboto"/>
                <a:sym typeface="Roboto"/>
              </a:endParaRPr>
            </a:p>
          </p:txBody>
        </p:sp>
        <p:sp>
          <p:nvSpPr>
            <p:cNvPr id="2007" name="Google Shape;2007;g3f95de07730_1_1266"/>
            <p:cNvSpPr txBox="1"/>
            <p:nvPr/>
          </p:nvSpPr>
          <p:spPr>
            <a:xfrm>
              <a:off x="1975500" y="5264560"/>
              <a:ext cx="421200" cy="2382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600"/>
                <a:buFont typeface="Arial"/>
                <a:buNone/>
              </a:pPr>
              <a:r>
                <a:rPr lang="en-US" sz="600" b="1" i="0" u="none" strike="noStrike" cap="none">
                  <a:solidFill>
                    <a:srgbClr val="3F3F3F"/>
                  </a:solidFill>
                  <a:latin typeface="Roboto"/>
                  <a:ea typeface="Roboto"/>
                  <a:cs typeface="Roboto"/>
                  <a:sym typeface="Roboto"/>
                </a:rPr>
                <a:t>Condor Schedd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00"/>
                <a:buFont typeface="Arial"/>
                <a:buNone/>
              </a:pPr>
              <a:r>
                <a:rPr lang="en-US" sz="600" b="1" i="0" u="none" strike="noStrike" cap="none">
                  <a:solidFill>
                    <a:srgbClr val="3F3F3F"/>
                  </a:solidFill>
                  <a:latin typeface="Roboto"/>
                  <a:ea typeface="Roboto"/>
                  <a:cs typeface="Roboto"/>
                  <a:sym typeface="Roboto"/>
                </a:rPr>
                <a:t>Queue</a:t>
              </a:r>
              <a:endParaRPr sz="600" b="1" i="0" u="none" strike="noStrike" cap="none">
                <a:solidFill>
                  <a:srgbClr val="3F3F3F"/>
                </a:solidFill>
                <a:latin typeface="Roboto"/>
                <a:ea typeface="Roboto"/>
                <a:cs typeface="Roboto"/>
                <a:sym typeface="Roboto"/>
              </a:endParaRPr>
            </a:p>
          </p:txBody>
        </p:sp>
        <p:grpSp>
          <p:nvGrpSpPr>
            <p:cNvPr id="2008" name="Google Shape;2008;g3f95de07730_1_1266"/>
            <p:cNvGrpSpPr/>
            <p:nvPr/>
          </p:nvGrpSpPr>
          <p:grpSpPr>
            <a:xfrm>
              <a:off x="2064071" y="5546462"/>
              <a:ext cx="252412" cy="810809"/>
              <a:chOff x="2266950" y="4935222"/>
              <a:chExt cx="252412" cy="729735"/>
            </a:xfrm>
          </p:grpSpPr>
          <p:sp>
            <p:nvSpPr>
              <p:cNvPr id="2009" name="Google Shape;2009;g3f95de07730_1_1266"/>
              <p:cNvSpPr/>
              <p:nvPr/>
            </p:nvSpPr>
            <p:spPr>
              <a:xfrm>
                <a:off x="2266950" y="5593557"/>
                <a:ext cx="252300" cy="71400"/>
              </a:xfrm>
              <a:prstGeom prst="rect">
                <a:avLst/>
              </a:prstGeom>
              <a:solidFill>
                <a:srgbClr val="F2F2F2"/>
              </a:solidFill>
              <a:ln w="9525" cap="flat" cmpd="sng">
                <a:solidFill>
                  <a:srgbClr val="595959"/>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2010" name="Google Shape;2010;g3f95de07730_1_1266"/>
              <p:cNvSpPr/>
              <p:nvPr/>
            </p:nvSpPr>
            <p:spPr>
              <a:xfrm>
                <a:off x="2266950" y="5522120"/>
                <a:ext cx="252300" cy="71400"/>
              </a:xfrm>
              <a:prstGeom prst="rect">
                <a:avLst/>
              </a:prstGeom>
              <a:solidFill>
                <a:srgbClr val="F2F2F2"/>
              </a:solidFill>
              <a:ln w="9525" cap="flat" cmpd="sng">
                <a:solidFill>
                  <a:srgbClr val="595959"/>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2011" name="Google Shape;2011;g3f95de07730_1_1266"/>
              <p:cNvSpPr/>
              <p:nvPr/>
            </p:nvSpPr>
            <p:spPr>
              <a:xfrm>
                <a:off x="2266950" y="5450683"/>
                <a:ext cx="252300" cy="71400"/>
              </a:xfrm>
              <a:prstGeom prst="rect">
                <a:avLst/>
              </a:prstGeom>
              <a:solidFill>
                <a:srgbClr val="F2F2F2"/>
              </a:solidFill>
              <a:ln w="9525" cap="flat" cmpd="sng">
                <a:solidFill>
                  <a:srgbClr val="595959"/>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2012" name="Google Shape;2012;g3f95de07730_1_1266"/>
              <p:cNvSpPr/>
              <p:nvPr/>
            </p:nvSpPr>
            <p:spPr>
              <a:xfrm>
                <a:off x="2266950" y="5379246"/>
                <a:ext cx="252300" cy="71400"/>
              </a:xfrm>
              <a:prstGeom prst="rect">
                <a:avLst/>
              </a:prstGeom>
              <a:solidFill>
                <a:srgbClr val="F2F2F2"/>
              </a:solidFill>
              <a:ln w="9525" cap="flat" cmpd="sng">
                <a:solidFill>
                  <a:srgbClr val="595959"/>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2013" name="Google Shape;2013;g3f95de07730_1_1266"/>
              <p:cNvSpPr/>
              <p:nvPr/>
            </p:nvSpPr>
            <p:spPr>
              <a:xfrm>
                <a:off x="2266950" y="5307809"/>
                <a:ext cx="252300" cy="71400"/>
              </a:xfrm>
              <a:prstGeom prst="rect">
                <a:avLst/>
              </a:prstGeom>
              <a:solidFill>
                <a:srgbClr val="F2F2F2"/>
              </a:solidFill>
              <a:ln w="9525" cap="flat" cmpd="sng">
                <a:solidFill>
                  <a:srgbClr val="595959"/>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US" sz="500" b="1" i="0" u="none" strike="noStrike" cap="none">
                    <a:solidFill>
                      <a:srgbClr val="3F3F3F"/>
                    </a:solidFill>
                    <a:latin typeface="Roboto"/>
                    <a:ea typeface="Roboto"/>
                    <a:cs typeface="Roboto"/>
                    <a:sym typeface="Roboto"/>
                  </a:rPr>
                  <a:t>W</a:t>
                </a:r>
                <a:endParaRPr sz="1400" b="0" i="0" u="none" strike="noStrike" cap="none">
                  <a:solidFill>
                    <a:srgbClr val="000000"/>
                  </a:solidFill>
                  <a:latin typeface="Arial"/>
                  <a:ea typeface="Arial"/>
                  <a:cs typeface="Arial"/>
                  <a:sym typeface="Arial"/>
                </a:endParaRPr>
              </a:p>
            </p:txBody>
          </p:sp>
          <p:sp>
            <p:nvSpPr>
              <p:cNvPr id="2014" name="Google Shape;2014;g3f95de07730_1_1266"/>
              <p:cNvSpPr/>
              <p:nvPr/>
            </p:nvSpPr>
            <p:spPr>
              <a:xfrm>
                <a:off x="2266950" y="5236372"/>
                <a:ext cx="252300" cy="71400"/>
              </a:xfrm>
              <a:prstGeom prst="rect">
                <a:avLst/>
              </a:prstGeom>
              <a:solidFill>
                <a:srgbClr val="F2F2F2"/>
              </a:solidFill>
              <a:ln w="9525" cap="flat" cmpd="sng">
                <a:solidFill>
                  <a:srgbClr val="595959"/>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US" sz="500" b="1" i="0" u="none" strike="noStrike" cap="none">
                    <a:solidFill>
                      <a:srgbClr val="3F3F3F"/>
                    </a:solidFill>
                    <a:latin typeface="Roboto"/>
                    <a:ea typeface="Roboto"/>
                    <a:cs typeface="Roboto"/>
                    <a:sym typeface="Roboto"/>
                  </a:rPr>
                  <a:t>J</a:t>
                </a:r>
                <a:endParaRPr sz="1400" b="0" i="0" u="none" strike="noStrike" cap="none">
                  <a:solidFill>
                    <a:srgbClr val="000000"/>
                  </a:solidFill>
                  <a:latin typeface="Arial"/>
                  <a:ea typeface="Arial"/>
                  <a:cs typeface="Arial"/>
                  <a:sym typeface="Arial"/>
                </a:endParaRPr>
              </a:p>
            </p:txBody>
          </p:sp>
          <p:sp>
            <p:nvSpPr>
              <p:cNvPr id="2015" name="Google Shape;2015;g3f95de07730_1_1266"/>
              <p:cNvSpPr/>
              <p:nvPr/>
            </p:nvSpPr>
            <p:spPr>
              <a:xfrm>
                <a:off x="2266950" y="4935222"/>
                <a:ext cx="252412" cy="301151"/>
              </a:xfrm>
              <a:custGeom>
                <a:avLst/>
                <a:gdLst/>
                <a:ahLst/>
                <a:cxnLst/>
                <a:rect l="l" t="t" r="r" b="b"/>
                <a:pathLst>
                  <a:path w="252412" h="334612" extrusionOk="0">
                    <a:moveTo>
                      <a:pt x="252412" y="0"/>
                    </a:moveTo>
                    <a:lnTo>
                      <a:pt x="252412" y="334612"/>
                    </a:lnTo>
                    <a:lnTo>
                      <a:pt x="0" y="334612"/>
                    </a:lnTo>
                    <a:lnTo>
                      <a:pt x="0" y="0"/>
                    </a:lnTo>
                  </a:path>
                </a:pathLst>
              </a:custGeom>
              <a:solidFill>
                <a:srgbClr val="F2F2F2"/>
              </a:solidFill>
              <a:ln w="9525" cap="flat" cmpd="sng">
                <a:solidFill>
                  <a:srgbClr val="595959"/>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1" i="0" u="none" strike="noStrike" cap="none">
                  <a:solidFill>
                    <a:srgbClr val="3F3F3F"/>
                  </a:solidFill>
                  <a:latin typeface="Roboto"/>
                  <a:ea typeface="Roboto"/>
                  <a:cs typeface="Roboto"/>
                  <a:sym typeface="Roboto"/>
                </a:endParaRPr>
              </a:p>
            </p:txBody>
          </p:sp>
        </p:grpSp>
        <p:grpSp>
          <p:nvGrpSpPr>
            <p:cNvPr id="2016" name="Google Shape;2016;g3f95de07730_1_1266"/>
            <p:cNvGrpSpPr/>
            <p:nvPr/>
          </p:nvGrpSpPr>
          <p:grpSpPr>
            <a:xfrm>
              <a:off x="3764751" y="4339108"/>
              <a:ext cx="228600" cy="228600"/>
              <a:chOff x="2910293" y="4570783"/>
              <a:chExt cx="228600" cy="228600"/>
            </a:xfrm>
          </p:grpSpPr>
          <p:sp>
            <p:nvSpPr>
              <p:cNvPr id="2017" name="Google Shape;2017;g3f95de07730_1_1266"/>
              <p:cNvSpPr/>
              <p:nvPr/>
            </p:nvSpPr>
            <p:spPr>
              <a:xfrm>
                <a:off x="2910293" y="4570783"/>
                <a:ext cx="228600" cy="228600"/>
              </a:xfrm>
              <a:prstGeom prst="ellipse">
                <a:avLst/>
              </a:prstGeom>
              <a:noFill/>
              <a:ln w="9525" cap="flat" cmpd="sng">
                <a:solidFill>
                  <a:srgbClr val="A5A5A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endParaRPr sz="600" b="1" i="0" u="none" strike="noStrike" cap="none">
                  <a:solidFill>
                    <a:schemeClr val="lt1"/>
                  </a:solidFill>
                  <a:latin typeface="Roboto"/>
                  <a:ea typeface="Roboto"/>
                  <a:cs typeface="Roboto"/>
                  <a:sym typeface="Roboto"/>
                </a:endParaRPr>
              </a:p>
            </p:txBody>
          </p:sp>
          <p:sp>
            <p:nvSpPr>
              <p:cNvPr id="2018" name="Google Shape;2018;g3f95de07730_1_1266"/>
              <p:cNvSpPr/>
              <p:nvPr/>
            </p:nvSpPr>
            <p:spPr>
              <a:xfrm>
                <a:off x="2931046" y="4590621"/>
                <a:ext cx="189000" cy="1890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en-US" sz="600" b="1" i="0" u="none" strike="noStrike" cap="none">
                    <a:solidFill>
                      <a:schemeClr val="lt1"/>
                    </a:solidFill>
                    <a:latin typeface="Roboto"/>
                    <a:ea typeface="Roboto"/>
                    <a:cs typeface="Roboto"/>
                    <a:sym typeface="Roboto"/>
                  </a:rPr>
                  <a:t>J</a:t>
                </a:r>
                <a:endParaRPr sz="1400" b="0" i="0" u="none" strike="noStrike" cap="none">
                  <a:solidFill>
                    <a:srgbClr val="000000"/>
                  </a:solidFill>
                  <a:latin typeface="Arial"/>
                  <a:ea typeface="Arial"/>
                  <a:cs typeface="Arial"/>
                  <a:sym typeface="Arial"/>
                </a:endParaRPr>
              </a:p>
            </p:txBody>
          </p:sp>
        </p:grpSp>
        <p:grpSp>
          <p:nvGrpSpPr>
            <p:cNvPr id="2019" name="Google Shape;2019;g3f95de07730_1_1266"/>
            <p:cNvGrpSpPr/>
            <p:nvPr/>
          </p:nvGrpSpPr>
          <p:grpSpPr>
            <a:xfrm>
              <a:off x="6149452" y="4945588"/>
              <a:ext cx="907639" cy="546618"/>
              <a:chOff x="6118414" y="5097639"/>
              <a:chExt cx="738759" cy="444911"/>
            </a:xfrm>
          </p:grpSpPr>
          <p:grpSp>
            <p:nvGrpSpPr>
              <p:cNvPr id="2020" name="Google Shape;2020;g3f95de07730_1_1266"/>
              <p:cNvGrpSpPr/>
              <p:nvPr/>
            </p:nvGrpSpPr>
            <p:grpSpPr>
              <a:xfrm>
                <a:off x="6118414" y="5097639"/>
                <a:ext cx="738759" cy="444911"/>
                <a:chOff x="2240413" y="2442559"/>
                <a:chExt cx="1164684" cy="701420"/>
              </a:xfrm>
            </p:grpSpPr>
            <p:sp>
              <p:nvSpPr>
                <p:cNvPr id="2021" name="Google Shape;2021;g3f95de07730_1_1266"/>
                <p:cNvSpPr/>
                <p:nvPr/>
              </p:nvSpPr>
              <p:spPr>
                <a:xfrm>
                  <a:off x="2268144" y="2837312"/>
                  <a:ext cx="1110857" cy="306667"/>
                </a:xfrm>
                <a:custGeom>
                  <a:avLst/>
                  <a:gdLst/>
                  <a:ahLst/>
                  <a:cxnLst/>
                  <a:rect l="l" t="t" r="r" b="b"/>
                  <a:pathLst>
                    <a:path w="2727" h="752" extrusionOk="0">
                      <a:moveTo>
                        <a:pt x="1363" y="0"/>
                      </a:moveTo>
                      <a:lnTo>
                        <a:pt x="1434" y="0"/>
                      </a:lnTo>
                      <a:lnTo>
                        <a:pt x="1503" y="1"/>
                      </a:lnTo>
                      <a:lnTo>
                        <a:pt x="1571" y="3"/>
                      </a:lnTo>
                      <a:lnTo>
                        <a:pt x="1638" y="7"/>
                      </a:lnTo>
                      <a:lnTo>
                        <a:pt x="1704" y="11"/>
                      </a:lnTo>
                      <a:lnTo>
                        <a:pt x="1770" y="16"/>
                      </a:lnTo>
                      <a:lnTo>
                        <a:pt x="1833" y="23"/>
                      </a:lnTo>
                      <a:lnTo>
                        <a:pt x="1895" y="29"/>
                      </a:lnTo>
                      <a:lnTo>
                        <a:pt x="1955" y="37"/>
                      </a:lnTo>
                      <a:lnTo>
                        <a:pt x="2014" y="45"/>
                      </a:lnTo>
                      <a:lnTo>
                        <a:pt x="2071" y="54"/>
                      </a:lnTo>
                      <a:lnTo>
                        <a:pt x="2126" y="64"/>
                      </a:lnTo>
                      <a:lnTo>
                        <a:pt x="2179" y="74"/>
                      </a:lnTo>
                      <a:lnTo>
                        <a:pt x="2230" y="86"/>
                      </a:lnTo>
                      <a:lnTo>
                        <a:pt x="2281" y="97"/>
                      </a:lnTo>
                      <a:lnTo>
                        <a:pt x="2328" y="110"/>
                      </a:lnTo>
                      <a:lnTo>
                        <a:pt x="2373" y="123"/>
                      </a:lnTo>
                      <a:lnTo>
                        <a:pt x="2416" y="136"/>
                      </a:lnTo>
                      <a:lnTo>
                        <a:pt x="2457" y="150"/>
                      </a:lnTo>
                      <a:lnTo>
                        <a:pt x="2494" y="166"/>
                      </a:lnTo>
                      <a:lnTo>
                        <a:pt x="2530" y="181"/>
                      </a:lnTo>
                      <a:lnTo>
                        <a:pt x="2562" y="196"/>
                      </a:lnTo>
                      <a:lnTo>
                        <a:pt x="2593" y="213"/>
                      </a:lnTo>
                      <a:lnTo>
                        <a:pt x="2620" y="230"/>
                      </a:lnTo>
                      <a:lnTo>
                        <a:pt x="2645" y="247"/>
                      </a:lnTo>
                      <a:lnTo>
                        <a:pt x="2665" y="263"/>
                      </a:lnTo>
                      <a:lnTo>
                        <a:pt x="2685" y="281"/>
                      </a:lnTo>
                      <a:lnTo>
                        <a:pt x="2700" y="299"/>
                      </a:lnTo>
                      <a:lnTo>
                        <a:pt x="2712" y="319"/>
                      </a:lnTo>
                      <a:lnTo>
                        <a:pt x="2721" y="337"/>
                      </a:lnTo>
                      <a:lnTo>
                        <a:pt x="2726" y="356"/>
                      </a:lnTo>
                      <a:lnTo>
                        <a:pt x="2727" y="375"/>
                      </a:lnTo>
                      <a:lnTo>
                        <a:pt x="2726" y="395"/>
                      </a:lnTo>
                      <a:lnTo>
                        <a:pt x="2721" y="414"/>
                      </a:lnTo>
                      <a:lnTo>
                        <a:pt x="2712" y="433"/>
                      </a:lnTo>
                      <a:lnTo>
                        <a:pt x="2700" y="451"/>
                      </a:lnTo>
                      <a:lnTo>
                        <a:pt x="2685" y="469"/>
                      </a:lnTo>
                      <a:lnTo>
                        <a:pt x="2665" y="487"/>
                      </a:lnTo>
                      <a:lnTo>
                        <a:pt x="2645" y="505"/>
                      </a:lnTo>
                      <a:lnTo>
                        <a:pt x="2620" y="522"/>
                      </a:lnTo>
                      <a:lnTo>
                        <a:pt x="2593" y="539"/>
                      </a:lnTo>
                      <a:lnTo>
                        <a:pt x="2562" y="556"/>
                      </a:lnTo>
                      <a:lnTo>
                        <a:pt x="2530" y="571"/>
                      </a:lnTo>
                      <a:lnTo>
                        <a:pt x="2494" y="586"/>
                      </a:lnTo>
                      <a:lnTo>
                        <a:pt x="2457" y="601"/>
                      </a:lnTo>
                      <a:lnTo>
                        <a:pt x="2416" y="615"/>
                      </a:lnTo>
                      <a:lnTo>
                        <a:pt x="2373" y="629"/>
                      </a:lnTo>
                      <a:lnTo>
                        <a:pt x="2328" y="642"/>
                      </a:lnTo>
                      <a:lnTo>
                        <a:pt x="2281" y="655"/>
                      </a:lnTo>
                      <a:lnTo>
                        <a:pt x="2230" y="666"/>
                      </a:lnTo>
                      <a:lnTo>
                        <a:pt x="2179" y="678"/>
                      </a:lnTo>
                      <a:lnTo>
                        <a:pt x="2126" y="688"/>
                      </a:lnTo>
                      <a:lnTo>
                        <a:pt x="2071" y="697"/>
                      </a:lnTo>
                      <a:lnTo>
                        <a:pt x="2014" y="706"/>
                      </a:lnTo>
                      <a:lnTo>
                        <a:pt x="1955" y="715"/>
                      </a:lnTo>
                      <a:lnTo>
                        <a:pt x="1895" y="723"/>
                      </a:lnTo>
                      <a:lnTo>
                        <a:pt x="1833" y="729"/>
                      </a:lnTo>
                      <a:lnTo>
                        <a:pt x="1770" y="736"/>
                      </a:lnTo>
                      <a:lnTo>
                        <a:pt x="1704" y="740"/>
                      </a:lnTo>
                      <a:lnTo>
                        <a:pt x="1638" y="745"/>
                      </a:lnTo>
                      <a:lnTo>
                        <a:pt x="1571" y="747"/>
                      </a:lnTo>
                      <a:lnTo>
                        <a:pt x="1503" y="750"/>
                      </a:lnTo>
                      <a:lnTo>
                        <a:pt x="1434" y="751"/>
                      </a:lnTo>
                      <a:lnTo>
                        <a:pt x="1363" y="752"/>
                      </a:lnTo>
                      <a:lnTo>
                        <a:pt x="1293" y="751"/>
                      </a:lnTo>
                      <a:lnTo>
                        <a:pt x="1224" y="750"/>
                      </a:lnTo>
                      <a:lnTo>
                        <a:pt x="1156" y="747"/>
                      </a:lnTo>
                      <a:lnTo>
                        <a:pt x="1089" y="745"/>
                      </a:lnTo>
                      <a:lnTo>
                        <a:pt x="1023" y="740"/>
                      </a:lnTo>
                      <a:lnTo>
                        <a:pt x="958" y="736"/>
                      </a:lnTo>
                      <a:lnTo>
                        <a:pt x="895" y="729"/>
                      </a:lnTo>
                      <a:lnTo>
                        <a:pt x="833" y="723"/>
                      </a:lnTo>
                      <a:lnTo>
                        <a:pt x="772" y="715"/>
                      </a:lnTo>
                      <a:lnTo>
                        <a:pt x="713" y="706"/>
                      </a:lnTo>
                      <a:lnTo>
                        <a:pt x="656" y="697"/>
                      </a:lnTo>
                      <a:lnTo>
                        <a:pt x="601" y="688"/>
                      </a:lnTo>
                      <a:lnTo>
                        <a:pt x="548" y="678"/>
                      </a:lnTo>
                      <a:lnTo>
                        <a:pt x="496" y="666"/>
                      </a:lnTo>
                      <a:lnTo>
                        <a:pt x="447" y="655"/>
                      </a:lnTo>
                      <a:lnTo>
                        <a:pt x="399" y="642"/>
                      </a:lnTo>
                      <a:lnTo>
                        <a:pt x="354" y="629"/>
                      </a:lnTo>
                      <a:lnTo>
                        <a:pt x="311" y="615"/>
                      </a:lnTo>
                      <a:lnTo>
                        <a:pt x="270" y="601"/>
                      </a:lnTo>
                      <a:lnTo>
                        <a:pt x="233" y="586"/>
                      </a:lnTo>
                      <a:lnTo>
                        <a:pt x="197" y="571"/>
                      </a:lnTo>
                      <a:lnTo>
                        <a:pt x="165" y="556"/>
                      </a:lnTo>
                      <a:lnTo>
                        <a:pt x="134" y="539"/>
                      </a:lnTo>
                      <a:lnTo>
                        <a:pt x="107" y="522"/>
                      </a:lnTo>
                      <a:lnTo>
                        <a:pt x="82" y="505"/>
                      </a:lnTo>
                      <a:lnTo>
                        <a:pt x="62" y="487"/>
                      </a:lnTo>
                      <a:lnTo>
                        <a:pt x="43" y="469"/>
                      </a:lnTo>
                      <a:lnTo>
                        <a:pt x="27" y="451"/>
                      </a:lnTo>
                      <a:lnTo>
                        <a:pt x="15" y="433"/>
                      </a:lnTo>
                      <a:lnTo>
                        <a:pt x="6" y="414"/>
                      </a:lnTo>
                      <a:lnTo>
                        <a:pt x="1" y="395"/>
                      </a:lnTo>
                      <a:lnTo>
                        <a:pt x="0" y="375"/>
                      </a:lnTo>
                      <a:lnTo>
                        <a:pt x="1" y="356"/>
                      </a:lnTo>
                      <a:lnTo>
                        <a:pt x="6" y="337"/>
                      </a:lnTo>
                      <a:lnTo>
                        <a:pt x="15" y="319"/>
                      </a:lnTo>
                      <a:lnTo>
                        <a:pt x="27" y="299"/>
                      </a:lnTo>
                      <a:lnTo>
                        <a:pt x="43" y="281"/>
                      </a:lnTo>
                      <a:lnTo>
                        <a:pt x="62" y="263"/>
                      </a:lnTo>
                      <a:lnTo>
                        <a:pt x="82" y="247"/>
                      </a:lnTo>
                      <a:lnTo>
                        <a:pt x="107" y="230"/>
                      </a:lnTo>
                      <a:lnTo>
                        <a:pt x="134" y="213"/>
                      </a:lnTo>
                      <a:lnTo>
                        <a:pt x="165" y="196"/>
                      </a:lnTo>
                      <a:lnTo>
                        <a:pt x="197" y="181"/>
                      </a:lnTo>
                      <a:lnTo>
                        <a:pt x="233" y="166"/>
                      </a:lnTo>
                      <a:lnTo>
                        <a:pt x="270" y="150"/>
                      </a:lnTo>
                      <a:lnTo>
                        <a:pt x="311" y="136"/>
                      </a:lnTo>
                      <a:lnTo>
                        <a:pt x="354" y="123"/>
                      </a:lnTo>
                      <a:lnTo>
                        <a:pt x="399" y="110"/>
                      </a:lnTo>
                      <a:lnTo>
                        <a:pt x="447" y="97"/>
                      </a:lnTo>
                      <a:lnTo>
                        <a:pt x="496" y="86"/>
                      </a:lnTo>
                      <a:lnTo>
                        <a:pt x="548" y="74"/>
                      </a:lnTo>
                      <a:lnTo>
                        <a:pt x="601" y="64"/>
                      </a:lnTo>
                      <a:lnTo>
                        <a:pt x="656" y="54"/>
                      </a:lnTo>
                      <a:lnTo>
                        <a:pt x="713" y="45"/>
                      </a:lnTo>
                      <a:lnTo>
                        <a:pt x="772" y="37"/>
                      </a:lnTo>
                      <a:lnTo>
                        <a:pt x="833" y="29"/>
                      </a:lnTo>
                      <a:lnTo>
                        <a:pt x="895" y="23"/>
                      </a:lnTo>
                      <a:lnTo>
                        <a:pt x="958" y="16"/>
                      </a:lnTo>
                      <a:lnTo>
                        <a:pt x="1023" y="11"/>
                      </a:lnTo>
                      <a:lnTo>
                        <a:pt x="1089" y="7"/>
                      </a:lnTo>
                      <a:lnTo>
                        <a:pt x="1156" y="3"/>
                      </a:lnTo>
                      <a:lnTo>
                        <a:pt x="1224" y="1"/>
                      </a:lnTo>
                      <a:lnTo>
                        <a:pt x="1293" y="0"/>
                      </a:lnTo>
                      <a:lnTo>
                        <a:pt x="1363" y="0"/>
                      </a:lnTo>
                      <a:close/>
                    </a:path>
                  </a:pathLst>
                </a:custGeom>
                <a:solidFill>
                  <a:srgbClr val="606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2022" name="Google Shape;2022;g3f95de07730_1_1266"/>
                <p:cNvSpPr/>
                <p:nvPr/>
              </p:nvSpPr>
              <p:spPr>
                <a:xfrm>
                  <a:off x="2240413" y="2618730"/>
                  <a:ext cx="1164684" cy="494257"/>
                </a:xfrm>
                <a:custGeom>
                  <a:avLst/>
                  <a:gdLst/>
                  <a:ahLst/>
                  <a:cxnLst/>
                  <a:rect l="l" t="t" r="r" b="b"/>
                  <a:pathLst>
                    <a:path w="2856" h="1212" extrusionOk="0">
                      <a:moveTo>
                        <a:pt x="2856" y="791"/>
                      </a:moveTo>
                      <a:lnTo>
                        <a:pt x="2852" y="813"/>
                      </a:lnTo>
                      <a:lnTo>
                        <a:pt x="2845" y="835"/>
                      </a:lnTo>
                      <a:lnTo>
                        <a:pt x="2835" y="855"/>
                      </a:lnTo>
                      <a:lnTo>
                        <a:pt x="2821" y="876"/>
                      </a:lnTo>
                      <a:lnTo>
                        <a:pt x="2804" y="896"/>
                      </a:lnTo>
                      <a:lnTo>
                        <a:pt x="2783" y="916"/>
                      </a:lnTo>
                      <a:lnTo>
                        <a:pt x="2760" y="936"/>
                      </a:lnTo>
                      <a:lnTo>
                        <a:pt x="2735" y="954"/>
                      </a:lnTo>
                      <a:lnTo>
                        <a:pt x="2705" y="974"/>
                      </a:lnTo>
                      <a:lnTo>
                        <a:pt x="2673" y="992"/>
                      </a:lnTo>
                      <a:lnTo>
                        <a:pt x="2638" y="1010"/>
                      </a:lnTo>
                      <a:lnTo>
                        <a:pt x="2601" y="1026"/>
                      </a:lnTo>
                      <a:lnTo>
                        <a:pt x="2561" y="1043"/>
                      </a:lnTo>
                      <a:lnTo>
                        <a:pt x="2518" y="1059"/>
                      </a:lnTo>
                      <a:lnTo>
                        <a:pt x="2475" y="1074"/>
                      </a:lnTo>
                      <a:lnTo>
                        <a:pt x="2427" y="1088"/>
                      </a:lnTo>
                      <a:lnTo>
                        <a:pt x="2378" y="1102"/>
                      </a:lnTo>
                      <a:lnTo>
                        <a:pt x="2325" y="1115"/>
                      </a:lnTo>
                      <a:lnTo>
                        <a:pt x="2273" y="1128"/>
                      </a:lnTo>
                      <a:lnTo>
                        <a:pt x="2217" y="1140"/>
                      </a:lnTo>
                      <a:lnTo>
                        <a:pt x="2159" y="1151"/>
                      </a:lnTo>
                      <a:lnTo>
                        <a:pt x="2100" y="1160"/>
                      </a:lnTo>
                      <a:lnTo>
                        <a:pt x="2040" y="1171"/>
                      </a:lnTo>
                      <a:lnTo>
                        <a:pt x="1977" y="1178"/>
                      </a:lnTo>
                      <a:lnTo>
                        <a:pt x="1912" y="1186"/>
                      </a:lnTo>
                      <a:lnTo>
                        <a:pt x="1847" y="1192"/>
                      </a:lnTo>
                      <a:lnTo>
                        <a:pt x="1780" y="1198"/>
                      </a:lnTo>
                      <a:lnTo>
                        <a:pt x="1711" y="1203"/>
                      </a:lnTo>
                      <a:lnTo>
                        <a:pt x="1642" y="1207"/>
                      </a:lnTo>
                      <a:lnTo>
                        <a:pt x="1571" y="1209"/>
                      </a:lnTo>
                      <a:lnTo>
                        <a:pt x="1500" y="1210"/>
                      </a:lnTo>
                      <a:lnTo>
                        <a:pt x="1427" y="1212"/>
                      </a:lnTo>
                      <a:lnTo>
                        <a:pt x="1355" y="1210"/>
                      </a:lnTo>
                      <a:lnTo>
                        <a:pt x="1284" y="1209"/>
                      </a:lnTo>
                      <a:lnTo>
                        <a:pt x="1213" y="1207"/>
                      </a:lnTo>
                      <a:lnTo>
                        <a:pt x="1144" y="1203"/>
                      </a:lnTo>
                      <a:lnTo>
                        <a:pt x="1076" y="1198"/>
                      </a:lnTo>
                      <a:lnTo>
                        <a:pt x="1009" y="1192"/>
                      </a:lnTo>
                      <a:lnTo>
                        <a:pt x="943" y="1186"/>
                      </a:lnTo>
                      <a:lnTo>
                        <a:pt x="879" y="1178"/>
                      </a:lnTo>
                      <a:lnTo>
                        <a:pt x="816" y="1171"/>
                      </a:lnTo>
                      <a:lnTo>
                        <a:pt x="755" y="1160"/>
                      </a:lnTo>
                      <a:lnTo>
                        <a:pt x="696" y="1151"/>
                      </a:lnTo>
                      <a:lnTo>
                        <a:pt x="638" y="1140"/>
                      </a:lnTo>
                      <a:lnTo>
                        <a:pt x="583" y="1128"/>
                      </a:lnTo>
                      <a:lnTo>
                        <a:pt x="529" y="1115"/>
                      </a:lnTo>
                      <a:lnTo>
                        <a:pt x="477" y="1102"/>
                      </a:lnTo>
                      <a:lnTo>
                        <a:pt x="428" y="1088"/>
                      </a:lnTo>
                      <a:lnTo>
                        <a:pt x="381" y="1074"/>
                      </a:lnTo>
                      <a:lnTo>
                        <a:pt x="337" y="1059"/>
                      </a:lnTo>
                      <a:lnTo>
                        <a:pt x="294" y="1043"/>
                      </a:lnTo>
                      <a:lnTo>
                        <a:pt x="255" y="1026"/>
                      </a:lnTo>
                      <a:lnTo>
                        <a:pt x="217" y="1010"/>
                      </a:lnTo>
                      <a:lnTo>
                        <a:pt x="182" y="992"/>
                      </a:lnTo>
                      <a:lnTo>
                        <a:pt x="150" y="974"/>
                      </a:lnTo>
                      <a:lnTo>
                        <a:pt x="121" y="954"/>
                      </a:lnTo>
                      <a:lnTo>
                        <a:pt x="95" y="936"/>
                      </a:lnTo>
                      <a:lnTo>
                        <a:pt x="72" y="916"/>
                      </a:lnTo>
                      <a:lnTo>
                        <a:pt x="51" y="896"/>
                      </a:lnTo>
                      <a:lnTo>
                        <a:pt x="34" y="876"/>
                      </a:lnTo>
                      <a:lnTo>
                        <a:pt x="20" y="855"/>
                      </a:lnTo>
                      <a:lnTo>
                        <a:pt x="10" y="835"/>
                      </a:lnTo>
                      <a:lnTo>
                        <a:pt x="4" y="813"/>
                      </a:lnTo>
                      <a:lnTo>
                        <a:pt x="0" y="791"/>
                      </a:lnTo>
                      <a:lnTo>
                        <a:pt x="0" y="791"/>
                      </a:lnTo>
                      <a:lnTo>
                        <a:pt x="0" y="0"/>
                      </a:lnTo>
                      <a:lnTo>
                        <a:pt x="670" y="323"/>
                      </a:lnTo>
                      <a:lnTo>
                        <a:pt x="2118" y="342"/>
                      </a:lnTo>
                      <a:lnTo>
                        <a:pt x="2856" y="0"/>
                      </a:lnTo>
                      <a:lnTo>
                        <a:pt x="2856" y="791"/>
                      </a:lnTo>
                      <a:lnTo>
                        <a:pt x="2856" y="791"/>
                      </a:lnTo>
                      <a:close/>
                    </a:path>
                  </a:pathLst>
                </a:custGeom>
                <a:gradFill>
                  <a:gsLst>
                    <a:gs pos="0">
                      <a:srgbClr val="787A7B"/>
                    </a:gs>
                    <a:gs pos="18000">
                      <a:srgbClr val="D8D8D8"/>
                    </a:gs>
                    <a:gs pos="36000">
                      <a:srgbClr val="AEAFB2"/>
                    </a:gs>
                    <a:gs pos="91000">
                      <a:srgbClr val="F2F2F2"/>
                    </a:gs>
                    <a:gs pos="100000">
                      <a:srgbClr val="D1D2D5"/>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2023" name="Google Shape;2023;g3f95de07730_1_1266"/>
                <p:cNvSpPr/>
                <p:nvPr/>
              </p:nvSpPr>
              <p:spPr>
                <a:xfrm>
                  <a:off x="2240413" y="2442559"/>
                  <a:ext cx="1164684" cy="350710"/>
                </a:xfrm>
                <a:custGeom>
                  <a:avLst/>
                  <a:gdLst/>
                  <a:ahLst/>
                  <a:cxnLst/>
                  <a:rect l="l" t="t" r="r" b="b"/>
                  <a:pathLst>
                    <a:path w="2856" h="860" extrusionOk="0">
                      <a:moveTo>
                        <a:pt x="1427" y="0"/>
                      </a:moveTo>
                      <a:lnTo>
                        <a:pt x="1502" y="1"/>
                      </a:lnTo>
                      <a:lnTo>
                        <a:pt x="1574" y="3"/>
                      </a:lnTo>
                      <a:lnTo>
                        <a:pt x="1644" y="5"/>
                      </a:lnTo>
                      <a:lnTo>
                        <a:pt x="1715" y="9"/>
                      </a:lnTo>
                      <a:lnTo>
                        <a:pt x="1785" y="14"/>
                      </a:lnTo>
                      <a:lnTo>
                        <a:pt x="1852" y="19"/>
                      </a:lnTo>
                      <a:lnTo>
                        <a:pt x="1919" y="27"/>
                      </a:lnTo>
                      <a:lnTo>
                        <a:pt x="1983" y="35"/>
                      </a:lnTo>
                      <a:lnTo>
                        <a:pt x="2046" y="43"/>
                      </a:lnTo>
                      <a:lnTo>
                        <a:pt x="2108" y="53"/>
                      </a:lnTo>
                      <a:lnTo>
                        <a:pt x="2168" y="63"/>
                      </a:lnTo>
                      <a:lnTo>
                        <a:pt x="2226" y="73"/>
                      </a:lnTo>
                      <a:lnTo>
                        <a:pt x="2282" y="86"/>
                      </a:lnTo>
                      <a:lnTo>
                        <a:pt x="2336" y="99"/>
                      </a:lnTo>
                      <a:lnTo>
                        <a:pt x="2387" y="112"/>
                      </a:lnTo>
                      <a:lnTo>
                        <a:pt x="2437" y="126"/>
                      </a:lnTo>
                      <a:lnTo>
                        <a:pt x="2485" y="142"/>
                      </a:lnTo>
                      <a:lnTo>
                        <a:pt x="2529" y="157"/>
                      </a:lnTo>
                      <a:lnTo>
                        <a:pt x="2571" y="173"/>
                      </a:lnTo>
                      <a:lnTo>
                        <a:pt x="2611" y="189"/>
                      </a:lnTo>
                      <a:lnTo>
                        <a:pt x="2648" y="207"/>
                      </a:lnTo>
                      <a:lnTo>
                        <a:pt x="2683" y="225"/>
                      </a:lnTo>
                      <a:lnTo>
                        <a:pt x="2714" y="243"/>
                      </a:lnTo>
                      <a:lnTo>
                        <a:pt x="2744" y="263"/>
                      </a:lnTo>
                      <a:lnTo>
                        <a:pt x="2769" y="282"/>
                      </a:lnTo>
                      <a:lnTo>
                        <a:pt x="2791" y="303"/>
                      </a:lnTo>
                      <a:lnTo>
                        <a:pt x="2811" y="323"/>
                      </a:lnTo>
                      <a:lnTo>
                        <a:pt x="2826" y="344"/>
                      </a:lnTo>
                      <a:lnTo>
                        <a:pt x="2839" y="364"/>
                      </a:lnTo>
                      <a:lnTo>
                        <a:pt x="2848" y="386"/>
                      </a:lnTo>
                      <a:lnTo>
                        <a:pt x="2853" y="408"/>
                      </a:lnTo>
                      <a:lnTo>
                        <a:pt x="2856" y="430"/>
                      </a:lnTo>
                      <a:lnTo>
                        <a:pt x="2853" y="452"/>
                      </a:lnTo>
                      <a:lnTo>
                        <a:pt x="2848" y="474"/>
                      </a:lnTo>
                      <a:lnTo>
                        <a:pt x="2839" y="496"/>
                      </a:lnTo>
                      <a:lnTo>
                        <a:pt x="2826" y="516"/>
                      </a:lnTo>
                      <a:lnTo>
                        <a:pt x="2811" y="538"/>
                      </a:lnTo>
                      <a:lnTo>
                        <a:pt x="2791" y="557"/>
                      </a:lnTo>
                      <a:lnTo>
                        <a:pt x="2769" y="578"/>
                      </a:lnTo>
                      <a:lnTo>
                        <a:pt x="2744" y="597"/>
                      </a:lnTo>
                      <a:lnTo>
                        <a:pt x="2714" y="617"/>
                      </a:lnTo>
                      <a:lnTo>
                        <a:pt x="2683" y="635"/>
                      </a:lnTo>
                      <a:lnTo>
                        <a:pt x="2648" y="653"/>
                      </a:lnTo>
                      <a:lnTo>
                        <a:pt x="2611" y="671"/>
                      </a:lnTo>
                      <a:lnTo>
                        <a:pt x="2571" y="687"/>
                      </a:lnTo>
                      <a:lnTo>
                        <a:pt x="2529" y="704"/>
                      </a:lnTo>
                      <a:lnTo>
                        <a:pt x="2485" y="720"/>
                      </a:lnTo>
                      <a:lnTo>
                        <a:pt x="2437" y="734"/>
                      </a:lnTo>
                      <a:lnTo>
                        <a:pt x="2387" y="748"/>
                      </a:lnTo>
                      <a:lnTo>
                        <a:pt x="2336" y="762"/>
                      </a:lnTo>
                      <a:lnTo>
                        <a:pt x="2282" y="775"/>
                      </a:lnTo>
                      <a:lnTo>
                        <a:pt x="2226" y="786"/>
                      </a:lnTo>
                      <a:lnTo>
                        <a:pt x="2168" y="798"/>
                      </a:lnTo>
                      <a:lnTo>
                        <a:pt x="2108" y="808"/>
                      </a:lnTo>
                      <a:lnTo>
                        <a:pt x="2046" y="817"/>
                      </a:lnTo>
                      <a:lnTo>
                        <a:pt x="1983" y="826"/>
                      </a:lnTo>
                      <a:lnTo>
                        <a:pt x="1919" y="834"/>
                      </a:lnTo>
                      <a:lnTo>
                        <a:pt x="1852" y="840"/>
                      </a:lnTo>
                      <a:lnTo>
                        <a:pt x="1785" y="846"/>
                      </a:lnTo>
                      <a:lnTo>
                        <a:pt x="1715" y="851"/>
                      </a:lnTo>
                      <a:lnTo>
                        <a:pt x="1644" y="855"/>
                      </a:lnTo>
                      <a:lnTo>
                        <a:pt x="1574" y="857"/>
                      </a:lnTo>
                      <a:lnTo>
                        <a:pt x="1502" y="860"/>
                      </a:lnTo>
                      <a:lnTo>
                        <a:pt x="1427" y="860"/>
                      </a:lnTo>
                      <a:lnTo>
                        <a:pt x="1354" y="860"/>
                      </a:lnTo>
                      <a:lnTo>
                        <a:pt x="1282" y="857"/>
                      </a:lnTo>
                      <a:lnTo>
                        <a:pt x="1211" y="855"/>
                      </a:lnTo>
                      <a:lnTo>
                        <a:pt x="1140" y="851"/>
                      </a:lnTo>
                      <a:lnTo>
                        <a:pt x="1070" y="846"/>
                      </a:lnTo>
                      <a:lnTo>
                        <a:pt x="1004" y="840"/>
                      </a:lnTo>
                      <a:lnTo>
                        <a:pt x="937" y="834"/>
                      </a:lnTo>
                      <a:lnTo>
                        <a:pt x="872" y="826"/>
                      </a:lnTo>
                      <a:lnTo>
                        <a:pt x="809" y="817"/>
                      </a:lnTo>
                      <a:lnTo>
                        <a:pt x="747" y="808"/>
                      </a:lnTo>
                      <a:lnTo>
                        <a:pt x="687" y="798"/>
                      </a:lnTo>
                      <a:lnTo>
                        <a:pt x="629" y="786"/>
                      </a:lnTo>
                      <a:lnTo>
                        <a:pt x="574" y="775"/>
                      </a:lnTo>
                      <a:lnTo>
                        <a:pt x="520" y="762"/>
                      </a:lnTo>
                      <a:lnTo>
                        <a:pt x="468" y="748"/>
                      </a:lnTo>
                      <a:lnTo>
                        <a:pt x="418" y="734"/>
                      </a:lnTo>
                      <a:lnTo>
                        <a:pt x="370" y="720"/>
                      </a:lnTo>
                      <a:lnTo>
                        <a:pt x="325" y="704"/>
                      </a:lnTo>
                      <a:lnTo>
                        <a:pt x="284" y="687"/>
                      </a:lnTo>
                      <a:lnTo>
                        <a:pt x="244" y="671"/>
                      </a:lnTo>
                      <a:lnTo>
                        <a:pt x="207" y="653"/>
                      </a:lnTo>
                      <a:lnTo>
                        <a:pt x="172" y="635"/>
                      </a:lnTo>
                      <a:lnTo>
                        <a:pt x="141" y="617"/>
                      </a:lnTo>
                      <a:lnTo>
                        <a:pt x="112" y="597"/>
                      </a:lnTo>
                      <a:lnTo>
                        <a:pt x="86" y="578"/>
                      </a:lnTo>
                      <a:lnTo>
                        <a:pt x="64" y="557"/>
                      </a:lnTo>
                      <a:lnTo>
                        <a:pt x="45" y="538"/>
                      </a:lnTo>
                      <a:lnTo>
                        <a:pt x="29" y="516"/>
                      </a:lnTo>
                      <a:lnTo>
                        <a:pt x="16" y="496"/>
                      </a:lnTo>
                      <a:lnTo>
                        <a:pt x="7" y="474"/>
                      </a:lnTo>
                      <a:lnTo>
                        <a:pt x="2" y="452"/>
                      </a:lnTo>
                      <a:lnTo>
                        <a:pt x="0" y="430"/>
                      </a:lnTo>
                      <a:lnTo>
                        <a:pt x="2" y="408"/>
                      </a:lnTo>
                      <a:lnTo>
                        <a:pt x="7" y="386"/>
                      </a:lnTo>
                      <a:lnTo>
                        <a:pt x="16" y="364"/>
                      </a:lnTo>
                      <a:lnTo>
                        <a:pt x="29" y="344"/>
                      </a:lnTo>
                      <a:lnTo>
                        <a:pt x="45" y="323"/>
                      </a:lnTo>
                      <a:lnTo>
                        <a:pt x="64" y="303"/>
                      </a:lnTo>
                      <a:lnTo>
                        <a:pt x="86" y="282"/>
                      </a:lnTo>
                      <a:lnTo>
                        <a:pt x="112" y="263"/>
                      </a:lnTo>
                      <a:lnTo>
                        <a:pt x="141" y="243"/>
                      </a:lnTo>
                      <a:lnTo>
                        <a:pt x="172" y="225"/>
                      </a:lnTo>
                      <a:lnTo>
                        <a:pt x="207" y="207"/>
                      </a:lnTo>
                      <a:lnTo>
                        <a:pt x="244" y="189"/>
                      </a:lnTo>
                      <a:lnTo>
                        <a:pt x="284" y="173"/>
                      </a:lnTo>
                      <a:lnTo>
                        <a:pt x="325" y="157"/>
                      </a:lnTo>
                      <a:lnTo>
                        <a:pt x="370" y="142"/>
                      </a:lnTo>
                      <a:lnTo>
                        <a:pt x="418" y="126"/>
                      </a:lnTo>
                      <a:lnTo>
                        <a:pt x="468" y="112"/>
                      </a:lnTo>
                      <a:lnTo>
                        <a:pt x="520" y="99"/>
                      </a:lnTo>
                      <a:lnTo>
                        <a:pt x="574" y="86"/>
                      </a:lnTo>
                      <a:lnTo>
                        <a:pt x="629" y="73"/>
                      </a:lnTo>
                      <a:lnTo>
                        <a:pt x="687" y="63"/>
                      </a:lnTo>
                      <a:lnTo>
                        <a:pt x="747" y="53"/>
                      </a:lnTo>
                      <a:lnTo>
                        <a:pt x="809" y="43"/>
                      </a:lnTo>
                      <a:lnTo>
                        <a:pt x="872" y="35"/>
                      </a:lnTo>
                      <a:lnTo>
                        <a:pt x="937" y="27"/>
                      </a:lnTo>
                      <a:lnTo>
                        <a:pt x="1004" y="19"/>
                      </a:lnTo>
                      <a:lnTo>
                        <a:pt x="1070" y="14"/>
                      </a:lnTo>
                      <a:lnTo>
                        <a:pt x="1140" y="9"/>
                      </a:lnTo>
                      <a:lnTo>
                        <a:pt x="1211" y="5"/>
                      </a:lnTo>
                      <a:lnTo>
                        <a:pt x="1282" y="3"/>
                      </a:lnTo>
                      <a:lnTo>
                        <a:pt x="1354" y="1"/>
                      </a:lnTo>
                      <a:lnTo>
                        <a:pt x="1427" y="0"/>
                      </a:lnTo>
                      <a:close/>
                    </a:path>
                  </a:pathLst>
                </a:custGeom>
                <a:solidFill>
                  <a:srgbClr val="A9ABA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2024" name="Google Shape;2024;g3f95de07730_1_1266"/>
                <p:cNvSpPr/>
                <p:nvPr/>
              </p:nvSpPr>
              <p:spPr>
                <a:xfrm>
                  <a:off x="2364539" y="2467534"/>
                  <a:ext cx="918065" cy="253450"/>
                </a:xfrm>
                <a:custGeom>
                  <a:avLst/>
                  <a:gdLst/>
                  <a:ahLst/>
                  <a:cxnLst/>
                  <a:rect l="l" t="t" r="r" b="b"/>
                  <a:pathLst>
                    <a:path w="2727" h="753" extrusionOk="0">
                      <a:moveTo>
                        <a:pt x="1363" y="0"/>
                      </a:moveTo>
                      <a:lnTo>
                        <a:pt x="1434" y="1"/>
                      </a:lnTo>
                      <a:lnTo>
                        <a:pt x="1503" y="3"/>
                      </a:lnTo>
                      <a:lnTo>
                        <a:pt x="1571" y="5"/>
                      </a:lnTo>
                      <a:lnTo>
                        <a:pt x="1638" y="8"/>
                      </a:lnTo>
                      <a:lnTo>
                        <a:pt x="1704" y="12"/>
                      </a:lnTo>
                      <a:lnTo>
                        <a:pt x="1770" y="17"/>
                      </a:lnTo>
                      <a:lnTo>
                        <a:pt x="1833" y="23"/>
                      </a:lnTo>
                      <a:lnTo>
                        <a:pt x="1895" y="30"/>
                      </a:lnTo>
                      <a:lnTo>
                        <a:pt x="1955" y="37"/>
                      </a:lnTo>
                      <a:lnTo>
                        <a:pt x="2014" y="45"/>
                      </a:lnTo>
                      <a:lnTo>
                        <a:pt x="2071" y="54"/>
                      </a:lnTo>
                      <a:lnTo>
                        <a:pt x="2126" y="64"/>
                      </a:lnTo>
                      <a:lnTo>
                        <a:pt x="2179" y="75"/>
                      </a:lnTo>
                      <a:lnTo>
                        <a:pt x="2230" y="86"/>
                      </a:lnTo>
                      <a:lnTo>
                        <a:pt x="2281" y="98"/>
                      </a:lnTo>
                      <a:lnTo>
                        <a:pt x="2328" y="111"/>
                      </a:lnTo>
                      <a:lnTo>
                        <a:pt x="2373" y="124"/>
                      </a:lnTo>
                      <a:lnTo>
                        <a:pt x="2416" y="138"/>
                      </a:lnTo>
                      <a:lnTo>
                        <a:pt x="2457" y="152"/>
                      </a:lnTo>
                      <a:lnTo>
                        <a:pt x="2494" y="166"/>
                      </a:lnTo>
                      <a:lnTo>
                        <a:pt x="2530" y="181"/>
                      </a:lnTo>
                      <a:lnTo>
                        <a:pt x="2562" y="197"/>
                      </a:lnTo>
                      <a:lnTo>
                        <a:pt x="2593" y="214"/>
                      </a:lnTo>
                      <a:lnTo>
                        <a:pt x="2620" y="230"/>
                      </a:lnTo>
                      <a:lnTo>
                        <a:pt x="2645" y="247"/>
                      </a:lnTo>
                      <a:lnTo>
                        <a:pt x="2665" y="265"/>
                      </a:lnTo>
                      <a:lnTo>
                        <a:pt x="2685" y="282"/>
                      </a:lnTo>
                      <a:lnTo>
                        <a:pt x="2700" y="301"/>
                      </a:lnTo>
                      <a:lnTo>
                        <a:pt x="2712" y="319"/>
                      </a:lnTo>
                      <a:lnTo>
                        <a:pt x="2721" y="338"/>
                      </a:lnTo>
                      <a:lnTo>
                        <a:pt x="2726" y="356"/>
                      </a:lnTo>
                      <a:lnTo>
                        <a:pt x="2727" y="377"/>
                      </a:lnTo>
                      <a:lnTo>
                        <a:pt x="2726" y="396"/>
                      </a:lnTo>
                      <a:lnTo>
                        <a:pt x="2721" y="414"/>
                      </a:lnTo>
                      <a:lnTo>
                        <a:pt x="2712" y="434"/>
                      </a:lnTo>
                      <a:lnTo>
                        <a:pt x="2700" y="452"/>
                      </a:lnTo>
                      <a:lnTo>
                        <a:pt x="2685" y="471"/>
                      </a:lnTo>
                      <a:lnTo>
                        <a:pt x="2665" y="488"/>
                      </a:lnTo>
                      <a:lnTo>
                        <a:pt x="2645" y="506"/>
                      </a:lnTo>
                      <a:lnTo>
                        <a:pt x="2620" y="522"/>
                      </a:lnTo>
                      <a:lnTo>
                        <a:pt x="2593" y="539"/>
                      </a:lnTo>
                      <a:lnTo>
                        <a:pt x="2562" y="556"/>
                      </a:lnTo>
                      <a:lnTo>
                        <a:pt x="2530" y="571"/>
                      </a:lnTo>
                      <a:lnTo>
                        <a:pt x="2494" y="587"/>
                      </a:lnTo>
                      <a:lnTo>
                        <a:pt x="2457" y="601"/>
                      </a:lnTo>
                      <a:lnTo>
                        <a:pt x="2416" y="616"/>
                      </a:lnTo>
                      <a:lnTo>
                        <a:pt x="2373" y="629"/>
                      </a:lnTo>
                      <a:lnTo>
                        <a:pt x="2328" y="642"/>
                      </a:lnTo>
                      <a:lnTo>
                        <a:pt x="2281" y="655"/>
                      </a:lnTo>
                      <a:lnTo>
                        <a:pt x="2230" y="667"/>
                      </a:lnTo>
                      <a:lnTo>
                        <a:pt x="2179" y="678"/>
                      </a:lnTo>
                      <a:lnTo>
                        <a:pt x="2126" y="688"/>
                      </a:lnTo>
                      <a:lnTo>
                        <a:pt x="2071" y="699"/>
                      </a:lnTo>
                      <a:lnTo>
                        <a:pt x="2014" y="708"/>
                      </a:lnTo>
                      <a:lnTo>
                        <a:pt x="1955" y="715"/>
                      </a:lnTo>
                      <a:lnTo>
                        <a:pt x="1895" y="723"/>
                      </a:lnTo>
                      <a:lnTo>
                        <a:pt x="1833" y="730"/>
                      </a:lnTo>
                      <a:lnTo>
                        <a:pt x="1770" y="736"/>
                      </a:lnTo>
                      <a:lnTo>
                        <a:pt x="1704" y="741"/>
                      </a:lnTo>
                      <a:lnTo>
                        <a:pt x="1638" y="745"/>
                      </a:lnTo>
                      <a:lnTo>
                        <a:pt x="1571" y="749"/>
                      </a:lnTo>
                      <a:lnTo>
                        <a:pt x="1503" y="750"/>
                      </a:lnTo>
                      <a:lnTo>
                        <a:pt x="1434" y="753"/>
                      </a:lnTo>
                      <a:lnTo>
                        <a:pt x="1363" y="753"/>
                      </a:lnTo>
                      <a:lnTo>
                        <a:pt x="1293" y="753"/>
                      </a:lnTo>
                      <a:lnTo>
                        <a:pt x="1224" y="750"/>
                      </a:lnTo>
                      <a:lnTo>
                        <a:pt x="1156" y="749"/>
                      </a:lnTo>
                      <a:lnTo>
                        <a:pt x="1089" y="745"/>
                      </a:lnTo>
                      <a:lnTo>
                        <a:pt x="1023" y="741"/>
                      </a:lnTo>
                      <a:lnTo>
                        <a:pt x="958" y="736"/>
                      </a:lnTo>
                      <a:lnTo>
                        <a:pt x="895" y="730"/>
                      </a:lnTo>
                      <a:lnTo>
                        <a:pt x="833" y="723"/>
                      </a:lnTo>
                      <a:lnTo>
                        <a:pt x="772" y="715"/>
                      </a:lnTo>
                      <a:lnTo>
                        <a:pt x="713" y="708"/>
                      </a:lnTo>
                      <a:lnTo>
                        <a:pt x="656" y="699"/>
                      </a:lnTo>
                      <a:lnTo>
                        <a:pt x="601" y="688"/>
                      </a:lnTo>
                      <a:lnTo>
                        <a:pt x="548" y="678"/>
                      </a:lnTo>
                      <a:lnTo>
                        <a:pt x="496" y="667"/>
                      </a:lnTo>
                      <a:lnTo>
                        <a:pt x="447" y="655"/>
                      </a:lnTo>
                      <a:lnTo>
                        <a:pt x="399" y="642"/>
                      </a:lnTo>
                      <a:lnTo>
                        <a:pt x="354" y="629"/>
                      </a:lnTo>
                      <a:lnTo>
                        <a:pt x="311" y="616"/>
                      </a:lnTo>
                      <a:lnTo>
                        <a:pt x="270" y="601"/>
                      </a:lnTo>
                      <a:lnTo>
                        <a:pt x="233" y="587"/>
                      </a:lnTo>
                      <a:lnTo>
                        <a:pt x="197" y="571"/>
                      </a:lnTo>
                      <a:lnTo>
                        <a:pt x="165" y="556"/>
                      </a:lnTo>
                      <a:lnTo>
                        <a:pt x="134" y="539"/>
                      </a:lnTo>
                      <a:lnTo>
                        <a:pt x="107" y="522"/>
                      </a:lnTo>
                      <a:lnTo>
                        <a:pt x="82" y="506"/>
                      </a:lnTo>
                      <a:lnTo>
                        <a:pt x="62" y="488"/>
                      </a:lnTo>
                      <a:lnTo>
                        <a:pt x="43" y="471"/>
                      </a:lnTo>
                      <a:lnTo>
                        <a:pt x="27" y="452"/>
                      </a:lnTo>
                      <a:lnTo>
                        <a:pt x="15" y="434"/>
                      </a:lnTo>
                      <a:lnTo>
                        <a:pt x="6" y="414"/>
                      </a:lnTo>
                      <a:lnTo>
                        <a:pt x="1" y="396"/>
                      </a:lnTo>
                      <a:lnTo>
                        <a:pt x="0" y="377"/>
                      </a:lnTo>
                      <a:lnTo>
                        <a:pt x="1" y="356"/>
                      </a:lnTo>
                      <a:lnTo>
                        <a:pt x="6" y="338"/>
                      </a:lnTo>
                      <a:lnTo>
                        <a:pt x="15" y="319"/>
                      </a:lnTo>
                      <a:lnTo>
                        <a:pt x="27" y="301"/>
                      </a:lnTo>
                      <a:lnTo>
                        <a:pt x="43" y="282"/>
                      </a:lnTo>
                      <a:lnTo>
                        <a:pt x="62" y="265"/>
                      </a:lnTo>
                      <a:lnTo>
                        <a:pt x="82" y="247"/>
                      </a:lnTo>
                      <a:lnTo>
                        <a:pt x="107" y="230"/>
                      </a:lnTo>
                      <a:lnTo>
                        <a:pt x="134" y="214"/>
                      </a:lnTo>
                      <a:lnTo>
                        <a:pt x="165" y="197"/>
                      </a:lnTo>
                      <a:lnTo>
                        <a:pt x="197" y="181"/>
                      </a:lnTo>
                      <a:lnTo>
                        <a:pt x="233" y="166"/>
                      </a:lnTo>
                      <a:lnTo>
                        <a:pt x="270" y="152"/>
                      </a:lnTo>
                      <a:lnTo>
                        <a:pt x="311" y="138"/>
                      </a:lnTo>
                      <a:lnTo>
                        <a:pt x="354" y="124"/>
                      </a:lnTo>
                      <a:lnTo>
                        <a:pt x="399" y="111"/>
                      </a:lnTo>
                      <a:lnTo>
                        <a:pt x="447" y="98"/>
                      </a:lnTo>
                      <a:lnTo>
                        <a:pt x="496" y="86"/>
                      </a:lnTo>
                      <a:lnTo>
                        <a:pt x="548" y="75"/>
                      </a:lnTo>
                      <a:lnTo>
                        <a:pt x="601" y="64"/>
                      </a:lnTo>
                      <a:lnTo>
                        <a:pt x="656" y="54"/>
                      </a:lnTo>
                      <a:lnTo>
                        <a:pt x="713" y="45"/>
                      </a:lnTo>
                      <a:lnTo>
                        <a:pt x="772" y="37"/>
                      </a:lnTo>
                      <a:lnTo>
                        <a:pt x="833" y="30"/>
                      </a:lnTo>
                      <a:lnTo>
                        <a:pt x="895" y="23"/>
                      </a:lnTo>
                      <a:lnTo>
                        <a:pt x="958" y="17"/>
                      </a:lnTo>
                      <a:lnTo>
                        <a:pt x="1023" y="12"/>
                      </a:lnTo>
                      <a:lnTo>
                        <a:pt x="1089" y="8"/>
                      </a:lnTo>
                      <a:lnTo>
                        <a:pt x="1156" y="5"/>
                      </a:lnTo>
                      <a:lnTo>
                        <a:pt x="1224" y="3"/>
                      </a:lnTo>
                      <a:lnTo>
                        <a:pt x="1293" y="1"/>
                      </a:lnTo>
                      <a:lnTo>
                        <a:pt x="1363" y="0"/>
                      </a:lnTo>
                      <a:close/>
                    </a:path>
                  </a:pathLst>
                </a:custGeom>
                <a:gradFill>
                  <a:gsLst>
                    <a:gs pos="0">
                      <a:srgbClr val="2E75B5"/>
                    </a:gs>
                    <a:gs pos="100000">
                      <a:srgbClr val="2D75B6"/>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sp>
            <p:nvSpPr>
              <p:cNvPr id="2025" name="Google Shape;2025;g3f95de07730_1_1266"/>
              <p:cNvSpPr txBox="1"/>
              <p:nvPr/>
            </p:nvSpPr>
            <p:spPr>
              <a:xfrm>
                <a:off x="6228102" y="5363426"/>
                <a:ext cx="519300" cy="1077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3F3F3F"/>
                    </a:solidFill>
                    <a:latin typeface="Roboto"/>
                    <a:ea typeface="Roboto"/>
                    <a:cs typeface="Roboto"/>
                    <a:sym typeface="Roboto"/>
                  </a:rPr>
                  <a:t>CVMFS</a:t>
                </a:r>
                <a:endParaRPr sz="1000" b="1" i="0" u="none" strike="noStrike" cap="none">
                  <a:solidFill>
                    <a:srgbClr val="3F3F3F"/>
                  </a:solidFill>
                  <a:latin typeface="Roboto"/>
                  <a:ea typeface="Roboto"/>
                  <a:cs typeface="Roboto"/>
                  <a:sym typeface="Roboto"/>
                </a:endParaRPr>
              </a:p>
            </p:txBody>
          </p:sp>
        </p:grpSp>
        <p:cxnSp>
          <p:nvCxnSpPr>
            <p:cNvPr id="2026" name="Google Shape;2026;g3f95de07730_1_1266"/>
            <p:cNvCxnSpPr>
              <a:stCxn id="1996" idx="4"/>
            </p:cNvCxnSpPr>
            <p:nvPr/>
          </p:nvCxnSpPr>
          <p:spPr>
            <a:xfrm>
              <a:off x="1545651" y="3828333"/>
              <a:ext cx="0" cy="121500"/>
            </a:xfrm>
            <a:prstGeom prst="straightConnector1">
              <a:avLst/>
            </a:prstGeom>
            <a:noFill/>
            <a:ln w="19050" cap="flat" cmpd="sng">
              <a:solidFill>
                <a:srgbClr val="A5A5A5"/>
              </a:solidFill>
              <a:prstDash val="solid"/>
              <a:miter lim="8000"/>
              <a:headEnd type="none" w="sm" len="sm"/>
              <a:tailEnd type="triangle" w="med" len="med"/>
            </a:ln>
          </p:spPr>
        </p:cxnSp>
        <p:cxnSp>
          <p:nvCxnSpPr>
            <p:cNvPr id="2027" name="Google Shape;2027;g3f95de07730_1_1266"/>
            <p:cNvCxnSpPr>
              <a:stCxn id="1997" idx="4"/>
            </p:cNvCxnSpPr>
            <p:nvPr/>
          </p:nvCxnSpPr>
          <p:spPr>
            <a:xfrm>
              <a:off x="1545651" y="4177010"/>
              <a:ext cx="0" cy="121500"/>
            </a:xfrm>
            <a:prstGeom prst="straightConnector1">
              <a:avLst/>
            </a:prstGeom>
            <a:noFill/>
            <a:ln w="19050" cap="flat" cmpd="sng">
              <a:solidFill>
                <a:srgbClr val="A5A5A5"/>
              </a:solidFill>
              <a:prstDash val="solid"/>
              <a:miter lim="8000"/>
              <a:headEnd type="none" w="sm" len="sm"/>
              <a:tailEnd type="triangle" w="med" len="med"/>
            </a:ln>
          </p:spPr>
        </p:cxnSp>
        <p:cxnSp>
          <p:nvCxnSpPr>
            <p:cNvPr id="2028" name="Google Shape;2028;g3f95de07730_1_1266"/>
            <p:cNvCxnSpPr>
              <a:stCxn id="1973" idx="4"/>
            </p:cNvCxnSpPr>
            <p:nvPr/>
          </p:nvCxnSpPr>
          <p:spPr>
            <a:xfrm>
              <a:off x="1544695" y="5147607"/>
              <a:ext cx="900" cy="120600"/>
            </a:xfrm>
            <a:prstGeom prst="straightConnector1">
              <a:avLst/>
            </a:prstGeom>
            <a:noFill/>
            <a:ln w="19050" cap="flat" cmpd="sng">
              <a:solidFill>
                <a:srgbClr val="A5A5A5"/>
              </a:solidFill>
              <a:prstDash val="solid"/>
              <a:miter lim="8000"/>
              <a:headEnd type="none" w="sm" len="sm"/>
              <a:tailEnd type="triangle" w="med" len="med"/>
            </a:ln>
          </p:spPr>
        </p:cxnSp>
        <p:cxnSp>
          <p:nvCxnSpPr>
            <p:cNvPr id="2029" name="Google Shape;2029;g3f95de07730_1_1266"/>
            <p:cNvCxnSpPr>
              <a:stCxn id="1998" idx="4"/>
            </p:cNvCxnSpPr>
            <p:nvPr/>
          </p:nvCxnSpPr>
          <p:spPr>
            <a:xfrm>
              <a:off x="1545651" y="5491929"/>
              <a:ext cx="0" cy="119100"/>
            </a:xfrm>
            <a:prstGeom prst="straightConnector1">
              <a:avLst/>
            </a:prstGeom>
            <a:noFill/>
            <a:ln w="19050" cap="flat" cmpd="sng">
              <a:solidFill>
                <a:srgbClr val="A5A5A5"/>
              </a:solidFill>
              <a:prstDash val="solid"/>
              <a:miter lim="8000"/>
              <a:headEnd type="none" w="sm" len="sm"/>
              <a:tailEnd type="triangle" w="med" len="med"/>
            </a:ln>
          </p:spPr>
        </p:cxnSp>
        <p:sp>
          <p:nvSpPr>
            <p:cNvPr id="2030" name="Google Shape;2030;g3f95de07730_1_1266"/>
            <p:cNvSpPr/>
            <p:nvPr/>
          </p:nvSpPr>
          <p:spPr>
            <a:xfrm>
              <a:off x="4976368" y="4297536"/>
              <a:ext cx="130800" cy="1308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
                <a:buFont typeface="Arial"/>
                <a:buNone/>
              </a:pPr>
              <a:r>
                <a:rPr lang="en-US" sz="400" b="1" i="0" u="none" strike="noStrike" cap="none">
                  <a:solidFill>
                    <a:schemeClr val="lt1"/>
                  </a:solidFill>
                  <a:latin typeface="Roboto"/>
                  <a:ea typeface="Roboto"/>
                  <a:cs typeface="Roboto"/>
                  <a:sym typeface="Roboto"/>
                </a:rPr>
                <a:t>J</a:t>
              </a:r>
              <a:endParaRPr sz="1400" b="0" i="0" u="none" strike="noStrike" cap="none">
                <a:solidFill>
                  <a:srgbClr val="000000"/>
                </a:solidFill>
                <a:latin typeface="Arial"/>
                <a:ea typeface="Arial"/>
                <a:cs typeface="Arial"/>
                <a:sym typeface="Arial"/>
              </a:endParaRPr>
            </a:p>
          </p:txBody>
        </p:sp>
        <p:sp>
          <p:nvSpPr>
            <p:cNvPr id="2031" name="Google Shape;2031;g3f95de07730_1_1266"/>
            <p:cNvSpPr/>
            <p:nvPr/>
          </p:nvSpPr>
          <p:spPr>
            <a:xfrm>
              <a:off x="4975638" y="3891024"/>
              <a:ext cx="132000" cy="1320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chemeClr val="lt1"/>
                </a:solidFill>
                <a:latin typeface="Roboto"/>
                <a:ea typeface="Roboto"/>
                <a:cs typeface="Roboto"/>
                <a:sym typeface="Roboto"/>
              </a:endParaRPr>
            </a:p>
          </p:txBody>
        </p:sp>
        <p:sp>
          <p:nvSpPr>
            <p:cNvPr id="2032" name="Google Shape;2032;g3f95de07730_1_1266"/>
            <p:cNvSpPr/>
            <p:nvPr/>
          </p:nvSpPr>
          <p:spPr>
            <a:xfrm>
              <a:off x="4975638" y="4094280"/>
              <a:ext cx="132000" cy="132000"/>
            </a:xfrm>
            <a:prstGeom prst="ellipse">
              <a:avLst/>
            </a:prstGeom>
            <a:solidFill>
              <a:srgbClr val="74CA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chemeClr val="lt1"/>
                </a:solidFill>
                <a:latin typeface="Roboto"/>
                <a:ea typeface="Roboto"/>
                <a:cs typeface="Roboto"/>
                <a:sym typeface="Roboto"/>
              </a:endParaRPr>
            </a:p>
          </p:txBody>
        </p:sp>
        <p:sp>
          <p:nvSpPr>
            <p:cNvPr id="2033" name="Google Shape;2033;g3f95de07730_1_1266"/>
            <p:cNvSpPr/>
            <p:nvPr/>
          </p:nvSpPr>
          <p:spPr>
            <a:xfrm>
              <a:off x="4975638" y="4494513"/>
              <a:ext cx="132000" cy="132000"/>
            </a:xfrm>
            <a:prstGeom prst="ellipse">
              <a:avLst/>
            </a:prstGeom>
            <a:solidFill>
              <a:srgbClr val="119D9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chemeClr val="lt1"/>
                </a:solidFill>
                <a:latin typeface="Roboto"/>
                <a:ea typeface="Roboto"/>
                <a:cs typeface="Roboto"/>
                <a:sym typeface="Roboto"/>
              </a:endParaRPr>
            </a:p>
          </p:txBody>
        </p:sp>
        <p:sp>
          <p:nvSpPr>
            <p:cNvPr id="2034" name="Google Shape;2034;g3f95de07730_1_1266"/>
            <p:cNvSpPr/>
            <p:nvPr/>
          </p:nvSpPr>
          <p:spPr>
            <a:xfrm>
              <a:off x="4975638" y="4695832"/>
              <a:ext cx="132000" cy="132000"/>
            </a:xfrm>
            <a:prstGeom prst="ellipse">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chemeClr val="lt1"/>
                </a:solidFill>
                <a:latin typeface="Roboto"/>
                <a:ea typeface="Roboto"/>
                <a:cs typeface="Roboto"/>
                <a:sym typeface="Roboto"/>
              </a:endParaRPr>
            </a:p>
          </p:txBody>
        </p:sp>
        <p:cxnSp>
          <p:nvCxnSpPr>
            <p:cNvPr id="2035" name="Google Shape;2035;g3f95de07730_1_1266"/>
            <p:cNvCxnSpPr/>
            <p:nvPr/>
          </p:nvCxnSpPr>
          <p:spPr>
            <a:xfrm>
              <a:off x="5111437" y="4011932"/>
              <a:ext cx="0" cy="93600"/>
            </a:xfrm>
            <a:prstGeom prst="straightConnector1">
              <a:avLst/>
            </a:prstGeom>
            <a:noFill/>
            <a:ln w="12700" cap="flat" cmpd="sng">
              <a:solidFill>
                <a:srgbClr val="A5A5A5"/>
              </a:solidFill>
              <a:prstDash val="solid"/>
              <a:miter lim="8000"/>
              <a:headEnd type="none" w="sm" len="sm"/>
              <a:tailEnd type="triangle" w="sm" len="sm"/>
            </a:ln>
          </p:spPr>
        </p:cxnSp>
        <p:cxnSp>
          <p:nvCxnSpPr>
            <p:cNvPr id="2036" name="Google Shape;2036;g3f95de07730_1_1266"/>
            <p:cNvCxnSpPr/>
            <p:nvPr/>
          </p:nvCxnSpPr>
          <p:spPr>
            <a:xfrm>
              <a:off x="5111437" y="4215188"/>
              <a:ext cx="0" cy="93600"/>
            </a:xfrm>
            <a:prstGeom prst="straightConnector1">
              <a:avLst/>
            </a:prstGeom>
            <a:noFill/>
            <a:ln w="12700" cap="flat" cmpd="sng">
              <a:solidFill>
                <a:srgbClr val="A5A5A5"/>
              </a:solidFill>
              <a:prstDash val="solid"/>
              <a:miter lim="8000"/>
              <a:headEnd type="none" w="sm" len="sm"/>
              <a:tailEnd type="triangle" w="sm" len="sm"/>
            </a:ln>
          </p:spPr>
        </p:cxnSp>
        <p:cxnSp>
          <p:nvCxnSpPr>
            <p:cNvPr id="2037" name="Google Shape;2037;g3f95de07730_1_1266"/>
            <p:cNvCxnSpPr/>
            <p:nvPr/>
          </p:nvCxnSpPr>
          <p:spPr>
            <a:xfrm>
              <a:off x="5110909" y="4416983"/>
              <a:ext cx="600" cy="88800"/>
            </a:xfrm>
            <a:prstGeom prst="straightConnector1">
              <a:avLst/>
            </a:prstGeom>
            <a:noFill/>
            <a:ln w="12700" cap="flat" cmpd="sng">
              <a:solidFill>
                <a:srgbClr val="A5A5A5"/>
              </a:solidFill>
              <a:prstDash val="solid"/>
              <a:miter lim="8000"/>
              <a:headEnd type="none" w="sm" len="sm"/>
              <a:tailEnd type="triangle" w="sm" len="sm"/>
            </a:ln>
          </p:spPr>
        </p:cxnSp>
        <p:cxnSp>
          <p:nvCxnSpPr>
            <p:cNvPr id="2038" name="Google Shape;2038;g3f95de07730_1_1266"/>
            <p:cNvCxnSpPr/>
            <p:nvPr/>
          </p:nvCxnSpPr>
          <p:spPr>
            <a:xfrm>
              <a:off x="5111437" y="4615421"/>
              <a:ext cx="0" cy="91500"/>
            </a:xfrm>
            <a:prstGeom prst="straightConnector1">
              <a:avLst/>
            </a:prstGeom>
            <a:noFill/>
            <a:ln w="12700" cap="flat" cmpd="sng">
              <a:solidFill>
                <a:srgbClr val="A5A5A5"/>
              </a:solidFill>
              <a:prstDash val="solid"/>
              <a:miter lim="8000"/>
              <a:headEnd type="none" w="sm" len="sm"/>
              <a:tailEnd type="triangle" w="sm" len="sm"/>
            </a:ln>
          </p:spPr>
        </p:cxnSp>
        <p:sp>
          <p:nvSpPr>
            <p:cNvPr id="2039" name="Google Shape;2039;g3f95de07730_1_1266"/>
            <p:cNvSpPr/>
            <p:nvPr/>
          </p:nvSpPr>
          <p:spPr>
            <a:xfrm>
              <a:off x="4133474" y="4204450"/>
              <a:ext cx="799350" cy="309183"/>
            </a:xfrm>
            <a:custGeom>
              <a:avLst/>
              <a:gdLst/>
              <a:ahLst/>
              <a:cxnLst/>
              <a:rect l="l" t="t" r="r" b="b"/>
              <a:pathLst>
                <a:path w="1508208" h="1508208" extrusionOk="0">
                  <a:moveTo>
                    <a:pt x="0" y="1508208"/>
                  </a:moveTo>
                  <a:lnTo>
                    <a:pt x="0" y="0"/>
                  </a:lnTo>
                  <a:lnTo>
                    <a:pt x="1508208" y="0"/>
                  </a:lnTo>
                </a:path>
              </a:pathLst>
            </a:custGeom>
            <a:noFill/>
            <a:ln w="9525" cap="flat" cmpd="sng">
              <a:solidFill>
                <a:srgbClr val="74CA21"/>
              </a:solidFill>
              <a:prstDash val="dot"/>
              <a:miter lim="8000"/>
              <a:headEnd type="none" w="sm" len="sm"/>
              <a:tailEnd type="triangl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2040" name="Google Shape;2040;g3f95de07730_1_1266"/>
            <p:cNvSpPr/>
            <p:nvPr/>
          </p:nvSpPr>
          <p:spPr>
            <a:xfrm flipH="1">
              <a:off x="5142102" y="4155744"/>
              <a:ext cx="1440339" cy="788039"/>
            </a:xfrm>
            <a:custGeom>
              <a:avLst/>
              <a:gdLst/>
              <a:ahLst/>
              <a:cxnLst/>
              <a:rect l="l" t="t" r="r" b="b"/>
              <a:pathLst>
                <a:path w="1508208" h="1508208" extrusionOk="0">
                  <a:moveTo>
                    <a:pt x="0" y="1508208"/>
                  </a:moveTo>
                  <a:lnTo>
                    <a:pt x="0" y="0"/>
                  </a:lnTo>
                  <a:lnTo>
                    <a:pt x="1508208" y="0"/>
                  </a:lnTo>
                </a:path>
              </a:pathLst>
            </a:custGeom>
            <a:noFill/>
            <a:ln w="9525" cap="flat" cmpd="sng">
              <a:solidFill>
                <a:srgbClr val="74CA21"/>
              </a:solidFill>
              <a:prstDash val="dot"/>
              <a:miter lim="8000"/>
              <a:headEnd type="none" w="sm" len="sm"/>
              <a:tailEnd type="triangl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2041" name="Google Shape;2041;g3f95de07730_1_1266"/>
            <p:cNvSpPr/>
            <p:nvPr/>
          </p:nvSpPr>
          <p:spPr>
            <a:xfrm rot="5400000" flipH="1">
              <a:off x="4605197" y="3351861"/>
              <a:ext cx="1758156" cy="667382"/>
            </a:xfrm>
            <a:custGeom>
              <a:avLst/>
              <a:gdLst/>
              <a:ahLst/>
              <a:cxnLst/>
              <a:rect l="l" t="t" r="r" b="b"/>
              <a:pathLst>
                <a:path w="1509147" h="1508208" extrusionOk="0">
                  <a:moveTo>
                    <a:pt x="939" y="1508208"/>
                  </a:moveTo>
                  <a:cubicBezTo>
                    <a:pt x="2001" y="1370271"/>
                    <a:pt x="-819" y="1243094"/>
                    <a:pt x="243" y="1105157"/>
                  </a:cubicBezTo>
                  <a:lnTo>
                    <a:pt x="241609" y="1104413"/>
                  </a:lnTo>
                  <a:cubicBezTo>
                    <a:pt x="243534" y="737718"/>
                    <a:pt x="245458" y="371024"/>
                    <a:pt x="247383" y="4329"/>
                  </a:cubicBezTo>
                  <a:lnTo>
                    <a:pt x="1509147" y="0"/>
                  </a:lnTo>
                </a:path>
              </a:pathLst>
            </a:custGeom>
            <a:noFill/>
            <a:ln w="9525" cap="flat" cmpd="sng">
              <a:solidFill>
                <a:srgbClr val="119D96"/>
              </a:solidFill>
              <a:prstDash val="dot"/>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sp>
          <p:nvSpPr>
            <p:cNvPr id="2042" name="Google Shape;2042;g3f95de07730_1_1266"/>
            <p:cNvSpPr/>
            <p:nvPr/>
          </p:nvSpPr>
          <p:spPr>
            <a:xfrm rot="10800000" flipH="1">
              <a:off x="4262304" y="2801544"/>
              <a:ext cx="671153" cy="1315911"/>
            </a:xfrm>
            <a:custGeom>
              <a:avLst/>
              <a:gdLst/>
              <a:ahLst/>
              <a:cxnLst/>
              <a:rect l="l" t="t" r="r" b="b"/>
              <a:pathLst>
                <a:path w="1508208" h="1508208" extrusionOk="0">
                  <a:moveTo>
                    <a:pt x="0" y="1508208"/>
                  </a:moveTo>
                  <a:lnTo>
                    <a:pt x="0" y="0"/>
                  </a:lnTo>
                  <a:lnTo>
                    <a:pt x="1508208" y="0"/>
                  </a:lnTo>
                </a:path>
              </a:pathLst>
            </a:custGeom>
            <a:noFill/>
            <a:ln w="9525" cap="flat" cmpd="sng">
              <a:solidFill>
                <a:srgbClr val="74CA21"/>
              </a:solidFill>
              <a:prstDash val="dot"/>
              <a:miter lim="8000"/>
              <a:headEnd type="none" w="sm" len="sm"/>
              <a:tailEnd type="triangl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Light"/>
                <a:ea typeface="Roboto Light"/>
                <a:cs typeface="Roboto Light"/>
                <a:sym typeface="Roboto Light"/>
              </a:endParaRPr>
            </a:p>
          </p:txBody>
        </p:sp>
        <p:grpSp>
          <p:nvGrpSpPr>
            <p:cNvPr id="2043" name="Google Shape;2043;g3f95de07730_1_1266"/>
            <p:cNvGrpSpPr/>
            <p:nvPr/>
          </p:nvGrpSpPr>
          <p:grpSpPr>
            <a:xfrm>
              <a:off x="6257618" y="5871572"/>
              <a:ext cx="188915" cy="188915"/>
              <a:chOff x="4288417" y="6929460"/>
              <a:chExt cx="228600" cy="228600"/>
            </a:xfrm>
          </p:grpSpPr>
          <p:sp>
            <p:nvSpPr>
              <p:cNvPr id="2044" name="Google Shape;2044;g3f95de07730_1_1266"/>
              <p:cNvSpPr/>
              <p:nvPr/>
            </p:nvSpPr>
            <p:spPr>
              <a:xfrm>
                <a:off x="4288417" y="6929460"/>
                <a:ext cx="228600" cy="228600"/>
              </a:xfrm>
              <a:prstGeom prst="ellipse">
                <a:avLst/>
              </a:prstGeom>
              <a:noFill/>
              <a:ln w="9525" cap="flat" cmpd="sng">
                <a:solidFill>
                  <a:srgbClr val="A5A5A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endParaRPr sz="600" b="1" i="0" u="none" strike="noStrike" cap="none">
                  <a:solidFill>
                    <a:schemeClr val="lt1"/>
                  </a:solidFill>
                  <a:latin typeface="Roboto"/>
                  <a:ea typeface="Roboto"/>
                  <a:cs typeface="Roboto"/>
                  <a:sym typeface="Roboto"/>
                </a:endParaRPr>
              </a:p>
            </p:txBody>
          </p:sp>
          <p:sp>
            <p:nvSpPr>
              <p:cNvPr id="2045" name="Google Shape;2045;g3f95de07730_1_1266"/>
              <p:cNvSpPr/>
              <p:nvPr/>
            </p:nvSpPr>
            <p:spPr>
              <a:xfrm>
                <a:off x="4309170" y="6949298"/>
                <a:ext cx="189000" cy="1890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en-US" sz="600" b="1" i="0" u="none" strike="noStrike" cap="none">
                    <a:solidFill>
                      <a:schemeClr val="lt1"/>
                    </a:solidFill>
                    <a:latin typeface="Roboto"/>
                    <a:ea typeface="Roboto"/>
                    <a:cs typeface="Roboto"/>
                    <a:sym typeface="Roboto"/>
                  </a:rPr>
                  <a:t>J</a:t>
                </a:r>
                <a:endParaRPr sz="1400" b="0" i="0" u="none" strike="noStrike" cap="none">
                  <a:solidFill>
                    <a:srgbClr val="000000"/>
                  </a:solidFill>
                  <a:latin typeface="Arial"/>
                  <a:ea typeface="Arial"/>
                  <a:cs typeface="Arial"/>
                  <a:sym typeface="Arial"/>
                </a:endParaRPr>
              </a:p>
            </p:txBody>
          </p:sp>
        </p:grpSp>
        <p:sp>
          <p:nvSpPr>
            <p:cNvPr id="2046" name="Google Shape;2046;g3f95de07730_1_1266"/>
            <p:cNvSpPr/>
            <p:nvPr/>
          </p:nvSpPr>
          <p:spPr>
            <a:xfrm>
              <a:off x="4149602" y="5880459"/>
              <a:ext cx="171900" cy="171900"/>
            </a:xfrm>
            <a:prstGeom prst="ellipse">
              <a:avLst/>
            </a:prstGeom>
            <a:solidFill>
              <a:srgbClr val="F16D1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chemeClr val="lt1"/>
                </a:solidFill>
                <a:latin typeface="Roboto"/>
                <a:ea typeface="Roboto"/>
                <a:cs typeface="Roboto"/>
                <a:sym typeface="Roboto"/>
              </a:endParaRPr>
            </a:p>
          </p:txBody>
        </p:sp>
        <p:sp>
          <p:nvSpPr>
            <p:cNvPr id="2047" name="Google Shape;2047;g3f95de07730_1_1266"/>
            <p:cNvSpPr/>
            <p:nvPr/>
          </p:nvSpPr>
          <p:spPr>
            <a:xfrm>
              <a:off x="4149602" y="6179168"/>
              <a:ext cx="171900" cy="171900"/>
            </a:xfrm>
            <a:prstGeom prst="ellipse">
              <a:avLst/>
            </a:prstGeom>
            <a:solidFill>
              <a:srgbClr val="74CA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chemeClr val="lt1"/>
                </a:solidFill>
                <a:latin typeface="Roboto"/>
                <a:ea typeface="Roboto"/>
                <a:cs typeface="Roboto"/>
                <a:sym typeface="Roboto"/>
              </a:endParaRPr>
            </a:p>
          </p:txBody>
        </p:sp>
        <p:sp>
          <p:nvSpPr>
            <p:cNvPr id="2048" name="Google Shape;2048;g3f95de07730_1_1266"/>
            <p:cNvSpPr/>
            <p:nvPr/>
          </p:nvSpPr>
          <p:spPr>
            <a:xfrm>
              <a:off x="5190589" y="5880459"/>
              <a:ext cx="171900" cy="171900"/>
            </a:xfrm>
            <a:prstGeom prst="ellipse">
              <a:avLst/>
            </a:prstGeom>
            <a:solidFill>
              <a:srgbClr val="119D9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chemeClr val="lt1"/>
                </a:solidFill>
                <a:latin typeface="Roboto"/>
                <a:ea typeface="Roboto"/>
                <a:cs typeface="Roboto"/>
                <a:sym typeface="Roboto"/>
              </a:endParaRPr>
            </a:p>
          </p:txBody>
        </p:sp>
        <p:sp>
          <p:nvSpPr>
            <p:cNvPr id="2049" name="Google Shape;2049;g3f95de07730_1_1266"/>
            <p:cNvSpPr/>
            <p:nvPr/>
          </p:nvSpPr>
          <p:spPr>
            <a:xfrm>
              <a:off x="5190589" y="6179168"/>
              <a:ext cx="171900" cy="171900"/>
            </a:xfrm>
            <a:prstGeom prst="ellipse">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chemeClr val="lt1"/>
                </a:solidFill>
                <a:latin typeface="Roboto"/>
                <a:ea typeface="Roboto"/>
                <a:cs typeface="Roboto"/>
                <a:sym typeface="Roboto"/>
              </a:endParaRPr>
            </a:p>
          </p:txBody>
        </p:sp>
        <p:grpSp>
          <p:nvGrpSpPr>
            <p:cNvPr id="2050" name="Google Shape;2050;g3f95de07730_1_1266"/>
            <p:cNvGrpSpPr/>
            <p:nvPr/>
          </p:nvGrpSpPr>
          <p:grpSpPr>
            <a:xfrm>
              <a:off x="6251370" y="6136311"/>
              <a:ext cx="188411" cy="257336"/>
              <a:chOff x="3040778" y="4395131"/>
              <a:chExt cx="275858" cy="376772"/>
            </a:xfrm>
          </p:grpSpPr>
          <p:sp>
            <p:nvSpPr>
              <p:cNvPr id="2051" name="Google Shape;2051;g3f95de07730_1_1266"/>
              <p:cNvSpPr/>
              <p:nvPr/>
            </p:nvSpPr>
            <p:spPr>
              <a:xfrm>
                <a:off x="3040778" y="4395131"/>
                <a:ext cx="275858" cy="376772"/>
              </a:xfrm>
              <a:custGeom>
                <a:avLst/>
                <a:gdLst/>
                <a:ahLst/>
                <a:cxnLst/>
                <a:rect l="l" t="t" r="r" b="b"/>
                <a:pathLst>
                  <a:path w="5235" h="7147" extrusionOk="0">
                    <a:moveTo>
                      <a:pt x="3501" y="0"/>
                    </a:moveTo>
                    <a:lnTo>
                      <a:pt x="0" y="2049"/>
                    </a:lnTo>
                    <a:lnTo>
                      <a:pt x="16" y="6095"/>
                    </a:lnTo>
                    <a:lnTo>
                      <a:pt x="1785" y="7147"/>
                    </a:lnTo>
                    <a:lnTo>
                      <a:pt x="5199" y="5045"/>
                    </a:lnTo>
                    <a:lnTo>
                      <a:pt x="5235" y="981"/>
                    </a:lnTo>
                    <a:lnTo>
                      <a:pt x="3501" y="0"/>
                    </a:lnTo>
                    <a:close/>
                  </a:path>
                </a:pathLst>
              </a:custGeom>
              <a:solidFill>
                <a:srgbClr val="9999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2052" name="Google Shape;2052;g3f95de07730_1_1266"/>
              <p:cNvSpPr/>
              <p:nvPr/>
            </p:nvSpPr>
            <p:spPr>
              <a:xfrm>
                <a:off x="3134100" y="4449542"/>
                <a:ext cx="182527" cy="322351"/>
              </a:xfrm>
              <a:custGeom>
                <a:avLst/>
                <a:gdLst/>
                <a:ahLst/>
                <a:cxnLst/>
                <a:rect l="l" t="t" r="r" b="b"/>
                <a:pathLst>
                  <a:path w="3464" h="6117" extrusionOk="0">
                    <a:moveTo>
                      <a:pt x="0" y="6107"/>
                    </a:moveTo>
                    <a:lnTo>
                      <a:pt x="15" y="6117"/>
                    </a:lnTo>
                    <a:lnTo>
                      <a:pt x="3429" y="4015"/>
                    </a:lnTo>
                    <a:lnTo>
                      <a:pt x="3464" y="0"/>
                    </a:lnTo>
                    <a:lnTo>
                      <a:pt x="15" y="2053"/>
                    </a:lnTo>
                    <a:lnTo>
                      <a:pt x="0" y="6107"/>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2053" name="Google Shape;2053;g3f95de07730_1_1266"/>
              <p:cNvSpPr/>
              <p:nvPr/>
            </p:nvSpPr>
            <p:spPr>
              <a:xfrm>
                <a:off x="3040778" y="4495729"/>
                <a:ext cx="108821" cy="276174"/>
              </a:xfrm>
              <a:custGeom>
                <a:avLst/>
                <a:gdLst/>
                <a:ahLst/>
                <a:cxnLst/>
                <a:rect l="l" t="t" r="r" b="b"/>
                <a:pathLst>
                  <a:path w="2066" h="5241" extrusionOk="0">
                    <a:moveTo>
                      <a:pt x="244" y="0"/>
                    </a:moveTo>
                    <a:lnTo>
                      <a:pt x="0" y="143"/>
                    </a:lnTo>
                    <a:lnTo>
                      <a:pt x="16" y="4189"/>
                    </a:lnTo>
                    <a:lnTo>
                      <a:pt x="1785" y="5241"/>
                    </a:lnTo>
                    <a:lnTo>
                      <a:pt x="2066" y="5068"/>
                    </a:lnTo>
                    <a:lnTo>
                      <a:pt x="2066" y="984"/>
                    </a:lnTo>
                    <a:lnTo>
                      <a:pt x="244" y="0"/>
                    </a:lnTo>
                    <a:close/>
                  </a:path>
                </a:pathLst>
              </a:custGeom>
              <a:gradFill>
                <a:gsLst>
                  <a:gs pos="0">
                    <a:srgbClr val="F2F2F2"/>
                  </a:gs>
                  <a:gs pos="35000">
                    <a:srgbClr val="C3C3C3"/>
                  </a:gs>
                  <a:gs pos="40000">
                    <a:srgbClr val="F2F2F2"/>
                  </a:gs>
                  <a:gs pos="100000">
                    <a:srgbClr val="D8D8D8"/>
                  </a:gs>
                </a:gsLst>
                <a:lin ang="360000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2054" name="Google Shape;2054;g3f95de07730_1_1266"/>
              <p:cNvSpPr/>
              <p:nvPr/>
            </p:nvSpPr>
            <p:spPr>
              <a:xfrm>
                <a:off x="3040778" y="4503005"/>
                <a:ext cx="94905" cy="268890"/>
              </a:xfrm>
              <a:custGeom>
                <a:avLst/>
                <a:gdLst/>
                <a:ahLst/>
                <a:cxnLst/>
                <a:rect l="l" t="t" r="r" b="b"/>
                <a:pathLst>
                  <a:path w="1803" h="5103" extrusionOk="0">
                    <a:moveTo>
                      <a:pt x="10" y="0"/>
                    </a:moveTo>
                    <a:lnTo>
                      <a:pt x="0" y="5"/>
                    </a:lnTo>
                    <a:lnTo>
                      <a:pt x="16" y="4051"/>
                    </a:lnTo>
                    <a:lnTo>
                      <a:pt x="1785" y="5103"/>
                    </a:lnTo>
                    <a:lnTo>
                      <a:pt x="1786" y="5102"/>
                    </a:lnTo>
                    <a:lnTo>
                      <a:pt x="1803" y="1039"/>
                    </a:lnTo>
                    <a:lnTo>
                      <a:pt x="10" y="0"/>
                    </a:lnTo>
                    <a:close/>
                  </a:path>
                </a:pathLst>
              </a:custGeom>
              <a:gradFill>
                <a:gsLst>
                  <a:gs pos="0">
                    <a:srgbClr val="7F7F7F"/>
                  </a:gs>
                  <a:gs pos="12000">
                    <a:srgbClr val="7F7F7F"/>
                  </a:gs>
                  <a:gs pos="100000">
                    <a:srgbClr val="A5A5A5"/>
                  </a:gs>
                </a:gsLst>
                <a:lin ang="7200017"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2055" name="Google Shape;2055;g3f95de07730_1_1266"/>
              <p:cNvSpPr/>
              <p:nvPr/>
            </p:nvSpPr>
            <p:spPr>
              <a:xfrm>
                <a:off x="3052483" y="4534955"/>
                <a:ext cx="68332" cy="58208"/>
              </a:xfrm>
              <a:custGeom>
                <a:avLst/>
                <a:gdLst/>
                <a:ahLst/>
                <a:cxnLst/>
                <a:rect l="l" t="t" r="r" b="b"/>
                <a:pathLst>
                  <a:path w="1296" h="1102" extrusionOk="0">
                    <a:moveTo>
                      <a:pt x="0" y="0"/>
                    </a:moveTo>
                    <a:lnTo>
                      <a:pt x="1296" y="752"/>
                    </a:lnTo>
                    <a:lnTo>
                      <a:pt x="1296" y="1102"/>
                    </a:lnTo>
                    <a:lnTo>
                      <a:pt x="0" y="351"/>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2056" name="Google Shape;2056;g3f95de07730_1_1266"/>
              <p:cNvSpPr/>
              <p:nvPr/>
            </p:nvSpPr>
            <p:spPr>
              <a:xfrm>
                <a:off x="3102782" y="4589999"/>
                <a:ext cx="18032" cy="15501"/>
              </a:xfrm>
              <a:custGeom>
                <a:avLst/>
                <a:gdLst/>
                <a:ahLst/>
                <a:cxnLst/>
                <a:rect l="l" t="t" r="r" b="b"/>
                <a:pathLst>
                  <a:path w="346" h="294" extrusionOk="0">
                    <a:moveTo>
                      <a:pt x="0" y="0"/>
                    </a:moveTo>
                    <a:lnTo>
                      <a:pt x="346" y="201"/>
                    </a:lnTo>
                    <a:lnTo>
                      <a:pt x="346" y="294"/>
                    </a:lnTo>
                    <a:lnTo>
                      <a:pt x="0" y="93"/>
                    </a:lnTo>
                    <a:lnTo>
                      <a:pt x="0" y="0"/>
                    </a:lnTo>
                    <a:close/>
                  </a:path>
                </a:pathLst>
              </a:custGeom>
              <a:gradFill>
                <a:gsLst>
                  <a:gs pos="0">
                    <a:srgbClr val="333333"/>
                  </a:gs>
                  <a:gs pos="50000">
                    <a:srgbClr val="4A4A4A"/>
                  </a:gs>
                  <a:gs pos="100000">
                    <a:srgbClr val="595959"/>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2057" name="Google Shape;2057;g3f95de07730_1_1266"/>
              <p:cNvSpPr/>
              <p:nvPr/>
            </p:nvSpPr>
            <p:spPr>
              <a:xfrm>
                <a:off x="3063238" y="4615738"/>
                <a:ext cx="43971" cy="44921"/>
              </a:xfrm>
              <a:custGeom>
                <a:avLst/>
                <a:gdLst/>
                <a:ahLst/>
                <a:cxnLst/>
                <a:rect l="l" t="t" r="r" b="b"/>
                <a:pathLst>
                  <a:path w="832" h="853" extrusionOk="0">
                    <a:moveTo>
                      <a:pt x="416" y="10"/>
                    </a:moveTo>
                    <a:lnTo>
                      <a:pt x="438" y="15"/>
                    </a:lnTo>
                    <a:lnTo>
                      <a:pt x="459" y="22"/>
                    </a:lnTo>
                    <a:lnTo>
                      <a:pt x="479" y="30"/>
                    </a:lnTo>
                    <a:lnTo>
                      <a:pt x="500" y="37"/>
                    </a:lnTo>
                    <a:lnTo>
                      <a:pt x="520" y="47"/>
                    </a:lnTo>
                    <a:lnTo>
                      <a:pt x="540" y="57"/>
                    </a:lnTo>
                    <a:lnTo>
                      <a:pt x="559" y="68"/>
                    </a:lnTo>
                    <a:lnTo>
                      <a:pt x="577" y="79"/>
                    </a:lnTo>
                    <a:lnTo>
                      <a:pt x="596" y="93"/>
                    </a:lnTo>
                    <a:lnTo>
                      <a:pt x="614" y="106"/>
                    </a:lnTo>
                    <a:lnTo>
                      <a:pt x="632" y="119"/>
                    </a:lnTo>
                    <a:lnTo>
                      <a:pt x="648" y="135"/>
                    </a:lnTo>
                    <a:lnTo>
                      <a:pt x="665" y="149"/>
                    </a:lnTo>
                    <a:lnTo>
                      <a:pt x="680" y="166"/>
                    </a:lnTo>
                    <a:lnTo>
                      <a:pt x="696" y="182"/>
                    </a:lnTo>
                    <a:lnTo>
                      <a:pt x="710" y="199"/>
                    </a:lnTo>
                    <a:lnTo>
                      <a:pt x="724" y="217"/>
                    </a:lnTo>
                    <a:lnTo>
                      <a:pt x="737" y="235"/>
                    </a:lnTo>
                    <a:lnTo>
                      <a:pt x="749" y="253"/>
                    </a:lnTo>
                    <a:lnTo>
                      <a:pt x="760" y="272"/>
                    </a:lnTo>
                    <a:lnTo>
                      <a:pt x="771" y="292"/>
                    </a:lnTo>
                    <a:lnTo>
                      <a:pt x="781" y="311"/>
                    </a:lnTo>
                    <a:lnTo>
                      <a:pt x="791" y="332"/>
                    </a:lnTo>
                    <a:lnTo>
                      <a:pt x="799" y="352"/>
                    </a:lnTo>
                    <a:lnTo>
                      <a:pt x="807" y="373"/>
                    </a:lnTo>
                    <a:lnTo>
                      <a:pt x="813" y="393"/>
                    </a:lnTo>
                    <a:lnTo>
                      <a:pt x="819" y="414"/>
                    </a:lnTo>
                    <a:lnTo>
                      <a:pt x="823" y="435"/>
                    </a:lnTo>
                    <a:lnTo>
                      <a:pt x="827" y="457"/>
                    </a:lnTo>
                    <a:lnTo>
                      <a:pt x="830" y="478"/>
                    </a:lnTo>
                    <a:lnTo>
                      <a:pt x="831" y="499"/>
                    </a:lnTo>
                    <a:lnTo>
                      <a:pt x="832" y="522"/>
                    </a:lnTo>
                    <a:lnTo>
                      <a:pt x="831" y="543"/>
                    </a:lnTo>
                    <a:lnTo>
                      <a:pt x="830" y="564"/>
                    </a:lnTo>
                    <a:lnTo>
                      <a:pt x="827" y="584"/>
                    </a:lnTo>
                    <a:lnTo>
                      <a:pt x="823" y="604"/>
                    </a:lnTo>
                    <a:lnTo>
                      <a:pt x="819" y="622"/>
                    </a:lnTo>
                    <a:lnTo>
                      <a:pt x="813" y="641"/>
                    </a:lnTo>
                    <a:lnTo>
                      <a:pt x="807" y="659"/>
                    </a:lnTo>
                    <a:lnTo>
                      <a:pt x="799" y="676"/>
                    </a:lnTo>
                    <a:lnTo>
                      <a:pt x="791" y="692"/>
                    </a:lnTo>
                    <a:lnTo>
                      <a:pt x="781" y="708"/>
                    </a:lnTo>
                    <a:lnTo>
                      <a:pt x="771" y="723"/>
                    </a:lnTo>
                    <a:lnTo>
                      <a:pt x="760" y="738"/>
                    </a:lnTo>
                    <a:lnTo>
                      <a:pt x="749" y="751"/>
                    </a:lnTo>
                    <a:lnTo>
                      <a:pt x="737" y="764"/>
                    </a:lnTo>
                    <a:lnTo>
                      <a:pt x="724" y="777"/>
                    </a:lnTo>
                    <a:lnTo>
                      <a:pt x="710" y="788"/>
                    </a:lnTo>
                    <a:lnTo>
                      <a:pt x="696" y="798"/>
                    </a:lnTo>
                    <a:lnTo>
                      <a:pt x="680" y="808"/>
                    </a:lnTo>
                    <a:lnTo>
                      <a:pt x="665" y="816"/>
                    </a:lnTo>
                    <a:lnTo>
                      <a:pt x="648" y="824"/>
                    </a:lnTo>
                    <a:lnTo>
                      <a:pt x="632" y="831"/>
                    </a:lnTo>
                    <a:lnTo>
                      <a:pt x="614" y="837"/>
                    </a:lnTo>
                    <a:lnTo>
                      <a:pt x="596" y="842"/>
                    </a:lnTo>
                    <a:lnTo>
                      <a:pt x="577" y="846"/>
                    </a:lnTo>
                    <a:lnTo>
                      <a:pt x="559" y="850"/>
                    </a:lnTo>
                    <a:lnTo>
                      <a:pt x="540" y="852"/>
                    </a:lnTo>
                    <a:lnTo>
                      <a:pt x="520" y="853"/>
                    </a:lnTo>
                    <a:lnTo>
                      <a:pt x="500" y="853"/>
                    </a:lnTo>
                    <a:lnTo>
                      <a:pt x="479" y="852"/>
                    </a:lnTo>
                    <a:lnTo>
                      <a:pt x="459" y="850"/>
                    </a:lnTo>
                    <a:lnTo>
                      <a:pt x="438" y="846"/>
                    </a:lnTo>
                    <a:lnTo>
                      <a:pt x="416" y="842"/>
                    </a:lnTo>
                    <a:lnTo>
                      <a:pt x="395" y="836"/>
                    </a:lnTo>
                    <a:lnTo>
                      <a:pt x="374" y="830"/>
                    </a:lnTo>
                    <a:lnTo>
                      <a:pt x="353" y="823"/>
                    </a:lnTo>
                    <a:lnTo>
                      <a:pt x="333" y="814"/>
                    </a:lnTo>
                    <a:lnTo>
                      <a:pt x="312" y="805"/>
                    </a:lnTo>
                    <a:lnTo>
                      <a:pt x="293" y="795"/>
                    </a:lnTo>
                    <a:lnTo>
                      <a:pt x="273" y="784"/>
                    </a:lnTo>
                    <a:lnTo>
                      <a:pt x="254" y="772"/>
                    </a:lnTo>
                    <a:lnTo>
                      <a:pt x="235" y="760"/>
                    </a:lnTo>
                    <a:lnTo>
                      <a:pt x="217" y="747"/>
                    </a:lnTo>
                    <a:lnTo>
                      <a:pt x="201" y="732"/>
                    </a:lnTo>
                    <a:lnTo>
                      <a:pt x="183" y="718"/>
                    </a:lnTo>
                    <a:lnTo>
                      <a:pt x="168" y="702"/>
                    </a:lnTo>
                    <a:lnTo>
                      <a:pt x="151" y="687"/>
                    </a:lnTo>
                    <a:lnTo>
                      <a:pt x="137" y="670"/>
                    </a:lnTo>
                    <a:lnTo>
                      <a:pt x="122" y="652"/>
                    </a:lnTo>
                    <a:lnTo>
                      <a:pt x="108" y="635"/>
                    </a:lnTo>
                    <a:lnTo>
                      <a:pt x="96" y="617"/>
                    </a:lnTo>
                    <a:lnTo>
                      <a:pt x="82" y="598"/>
                    </a:lnTo>
                    <a:lnTo>
                      <a:pt x="71" y="579"/>
                    </a:lnTo>
                    <a:lnTo>
                      <a:pt x="60" y="560"/>
                    </a:lnTo>
                    <a:lnTo>
                      <a:pt x="50" y="540"/>
                    </a:lnTo>
                    <a:lnTo>
                      <a:pt x="41" y="521"/>
                    </a:lnTo>
                    <a:lnTo>
                      <a:pt x="32" y="499"/>
                    </a:lnTo>
                    <a:lnTo>
                      <a:pt x="26" y="479"/>
                    </a:lnTo>
                    <a:lnTo>
                      <a:pt x="19" y="458"/>
                    </a:lnTo>
                    <a:lnTo>
                      <a:pt x="14" y="437"/>
                    </a:lnTo>
                    <a:lnTo>
                      <a:pt x="8" y="416"/>
                    </a:lnTo>
                    <a:lnTo>
                      <a:pt x="5" y="395"/>
                    </a:lnTo>
                    <a:lnTo>
                      <a:pt x="2" y="373"/>
                    </a:lnTo>
                    <a:lnTo>
                      <a:pt x="0" y="352"/>
                    </a:lnTo>
                    <a:lnTo>
                      <a:pt x="0" y="331"/>
                    </a:lnTo>
                    <a:lnTo>
                      <a:pt x="0" y="309"/>
                    </a:lnTo>
                    <a:lnTo>
                      <a:pt x="2" y="289"/>
                    </a:lnTo>
                    <a:lnTo>
                      <a:pt x="5" y="268"/>
                    </a:lnTo>
                    <a:lnTo>
                      <a:pt x="8" y="249"/>
                    </a:lnTo>
                    <a:lnTo>
                      <a:pt x="14" y="230"/>
                    </a:lnTo>
                    <a:lnTo>
                      <a:pt x="19" y="211"/>
                    </a:lnTo>
                    <a:lnTo>
                      <a:pt x="26" y="194"/>
                    </a:lnTo>
                    <a:lnTo>
                      <a:pt x="32" y="176"/>
                    </a:lnTo>
                    <a:lnTo>
                      <a:pt x="41" y="159"/>
                    </a:lnTo>
                    <a:lnTo>
                      <a:pt x="50" y="144"/>
                    </a:lnTo>
                    <a:lnTo>
                      <a:pt x="60" y="128"/>
                    </a:lnTo>
                    <a:lnTo>
                      <a:pt x="71" y="114"/>
                    </a:lnTo>
                    <a:lnTo>
                      <a:pt x="82" y="100"/>
                    </a:lnTo>
                    <a:lnTo>
                      <a:pt x="96" y="87"/>
                    </a:lnTo>
                    <a:lnTo>
                      <a:pt x="108" y="76"/>
                    </a:lnTo>
                    <a:lnTo>
                      <a:pt x="122" y="64"/>
                    </a:lnTo>
                    <a:lnTo>
                      <a:pt x="137" y="54"/>
                    </a:lnTo>
                    <a:lnTo>
                      <a:pt x="151" y="44"/>
                    </a:lnTo>
                    <a:lnTo>
                      <a:pt x="168" y="35"/>
                    </a:lnTo>
                    <a:lnTo>
                      <a:pt x="183" y="27"/>
                    </a:lnTo>
                    <a:lnTo>
                      <a:pt x="201" y="21"/>
                    </a:lnTo>
                    <a:lnTo>
                      <a:pt x="217" y="15"/>
                    </a:lnTo>
                    <a:lnTo>
                      <a:pt x="235" y="10"/>
                    </a:lnTo>
                    <a:lnTo>
                      <a:pt x="254" y="5"/>
                    </a:lnTo>
                    <a:lnTo>
                      <a:pt x="273" y="2"/>
                    </a:lnTo>
                    <a:lnTo>
                      <a:pt x="293" y="1"/>
                    </a:lnTo>
                    <a:lnTo>
                      <a:pt x="312" y="0"/>
                    </a:lnTo>
                    <a:lnTo>
                      <a:pt x="333" y="0"/>
                    </a:lnTo>
                    <a:lnTo>
                      <a:pt x="353" y="1"/>
                    </a:lnTo>
                    <a:lnTo>
                      <a:pt x="374" y="2"/>
                    </a:lnTo>
                    <a:lnTo>
                      <a:pt x="395" y="5"/>
                    </a:lnTo>
                    <a:lnTo>
                      <a:pt x="416" y="10"/>
                    </a:lnTo>
                    <a:close/>
                  </a:path>
                </a:pathLst>
              </a:cu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2058" name="Google Shape;2058;g3f95de07730_1_1266"/>
              <p:cNvSpPr/>
              <p:nvPr/>
            </p:nvSpPr>
            <p:spPr>
              <a:xfrm>
                <a:off x="3073994" y="4626493"/>
                <a:ext cx="22461" cy="23410"/>
              </a:xfrm>
              <a:custGeom>
                <a:avLst/>
                <a:gdLst/>
                <a:ahLst/>
                <a:cxnLst/>
                <a:rect l="l" t="t" r="r" b="b"/>
                <a:pathLst>
                  <a:path w="429" h="440" extrusionOk="0">
                    <a:moveTo>
                      <a:pt x="214" y="5"/>
                    </a:moveTo>
                    <a:lnTo>
                      <a:pt x="236" y="12"/>
                    </a:lnTo>
                    <a:lnTo>
                      <a:pt x="257" y="20"/>
                    </a:lnTo>
                    <a:lnTo>
                      <a:pt x="278" y="30"/>
                    </a:lnTo>
                    <a:lnTo>
                      <a:pt x="297" y="42"/>
                    </a:lnTo>
                    <a:lnTo>
                      <a:pt x="316" y="55"/>
                    </a:lnTo>
                    <a:lnTo>
                      <a:pt x="333" y="70"/>
                    </a:lnTo>
                    <a:lnTo>
                      <a:pt x="350" y="86"/>
                    </a:lnTo>
                    <a:lnTo>
                      <a:pt x="365" y="103"/>
                    </a:lnTo>
                    <a:lnTo>
                      <a:pt x="379" y="122"/>
                    </a:lnTo>
                    <a:lnTo>
                      <a:pt x="392" y="141"/>
                    </a:lnTo>
                    <a:lnTo>
                      <a:pt x="402" y="162"/>
                    </a:lnTo>
                    <a:lnTo>
                      <a:pt x="411" y="182"/>
                    </a:lnTo>
                    <a:lnTo>
                      <a:pt x="419" y="204"/>
                    </a:lnTo>
                    <a:lnTo>
                      <a:pt x="424" y="225"/>
                    </a:lnTo>
                    <a:lnTo>
                      <a:pt x="427" y="247"/>
                    </a:lnTo>
                    <a:lnTo>
                      <a:pt x="429" y="269"/>
                    </a:lnTo>
                    <a:lnTo>
                      <a:pt x="427" y="280"/>
                    </a:lnTo>
                    <a:lnTo>
                      <a:pt x="427" y="291"/>
                    </a:lnTo>
                    <a:lnTo>
                      <a:pt x="425" y="301"/>
                    </a:lnTo>
                    <a:lnTo>
                      <a:pt x="424" y="311"/>
                    </a:lnTo>
                    <a:lnTo>
                      <a:pt x="421" y="321"/>
                    </a:lnTo>
                    <a:lnTo>
                      <a:pt x="419" y="331"/>
                    </a:lnTo>
                    <a:lnTo>
                      <a:pt x="415" y="340"/>
                    </a:lnTo>
                    <a:lnTo>
                      <a:pt x="411" y="349"/>
                    </a:lnTo>
                    <a:lnTo>
                      <a:pt x="402" y="365"/>
                    </a:lnTo>
                    <a:lnTo>
                      <a:pt x="392" y="381"/>
                    </a:lnTo>
                    <a:lnTo>
                      <a:pt x="379" y="394"/>
                    </a:lnTo>
                    <a:lnTo>
                      <a:pt x="365" y="406"/>
                    </a:lnTo>
                    <a:lnTo>
                      <a:pt x="350" y="416"/>
                    </a:lnTo>
                    <a:lnTo>
                      <a:pt x="333" y="425"/>
                    </a:lnTo>
                    <a:lnTo>
                      <a:pt x="316" y="432"/>
                    </a:lnTo>
                    <a:lnTo>
                      <a:pt x="297" y="436"/>
                    </a:lnTo>
                    <a:lnTo>
                      <a:pt x="278" y="440"/>
                    </a:lnTo>
                    <a:lnTo>
                      <a:pt x="257" y="440"/>
                    </a:lnTo>
                    <a:lnTo>
                      <a:pt x="236" y="439"/>
                    </a:lnTo>
                    <a:lnTo>
                      <a:pt x="214" y="434"/>
                    </a:lnTo>
                    <a:lnTo>
                      <a:pt x="192" y="429"/>
                    </a:lnTo>
                    <a:lnTo>
                      <a:pt x="170" y="420"/>
                    </a:lnTo>
                    <a:lnTo>
                      <a:pt x="151" y="410"/>
                    </a:lnTo>
                    <a:lnTo>
                      <a:pt x="131" y="399"/>
                    </a:lnTo>
                    <a:lnTo>
                      <a:pt x="112" y="385"/>
                    </a:lnTo>
                    <a:lnTo>
                      <a:pt x="94" y="370"/>
                    </a:lnTo>
                    <a:lnTo>
                      <a:pt x="77" y="354"/>
                    </a:lnTo>
                    <a:lnTo>
                      <a:pt x="62" y="337"/>
                    </a:lnTo>
                    <a:lnTo>
                      <a:pt x="49" y="318"/>
                    </a:lnTo>
                    <a:lnTo>
                      <a:pt x="36" y="299"/>
                    </a:lnTo>
                    <a:lnTo>
                      <a:pt x="25" y="279"/>
                    </a:lnTo>
                    <a:lnTo>
                      <a:pt x="16" y="258"/>
                    </a:lnTo>
                    <a:lnTo>
                      <a:pt x="10" y="237"/>
                    </a:lnTo>
                    <a:lnTo>
                      <a:pt x="4" y="215"/>
                    </a:lnTo>
                    <a:lnTo>
                      <a:pt x="1" y="193"/>
                    </a:lnTo>
                    <a:lnTo>
                      <a:pt x="0" y="170"/>
                    </a:lnTo>
                    <a:lnTo>
                      <a:pt x="0" y="159"/>
                    </a:lnTo>
                    <a:lnTo>
                      <a:pt x="1" y="149"/>
                    </a:lnTo>
                    <a:lnTo>
                      <a:pt x="2" y="138"/>
                    </a:lnTo>
                    <a:lnTo>
                      <a:pt x="4" y="128"/>
                    </a:lnTo>
                    <a:lnTo>
                      <a:pt x="7" y="118"/>
                    </a:lnTo>
                    <a:lnTo>
                      <a:pt x="10" y="109"/>
                    </a:lnTo>
                    <a:lnTo>
                      <a:pt x="13" y="101"/>
                    </a:lnTo>
                    <a:lnTo>
                      <a:pt x="16" y="92"/>
                    </a:lnTo>
                    <a:lnTo>
                      <a:pt x="25" y="75"/>
                    </a:lnTo>
                    <a:lnTo>
                      <a:pt x="36" y="60"/>
                    </a:lnTo>
                    <a:lnTo>
                      <a:pt x="49" y="46"/>
                    </a:lnTo>
                    <a:lnTo>
                      <a:pt x="62" y="34"/>
                    </a:lnTo>
                    <a:lnTo>
                      <a:pt x="77" y="23"/>
                    </a:lnTo>
                    <a:lnTo>
                      <a:pt x="94" y="15"/>
                    </a:lnTo>
                    <a:lnTo>
                      <a:pt x="112" y="9"/>
                    </a:lnTo>
                    <a:lnTo>
                      <a:pt x="131" y="3"/>
                    </a:lnTo>
                    <a:lnTo>
                      <a:pt x="151" y="1"/>
                    </a:lnTo>
                    <a:lnTo>
                      <a:pt x="170" y="0"/>
                    </a:lnTo>
                    <a:lnTo>
                      <a:pt x="192" y="2"/>
                    </a:lnTo>
                    <a:lnTo>
                      <a:pt x="214" y="5"/>
                    </a:lnTo>
                    <a:close/>
                  </a:path>
                </a:pathLst>
              </a:custGeom>
              <a:solidFill>
                <a:srgbClr val="B3B3B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sp>
            <p:nvSpPr>
              <p:cNvPr id="2059" name="Google Shape;2059;g3f95de07730_1_1266"/>
              <p:cNvSpPr/>
              <p:nvPr/>
            </p:nvSpPr>
            <p:spPr>
              <a:xfrm>
                <a:off x="3078106" y="4630922"/>
                <a:ext cx="14236" cy="14552"/>
              </a:xfrm>
              <a:custGeom>
                <a:avLst/>
                <a:gdLst/>
                <a:ahLst/>
                <a:cxnLst/>
                <a:rect l="l" t="t" r="r" b="b"/>
                <a:pathLst>
                  <a:path w="271" h="278" extrusionOk="0">
                    <a:moveTo>
                      <a:pt x="135" y="3"/>
                    </a:moveTo>
                    <a:lnTo>
                      <a:pt x="149" y="7"/>
                    </a:lnTo>
                    <a:lnTo>
                      <a:pt x="162" y="12"/>
                    </a:lnTo>
                    <a:lnTo>
                      <a:pt x="176" y="18"/>
                    </a:lnTo>
                    <a:lnTo>
                      <a:pt x="188" y="26"/>
                    </a:lnTo>
                    <a:lnTo>
                      <a:pt x="200" y="34"/>
                    </a:lnTo>
                    <a:lnTo>
                      <a:pt x="211" y="44"/>
                    </a:lnTo>
                    <a:lnTo>
                      <a:pt x="221" y="54"/>
                    </a:lnTo>
                    <a:lnTo>
                      <a:pt x="231" y="65"/>
                    </a:lnTo>
                    <a:lnTo>
                      <a:pt x="240" y="76"/>
                    </a:lnTo>
                    <a:lnTo>
                      <a:pt x="248" y="89"/>
                    </a:lnTo>
                    <a:lnTo>
                      <a:pt x="254" y="102"/>
                    </a:lnTo>
                    <a:lnTo>
                      <a:pt x="260" y="115"/>
                    </a:lnTo>
                    <a:lnTo>
                      <a:pt x="264" y="128"/>
                    </a:lnTo>
                    <a:lnTo>
                      <a:pt x="268" y="143"/>
                    </a:lnTo>
                    <a:lnTo>
                      <a:pt x="270" y="156"/>
                    </a:lnTo>
                    <a:lnTo>
                      <a:pt x="271" y="170"/>
                    </a:lnTo>
                    <a:lnTo>
                      <a:pt x="270" y="184"/>
                    </a:lnTo>
                    <a:lnTo>
                      <a:pt x="268" y="197"/>
                    </a:lnTo>
                    <a:lnTo>
                      <a:pt x="264" y="209"/>
                    </a:lnTo>
                    <a:lnTo>
                      <a:pt x="260" y="220"/>
                    </a:lnTo>
                    <a:lnTo>
                      <a:pt x="254" y="231"/>
                    </a:lnTo>
                    <a:lnTo>
                      <a:pt x="248" y="241"/>
                    </a:lnTo>
                    <a:lnTo>
                      <a:pt x="240" y="249"/>
                    </a:lnTo>
                    <a:lnTo>
                      <a:pt x="231" y="257"/>
                    </a:lnTo>
                    <a:lnTo>
                      <a:pt x="221" y="263"/>
                    </a:lnTo>
                    <a:lnTo>
                      <a:pt x="211" y="269"/>
                    </a:lnTo>
                    <a:lnTo>
                      <a:pt x="200" y="273"/>
                    </a:lnTo>
                    <a:lnTo>
                      <a:pt x="188" y="277"/>
                    </a:lnTo>
                    <a:lnTo>
                      <a:pt x="176" y="278"/>
                    </a:lnTo>
                    <a:lnTo>
                      <a:pt x="162" y="278"/>
                    </a:lnTo>
                    <a:lnTo>
                      <a:pt x="149" y="277"/>
                    </a:lnTo>
                    <a:lnTo>
                      <a:pt x="135" y="275"/>
                    </a:lnTo>
                    <a:lnTo>
                      <a:pt x="121" y="271"/>
                    </a:lnTo>
                    <a:lnTo>
                      <a:pt x="107" y="266"/>
                    </a:lnTo>
                    <a:lnTo>
                      <a:pt x="95" y="259"/>
                    </a:lnTo>
                    <a:lnTo>
                      <a:pt x="83" y="252"/>
                    </a:lnTo>
                    <a:lnTo>
                      <a:pt x="70" y="243"/>
                    </a:lnTo>
                    <a:lnTo>
                      <a:pt x="59" y="235"/>
                    </a:lnTo>
                    <a:lnTo>
                      <a:pt x="48" y="224"/>
                    </a:lnTo>
                    <a:lnTo>
                      <a:pt x="39" y="212"/>
                    </a:lnTo>
                    <a:lnTo>
                      <a:pt x="31" y="201"/>
                    </a:lnTo>
                    <a:lnTo>
                      <a:pt x="23" y="189"/>
                    </a:lnTo>
                    <a:lnTo>
                      <a:pt x="15" y="176"/>
                    </a:lnTo>
                    <a:lnTo>
                      <a:pt x="9" y="164"/>
                    </a:lnTo>
                    <a:lnTo>
                      <a:pt x="5" y="149"/>
                    </a:lnTo>
                    <a:lnTo>
                      <a:pt x="2" y="136"/>
                    </a:lnTo>
                    <a:lnTo>
                      <a:pt x="0" y="122"/>
                    </a:lnTo>
                    <a:lnTo>
                      <a:pt x="0" y="108"/>
                    </a:lnTo>
                    <a:lnTo>
                      <a:pt x="0" y="94"/>
                    </a:lnTo>
                    <a:lnTo>
                      <a:pt x="2" y="81"/>
                    </a:lnTo>
                    <a:lnTo>
                      <a:pt x="5" y="68"/>
                    </a:lnTo>
                    <a:lnTo>
                      <a:pt x="9" y="57"/>
                    </a:lnTo>
                    <a:lnTo>
                      <a:pt x="15" y="47"/>
                    </a:lnTo>
                    <a:lnTo>
                      <a:pt x="23" y="37"/>
                    </a:lnTo>
                    <a:lnTo>
                      <a:pt x="31" y="28"/>
                    </a:lnTo>
                    <a:lnTo>
                      <a:pt x="39" y="21"/>
                    </a:lnTo>
                    <a:lnTo>
                      <a:pt x="48" y="14"/>
                    </a:lnTo>
                    <a:lnTo>
                      <a:pt x="59" y="9"/>
                    </a:lnTo>
                    <a:lnTo>
                      <a:pt x="70" y="5"/>
                    </a:lnTo>
                    <a:lnTo>
                      <a:pt x="83" y="2"/>
                    </a:lnTo>
                    <a:lnTo>
                      <a:pt x="95" y="0"/>
                    </a:lnTo>
                    <a:lnTo>
                      <a:pt x="107" y="0"/>
                    </a:lnTo>
                    <a:lnTo>
                      <a:pt x="121" y="1"/>
                    </a:lnTo>
                    <a:lnTo>
                      <a:pt x="135" y="3"/>
                    </a:lnTo>
                    <a:close/>
                  </a:path>
                </a:pathLst>
              </a:custGeom>
              <a:gradFill>
                <a:gsLst>
                  <a:gs pos="0">
                    <a:srgbClr val="006994"/>
                  </a:gs>
                  <a:gs pos="50000">
                    <a:srgbClr val="009AD7"/>
                  </a:gs>
                  <a:gs pos="100000">
                    <a:srgbClr val="00B8FF"/>
                  </a:gs>
                </a:gsLst>
                <a:lin ang="16200038"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boto Light"/>
                  <a:ea typeface="Roboto Light"/>
                  <a:cs typeface="Roboto Light"/>
                  <a:sym typeface="Roboto Light"/>
                </a:endParaRPr>
              </a:p>
            </p:txBody>
          </p:sp>
        </p:grpSp>
        <p:sp>
          <p:nvSpPr>
            <p:cNvPr id="2060" name="Google Shape;2060;g3f95de07730_1_1266"/>
            <p:cNvSpPr txBox="1"/>
            <p:nvPr/>
          </p:nvSpPr>
          <p:spPr>
            <a:xfrm>
              <a:off x="4418288" y="5858612"/>
              <a:ext cx="647700" cy="211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Roboto Light"/>
                  <a:ea typeface="Roboto Light"/>
                  <a:cs typeface="Roboto Light"/>
                  <a:sym typeface="Roboto Light"/>
                </a:rPr>
                <a:t>Directory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Roboto Light"/>
                  <a:ea typeface="Roboto Light"/>
                  <a:cs typeface="Roboto Light"/>
                  <a:sym typeface="Roboto Light"/>
                </a:rPr>
                <a:t>Setup Job</a:t>
              </a:r>
              <a:endParaRPr sz="800" b="0" i="0" u="none" strike="noStrike" cap="none">
                <a:solidFill>
                  <a:srgbClr val="3F3F3F"/>
                </a:solidFill>
                <a:latin typeface="Roboto Light"/>
                <a:ea typeface="Roboto Light"/>
                <a:cs typeface="Roboto Light"/>
                <a:sym typeface="Roboto Light"/>
              </a:endParaRPr>
            </a:p>
          </p:txBody>
        </p:sp>
        <p:sp>
          <p:nvSpPr>
            <p:cNvPr id="2061" name="Google Shape;2061;g3f95de07730_1_1266"/>
            <p:cNvSpPr txBox="1"/>
            <p:nvPr/>
          </p:nvSpPr>
          <p:spPr>
            <a:xfrm>
              <a:off x="4413853" y="6157321"/>
              <a:ext cx="647700" cy="211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Roboto Light"/>
                  <a:ea typeface="Roboto Light"/>
                  <a:cs typeface="Roboto Light"/>
                  <a:sym typeface="Roboto Light"/>
                </a:rPr>
                <a:t>Data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Roboto Light"/>
                  <a:ea typeface="Roboto Light"/>
                  <a:cs typeface="Roboto Light"/>
                  <a:sym typeface="Roboto Light"/>
                </a:rPr>
                <a:t>Stagein Job</a:t>
              </a:r>
              <a:endParaRPr sz="800" b="0" i="0" u="none" strike="noStrike" cap="none">
                <a:solidFill>
                  <a:srgbClr val="3F3F3F"/>
                </a:solidFill>
                <a:latin typeface="Roboto Light"/>
                <a:ea typeface="Roboto Light"/>
                <a:cs typeface="Roboto Light"/>
                <a:sym typeface="Roboto Light"/>
              </a:endParaRPr>
            </a:p>
          </p:txBody>
        </p:sp>
        <p:sp>
          <p:nvSpPr>
            <p:cNvPr id="2062" name="Google Shape;2062;g3f95de07730_1_1266"/>
            <p:cNvSpPr txBox="1"/>
            <p:nvPr/>
          </p:nvSpPr>
          <p:spPr>
            <a:xfrm>
              <a:off x="6582442" y="5858612"/>
              <a:ext cx="647700" cy="211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Roboto Light"/>
                  <a:ea typeface="Roboto Light"/>
                  <a:cs typeface="Roboto Light"/>
                  <a:sym typeface="Roboto Light"/>
                </a:rPr>
                <a:t>Pegasus Lite Compute Job</a:t>
              </a:r>
              <a:endParaRPr sz="800" b="0" i="0" u="none" strike="noStrike" cap="none">
                <a:solidFill>
                  <a:srgbClr val="3F3F3F"/>
                </a:solidFill>
                <a:latin typeface="Roboto Light"/>
                <a:ea typeface="Roboto Light"/>
                <a:cs typeface="Roboto Light"/>
                <a:sym typeface="Roboto Light"/>
              </a:endParaRPr>
            </a:p>
          </p:txBody>
        </p:sp>
        <p:sp>
          <p:nvSpPr>
            <p:cNvPr id="2063" name="Google Shape;2063;g3f95de07730_1_1266"/>
            <p:cNvSpPr txBox="1"/>
            <p:nvPr/>
          </p:nvSpPr>
          <p:spPr>
            <a:xfrm>
              <a:off x="5491632" y="5858612"/>
              <a:ext cx="647700" cy="211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Roboto Light"/>
                  <a:ea typeface="Roboto Light"/>
                  <a:cs typeface="Roboto Light"/>
                  <a:sym typeface="Roboto Light"/>
                </a:rPr>
                <a:t>Data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Roboto Light"/>
                  <a:ea typeface="Roboto Light"/>
                  <a:cs typeface="Roboto Light"/>
                  <a:sym typeface="Roboto Light"/>
                </a:rPr>
                <a:t>Stageout Job</a:t>
              </a:r>
              <a:endParaRPr sz="800" b="0" i="0" u="none" strike="noStrike" cap="none">
                <a:solidFill>
                  <a:srgbClr val="3F3F3F"/>
                </a:solidFill>
                <a:latin typeface="Roboto Light"/>
                <a:ea typeface="Roboto Light"/>
                <a:cs typeface="Roboto Light"/>
                <a:sym typeface="Roboto Light"/>
              </a:endParaRPr>
            </a:p>
          </p:txBody>
        </p:sp>
        <p:sp>
          <p:nvSpPr>
            <p:cNvPr id="2064" name="Google Shape;2064;g3f95de07730_1_1266"/>
            <p:cNvSpPr txBox="1"/>
            <p:nvPr/>
          </p:nvSpPr>
          <p:spPr>
            <a:xfrm>
              <a:off x="5478327" y="6157321"/>
              <a:ext cx="647700" cy="211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Roboto Light"/>
                  <a:ea typeface="Roboto Light"/>
                  <a:cs typeface="Roboto Light"/>
                  <a:sym typeface="Roboto Light"/>
                </a:rPr>
                <a:t>Directory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Roboto Light"/>
                  <a:ea typeface="Roboto Light"/>
                  <a:cs typeface="Roboto Light"/>
                  <a:sym typeface="Roboto Light"/>
                </a:rPr>
                <a:t>Cleanup Job</a:t>
              </a:r>
              <a:endParaRPr sz="800" b="0" i="0" u="none" strike="noStrike" cap="none">
                <a:solidFill>
                  <a:srgbClr val="3F3F3F"/>
                </a:solidFill>
                <a:latin typeface="Roboto Light"/>
                <a:ea typeface="Roboto Light"/>
                <a:cs typeface="Roboto Light"/>
                <a:sym typeface="Roboto Light"/>
              </a:endParaRPr>
            </a:p>
          </p:txBody>
        </p:sp>
        <p:sp>
          <p:nvSpPr>
            <p:cNvPr id="2065" name="Google Shape;2065;g3f95de07730_1_1266"/>
            <p:cNvSpPr txBox="1"/>
            <p:nvPr/>
          </p:nvSpPr>
          <p:spPr>
            <a:xfrm>
              <a:off x="6582442" y="6211182"/>
              <a:ext cx="647700" cy="1059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Roboto Light"/>
                  <a:ea typeface="Roboto Light"/>
                  <a:cs typeface="Roboto Light"/>
                  <a:sym typeface="Roboto Light"/>
                </a:rPr>
                <a:t>Woorker Node</a:t>
              </a:r>
              <a:endParaRPr sz="800" b="0" i="0" u="none" strike="noStrike" cap="none">
                <a:solidFill>
                  <a:srgbClr val="3F3F3F"/>
                </a:solidFill>
                <a:latin typeface="Roboto Light"/>
                <a:ea typeface="Roboto Light"/>
                <a:cs typeface="Roboto Light"/>
                <a:sym typeface="Roboto Light"/>
              </a:endParaRPr>
            </a:p>
          </p:txBody>
        </p:sp>
        <p:sp>
          <p:nvSpPr>
            <p:cNvPr id="2066" name="Google Shape;2066;g3f95de07730_1_1266"/>
            <p:cNvSpPr/>
            <p:nvPr/>
          </p:nvSpPr>
          <p:spPr>
            <a:xfrm>
              <a:off x="2833627" y="5966570"/>
              <a:ext cx="985200" cy="298200"/>
            </a:xfrm>
            <a:prstGeom prst="roundRect">
              <a:avLst>
                <a:gd name="adj" fmla="val 50000"/>
              </a:avLst>
            </a:prstGeom>
            <a:gradFill>
              <a:gsLst>
                <a:gs pos="0">
                  <a:srgbClr val="D8D8D8"/>
                </a:gs>
                <a:gs pos="100000">
                  <a:srgbClr val="BFBFBF"/>
                </a:gs>
              </a:gsLst>
              <a:path path="circle">
                <a:fillToRect l="50000" t="50000" r="50000" b="50000"/>
              </a:path>
              <a:tileRect/>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3F3F3F"/>
                  </a:solidFill>
                  <a:latin typeface="Roboto"/>
                  <a:ea typeface="Roboto"/>
                  <a:cs typeface="Roboto"/>
                  <a:sym typeface="Roboto"/>
                </a:rPr>
                <a:t>LEGEND</a:t>
              </a:r>
              <a:endParaRPr sz="1050" b="1" i="0" u="none" strike="noStrike" cap="none">
                <a:solidFill>
                  <a:srgbClr val="3F3F3F"/>
                </a:solidFill>
                <a:latin typeface="Roboto"/>
                <a:ea typeface="Roboto"/>
                <a:cs typeface="Roboto"/>
                <a:sym typeface="Roboto"/>
              </a:endParaRPr>
            </a:p>
          </p:txBody>
        </p:sp>
      </p:grpSp>
      <p:sp>
        <p:nvSpPr>
          <p:cNvPr id="2067" name="Google Shape;2067;g3f95de07730_1_1266"/>
          <p:cNvSpPr/>
          <p:nvPr/>
        </p:nvSpPr>
        <p:spPr>
          <a:xfrm>
            <a:off x="8500425" y="3080924"/>
            <a:ext cx="2910600" cy="5037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US" sz="1400" b="1" i="0" u="none" strike="noStrike" cap="none">
                <a:solidFill>
                  <a:srgbClr val="2D75B6"/>
                </a:solidFill>
                <a:latin typeface="Roboto"/>
                <a:ea typeface="Roboto"/>
                <a:cs typeface="Roboto"/>
                <a:sym typeface="Roboto"/>
              </a:rPr>
              <a:t>L</a:t>
            </a:r>
            <a:r>
              <a:rPr lang="en-US" sz="1400" b="0" i="0" u="none" strike="noStrike" cap="none">
                <a:solidFill>
                  <a:srgbClr val="2D75B6"/>
                </a:solidFill>
                <a:latin typeface="Roboto"/>
                <a:ea typeface="Roboto"/>
                <a:cs typeface="Roboto"/>
                <a:sym typeface="Roboto"/>
              </a:rPr>
              <a:t>aser </a:t>
            </a:r>
            <a:r>
              <a:rPr lang="en-US" sz="1400" b="1" i="0" u="none" strike="noStrike" cap="none">
                <a:solidFill>
                  <a:srgbClr val="2D75B6"/>
                </a:solidFill>
                <a:latin typeface="Roboto"/>
                <a:ea typeface="Roboto"/>
                <a:cs typeface="Roboto"/>
                <a:sym typeface="Roboto"/>
              </a:rPr>
              <a:t>I</a:t>
            </a:r>
            <a:r>
              <a:rPr lang="en-US" sz="1400" b="0" i="0" u="none" strike="noStrike" cap="none">
                <a:solidFill>
                  <a:srgbClr val="2D75B6"/>
                </a:solidFill>
                <a:latin typeface="Roboto"/>
                <a:ea typeface="Roboto"/>
                <a:cs typeface="Roboto"/>
                <a:sym typeface="Roboto"/>
              </a:rPr>
              <a:t>nterferometer </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400"/>
              <a:buFont typeface="Arial"/>
              <a:buNone/>
            </a:pPr>
            <a:r>
              <a:rPr lang="en-US" sz="1400" b="1" i="0" u="none" strike="noStrike" cap="none">
                <a:solidFill>
                  <a:srgbClr val="2D75B6"/>
                </a:solidFill>
                <a:latin typeface="Roboto"/>
                <a:ea typeface="Roboto"/>
                <a:cs typeface="Roboto"/>
                <a:sym typeface="Roboto"/>
              </a:rPr>
              <a:t>G</a:t>
            </a:r>
            <a:r>
              <a:rPr lang="en-US" sz="1400" b="0" i="0" u="none" strike="noStrike" cap="none">
                <a:solidFill>
                  <a:srgbClr val="2D75B6"/>
                </a:solidFill>
                <a:latin typeface="Roboto"/>
                <a:ea typeface="Roboto"/>
                <a:cs typeface="Roboto"/>
                <a:sym typeface="Roboto"/>
              </a:rPr>
              <a:t>ravitational Wave </a:t>
            </a:r>
            <a:r>
              <a:rPr lang="en-US" sz="1400" b="1" i="0" u="none" strike="noStrike" cap="none">
                <a:solidFill>
                  <a:srgbClr val="2D75B6"/>
                </a:solidFill>
                <a:latin typeface="Roboto"/>
                <a:ea typeface="Roboto"/>
                <a:cs typeface="Roboto"/>
                <a:sym typeface="Roboto"/>
              </a:rPr>
              <a:t>O</a:t>
            </a:r>
            <a:r>
              <a:rPr lang="en-US" sz="1400" b="0" i="0" u="none" strike="noStrike" cap="none">
                <a:solidFill>
                  <a:srgbClr val="2D75B6"/>
                </a:solidFill>
                <a:latin typeface="Roboto"/>
                <a:ea typeface="Roboto"/>
                <a:cs typeface="Roboto"/>
                <a:sym typeface="Roboto"/>
              </a:rPr>
              <a:t>bservatory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478AA6E-1D58-1E89-E685-828635BAA862}"/>
              </a:ext>
            </a:extLst>
          </p:cNvPr>
          <p:cNvSpPr>
            <a:spLocks noGrp="1"/>
          </p:cNvSpPr>
          <p:nvPr>
            <p:ph type="body" idx="13"/>
          </p:nvPr>
        </p:nvSpPr>
        <p:spPr/>
        <p:txBody>
          <a:bodyPr/>
          <a:lstStyle/>
          <a:p>
            <a:endParaRPr lang="en-US"/>
          </a:p>
        </p:txBody>
      </p:sp>
      <p:sp>
        <p:nvSpPr>
          <p:cNvPr id="2" name="Title 1">
            <a:extLst>
              <a:ext uri="{FF2B5EF4-FFF2-40B4-BE49-F238E27FC236}">
                <a16:creationId xmlns:a16="http://schemas.microsoft.com/office/drawing/2014/main" id="{05A9B196-969F-B8F2-5E0E-63FA1432DA0C}"/>
              </a:ext>
            </a:extLst>
          </p:cNvPr>
          <p:cNvSpPr>
            <a:spLocks noGrp="1"/>
          </p:cNvSpPr>
          <p:nvPr>
            <p:ph type="title"/>
          </p:nvPr>
        </p:nvSpPr>
        <p:spPr/>
        <p:txBody>
          <a:bodyPr/>
          <a:lstStyle/>
          <a:p>
            <a:r>
              <a:rPr lang="en-US" dirty="0"/>
              <a:t>Try Pegasus? </a:t>
            </a:r>
          </a:p>
        </p:txBody>
      </p:sp>
      <p:sp>
        <p:nvSpPr>
          <p:cNvPr id="5" name="Text Placeholder 4">
            <a:extLst>
              <a:ext uri="{FF2B5EF4-FFF2-40B4-BE49-F238E27FC236}">
                <a16:creationId xmlns:a16="http://schemas.microsoft.com/office/drawing/2014/main" id="{36F0B9E2-537B-99C9-ACDA-40D2708A2802}"/>
              </a:ext>
            </a:extLst>
          </p:cNvPr>
          <p:cNvSpPr>
            <a:spLocks noGrp="1"/>
          </p:cNvSpPr>
          <p:nvPr>
            <p:ph type="body" idx="14"/>
          </p:nvPr>
        </p:nvSpPr>
        <p:spPr/>
        <p:txBody>
          <a:bodyPr/>
          <a:lstStyle/>
          <a:p>
            <a:endParaRPr lang="en-US"/>
          </a:p>
        </p:txBody>
      </p:sp>
      <p:sp>
        <p:nvSpPr>
          <p:cNvPr id="10" name="Left caption"/>
          <p:cNvSpPr/>
          <p:nvPr/>
        </p:nvSpPr>
        <p:spPr>
          <a:xfrm>
            <a:off x="838199" y="1447799"/>
            <a:ext cx="10417935" cy="344625"/>
          </a:xfrm>
          <a:prstGeom prst="rect">
            <a:avLst/>
          </a:prstGeom>
          <a:noFill/>
          <a:ln>
            <a:noFill/>
          </a:ln>
        </p:spPr>
        <p:txBody>
          <a:bodyPr wrap="square" lIns="0" tIns="0" rIns="0" bIns="0" anchor="t">
            <a:noAutofit/>
          </a:bodyPr>
          <a:lstStyle/>
          <a:p>
            <a:r>
              <a:rPr lang="en-US" sz="1600" dirty="0">
                <a:solidFill>
                  <a:schemeClr val="tx1"/>
                </a:solidFill>
              </a:rPr>
              <a:t>An </a:t>
            </a:r>
            <a:r>
              <a:rPr lang="en-US" sz="1600" b="1" dirty="0">
                <a:solidFill>
                  <a:srgbClr val="1A5B6E"/>
                </a:solidFill>
              </a:rPr>
              <a:t>easy and convenient </a:t>
            </a:r>
            <a:r>
              <a:rPr lang="en-US" sz="1600" dirty="0">
                <a:solidFill>
                  <a:schemeClr val="tx1"/>
                </a:solidFill>
              </a:rPr>
              <a:t>way to try out Pegasus and submit workflows to Laguna is to use the </a:t>
            </a:r>
            <a:r>
              <a:rPr lang="en-US" sz="1600" b="1" dirty="0">
                <a:solidFill>
                  <a:schemeClr val="tx1"/>
                </a:solidFill>
              </a:rPr>
              <a:t>Laguna Open OnDemand Instance</a:t>
            </a:r>
            <a:r>
              <a:rPr lang="en-US" sz="1600" b="1" dirty="0">
                <a:solidFill>
                  <a:srgbClr val="1A5B6E"/>
                </a:solidFill>
              </a:rPr>
              <a:t>. </a:t>
            </a:r>
            <a:r>
              <a:rPr lang="en-US" sz="1600" b="1" dirty="0">
                <a:solidFill>
                  <a:srgbClr val="1A5B6E"/>
                </a:solidFill>
                <a:hlinkClick r:id="rId3"/>
              </a:rPr>
              <a:t>https://laguna-ood.carc.usc.edu/</a:t>
            </a:r>
            <a:r>
              <a:rPr lang="en-US" sz="1600" b="1" dirty="0">
                <a:solidFill>
                  <a:srgbClr val="1A5B6E"/>
                </a:solidFill>
              </a:rPr>
              <a:t> </a:t>
            </a:r>
          </a:p>
        </p:txBody>
      </p:sp>
      <p:sp>
        <p:nvSpPr>
          <p:cNvPr id="19" name="Code panel"/>
          <p:cNvSpPr/>
          <p:nvPr/>
        </p:nvSpPr>
        <p:spPr>
          <a:xfrm>
            <a:off x="838199" y="2343955"/>
            <a:ext cx="5652753" cy="2870200"/>
          </a:xfrm>
          <a:prstGeom prst="rect">
            <a:avLst/>
          </a:prstGeom>
          <a:solidFill>
            <a:srgbClr val="EDF4F6"/>
          </a:solidFill>
          <a:ln>
            <a:noFill/>
          </a:ln>
        </p:spPr>
        <p:txBody>
          <a:bodyPr wrap="square" lIns="203200" tIns="114300" rIns="152400" bIns="114300" anchor="ctr">
            <a:noAutofit/>
          </a:bodyPr>
          <a:lstStyle/>
          <a:p>
            <a:pPr marL="0" indent="0" algn="l">
              <a:spcBef>
                <a:spcPts val="0"/>
              </a:spcBef>
              <a:buNone/>
            </a:pPr>
            <a:r>
              <a:rPr lang="en-US" sz="1400" b="1" dirty="0">
                <a:solidFill>
                  <a:srgbClr val="1A5B6E"/>
                </a:solidFill>
              </a:rPr>
              <a:t>Hosted, web-based</a:t>
            </a:r>
          </a:p>
          <a:p>
            <a:pPr marL="0" indent="0" algn="l">
              <a:spcBef>
                <a:spcPts val="100"/>
              </a:spcBef>
              <a:buNone/>
            </a:pPr>
            <a:r>
              <a:rPr lang="en-US" sz="1400" dirty="0">
                <a:solidFill>
                  <a:srgbClr val="262626"/>
                </a:solidFill>
              </a:rPr>
              <a:t>Open OnDemand and Jupyter, with no local install.</a:t>
            </a:r>
          </a:p>
          <a:p>
            <a:pPr marL="0" indent="0" algn="l">
              <a:spcBef>
                <a:spcPts val="1100"/>
              </a:spcBef>
              <a:buNone/>
            </a:pPr>
            <a:r>
              <a:rPr lang="en-US" sz="1400" b="1" dirty="0">
                <a:solidFill>
                  <a:srgbClr val="1A5B6E"/>
                </a:solidFill>
              </a:rPr>
              <a:t>Single sign-on with your University Credentials</a:t>
            </a:r>
          </a:p>
          <a:p>
            <a:pPr marL="0" indent="0" algn="l">
              <a:spcBef>
                <a:spcPts val="100"/>
              </a:spcBef>
              <a:buNone/>
            </a:pPr>
            <a:r>
              <a:rPr lang="en-US" sz="1400" dirty="0">
                <a:solidFill>
                  <a:srgbClr val="262626"/>
                </a:solidFill>
              </a:rPr>
              <a:t> </a:t>
            </a:r>
          </a:p>
          <a:p>
            <a:pPr marL="0" indent="0" algn="l">
              <a:spcBef>
                <a:spcPts val="1100"/>
              </a:spcBef>
              <a:buNone/>
            </a:pPr>
            <a:r>
              <a:rPr lang="en-US" sz="1400" b="1" dirty="0">
                <a:solidFill>
                  <a:srgbClr val="1A5B6E"/>
                </a:solidFill>
              </a:rPr>
              <a:t>Training Notebooks</a:t>
            </a:r>
          </a:p>
          <a:p>
            <a:pPr>
              <a:spcBef>
                <a:spcPts val="100"/>
              </a:spcBef>
            </a:pPr>
            <a:r>
              <a:rPr lang="en-US" dirty="0">
                <a:solidFill>
                  <a:srgbClr val="262626"/>
                </a:solidFill>
              </a:rPr>
              <a:t>Try out Pegasus training examples</a:t>
            </a:r>
          </a:p>
          <a:p>
            <a:pPr>
              <a:spcBef>
                <a:spcPts val="100"/>
              </a:spcBef>
            </a:pPr>
            <a:r>
              <a:rPr lang="en-US" dirty="0">
                <a:solidFill>
                  <a:srgbClr val="262626"/>
                </a:solidFill>
                <a:hlinkClick r:id="rId4"/>
              </a:rPr>
              <a:t>https://github.com/pegasus-isi/ACCESS-Pegasus-Examples</a:t>
            </a:r>
            <a:r>
              <a:rPr lang="en-US" dirty="0">
                <a:solidFill>
                  <a:srgbClr val="262626"/>
                </a:solidFill>
              </a:rPr>
              <a:t> </a:t>
            </a:r>
            <a:endParaRPr lang="en-US" sz="1400" dirty="0">
              <a:solidFill>
                <a:srgbClr val="262626"/>
              </a:solidFill>
            </a:endParaRPr>
          </a:p>
        </p:txBody>
      </p:sp>
      <p:sp>
        <p:nvSpPr>
          <p:cNvPr id="20" name="Code note"/>
          <p:cNvSpPr/>
          <p:nvPr/>
        </p:nvSpPr>
        <p:spPr>
          <a:xfrm>
            <a:off x="838199" y="5493555"/>
            <a:ext cx="10515599" cy="685800"/>
          </a:xfrm>
          <a:prstGeom prst="rect">
            <a:avLst/>
          </a:prstGeom>
          <a:noFill/>
          <a:ln>
            <a:noFill/>
          </a:ln>
        </p:spPr>
        <p:txBody>
          <a:bodyPr wrap="square" lIns="0" tIns="0" rIns="0" bIns="0" anchor="t">
            <a:noAutofit/>
          </a:bodyPr>
          <a:lstStyle/>
          <a:p>
            <a:pPr marL="0" indent="0" algn="l">
              <a:spcBef>
                <a:spcPts val="0"/>
              </a:spcBef>
              <a:buNone/>
            </a:pPr>
            <a:r>
              <a:rPr lang="en-US" sz="1400" dirty="0">
                <a:solidFill>
                  <a:srgbClr val="404040"/>
                </a:solidFill>
              </a:rPr>
              <a:t>Log in: </a:t>
            </a:r>
            <a:r>
              <a:rPr lang="en-US" sz="1400" b="1" dirty="0">
                <a:solidFill>
                  <a:srgbClr val="1A5B6E"/>
                </a:solidFill>
              </a:rPr>
              <a:t>pegasus.access-ci.org</a:t>
            </a:r>
          </a:p>
          <a:p>
            <a:pPr marL="0" indent="0" algn="l">
              <a:spcBef>
                <a:spcPts val="200"/>
              </a:spcBef>
              <a:buNone/>
            </a:pPr>
            <a:r>
              <a:rPr lang="en-US" sz="1400" dirty="0">
                <a:solidFill>
                  <a:srgbClr val="404040"/>
                </a:solidFill>
              </a:rPr>
              <a:t>Help: support.access-ci.org/tools/pegasus</a:t>
            </a:r>
          </a:p>
        </p:txBody>
      </p:sp>
      <p:pic>
        <p:nvPicPr>
          <p:cNvPr id="3" name="Google Shape;506;g3f95de07730_1_443" title="Gemini_Generated_Image_soxr7lsoxr7lsoxr.png">
            <a:extLst>
              <a:ext uri="{FF2B5EF4-FFF2-40B4-BE49-F238E27FC236}">
                <a16:creationId xmlns:a16="http://schemas.microsoft.com/office/drawing/2014/main" id="{2719042F-E0C9-577B-71DF-C0D2BA4A27CD}"/>
              </a:ext>
            </a:extLst>
          </p:cNvPr>
          <p:cNvPicPr preferRelativeResize="0"/>
          <p:nvPr/>
        </p:nvPicPr>
        <p:blipFill>
          <a:blip r:embed="rId5">
            <a:alphaModFix/>
          </a:blip>
          <a:stretch>
            <a:fillRect/>
          </a:stretch>
        </p:blipFill>
        <p:spPr>
          <a:xfrm>
            <a:off x="6394539" y="2191167"/>
            <a:ext cx="5643606" cy="3022988"/>
          </a:xfrm>
          <a:prstGeom prst="rect">
            <a:avLst/>
          </a:prstGeom>
          <a:noFill/>
          <a:ln>
            <a:noFill/>
          </a:ln>
        </p:spPr>
      </p:pic>
    </p:spTree>
    <p:extLst>
      <p:ext uri="{BB962C8B-B14F-4D97-AF65-F5344CB8AC3E}">
        <p14:creationId xmlns:p14="http://schemas.microsoft.com/office/powerpoint/2010/main" val="15002362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BEF6D25-AC0A-1ED5-85F1-A22C42DF1A06}"/>
              </a:ext>
            </a:extLst>
          </p:cNvPr>
          <p:cNvSpPr>
            <a:spLocks noGrp="1"/>
          </p:cNvSpPr>
          <p:nvPr>
            <p:ph type="body" idx="13"/>
          </p:nvPr>
        </p:nvSpPr>
        <p:spPr/>
        <p:txBody>
          <a:bodyPr/>
          <a:lstStyle/>
          <a:p>
            <a:r>
              <a:rPr lang="en-US" b="1" dirty="0"/>
              <a:t>Laguna Open OnDemand – Launch Workflows</a:t>
            </a:r>
          </a:p>
        </p:txBody>
      </p:sp>
      <p:sp>
        <p:nvSpPr>
          <p:cNvPr id="3" name="Title 2">
            <a:extLst>
              <a:ext uri="{FF2B5EF4-FFF2-40B4-BE49-F238E27FC236}">
                <a16:creationId xmlns:a16="http://schemas.microsoft.com/office/drawing/2014/main" id="{9F7B282A-EF80-8004-73A8-7FDB193D8D4E}"/>
              </a:ext>
            </a:extLst>
          </p:cNvPr>
          <p:cNvSpPr>
            <a:spLocks noGrp="1"/>
          </p:cNvSpPr>
          <p:nvPr>
            <p:ph type="title"/>
          </p:nvPr>
        </p:nvSpPr>
        <p:spPr/>
        <p:txBody>
          <a:bodyPr/>
          <a:lstStyle/>
          <a:p>
            <a:endParaRPr lang="en-US" dirty="0"/>
          </a:p>
        </p:txBody>
      </p:sp>
      <p:sp>
        <p:nvSpPr>
          <p:cNvPr id="4" name="Text Placeholder 3">
            <a:extLst>
              <a:ext uri="{FF2B5EF4-FFF2-40B4-BE49-F238E27FC236}">
                <a16:creationId xmlns:a16="http://schemas.microsoft.com/office/drawing/2014/main" id="{698C519A-18F0-6950-3691-F1967B354F5F}"/>
              </a:ext>
            </a:extLst>
          </p:cNvPr>
          <p:cNvSpPr>
            <a:spLocks noGrp="1"/>
          </p:cNvSpPr>
          <p:nvPr>
            <p:ph type="body" idx="14"/>
          </p:nvPr>
        </p:nvSpPr>
        <p:spPr/>
        <p:txBody>
          <a:bodyPr/>
          <a:lstStyle/>
          <a:p>
            <a:endParaRPr lang="en-US"/>
          </a:p>
        </p:txBody>
      </p:sp>
      <p:pic>
        <p:nvPicPr>
          <p:cNvPr id="5" name="Picture 4">
            <a:extLst>
              <a:ext uri="{FF2B5EF4-FFF2-40B4-BE49-F238E27FC236}">
                <a16:creationId xmlns:a16="http://schemas.microsoft.com/office/drawing/2014/main" id="{D765BF94-125E-A215-3F9F-45B5A4251DFC}"/>
              </a:ext>
            </a:extLst>
          </p:cNvPr>
          <p:cNvPicPr>
            <a:picLocks noChangeAspect="1"/>
          </p:cNvPicPr>
          <p:nvPr/>
        </p:nvPicPr>
        <p:blipFill>
          <a:blip r:embed="rId2"/>
          <a:stretch>
            <a:fillRect/>
          </a:stretch>
        </p:blipFill>
        <p:spPr>
          <a:xfrm>
            <a:off x="2209800" y="791823"/>
            <a:ext cx="7772400" cy="5274354"/>
          </a:xfrm>
          <a:prstGeom prst="rect">
            <a:avLst/>
          </a:prstGeom>
        </p:spPr>
      </p:pic>
      <p:sp>
        <p:nvSpPr>
          <p:cNvPr id="6" name="TextBox 5">
            <a:extLst>
              <a:ext uri="{FF2B5EF4-FFF2-40B4-BE49-F238E27FC236}">
                <a16:creationId xmlns:a16="http://schemas.microsoft.com/office/drawing/2014/main" id="{820780A0-C211-6780-8035-E93C88356048}"/>
              </a:ext>
            </a:extLst>
          </p:cNvPr>
          <p:cNvSpPr txBox="1"/>
          <p:nvPr/>
        </p:nvSpPr>
        <p:spPr>
          <a:xfrm>
            <a:off x="10783229" y="7716644"/>
            <a:ext cx="184731" cy="369332"/>
          </a:xfrm>
          <a:prstGeom prst="rect">
            <a:avLst/>
          </a:prstGeom>
          <a:noFill/>
        </p:spPr>
        <p:txBody>
          <a:bodyPr wrap="none" rtlCol="0">
            <a:spAutoFit/>
          </a:bodyPr>
          <a:lstStyle/>
          <a:p>
            <a:endParaRPr lang="en-US" dirty="0"/>
          </a:p>
        </p:txBody>
      </p:sp>
      <p:sp>
        <p:nvSpPr>
          <p:cNvPr id="22" name="Right Arrow 21">
            <a:extLst>
              <a:ext uri="{FF2B5EF4-FFF2-40B4-BE49-F238E27FC236}">
                <a16:creationId xmlns:a16="http://schemas.microsoft.com/office/drawing/2014/main" id="{1E77760A-06BC-5D73-59E1-D6072B5D7F7A}"/>
              </a:ext>
            </a:extLst>
          </p:cNvPr>
          <p:cNvSpPr/>
          <p:nvPr/>
        </p:nvSpPr>
        <p:spPr>
          <a:xfrm>
            <a:off x="8184995" y="2230244"/>
            <a:ext cx="1137425" cy="133815"/>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endParaRPr>
          </a:p>
        </p:txBody>
      </p:sp>
      <p:sp>
        <p:nvSpPr>
          <p:cNvPr id="23" name="Right Arrow 22">
            <a:extLst>
              <a:ext uri="{FF2B5EF4-FFF2-40B4-BE49-F238E27FC236}">
                <a16:creationId xmlns:a16="http://schemas.microsoft.com/office/drawing/2014/main" id="{E304060B-CD55-9B91-523F-304A52398944}"/>
              </a:ext>
            </a:extLst>
          </p:cNvPr>
          <p:cNvSpPr/>
          <p:nvPr/>
        </p:nvSpPr>
        <p:spPr>
          <a:xfrm rot="21089991">
            <a:off x="8184994" y="3576246"/>
            <a:ext cx="1137425" cy="133815"/>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endParaRPr>
          </a:p>
        </p:txBody>
      </p:sp>
      <p:sp>
        <p:nvSpPr>
          <p:cNvPr id="24" name="Right Arrow 23">
            <a:extLst>
              <a:ext uri="{FF2B5EF4-FFF2-40B4-BE49-F238E27FC236}">
                <a16:creationId xmlns:a16="http://schemas.microsoft.com/office/drawing/2014/main" id="{61965D74-2D12-DC14-27D0-A235DFA91B91}"/>
              </a:ext>
            </a:extLst>
          </p:cNvPr>
          <p:cNvSpPr/>
          <p:nvPr/>
        </p:nvSpPr>
        <p:spPr>
          <a:xfrm rot="692272">
            <a:off x="8183103" y="4435562"/>
            <a:ext cx="1137425" cy="133815"/>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endParaRPr>
          </a:p>
        </p:txBody>
      </p:sp>
      <p:sp>
        <p:nvSpPr>
          <p:cNvPr id="25" name="TextBox 24">
            <a:extLst>
              <a:ext uri="{FF2B5EF4-FFF2-40B4-BE49-F238E27FC236}">
                <a16:creationId xmlns:a16="http://schemas.microsoft.com/office/drawing/2014/main" id="{147C364D-E90C-7450-CC10-79EE2EFD6F0F}"/>
              </a:ext>
            </a:extLst>
          </p:cNvPr>
          <p:cNvSpPr txBox="1"/>
          <p:nvPr/>
        </p:nvSpPr>
        <p:spPr>
          <a:xfrm>
            <a:off x="9322418" y="1896723"/>
            <a:ext cx="2665143" cy="923330"/>
          </a:xfrm>
          <a:prstGeom prst="rect">
            <a:avLst/>
          </a:prstGeom>
          <a:noFill/>
        </p:spPr>
        <p:txBody>
          <a:bodyPr wrap="square" rtlCol="0">
            <a:spAutoFit/>
          </a:bodyPr>
          <a:lstStyle/>
          <a:p>
            <a:r>
              <a:rPr lang="en-US" i="1" dirty="0">
                <a:solidFill>
                  <a:schemeClr val="accent1"/>
                </a:solidFill>
              </a:rPr>
              <a:t>Ensures Pegasus Workflow API is accessible via notebooks. </a:t>
            </a:r>
          </a:p>
        </p:txBody>
      </p:sp>
      <p:sp>
        <p:nvSpPr>
          <p:cNvPr id="27" name="TextBox 26">
            <a:extLst>
              <a:ext uri="{FF2B5EF4-FFF2-40B4-BE49-F238E27FC236}">
                <a16:creationId xmlns:a16="http://schemas.microsoft.com/office/drawing/2014/main" id="{9F7E3080-A7E9-3896-4F31-A8066A286418}"/>
              </a:ext>
            </a:extLst>
          </p:cNvPr>
          <p:cNvSpPr txBox="1"/>
          <p:nvPr/>
        </p:nvSpPr>
        <p:spPr>
          <a:xfrm>
            <a:off x="9322418" y="3189087"/>
            <a:ext cx="2665143" cy="646331"/>
          </a:xfrm>
          <a:prstGeom prst="rect">
            <a:avLst/>
          </a:prstGeom>
          <a:noFill/>
        </p:spPr>
        <p:txBody>
          <a:bodyPr wrap="square" rtlCol="0">
            <a:spAutoFit/>
          </a:bodyPr>
          <a:lstStyle/>
          <a:p>
            <a:r>
              <a:rPr lang="en-US" i="1" dirty="0">
                <a:solidFill>
                  <a:schemeClr val="accent1"/>
                </a:solidFill>
              </a:rPr>
              <a:t>Your project account on Laguna</a:t>
            </a:r>
          </a:p>
        </p:txBody>
      </p:sp>
      <p:sp>
        <p:nvSpPr>
          <p:cNvPr id="28" name="TextBox 27">
            <a:extLst>
              <a:ext uri="{FF2B5EF4-FFF2-40B4-BE49-F238E27FC236}">
                <a16:creationId xmlns:a16="http://schemas.microsoft.com/office/drawing/2014/main" id="{36464906-F9BC-B019-54F1-714DED8AE96B}"/>
              </a:ext>
            </a:extLst>
          </p:cNvPr>
          <p:cNvSpPr txBox="1"/>
          <p:nvPr/>
        </p:nvSpPr>
        <p:spPr>
          <a:xfrm>
            <a:off x="9405278" y="4335151"/>
            <a:ext cx="2665143" cy="923330"/>
          </a:xfrm>
          <a:prstGeom prst="rect">
            <a:avLst/>
          </a:prstGeom>
          <a:noFill/>
        </p:spPr>
        <p:txBody>
          <a:bodyPr wrap="square" rtlCol="0">
            <a:spAutoFit/>
          </a:bodyPr>
          <a:lstStyle/>
          <a:p>
            <a:r>
              <a:rPr lang="en-US" i="1" dirty="0">
                <a:solidFill>
                  <a:schemeClr val="accent1"/>
                </a:solidFill>
              </a:rPr>
              <a:t>Launch the notebook on the workflow submission node. </a:t>
            </a:r>
          </a:p>
        </p:txBody>
      </p:sp>
    </p:spTree>
    <p:extLst>
      <p:ext uri="{BB962C8B-B14F-4D97-AF65-F5344CB8AC3E}">
        <p14:creationId xmlns:p14="http://schemas.microsoft.com/office/powerpoint/2010/main" val="2107030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49"/>
        <p:cNvGrpSpPr/>
        <p:nvPr/>
      </p:nvGrpSpPr>
      <p:grpSpPr>
        <a:xfrm>
          <a:off x="0" y="0"/>
          <a:ext cx="0" cy="0"/>
          <a:chOff x="0" y="0"/>
          <a:chExt cx="0" cy="0"/>
        </a:xfrm>
      </p:grpSpPr>
      <p:sp>
        <p:nvSpPr>
          <p:cNvPr id="2351" name="Google Shape;2351;g3f95de07730_1_872"/>
          <p:cNvSpPr txBox="1">
            <a:spLocks noGrp="1"/>
          </p:cNvSpPr>
          <p:nvPr>
            <p:ph type="body" idx="13"/>
          </p:nvPr>
        </p:nvSpPr>
        <p:spPr>
          <a:xfrm>
            <a:off x="550728" y="1739899"/>
            <a:ext cx="10541000" cy="4193067"/>
          </a:xfrm>
          <a:prstGeom prst="rect">
            <a:avLst/>
          </a:prstGeom>
          <a:noFill/>
          <a:ln>
            <a:noFill/>
          </a:ln>
        </p:spPr>
        <p:txBody>
          <a:bodyPr spcFirstLastPara="1" wrap="square" lIns="91425" tIns="45700" rIns="91425" bIns="45700" anchor="t" anchorCtr="0">
            <a:noAutofit/>
          </a:bodyPr>
          <a:lstStyle/>
          <a:p>
            <a:pPr marL="241300" lvl="0" indent="-226695">
              <a:lnSpc>
                <a:spcPct val="100000"/>
              </a:lnSpc>
              <a:spcBef>
                <a:spcPts val="1300"/>
              </a:spcBef>
              <a:buClr>
                <a:schemeClr val="dk1"/>
              </a:buClr>
              <a:buSzPct val="100000"/>
              <a:buChar char="•"/>
            </a:pPr>
            <a:r>
              <a:rPr lang="en-US" sz="1800" cap="none" dirty="0"/>
              <a:t>Slack channel: </a:t>
            </a:r>
            <a:r>
              <a:rPr lang="en-US" sz="1800" cap="none" dirty="0">
                <a:latin typeface="+mn-lt"/>
              </a:rPr>
              <a:t>find at </a:t>
            </a:r>
            <a:r>
              <a:rPr lang="en-US" sz="1800" cap="none" dirty="0">
                <a:latin typeface="+mn-lt"/>
                <a:hlinkClick r:id="rId3"/>
              </a:rPr>
              <a:t>https://pegasus.isi.edu/contact/</a:t>
            </a:r>
            <a:r>
              <a:rPr lang="en-US" sz="1800" cap="none" dirty="0">
                <a:latin typeface="+mn-lt"/>
              </a:rPr>
              <a:t>  </a:t>
            </a:r>
          </a:p>
          <a:p>
            <a:pPr marL="241300" lvl="0" indent="-226695" algn="l" rtl="0">
              <a:lnSpc>
                <a:spcPct val="100000"/>
              </a:lnSpc>
              <a:spcBef>
                <a:spcPts val="1300"/>
              </a:spcBef>
              <a:spcAft>
                <a:spcPts val="0"/>
              </a:spcAft>
              <a:buClr>
                <a:schemeClr val="dk1"/>
              </a:buClr>
              <a:buSzPct val="100000"/>
              <a:buChar char="•"/>
            </a:pPr>
            <a:r>
              <a:rPr lang="en-US" sz="1800" cap="none" dirty="0"/>
              <a:t>Email: </a:t>
            </a:r>
            <a:r>
              <a:rPr lang="en-US" sz="1800" u="sng" cap="none" dirty="0">
                <a:solidFill>
                  <a:schemeClr val="hlink"/>
                </a:solidFill>
                <a:hlinkClick r:id="rId4"/>
              </a:rPr>
              <a:t>pegasus-support@isi.edu</a:t>
            </a:r>
            <a:endParaRPr lang="en-US" sz="1800" cap="none" dirty="0"/>
          </a:p>
          <a:p>
            <a:pPr marL="241300" lvl="0" indent="-226695" algn="l" rtl="0">
              <a:lnSpc>
                <a:spcPct val="100000"/>
              </a:lnSpc>
              <a:spcBef>
                <a:spcPts val="1300"/>
              </a:spcBef>
              <a:spcAft>
                <a:spcPts val="0"/>
              </a:spcAft>
              <a:buClr>
                <a:schemeClr val="dk1"/>
              </a:buClr>
              <a:buSzPct val="100000"/>
              <a:buChar char="•"/>
            </a:pPr>
            <a:r>
              <a:rPr lang="en-US" sz="1800" cap="none" dirty="0"/>
              <a:t>Office hours every </a:t>
            </a:r>
            <a:r>
              <a:rPr lang="en-US" sz="1800" cap="none" dirty="0" err="1"/>
              <a:t>friday</a:t>
            </a:r>
            <a:r>
              <a:rPr lang="en-US" sz="1800" cap="none" dirty="0"/>
              <a:t>, 11am PT</a:t>
            </a:r>
          </a:p>
          <a:p>
            <a:pPr marL="241300" lvl="0" indent="-88900" algn="l" rtl="0">
              <a:lnSpc>
                <a:spcPct val="100000"/>
              </a:lnSpc>
              <a:spcBef>
                <a:spcPts val="1300"/>
              </a:spcBef>
              <a:spcAft>
                <a:spcPts val="0"/>
              </a:spcAft>
              <a:buClr>
                <a:schemeClr val="dk1"/>
              </a:buClr>
              <a:buSzPct val="100000"/>
              <a:buNone/>
            </a:pPr>
            <a:endParaRPr lang="en-US" sz="1800" cap="none" dirty="0"/>
          </a:p>
          <a:p>
            <a:pPr marL="241300" lvl="0" indent="-88900" algn="l" rtl="0">
              <a:lnSpc>
                <a:spcPct val="100000"/>
              </a:lnSpc>
              <a:spcBef>
                <a:spcPts val="1300"/>
              </a:spcBef>
              <a:spcAft>
                <a:spcPts val="0"/>
              </a:spcAft>
              <a:buClr>
                <a:schemeClr val="dk1"/>
              </a:buClr>
              <a:buSzPct val="100000"/>
              <a:buNone/>
            </a:pPr>
            <a:endParaRPr lang="en-US" sz="1800" cap="none" dirty="0"/>
          </a:p>
          <a:p>
            <a:pPr marL="241300" lvl="0" indent="-88900" algn="l" rtl="0">
              <a:lnSpc>
                <a:spcPct val="100000"/>
              </a:lnSpc>
              <a:spcBef>
                <a:spcPts val="1300"/>
              </a:spcBef>
              <a:spcAft>
                <a:spcPts val="0"/>
              </a:spcAft>
              <a:buClr>
                <a:schemeClr val="dk1"/>
              </a:buClr>
              <a:buSzPct val="100000"/>
              <a:buNone/>
            </a:pPr>
            <a:endParaRPr lang="en-US" sz="1800" cap="none" dirty="0"/>
          </a:p>
          <a:p>
            <a:pPr marL="0" lvl="0" indent="0" algn="l" rtl="0">
              <a:lnSpc>
                <a:spcPct val="100000"/>
              </a:lnSpc>
              <a:spcBef>
                <a:spcPts val="1300"/>
              </a:spcBef>
              <a:spcAft>
                <a:spcPts val="0"/>
              </a:spcAft>
              <a:buNone/>
            </a:pPr>
            <a:endParaRPr lang="en-US" sz="1800" cap="none" dirty="0"/>
          </a:p>
          <a:p>
            <a:pPr marL="241300" lvl="0" indent="-226695" algn="l" rtl="0">
              <a:lnSpc>
                <a:spcPct val="100000"/>
              </a:lnSpc>
              <a:spcBef>
                <a:spcPts val="1300"/>
              </a:spcBef>
              <a:spcAft>
                <a:spcPts val="0"/>
              </a:spcAft>
              <a:buClr>
                <a:schemeClr val="dk1"/>
              </a:buClr>
              <a:buSzPct val="100000"/>
              <a:buChar char="•"/>
            </a:pPr>
            <a:r>
              <a:rPr lang="en-US" sz="1800" cap="none" dirty="0"/>
              <a:t>Tutorial walkthrough first Friday of the month</a:t>
            </a:r>
          </a:p>
          <a:p>
            <a:pPr marL="241300" lvl="0" indent="-226695" algn="l" rtl="0">
              <a:lnSpc>
                <a:spcPct val="100000"/>
              </a:lnSpc>
              <a:spcBef>
                <a:spcPts val="1300"/>
              </a:spcBef>
              <a:spcAft>
                <a:spcPts val="0"/>
              </a:spcAft>
              <a:buClr>
                <a:schemeClr val="dk1"/>
              </a:buClr>
              <a:buSzPct val="100000"/>
              <a:buChar char="•"/>
            </a:pPr>
            <a:r>
              <a:rPr lang="en-US" sz="1800" u="sng" cap="none" dirty="0">
                <a:solidFill>
                  <a:schemeClr val="hlink"/>
                </a:solidFill>
                <a:hlinkClick r:id="rId5"/>
              </a:rPr>
              <a:t>https://pegasus.isi.edu</a:t>
            </a:r>
            <a:r>
              <a:rPr lang="en-US" sz="1800" u="sng" cap="none" dirty="0">
                <a:solidFill>
                  <a:schemeClr val="hlink"/>
                </a:solidFill>
              </a:rPr>
              <a:t>  </a:t>
            </a:r>
            <a:endParaRPr lang="en-US" sz="1800" cap="none" dirty="0"/>
          </a:p>
        </p:txBody>
      </p:sp>
      <p:sp>
        <p:nvSpPr>
          <p:cNvPr id="2350" name="Google Shape;2350;g3f95de07730_1_87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Roboto"/>
              <a:buNone/>
            </a:pPr>
            <a:r>
              <a:rPr lang="en-US" dirty="0"/>
              <a:t>We are here to help!</a:t>
            </a:r>
            <a:endParaRPr dirty="0"/>
          </a:p>
        </p:txBody>
      </p:sp>
      <p:sp>
        <p:nvSpPr>
          <p:cNvPr id="2354" name="Google Shape;2354;g3f95de07730_1_872"/>
          <p:cNvSpPr txBox="1">
            <a:spLocks noGrp="1"/>
          </p:cNvSpPr>
          <p:nvPr>
            <p:ph type="sldNum" idx="4294967295"/>
          </p:nvPr>
        </p:nvSpPr>
        <p:spPr>
          <a:xfrm>
            <a:off x="11839575" y="6284913"/>
            <a:ext cx="352425" cy="168275"/>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pic>
        <p:nvPicPr>
          <p:cNvPr id="2352" name="Google Shape;2352;g3f95de07730_1_872" descr="A screenshot of a computer&#10;&#10;Description automatically generated"/>
          <p:cNvPicPr preferRelativeResize="0"/>
          <p:nvPr/>
        </p:nvPicPr>
        <p:blipFill rotWithShape="1">
          <a:blip r:embed="rId6">
            <a:alphaModFix/>
          </a:blip>
          <a:srcRect/>
          <a:stretch/>
        </p:blipFill>
        <p:spPr>
          <a:xfrm>
            <a:off x="7340333" y="0"/>
            <a:ext cx="4136366" cy="5685703"/>
          </a:xfrm>
          <a:prstGeom prst="rect">
            <a:avLst/>
          </a:prstGeom>
          <a:noFill/>
          <a:ln>
            <a:noFill/>
          </a:ln>
        </p:spPr>
      </p:pic>
      <p:pic>
        <p:nvPicPr>
          <p:cNvPr id="2353" name="Google Shape;2353;g3f95de07730_1_872"/>
          <p:cNvPicPr preferRelativeResize="0"/>
          <p:nvPr/>
        </p:nvPicPr>
        <p:blipFill rotWithShape="1">
          <a:blip r:embed="rId7">
            <a:alphaModFix/>
          </a:blip>
          <a:srcRect/>
          <a:stretch/>
        </p:blipFill>
        <p:spPr>
          <a:xfrm>
            <a:off x="810552" y="2825808"/>
            <a:ext cx="5095736" cy="202124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58"/>
        <p:cNvGrpSpPr/>
        <p:nvPr/>
      </p:nvGrpSpPr>
      <p:grpSpPr>
        <a:xfrm>
          <a:off x="0" y="0"/>
          <a:ext cx="0" cy="0"/>
          <a:chOff x="0" y="0"/>
          <a:chExt cx="0" cy="0"/>
        </a:xfrm>
      </p:grpSpPr>
      <p:sp>
        <p:nvSpPr>
          <p:cNvPr id="5" name="Text Placeholder 4">
            <a:extLst>
              <a:ext uri="{FF2B5EF4-FFF2-40B4-BE49-F238E27FC236}">
                <a16:creationId xmlns:a16="http://schemas.microsoft.com/office/drawing/2014/main" id="{F6E9DD16-A50E-0992-0457-6ED469A6D882}"/>
              </a:ext>
            </a:extLst>
          </p:cNvPr>
          <p:cNvSpPr>
            <a:spLocks noGrp="1"/>
          </p:cNvSpPr>
          <p:nvPr>
            <p:ph type="body" idx="13"/>
          </p:nvPr>
        </p:nvSpPr>
        <p:spPr/>
        <p:txBody>
          <a:bodyPr/>
          <a:lstStyle/>
          <a:p>
            <a:endParaRPr lang="en-US" dirty="0"/>
          </a:p>
        </p:txBody>
      </p:sp>
      <p:sp>
        <p:nvSpPr>
          <p:cNvPr id="2359" name="Google Shape;2359;g3709db5a662_1_0"/>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09091"/>
              <a:buNone/>
            </a:pPr>
            <a:r>
              <a:rPr lang="en-US" dirty="0"/>
              <a:t>Thank you!</a:t>
            </a:r>
            <a:br>
              <a:rPr lang="en-US" dirty="0"/>
            </a:br>
            <a:r>
              <a:rPr lang="en-US" dirty="0"/>
              <a:t>Questions?</a:t>
            </a:r>
            <a:br>
              <a:rPr lang="en-US" dirty="0"/>
            </a:br>
            <a:endParaRPr dirty="0"/>
          </a:p>
        </p:txBody>
      </p:sp>
      <p:sp>
        <p:nvSpPr>
          <p:cNvPr id="6" name="Text Placeholder 5">
            <a:extLst>
              <a:ext uri="{FF2B5EF4-FFF2-40B4-BE49-F238E27FC236}">
                <a16:creationId xmlns:a16="http://schemas.microsoft.com/office/drawing/2014/main" id="{D1ADCDCC-7AFF-152A-9E86-E5882D96C343}"/>
              </a:ext>
            </a:extLst>
          </p:cNvPr>
          <p:cNvSpPr>
            <a:spLocks noGrp="1"/>
          </p:cNvSpPr>
          <p:nvPr>
            <p:ph type="body" idx="14"/>
          </p:nvPr>
        </p:nvSpPr>
        <p:spPr/>
        <p:txBody>
          <a:bodyPr>
            <a:normAutofit/>
          </a:bodyPr>
          <a:lstStyle/>
          <a:p>
            <a:pPr algn="ctr"/>
            <a:r>
              <a:rPr lang="en-US" sz="3200" b="1" dirty="0"/>
              <a:t>Karan Vahi   |  </a:t>
            </a:r>
            <a:r>
              <a:rPr lang="en-US" sz="3200" b="1" dirty="0" err="1">
                <a:solidFill>
                  <a:schemeClr val="accent1"/>
                </a:solidFill>
              </a:rPr>
              <a:t>vahi@isi.edu</a:t>
            </a:r>
            <a:endParaRPr lang="en-US" sz="3200" b="1" dirty="0">
              <a:solidFill>
                <a:schemeClr val="accent1"/>
              </a:solidFill>
            </a:endParaRPr>
          </a:p>
        </p:txBody>
      </p:sp>
      <p:sp>
        <p:nvSpPr>
          <p:cNvPr id="4" name="Content Placeholder 3">
            <a:extLst>
              <a:ext uri="{FF2B5EF4-FFF2-40B4-BE49-F238E27FC236}">
                <a16:creationId xmlns:a16="http://schemas.microsoft.com/office/drawing/2014/main" id="{79F40FF0-34C2-8AA6-F310-F49505878D05}"/>
              </a:ext>
            </a:extLst>
          </p:cNvPr>
          <p:cNvSpPr>
            <a:spLocks noGrp="1"/>
          </p:cNvSpPr>
          <p:nvPr>
            <p:ph idx="1"/>
          </p:nvPr>
        </p:nvSpPr>
        <p:spPr/>
        <p:txBody>
          <a:bodyPr/>
          <a:lstStyle/>
          <a:p>
            <a:pPr marL="0" indent="0">
              <a:buNone/>
            </a:pPr>
            <a:r>
              <a:rPr lang="en-US" b="1" dirty="0">
                <a:solidFill>
                  <a:srgbClr val="1A5B6E"/>
                </a:solidFill>
              </a:rPr>
              <a:t>Acknowledgments</a:t>
            </a:r>
          </a:p>
          <a:p>
            <a:pPr marL="0" indent="0">
              <a:buNone/>
            </a:pPr>
            <a:r>
              <a:rPr lang="en-US" dirty="0">
                <a:solidFill>
                  <a:schemeClr val="accent1"/>
                </a:solidFill>
              </a:rPr>
              <a:t>For support on making Pegasus available at Laguna</a:t>
            </a:r>
          </a:p>
          <a:p>
            <a:endParaRPr lang="en-US" dirty="0"/>
          </a:p>
        </p:txBody>
      </p:sp>
      <p:sp>
        <p:nvSpPr>
          <p:cNvPr id="7" name="Text Placeholder 6">
            <a:extLst>
              <a:ext uri="{FF2B5EF4-FFF2-40B4-BE49-F238E27FC236}">
                <a16:creationId xmlns:a16="http://schemas.microsoft.com/office/drawing/2014/main" id="{ABB147AA-6D1D-BE7C-3ED4-671578278BBD}"/>
              </a:ext>
            </a:extLst>
          </p:cNvPr>
          <p:cNvSpPr>
            <a:spLocks noGrp="1"/>
          </p:cNvSpPr>
          <p:nvPr>
            <p:ph type="body" idx="15"/>
          </p:nvPr>
        </p:nvSpPr>
        <p:spPr/>
        <p:txBody>
          <a:bodyPr/>
          <a:lstStyle/>
          <a:p>
            <a:endParaRPr lang="en-US"/>
          </a:p>
        </p:txBody>
      </p:sp>
      <p:sp>
        <p:nvSpPr>
          <p:cNvPr id="3001" name="Ack heading"/>
          <p:cNvSpPr txBox="1"/>
          <p:nvPr/>
        </p:nvSpPr>
        <p:spPr>
          <a:xfrm>
            <a:off x="7112000" y="3617684"/>
            <a:ext cx="4572000" cy="330200"/>
          </a:xfrm>
          <a:prstGeom prst="rect">
            <a:avLst/>
          </a:prstGeom>
          <a:noFill/>
        </p:spPr>
        <p:txBody>
          <a:bodyPr wrap="square" lIns="0" tIns="0" rIns="0" bIns="0" anchor="ctr">
            <a:noAutofit/>
          </a:bodyPr>
          <a:lstStyle/>
          <a:p>
            <a:pPr algn="l">
              <a:buNone/>
            </a:pPr>
            <a:endParaRPr lang="en-US" sz="2000" b="1" dirty="0">
              <a:solidFill>
                <a:srgbClr val="1A5B6E"/>
              </a:solidFill>
            </a:endParaRPr>
          </a:p>
        </p:txBody>
      </p:sp>
      <p:grpSp>
        <p:nvGrpSpPr>
          <p:cNvPr id="8" name="Group 7">
            <a:extLst>
              <a:ext uri="{FF2B5EF4-FFF2-40B4-BE49-F238E27FC236}">
                <a16:creationId xmlns:a16="http://schemas.microsoft.com/office/drawing/2014/main" id="{6AA80C0D-10F5-D4E9-325D-FB21DB7FD176}"/>
              </a:ext>
            </a:extLst>
          </p:cNvPr>
          <p:cNvGrpSpPr/>
          <p:nvPr/>
        </p:nvGrpSpPr>
        <p:grpSpPr>
          <a:xfrm>
            <a:off x="6371118" y="2516414"/>
            <a:ext cx="4572000" cy="2373086"/>
            <a:chOff x="6381750" y="2770414"/>
            <a:chExt cx="4572000" cy="2373086"/>
          </a:xfrm>
        </p:grpSpPr>
        <p:cxnSp>
          <p:nvCxnSpPr>
            <p:cNvPr id="3002" name="Ack rule"/>
            <p:cNvCxnSpPr/>
            <p:nvPr/>
          </p:nvCxnSpPr>
          <p:spPr>
            <a:xfrm>
              <a:off x="6381750" y="2770414"/>
              <a:ext cx="4572000" cy="0"/>
            </a:xfrm>
            <a:prstGeom prst="line">
              <a:avLst/>
            </a:prstGeom>
            <a:ln w="9525">
              <a:solidFill>
                <a:srgbClr val="1A5B6E"/>
              </a:solidFill>
            </a:ln>
          </p:spPr>
        </p:cxnSp>
        <p:sp>
          <p:nvSpPr>
            <p:cNvPr id="3004" name="Ack photo Jaime Frey" descr="Placeholder for photo"/>
            <p:cNvSpPr/>
            <p:nvPr/>
          </p:nvSpPr>
          <p:spPr>
            <a:xfrm>
              <a:off x="6381750" y="2857498"/>
              <a:ext cx="660400" cy="660400"/>
            </a:xfrm>
            <a:prstGeom prst="ellipse">
              <a:avLst/>
            </a:prstGeom>
            <a:solidFill>
              <a:srgbClr val="1A5B6E"/>
            </a:solidFill>
            <a:ln>
              <a:noFill/>
            </a:ln>
          </p:spPr>
          <p:txBody>
            <a:bodyPr wrap="none" lIns="0" tIns="0" rIns="0" bIns="0" anchor="ctr">
              <a:noAutofit/>
            </a:bodyPr>
            <a:lstStyle/>
            <a:p>
              <a:pPr algn="ctr">
                <a:buNone/>
              </a:pPr>
              <a:r>
                <a:rPr lang="en-US" sz="1800" b="1" dirty="0">
                  <a:solidFill>
                    <a:srgbClr val="FFFFFF"/>
                  </a:solidFill>
                </a:rPr>
                <a:t>TO</a:t>
              </a:r>
            </a:p>
          </p:txBody>
        </p:sp>
        <p:sp>
          <p:nvSpPr>
            <p:cNvPr id="3005" name="Ack Jaime Frey"/>
            <p:cNvSpPr txBox="1"/>
            <p:nvPr/>
          </p:nvSpPr>
          <p:spPr>
            <a:xfrm>
              <a:off x="7219950" y="2857498"/>
              <a:ext cx="3733800" cy="660400"/>
            </a:xfrm>
            <a:prstGeom prst="rect">
              <a:avLst/>
            </a:prstGeom>
            <a:noFill/>
          </p:spPr>
          <p:txBody>
            <a:bodyPr wrap="square" lIns="0" tIns="0" rIns="0" bIns="0" anchor="ctr">
              <a:noAutofit/>
            </a:bodyPr>
            <a:lstStyle/>
            <a:p>
              <a:pPr algn="l">
                <a:buNone/>
              </a:pPr>
              <a:r>
                <a:rPr lang="en-US" sz="1600" b="1" dirty="0">
                  <a:solidFill>
                    <a:srgbClr val="262626"/>
                  </a:solidFill>
                </a:rPr>
                <a:t>Tomek Osinski</a:t>
              </a:r>
            </a:p>
            <a:p>
              <a:pPr algn="l">
                <a:buNone/>
              </a:pPr>
              <a:r>
                <a:rPr lang="en-US" sz="1400" b="0" dirty="0">
                  <a:solidFill>
                    <a:srgbClr val="404040"/>
                  </a:solidFill>
                </a:rPr>
                <a:t>Research Computing Facilitator. CARC. USC</a:t>
              </a:r>
            </a:p>
          </p:txBody>
        </p:sp>
        <p:sp>
          <p:nvSpPr>
            <p:cNvPr id="3006" name="Ack photo Nick Tyler" descr="Placeholder for photo"/>
            <p:cNvSpPr/>
            <p:nvPr/>
          </p:nvSpPr>
          <p:spPr>
            <a:xfrm>
              <a:off x="6381750" y="3670298"/>
              <a:ext cx="660400" cy="660400"/>
            </a:xfrm>
            <a:prstGeom prst="ellipse">
              <a:avLst/>
            </a:prstGeom>
            <a:solidFill>
              <a:srgbClr val="1A5B6E"/>
            </a:solidFill>
            <a:ln>
              <a:noFill/>
            </a:ln>
          </p:spPr>
          <p:txBody>
            <a:bodyPr wrap="none" lIns="0" tIns="0" rIns="0" bIns="0" anchor="ctr">
              <a:noAutofit/>
            </a:bodyPr>
            <a:lstStyle/>
            <a:p>
              <a:pPr algn="ctr">
                <a:buNone/>
              </a:pPr>
              <a:r>
                <a:rPr lang="en-US" sz="1800" b="1" dirty="0">
                  <a:solidFill>
                    <a:srgbClr val="FFFFFF"/>
                  </a:solidFill>
                </a:rPr>
                <a:t>BH</a:t>
              </a:r>
            </a:p>
          </p:txBody>
        </p:sp>
        <p:sp>
          <p:nvSpPr>
            <p:cNvPr id="3007" name="Ack Nick Tyler"/>
            <p:cNvSpPr txBox="1"/>
            <p:nvPr/>
          </p:nvSpPr>
          <p:spPr>
            <a:xfrm>
              <a:off x="7219950" y="3670298"/>
              <a:ext cx="3733800" cy="660400"/>
            </a:xfrm>
            <a:prstGeom prst="rect">
              <a:avLst/>
            </a:prstGeom>
            <a:noFill/>
          </p:spPr>
          <p:txBody>
            <a:bodyPr wrap="square" lIns="0" tIns="0" rIns="0" bIns="0" anchor="ctr">
              <a:noAutofit/>
            </a:bodyPr>
            <a:lstStyle/>
            <a:p>
              <a:pPr algn="l">
                <a:buNone/>
              </a:pPr>
              <a:r>
                <a:rPr lang="en-US" sz="1600" b="1" dirty="0">
                  <a:solidFill>
                    <a:srgbClr val="262626"/>
                  </a:solidFill>
                </a:rPr>
                <a:t>Bret Harry</a:t>
              </a:r>
            </a:p>
            <a:p>
              <a:pPr algn="l">
                <a:buNone/>
              </a:pPr>
              <a:r>
                <a:rPr lang="en-US" dirty="0">
                  <a:solidFill>
                    <a:srgbClr val="404040"/>
                  </a:solidFill>
                </a:rPr>
                <a:t>Systems Administrator. ITS. USC.</a:t>
              </a:r>
              <a:endParaRPr lang="en-US" sz="1400" b="0" dirty="0">
                <a:solidFill>
                  <a:srgbClr val="404040"/>
                </a:solidFill>
              </a:endParaRPr>
            </a:p>
          </p:txBody>
        </p:sp>
        <p:sp>
          <p:nvSpPr>
            <p:cNvPr id="2" name="Ack photo Nick Tyler" descr="Placeholder for photo">
              <a:extLst>
                <a:ext uri="{FF2B5EF4-FFF2-40B4-BE49-F238E27FC236}">
                  <a16:creationId xmlns:a16="http://schemas.microsoft.com/office/drawing/2014/main" id="{3D420DED-2AE7-99CD-FF23-E1A25D975B8A}"/>
                </a:ext>
              </a:extLst>
            </p:cNvPr>
            <p:cNvSpPr/>
            <p:nvPr/>
          </p:nvSpPr>
          <p:spPr>
            <a:xfrm>
              <a:off x="6381750" y="4483100"/>
              <a:ext cx="660400" cy="660400"/>
            </a:xfrm>
            <a:prstGeom prst="ellipse">
              <a:avLst/>
            </a:prstGeom>
            <a:solidFill>
              <a:srgbClr val="1A5B6E"/>
            </a:solidFill>
            <a:ln>
              <a:noFill/>
            </a:ln>
          </p:spPr>
          <p:txBody>
            <a:bodyPr wrap="none" lIns="0" tIns="0" rIns="0" bIns="0" anchor="ctr">
              <a:noAutofit/>
            </a:bodyPr>
            <a:lstStyle/>
            <a:p>
              <a:pPr algn="ctr">
                <a:buNone/>
              </a:pPr>
              <a:r>
                <a:rPr lang="en-US" sz="1800" b="1" dirty="0">
                  <a:solidFill>
                    <a:srgbClr val="FFFFFF"/>
                  </a:solidFill>
                </a:rPr>
                <a:t>JH</a:t>
              </a:r>
            </a:p>
          </p:txBody>
        </p:sp>
        <p:sp>
          <p:nvSpPr>
            <p:cNvPr id="3" name="Ack Nick Tyler">
              <a:extLst>
                <a:ext uri="{FF2B5EF4-FFF2-40B4-BE49-F238E27FC236}">
                  <a16:creationId xmlns:a16="http://schemas.microsoft.com/office/drawing/2014/main" id="{439219F6-804D-9636-FADF-F2B844D62046}"/>
                </a:ext>
              </a:extLst>
            </p:cNvPr>
            <p:cNvSpPr txBox="1"/>
            <p:nvPr/>
          </p:nvSpPr>
          <p:spPr>
            <a:xfrm>
              <a:off x="7219950" y="4483100"/>
              <a:ext cx="3733800" cy="660400"/>
            </a:xfrm>
            <a:prstGeom prst="rect">
              <a:avLst/>
            </a:prstGeom>
            <a:noFill/>
          </p:spPr>
          <p:txBody>
            <a:bodyPr wrap="square" lIns="0" tIns="0" rIns="0" bIns="0" anchor="ctr">
              <a:noAutofit/>
            </a:bodyPr>
            <a:lstStyle/>
            <a:p>
              <a:pPr algn="l">
                <a:buNone/>
              </a:pPr>
              <a:r>
                <a:rPr lang="en-US" sz="1600" b="1" dirty="0">
                  <a:solidFill>
                    <a:srgbClr val="262626"/>
                  </a:solidFill>
                </a:rPr>
                <a:t>James Hong</a:t>
              </a:r>
            </a:p>
            <a:p>
              <a:r>
                <a:rPr lang="en-US" dirty="0">
                  <a:solidFill>
                    <a:srgbClr val="404040"/>
                  </a:solidFill>
                </a:rPr>
                <a:t>Cold Front Developer. CARC. USC</a:t>
              </a:r>
              <a:endParaRPr lang="en-US" sz="1400" b="0" dirty="0">
                <a:solidFill>
                  <a:srgbClr val="404040"/>
                </a:solidFill>
              </a:endParaRPr>
            </a:p>
          </p:txBody>
        </p:sp>
      </p:grpSp>
    </p:spTree>
    <p:extLst>
      <p:ext uri="{BB962C8B-B14F-4D97-AF65-F5344CB8AC3E}">
        <p14:creationId xmlns:p14="http://schemas.microsoft.com/office/powerpoint/2010/main" val="475946220"/>
      </p:ext>
    </p:extLst>
  </p:cSld>
  <p:clrMapOvr>
    <a:masterClrMapping/>
  </p:clrMapOvr>
</p:sld>
</file>

<file path=ppt/theme/theme1.xml><?xml version="1.0" encoding="utf-8"?>
<a:theme xmlns:a="http://schemas.openxmlformats.org/drawingml/2006/main" name="Pegasus AI Studio [1790893611457]">
  <a:themeElements>
    <a:clrScheme name="Pegasus AI Studio">
      <a:dk1>
        <a:srgbClr val="0F172A"/>
      </a:dk1>
      <a:lt1>
        <a:srgbClr val="FFFFFF"/>
      </a:lt1>
      <a:dk2>
        <a:srgbClr val="1E293B"/>
      </a:dk2>
      <a:lt2>
        <a:srgbClr val="F8FAFC"/>
      </a:lt2>
      <a:accent1>
        <a:srgbClr val="0EA5E9"/>
      </a:accent1>
      <a:accent2>
        <a:srgbClr val="0284C7"/>
      </a:accent2>
      <a:accent3>
        <a:srgbClr val="38BDF8"/>
      </a:accent3>
      <a:accent4>
        <a:srgbClr val="64748B"/>
      </a:accent4>
      <a:accent5>
        <a:srgbClr val="94A3B8"/>
      </a:accent5>
      <a:accent6>
        <a:srgbClr val="FACC15"/>
      </a:accent6>
      <a:hlink>
        <a:srgbClr val="0284C7"/>
      </a:hlink>
      <a:folHlink>
        <a:srgbClr val="64748B"/>
      </a:folHlink>
    </a:clrScheme>
    <a:fontScheme name="Pegasus AI Studio">
      <a:majorFont>
        <a:latin typeface="Outfi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utfi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7E3BC2D-6B52-044C-862E-EA080B4EB6D3}">
  <we:reference id="11d7cf85-ae5a-43b8-bc58-1e1a151cce24" version="1.0.0.1" store="EXCatalog" storeType="EXCatalog"/>
  <we:alternateReferences>
    <we:reference id="WA200010725" version="1.0.0.1" store="en-US" storeType="OMEX"/>
  </we:alternateReferences>
  <we:properties>
    <we:property name="claude.fileId" value="&quot;0593f7d2-e8ae-44ef-9624-0542fe37217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237</TotalTime>
  <Words>2453</Words>
  <Application>Microsoft Macintosh PowerPoint</Application>
  <PresentationFormat>Widescreen</PresentationFormat>
  <Paragraphs>446</Paragraphs>
  <Slides>25</Slides>
  <Notes>24</Notes>
  <HiddenSlides>1</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25</vt:i4>
      </vt:variant>
    </vt:vector>
  </HeadingPairs>
  <TitlesOfParts>
    <vt:vector size="39" baseType="lpstr">
      <vt:lpstr>Aptos</vt:lpstr>
      <vt:lpstr>Arial</vt:lpstr>
      <vt:lpstr>Calibri</vt:lpstr>
      <vt:lpstr>Courier New</vt:lpstr>
      <vt:lpstr>Helvetica Neue</vt:lpstr>
      <vt:lpstr>Helvetica Neue Light</vt:lpstr>
      <vt:lpstr>JetBrains Mono</vt:lpstr>
      <vt:lpstr>Montserrat</vt:lpstr>
      <vt:lpstr>Noto Sans Symbols</vt:lpstr>
      <vt:lpstr>Outfit</vt:lpstr>
      <vt:lpstr>Roboto</vt:lpstr>
      <vt:lpstr>Roboto Black</vt:lpstr>
      <vt:lpstr>Roboto Light</vt:lpstr>
      <vt:lpstr>Pegasus AI Studio [1790893611457]</vt:lpstr>
      <vt:lpstr>AI Workflows on Laguna using Pegasus</vt:lpstr>
      <vt:lpstr>SciTech Activities</vt:lpstr>
      <vt:lpstr> </vt:lpstr>
      <vt:lpstr>Workflows Built with Pegasus Across Science Domains</vt:lpstr>
      <vt:lpstr>Pegasus Workflow Management System, est. 2001</vt:lpstr>
      <vt:lpstr>Pegasus Workflow Management System</vt:lpstr>
      <vt:lpstr>Submit Locally, Run Globally</vt:lpstr>
      <vt:lpstr>Key Pegasus Concepts</vt:lpstr>
      <vt:lpstr>Defining Workflows in Python</vt:lpstr>
      <vt:lpstr>Designing Pegasus WMS Workflows with Claude</vt:lpstr>
      <vt:lpstr>From Napkin Sketch to Executable Workflow</vt:lpstr>
      <vt:lpstr>PowerPoint Presentation</vt:lpstr>
      <vt:lpstr> </vt:lpstr>
      <vt:lpstr>Resilience: When Things Go Wrong</vt:lpstr>
      <vt:lpstr>Provenance &amp; Reproducibility</vt:lpstr>
      <vt:lpstr>Success Stories</vt:lpstr>
      <vt:lpstr>Pegasus for Seismic Hazard Applications  </vt:lpstr>
      <vt:lpstr>PowerPoint Presentation</vt:lpstr>
      <vt:lpstr>XENONnT - Dark Matter Search</vt:lpstr>
      <vt:lpstr>Event Horizon Telescope Bringing Black Holes into Focus</vt:lpstr>
      <vt:lpstr>Advanced LIGO</vt:lpstr>
      <vt:lpstr>Try Pegasus? </vt:lpstr>
      <vt:lpstr>PowerPoint Presentation</vt:lpstr>
      <vt:lpstr>We are here to help!</vt:lpstr>
      <vt:lpstr>Thank you! 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Karan Vahi</dc:creator>
  <cp:lastModifiedBy>Karan Vahi</cp:lastModifiedBy>
  <cp:revision>36</cp:revision>
  <dcterms:created xsi:type="dcterms:W3CDTF">2026-10-01T22:15:28Z</dcterms:created>
  <dcterms:modified xsi:type="dcterms:W3CDTF">2026-10-14T22:36:14Z</dcterms:modified>
</cp:coreProperties>
</file>